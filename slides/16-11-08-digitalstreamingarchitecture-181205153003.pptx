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76" r:id="rId2"/>
    <p:sldId id="306" r:id="rId3"/>
    <p:sldId id="257" r:id="rId4"/>
    <p:sldId id="301" r:id="rId5"/>
    <p:sldId id="310" r:id="rId6"/>
    <p:sldId id="309" r:id="rId7"/>
    <p:sldId id="277" r:id="rId8"/>
    <p:sldId id="260" r:id="rId9"/>
    <p:sldId id="305" r:id="rId10"/>
    <p:sldId id="275" r:id="rId11"/>
    <p:sldId id="313" r:id="rId12"/>
    <p:sldId id="314" r:id="rId13"/>
    <p:sldId id="315" r:id="rId14"/>
    <p:sldId id="312" r:id="rId15"/>
    <p:sldId id="268" r:id="rId16"/>
    <p:sldId id="266" r:id="rId17"/>
    <p:sldId id="267" r:id="rId18"/>
    <p:sldId id="279" r:id="rId19"/>
    <p:sldId id="278" r:id="rId20"/>
    <p:sldId id="317" r:id="rId21"/>
    <p:sldId id="262" r:id="rId22"/>
    <p:sldId id="290" r:id="rId23"/>
    <p:sldId id="291" r:id="rId24"/>
    <p:sldId id="289" r:id="rId25"/>
    <p:sldId id="293" r:id="rId26"/>
    <p:sldId id="295" r:id="rId27"/>
    <p:sldId id="292" r:id="rId28"/>
    <p:sldId id="299" r:id="rId29"/>
    <p:sldId id="318" r:id="rId30"/>
    <p:sldId id="304" r:id="rId31"/>
    <p:sldId id="303" r:id="rId32"/>
    <p:sldId id="280" r:id="rId33"/>
    <p:sldId id="316" r:id="rId34"/>
    <p:sldId id="307" r:id="rId35"/>
  </p:sldIdLst>
  <p:sldSz cx="9144000" cy="6858000" type="screen4x3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 autoAdjust="0"/>
    <p:restoredTop sz="68145" autoAdjust="0"/>
  </p:normalViewPr>
  <p:slideViewPr>
    <p:cSldViewPr>
      <p:cViewPr varScale="1">
        <p:scale>
          <a:sx n="51" d="100"/>
          <a:sy n="51" d="100"/>
        </p:scale>
        <p:origin x="40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D5440-6012-4F2E-9546-617CE363916A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E6A0F4-2CD6-4687-A9E7-0AAC8D62EEF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61471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4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37984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http://www.corphealthsys.com/flv/source/documentation/streaming.html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5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84480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http://www.corphealthsys.com/flv/source/documentation/streaming.html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6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84480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https://developer.mozilla.org/es/docs/Web/HTML/Formatos_admitidos_de_audio_y_video_en_html5</a:t>
            </a:r>
          </a:p>
          <a:p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7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37984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https://developer.mozilla.org/es/docs/Web/HTML/Formatos_admitidos_de_audio_y_video_en_html5</a:t>
            </a:r>
          </a:p>
          <a:p>
            <a:endParaRPr lang="es-VE" dirty="0" smtClean="0"/>
          </a:p>
          <a:p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8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37984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https://developer.mozilla.org/es/docs/Web/HTML/Formatos_admitidos_de_audio_y_video_en_html5</a:t>
            </a:r>
          </a:p>
          <a:p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9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37984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https://en.wikipedia.org/wiki/SHOUTcast</a:t>
            </a:r>
          </a:p>
          <a:p>
            <a:r>
              <a:rPr lang="es-VE" dirty="0" smtClean="0"/>
              <a:t>https://es.wikipedia.org/wiki/Icecast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10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37984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https://developer.mozilla.org/es/docs/Web/HTML/Formatos_admitidos_de_audio_y_video_en_html5</a:t>
            </a:r>
          </a:p>
          <a:p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11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37984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err="1" smtClean="0"/>
              <a:t>The</a:t>
            </a:r>
            <a:r>
              <a:rPr lang="es-VE" dirty="0" smtClean="0"/>
              <a:t> </a:t>
            </a:r>
            <a:r>
              <a:rPr lang="es-VE" dirty="0" err="1" smtClean="0"/>
              <a:t>Definitive</a:t>
            </a:r>
            <a:r>
              <a:rPr lang="es-VE" dirty="0" smtClean="0"/>
              <a:t> Guide </a:t>
            </a:r>
            <a:r>
              <a:rPr lang="es-VE" dirty="0" err="1" smtClean="0"/>
              <a:t>to</a:t>
            </a:r>
            <a:r>
              <a:rPr lang="es-VE" dirty="0" smtClean="0"/>
              <a:t> HLS (</a:t>
            </a:r>
            <a:r>
              <a:rPr lang="es-VE" dirty="0" err="1" smtClean="0"/>
              <a:t>Optimized</a:t>
            </a:r>
            <a:r>
              <a:rPr lang="es-VE" dirty="0" smtClean="0"/>
              <a:t> Delivery</a:t>
            </a:r>
            <a:r>
              <a:rPr lang="es-VE" baseline="0" dirty="0" smtClean="0"/>
              <a:t> </a:t>
            </a:r>
            <a:r>
              <a:rPr lang="es-VE" baseline="0" dirty="0" err="1" smtClean="0"/>
              <a:t>to</a:t>
            </a:r>
            <a:r>
              <a:rPr lang="es-VE" baseline="0" dirty="0" smtClean="0"/>
              <a:t> </a:t>
            </a:r>
            <a:r>
              <a:rPr lang="es-VE" baseline="0" dirty="0" err="1" smtClean="0"/>
              <a:t>Every</a:t>
            </a:r>
            <a:r>
              <a:rPr lang="es-VE" baseline="0" dirty="0" smtClean="0"/>
              <a:t> </a:t>
            </a:r>
            <a:r>
              <a:rPr lang="es-VE" baseline="0" dirty="0" err="1" smtClean="0"/>
              <a:t>Device</a:t>
            </a:r>
            <a:r>
              <a:rPr lang="es-VE" baseline="0" dirty="0" smtClean="0"/>
              <a:t>)</a:t>
            </a:r>
            <a:endParaRPr lang="es-VE" dirty="0" smtClean="0"/>
          </a:p>
          <a:p>
            <a:r>
              <a:rPr lang="es-VE" dirty="0" smtClean="0"/>
              <a:t>https://www.encoding.com/http-live-streaming-hls/</a:t>
            </a:r>
          </a:p>
          <a:p>
            <a:endParaRPr lang="en-US" b="1" dirty="0" smtClean="0"/>
          </a:p>
          <a:p>
            <a:r>
              <a:rPr lang="en-US" b="0" dirty="0" smtClean="0"/>
              <a:t>Understanding streaming protocols and output file formats</a:t>
            </a:r>
          </a:p>
          <a:p>
            <a:r>
              <a:rPr lang="es-VE" dirty="0" smtClean="0"/>
              <a:t>https://www.wowza.com/forums/content.php?621-Understanding-streaming-protocols-and-output-file-formats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12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98084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https://wmspanel.com/nimble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13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90844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14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37984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https://wmspanel.com/nimble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15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1086511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https://wmspanel.com/nimble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16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93523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https://wmspanel.com/nimble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17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420381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https://wmspanel.com/nimble</a:t>
            </a:r>
          </a:p>
          <a:p>
            <a:r>
              <a:rPr lang="es-VE" dirty="0" smtClean="0"/>
              <a:t>https://en.wikipedia.org/wiki/Progressive_download</a:t>
            </a:r>
          </a:p>
          <a:p>
            <a:r>
              <a:rPr lang="es-VE" dirty="0" smtClean="0"/>
              <a:t>http://flash.flowplayer.org/plugins/streaming/pseudostreaming.html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18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833147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https://wmspanel.com/nimble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19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868563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20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379845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https://wmspanel.com/nimble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21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844801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err="1" smtClean="0"/>
              <a:t>The</a:t>
            </a:r>
            <a:r>
              <a:rPr lang="es-VE" dirty="0" smtClean="0"/>
              <a:t> </a:t>
            </a:r>
            <a:r>
              <a:rPr lang="es-VE" dirty="0" err="1" smtClean="0"/>
              <a:t>Definitive</a:t>
            </a:r>
            <a:r>
              <a:rPr lang="es-VE" dirty="0" smtClean="0"/>
              <a:t> Guide </a:t>
            </a:r>
            <a:r>
              <a:rPr lang="es-VE" dirty="0" err="1" smtClean="0"/>
              <a:t>to</a:t>
            </a:r>
            <a:r>
              <a:rPr lang="es-VE" dirty="0" smtClean="0"/>
              <a:t> HLS (</a:t>
            </a:r>
            <a:r>
              <a:rPr lang="es-VE" dirty="0" err="1" smtClean="0"/>
              <a:t>Optimized</a:t>
            </a:r>
            <a:r>
              <a:rPr lang="es-VE" dirty="0" smtClean="0"/>
              <a:t> Delivery</a:t>
            </a:r>
            <a:r>
              <a:rPr lang="es-VE" baseline="0" dirty="0" smtClean="0"/>
              <a:t> </a:t>
            </a:r>
            <a:r>
              <a:rPr lang="es-VE" baseline="0" dirty="0" err="1" smtClean="0"/>
              <a:t>to</a:t>
            </a:r>
            <a:r>
              <a:rPr lang="es-VE" baseline="0" dirty="0" smtClean="0"/>
              <a:t> </a:t>
            </a:r>
            <a:r>
              <a:rPr lang="es-VE" baseline="0" dirty="0" err="1" smtClean="0"/>
              <a:t>Every</a:t>
            </a:r>
            <a:r>
              <a:rPr lang="es-VE" baseline="0" dirty="0" smtClean="0"/>
              <a:t> </a:t>
            </a:r>
            <a:r>
              <a:rPr lang="es-VE" baseline="0" dirty="0" err="1" smtClean="0"/>
              <a:t>Device</a:t>
            </a:r>
            <a:r>
              <a:rPr lang="es-VE" baseline="0" dirty="0" smtClean="0"/>
              <a:t>)</a:t>
            </a:r>
            <a:endParaRPr lang="es-VE" dirty="0" smtClean="0"/>
          </a:p>
          <a:p>
            <a:r>
              <a:rPr lang="es-VE" dirty="0" smtClean="0"/>
              <a:t>https://www.encoding.com/http-live-streaming-hls/</a:t>
            </a:r>
          </a:p>
          <a:p>
            <a:endParaRPr lang="en-US" b="1" dirty="0" smtClean="0"/>
          </a:p>
          <a:p>
            <a:r>
              <a:rPr lang="en-US" b="0" dirty="0" smtClean="0"/>
              <a:t>Understanding streaming protocols and output file formats</a:t>
            </a:r>
          </a:p>
          <a:p>
            <a:r>
              <a:rPr lang="es-VE" dirty="0" smtClean="0"/>
              <a:t>https://www.wowza.com/forums/content.php?621-Understanding-streaming-protocols-and-output-file-formats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22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980849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err="1" smtClean="0"/>
              <a:t>The</a:t>
            </a:r>
            <a:r>
              <a:rPr lang="es-VE" dirty="0" smtClean="0"/>
              <a:t> </a:t>
            </a:r>
            <a:r>
              <a:rPr lang="es-VE" dirty="0" err="1" smtClean="0"/>
              <a:t>Definitive</a:t>
            </a:r>
            <a:r>
              <a:rPr lang="es-VE" dirty="0" smtClean="0"/>
              <a:t> Guide </a:t>
            </a:r>
            <a:r>
              <a:rPr lang="es-VE" dirty="0" err="1" smtClean="0"/>
              <a:t>to</a:t>
            </a:r>
            <a:r>
              <a:rPr lang="es-VE" dirty="0" smtClean="0"/>
              <a:t> HLS (</a:t>
            </a:r>
            <a:r>
              <a:rPr lang="es-VE" dirty="0" err="1" smtClean="0"/>
              <a:t>Optimized</a:t>
            </a:r>
            <a:r>
              <a:rPr lang="es-VE" dirty="0" smtClean="0"/>
              <a:t> Delivery</a:t>
            </a:r>
            <a:r>
              <a:rPr lang="es-VE" baseline="0" dirty="0" smtClean="0"/>
              <a:t> </a:t>
            </a:r>
            <a:r>
              <a:rPr lang="es-VE" baseline="0" dirty="0" err="1" smtClean="0"/>
              <a:t>to</a:t>
            </a:r>
            <a:r>
              <a:rPr lang="es-VE" baseline="0" dirty="0" smtClean="0"/>
              <a:t> </a:t>
            </a:r>
            <a:r>
              <a:rPr lang="es-VE" baseline="0" dirty="0" err="1" smtClean="0"/>
              <a:t>Every</a:t>
            </a:r>
            <a:r>
              <a:rPr lang="es-VE" baseline="0" dirty="0" smtClean="0"/>
              <a:t> </a:t>
            </a:r>
            <a:r>
              <a:rPr lang="es-VE" baseline="0" dirty="0" err="1" smtClean="0"/>
              <a:t>Device</a:t>
            </a:r>
            <a:r>
              <a:rPr lang="es-VE" baseline="0" dirty="0" smtClean="0"/>
              <a:t>)</a:t>
            </a:r>
            <a:endParaRPr lang="es-VE" dirty="0" smtClean="0"/>
          </a:p>
          <a:p>
            <a:r>
              <a:rPr lang="es-VE" dirty="0" smtClean="0"/>
              <a:t>https://www.encoding.com/http-live-streaming-hls/</a:t>
            </a:r>
          </a:p>
          <a:p>
            <a:endParaRPr lang="en-US" b="1" dirty="0" smtClean="0"/>
          </a:p>
          <a:p>
            <a:r>
              <a:rPr lang="en-US" b="0" dirty="0" smtClean="0"/>
              <a:t>Understanding streaming protocols and output file formats</a:t>
            </a:r>
          </a:p>
          <a:p>
            <a:r>
              <a:rPr lang="es-VE" dirty="0" smtClean="0"/>
              <a:t>https://www.wowza.com/forums/content.php?621-Understanding-streaming-protocols-and-output-file-formats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23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980849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https://www.jwplayer.com/pricing/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24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492162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 smtClean="0"/>
              <a:t>Resolving App Store Approval Issues for HTTP Live Streaming</a:t>
            </a:r>
          </a:p>
          <a:p>
            <a:r>
              <a:rPr lang="es-VE" dirty="0" smtClean="0"/>
              <a:t>https://developer.apple.com/library/content/qa/qa1767/_index.html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25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980849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smtClean="0"/>
              <a:t>https://bitmovin.com/player-documentation/player-device-browser-format-support/</a:t>
            </a:r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26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980849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err="1" smtClean="0"/>
              <a:t>The</a:t>
            </a:r>
            <a:r>
              <a:rPr lang="es-VE" dirty="0" smtClean="0"/>
              <a:t> </a:t>
            </a:r>
            <a:r>
              <a:rPr lang="es-VE" dirty="0" err="1" smtClean="0"/>
              <a:t>Definitive</a:t>
            </a:r>
            <a:r>
              <a:rPr lang="es-VE" dirty="0" smtClean="0"/>
              <a:t> Guide </a:t>
            </a:r>
            <a:r>
              <a:rPr lang="es-VE" dirty="0" err="1" smtClean="0"/>
              <a:t>to</a:t>
            </a:r>
            <a:r>
              <a:rPr lang="es-VE" dirty="0" smtClean="0"/>
              <a:t> HLS (</a:t>
            </a:r>
            <a:r>
              <a:rPr lang="es-VE" dirty="0" err="1" smtClean="0"/>
              <a:t>Optimized</a:t>
            </a:r>
            <a:r>
              <a:rPr lang="es-VE" dirty="0" smtClean="0"/>
              <a:t> Delivery</a:t>
            </a:r>
            <a:r>
              <a:rPr lang="es-VE" baseline="0" dirty="0" smtClean="0"/>
              <a:t> </a:t>
            </a:r>
            <a:r>
              <a:rPr lang="es-VE" baseline="0" dirty="0" err="1" smtClean="0"/>
              <a:t>to</a:t>
            </a:r>
            <a:r>
              <a:rPr lang="es-VE" baseline="0" dirty="0" smtClean="0"/>
              <a:t> </a:t>
            </a:r>
            <a:r>
              <a:rPr lang="es-VE" baseline="0" dirty="0" err="1" smtClean="0"/>
              <a:t>Every</a:t>
            </a:r>
            <a:r>
              <a:rPr lang="es-VE" baseline="0" dirty="0" smtClean="0"/>
              <a:t> </a:t>
            </a:r>
            <a:r>
              <a:rPr lang="es-VE" baseline="0" dirty="0" err="1" smtClean="0"/>
              <a:t>Device</a:t>
            </a:r>
            <a:r>
              <a:rPr lang="es-VE" baseline="0" dirty="0" smtClean="0"/>
              <a:t>)</a:t>
            </a:r>
            <a:endParaRPr lang="es-VE" dirty="0" smtClean="0"/>
          </a:p>
          <a:p>
            <a:r>
              <a:rPr lang="es-VE" dirty="0" smtClean="0"/>
              <a:t>https://www.encoding.com/http-live-streaming-hls/</a:t>
            </a:r>
          </a:p>
          <a:p>
            <a:endParaRPr lang="es-VE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 smtClean="0"/>
              <a:t>Best Practices for Creating and Deploying HTTP Live Streaming Media for Apple Devices</a:t>
            </a:r>
            <a:endParaRPr lang="es-VE" b="0" dirty="0" smtClean="0"/>
          </a:p>
          <a:p>
            <a:r>
              <a:rPr lang="es-VE" dirty="0" smtClean="0"/>
              <a:t>https://developer.apple.com/library/content/technotes/tn2224/_index.html</a:t>
            </a:r>
          </a:p>
          <a:p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27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980849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err="1" smtClean="0"/>
              <a:t>The</a:t>
            </a:r>
            <a:r>
              <a:rPr lang="es-VE" dirty="0" smtClean="0"/>
              <a:t> </a:t>
            </a:r>
            <a:r>
              <a:rPr lang="es-VE" dirty="0" err="1" smtClean="0"/>
              <a:t>Definitive</a:t>
            </a:r>
            <a:r>
              <a:rPr lang="es-VE" dirty="0" smtClean="0"/>
              <a:t> Guide </a:t>
            </a:r>
            <a:r>
              <a:rPr lang="es-VE" dirty="0" err="1" smtClean="0"/>
              <a:t>to</a:t>
            </a:r>
            <a:r>
              <a:rPr lang="es-VE" dirty="0" smtClean="0"/>
              <a:t> HLS (</a:t>
            </a:r>
            <a:r>
              <a:rPr lang="es-VE" dirty="0" err="1" smtClean="0"/>
              <a:t>Optimized</a:t>
            </a:r>
            <a:r>
              <a:rPr lang="es-VE" dirty="0" smtClean="0"/>
              <a:t> Delivery</a:t>
            </a:r>
            <a:r>
              <a:rPr lang="es-VE" baseline="0" dirty="0" smtClean="0"/>
              <a:t> </a:t>
            </a:r>
            <a:r>
              <a:rPr lang="es-VE" baseline="0" dirty="0" err="1" smtClean="0"/>
              <a:t>to</a:t>
            </a:r>
            <a:r>
              <a:rPr lang="es-VE" baseline="0" dirty="0" smtClean="0"/>
              <a:t> </a:t>
            </a:r>
            <a:r>
              <a:rPr lang="es-VE" baseline="0" dirty="0" err="1" smtClean="0"/>
              <a:t>Every</a:t>
            </a:r>
            <a:r>
              <a:rPr lang="es-VE" baseline="0" dirty="0" smtClean="0"/>
              <a:t> </a:t>
            </a:r>
            <a:r>
              <a:rPr lang="es-VE" baseline="0" dirty="0" err="1" smtClean="0"/>
              <a:t>Device</a:t>
            </a:r>
            <a:r>
              <a:rPr lang="es-VE" baseline="0" smtClean="0"/>
              <a:t>)</a:t>
            </a:r>
            <a:endParaRPr lang="es-VE" smtClean="0"/>
          </a:p>
          <a:p>
            <a:r>
              <a:rPr lang="es-VE" dirty="0" smtClean="0"/>
              <a:t>https://www.encoding.com/http-live-streaming-hls/</a:t>
            </a:r>
          </a:p>
          <a:p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28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980849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29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379845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30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342778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 smtClean="0"/>
              <a:t>https://en.wikipedia.org/wiki/Flash_Video</a:t>
            </a:r>
          </a:p>
          <a:p>
            <a:r>
              <a:rPr lang="es-VE" dirty="0" smtClean="0"/>
              <a:t>https://en.wikipedia.org/wiki/Real-Time_Messaging_Protocol</a:t>
            </a:r>
          </a:p>
          <a:p>
            <a:r>
              <a:rPr lang="es-VE" dirty="0" smtClean="0"/>
              <a:t>https://en.wikipedia.org/wiki/HTTP_Live_Streaming</a:t>
            </a:r>
          </a:p>
          <a:p>
            <a:r>
              <a:rPr lang="es-VE" dirty="0" smtClean="0"/>
              <a:t>https://en.wikipedia.org/wiki/Dynamic_Adaptive_Streaming_over_HTTP</a:t>
            </a:r>
          </a:p>
          <a:p>
            <a:r>
              <a:rPr lang="es-VE" dirty="0" smtClean="0"/>
              <a:t>http://ramp.com/insights/three-things-you-didnt-know-about-multicast-streaming/</a:t>
            </a:r>
          </a:p>
          <a:p>
            <a:r>
              <a:rPr lang="es-VE" dirty="0" smtClean="0"/>
              <a:t>https://www.iis.net/downloads/microsoft/smooth-streaming</a:t>
            </a:r>
          </a:p>
          <a:p>
            <a:endParaRPr lang="es-VE" dirty="0" smtClean="0"/>
          </a:p>
          <a:p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6A0F4-2CD6-4687-A9E7-0AAC8D62EEFC}" type="slidenum">
              <a:rPr lang="es-VE" smtClean="0"/>
              <a:t>33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37984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25CD-A5EA-4CA7-8A48-FEFE58299253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18-556C-4BBB-822F-70D993F005C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52007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25CD-A5EA-4CA7-8A48-FEFE58299253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18-556C-4BBB-822F-70D993F005C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18114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25CD-A5EA-4CA7-8A48-FEFE58299253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18-556C-4BBB-822F-70D993F005C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49908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25CD-A5EA-4CA7-8A48-FEFE58299253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18-556C-4BBB-822F-70D993F005C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30514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25CD-A5EA-4CA7-8A48-FEFE58299253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18-556C-4BBB-822F-70D993F005C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29284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25CD-A5EA-4CA7-8A48-FEFE58299253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18-556C-4BBB-822F-70D993F005C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64449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25CD-A5EA-4CA7-8A48-FEFE58299253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18-556C-4BBB-822F-70D993F005C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09121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25CD-A5EA-4CA7-8A48-FEFE58299253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18-556C-4BBB-822F-70D993F005C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29901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25CD-A5EA-4CA7-8A48-FEFE58299253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18-556C-4BBB-822F-70D993F005C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76627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25CD-A5EA-4CA7-8A48-FEFE58299253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18-556C-4BBB-822F-70D993F005C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2931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25CD-A5EA-4CA7-8A48-FEFE58299253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18-556C-4BBB-822F-70D993F005C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14574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A25CD-A5EA-4CA7-8A48-FEFE58299253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CCA18-556C-4BBB-822F-70D993F005C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22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cecast.or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ycohost.com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3 Título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VE" sz="4800" b="1" dirty="0" smtClean="0">
                <a:solidFill>
                  <a:srgbClr val="0070C0"/>
                </a:solidFill>
              </a:rPr>
              <a:t>Multimedia</a:t>
            </a:r>
          </a:p>
          <a:p>
            <a:r>
              <a:rPr lang="es-VE" sz="4800" b="1" dirty="0" smtClean="0">
                <a:solidFill>
                  <a:srgbClr val="0070C0"/>
                </a:solidFill>
              </a:rPr>
              <a:t>Streaming </a:t>
            </a:r>
            <a:br>
              <a:rPr lang="es-VE" sz="4800" b="1" dirty="0" smtClean="0">
                <a:solidFill>
                  <a:srgbClr val="0070C0"/>
                </a:solidFill>
              </a:rPr>
            </a:br>
            <a:r>
              <a:rPr lang="es-VE" sz="4800" b="1" dirty="0" err="1" smtClean="0">
                <a:solidFill>
                  <a:srgbClr val="0070C0"/>
                </a:solidFill>
              </a:rPr>
              <a:t>Architecture</a:t>
            </a:r>
            <a:endParaRPr lang="es-VE" sz="4800" b="1" dirty="0">
              <a:solidFill>
                <a:srgbClr val="0070C0"/>
              </a:solidFill>
            </a:endParaRPr>
          </a:p>
        </p:txBody>
      </p:sp>
      <p:sp>
        <p:nvSpPr>
          <p:cNvPr id="7" name="4 Subtítulo"/>
          <p:cNvSpPr txBox="1">
            <a:spLocks/>
          </p:cNvSpPr>
          <p:nvPr/>
        </p:nvSpPr>
        <p:spPr>
          <a:xfrm>
            <a:off x="1371600" y="5013176"/>
            <a:ext cx="6400800" cy="110452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VE" dirty="0" smtClean="0"/>
              <a:t>Noviembre, 2016</a:t>
            </a:r>
          </a:p>
        </p:txBody>
      </p:sp>
    </p:spTree>
    <p:extLst>
      <p:ext uri="{BB962C8B-B14F-4D97-AF65-F5344CB8AC3E}">
        <p14:creationId xmlns:p14="http://schemas.microsoft.com/office/powerpoint/2010/main" val="2422607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 smtClean="0">
                <a:solidFill>
                  <a:srgbClr val="0070C0"/>
                </a:solidFill>
              </a:rPr>
              <a:t>Audio &amp; Video Delivery</a:t>
            </a:r>
            <a:endParaRPr lang="es-VE" b="1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4525963"/>
          </a:xfrm>
        </p:spPr>
        <p:txBody>
          <a:bodyPr>
            <a:normAutofit/>
          </a:bodyPr>
          <a:lstStyle/>
          <a:p>
            <a:r>
              <a:rPr lang="es-VE" b="1" dirty="0" smtClean="0"/>
              <a:t>Time: </a:t>
            </a:r>
          </a:p>
          <a:p>
            <a:pPr lvl="1"/>
            <a:r>
              <a:rPr lang="es-VE" b="1" dirty="0" err="1" smtClean="0"/>
              <a:t>The</a:t>
            </a:r>
            <a:r>
              <a:rPr lang="es-VE" b="1" dirty="0" smtClean="0"/>
              <a:t> </a:t>
            </a:r>
            <a:r>
              <a:rPr lang="es-VE" b="1" dirty="0" err="1" smtClean="0"/>
              <a:t>question</a:t>
            </a:r>
            <a:r>
              <a:rPr lang="es-VE" b="1" dirty="0" smtClean="0"/>
              <a:t> </a:t>
            </a:r>
            <a:r>
              <a:rPr lang="es-VE" b="1" dirty="0" err="1" smtClean="0"/>
              <a:t>is</a:t>
            </a:r>
            <a:r>
              <a:rPr lang="es-VE" b="1" dirty="0" smtClean="0"/>
              <a:t>: </a:t>
            </a:r>
            <a:r>
              <a:rPr lang="es-VE" i="1" dirty="0" smtClean="0"/>
              <a:t>¿Live or </a:t>
            </a:r>
            <a:r>
              <a:rPr lang="es-VE" i="1" dirty="0" err="1" smtClean="0"/>
              <a:t>not</a:t>
            </a:r>
            <a:r>
              <a:rPr lang="es-VE" i="1" dirty="0" smtClean="0"/>
              <a:t> </a:t>
            </a:r>
            <a:r>
              <a:rPr lang="es-VE" i="1" dirty="0" err="1" smtClean="0"/>
              <a:t>live</a:t>
            </a:r>
            <a:r>
              <a:rPr lang="es-VE" i="1" dirty="0"/>
              <a:t>?</a:t>
            </a:r>
            <a:r>
              <a:rPr lang="es-VE" dirty="0"/>
              <a:t> «Vivo» </a:t>
            </a:r>
            <a:endParaRPr lang="es-VE" dirty="0" smtClean="0"/>
          </a:p>
          <a:p>
            <a:r>
              <a:rPr lang="es-VE" b="1" dirty="0" smtClean="0"/>
              <a:t>Media: </a:t>
            </a:r>
          </a:p>
          <a:p>
            <a:pPr lvl="1"/>
            <a:r>
              <a:rPr lang="es-VE" b="1" dirty="0" err="1" smtClean="0"/>
              <a:t>From</a:t>
            </a:r>
            <a:r>
              <a:rPr lang="es-VE" b="1" dirty="0" smtClean="0"/>
              <a:t>: </a:t>
            </a:r>
            <a:r>
              <a:rPr lang="es-VE" dirty="0" err="1" smtClean="0"/>
              <a:t>Analog</a:t>
            </a:r>
            <a:r>
              <a:rPr lang="es-VE" dirty="0" smtClean="0"/>
              <a:t> (e.g. Air)</a:t>
            </a:r>
          </a:p>
          <a:p>
            <a:pPr lvl="1"/>
            <a:r>
              <a:rPr lang="es-VE" b="1" dirty="0" err="1" smtClean="0"/>
              <a:t>To</a:t>
            </a:r>
            <a:r>
              <a:rPr lang="es-VE" b="1" dirty="0" smtClean="0"/>
              <a:t>: </a:t>
            </a:r>
            <a:r>
              <a:rPr lang="es-VE" dirty="0" smtClean="0"/>
              <a:t>Digital (e.g. Internet)</a:t>
            </a:r>
          </a:p>
          <a:p>
            <a:r>
              <a:rPr lang="es-VE" b="1" dirty="0" err="1" smtClean="0"/>
              <a:t>Authoring</a:t>
            </a:r>
            <a:r>
              <a:rPr lang="es-VE" b="1" dirty="0" smtClean="0"/>
              <a:t>: </a:t>
            </a:r>
            <a:r>
              <a:rPr lang="es-VE" dirty="0" err="1" smtClean="0"/>
              <a:t>Copyleft</a:t>
            </a:r>
            <a:r>
              <a:rPr lang="es-VE" dirty="0" smtClean="0"/>
              <a:t>/Copyright</a:t>
            </a:r>
          </a:p>
          <a:p>
            <a:r>
              <a:rPr lang="es-VE" b="1" dirty="0" err="1" smtClean="0"/>
              <a:t>Protecting</a:t>
            </a:r>
            <a:r>
              <a:rPr lang="es-VE" b="1" dirty="0" smtClean="0"/>
              <a:t>: </a:t>
            </a:r>
            <a:r>
              <a:rPr lang="es-VE" dirty="0" err="1" smtClean="0"/>
              <a:t>Encrypted</a:t>
            </a:r>
            <a:r>
              <a:rPr lang="es-VE" dirty="0" smtClean="0"/>
              <a:t> or at </a:t>
            </a:r>
            <a:r>
              <a:rPr lang="es-VE" dirty="0" err="1" smtClean="0"/>
              <a:t>least</a:t>
            </a:r>
            <a:r>
              <a:rPr lang="es-VE" dirty="0" smtClean="0"/>
              <a:t> </a:t>
            </a:r>
            <a:r>
              <a:rPr lang="es-VE" dirty="0" err="1" smtClean="0"/>
              <a:t>secured</a:t>
            </a:r>
            <a:endParaRPr lang="es-VE" dirty="0" smtClean="0"/>
          </a:p>
        </p:txBody>
      </p:sp>
    </p:spTree>
    <p:extLst>
      <p:ext uri="{BB962C8B-B14F-4D97-AF65-F5344CB8AC3E}">
        <p14:creationId xmlns:p14="http://schemas.microsoft.com/office/powerpoint/2010/main" val="283351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 smtClean="0">
                <a:solidFill>
                  <a:srgbClr val="0070C0"/>
                </a:solidFill>
              </a:rPr>
              <a:t>A&amp;V Digital Processing</a:t>
            </a:r>
            <a:endParaRPr lang="es-VE" b="1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lang="es-VE" sz="3300" b="1" dirty="0" smtClean="0"/>
              <a:t>Hardware &amp; Software:</a:t>
            </a:r>
          </a:p>
          <a:p>
            <a:pPr lvl="1"/>
            <a:r>
              <a:rPr lang="es-VE" sz="3300" dirty="0" smtClean="0"/>
              <a:t>Open vs. </a:t>
            </a:r>
            <a:r>
              <a:rPr lang="es-VE" sz="3300" dirty="0" err="1" smtClean="0"/>
              <a:t>Propietary</a:t>
            </a:r>
            <a:endParaRPr lang="es-VE" sz="3300" dirty="0" smtClean="0"/>
          </a:p>
          <a:p>
            <a:r>
              <a:rPr lang="es-VE" sz="3300" b="1" dirty="0" err="1" smtClean="0"/>
              <a:t>Encoding</a:t>
            </a:r>
            <a:r>
              <a:rPr lang="es-VE" sz="3300" b="1" dirty="0" smtClean="0"/>
              <a:t>:  </a:t>
            </a:r>
          </a:p>
          <a:p>
            <a:pPr lvl="1"/>
            <a:r>
              <a:rPr lang="es-VE" sz="3300" dirty="0" smtClean="0"/>
              <a:t>Audio / Video (Capture/Record)</a:t>
            </a:r>
          </a:p>
          <a:p>
            <a:pPr lvl="1"/>
            <a:r>
              <a:rPr lang="es-VE" sz="3300" dirty="0" err="1" smtClean="0"/>
              <a:t>Analog</a:t>
            </a:r>
            <a:r>
              <a:rPr lang="es-VE" sz="3300" dirty="0" smtClean="0"/>
              <a:t>/Digital (</a:t>
            </a:r>
            <a:r>
              <a:rPr lang="es-VE" sz="3300" dirty="0" err="1" smtClean="0"/>
              <a:t>Compression</a:t>
            </a:r>
            <a:r>
              <a:rPr lang="es-VE" sz="3300" dirty="0" smtClean="0"/>
              <a:t> / </a:t>
            </a:r>
            <a:r>
              <a:rPr lang="es-VE" sz="3300" dirty="0" err="1" smtClean="0"/>
              <a:t>Lossless</a:t>
            </a:r>
            <a:r>
              <a:rPr lang="es-VE" sz="3300" dirty="0" smtClean="0"/>
              <a:t> / </a:t>
            </a:r>
            <a:r>
              <a:rPr lang="es-VE" sz="3300" dirty="0" err="1" smtClean="0"/>
              <a:t>Lossy</a:t>
            </a:r>
            <a:r>
              <a:rPr lang="es-VE" sz="3300" dirty="0" smtClean="0"/>
              <a:t>)</a:t>
            </a:r>
          </a:p>
          <a:p>
            <a:r>
              <a:rPr lang="es-VE" sz="3300" b="1" dirty="0" err="1" smtClean="0"/>
              <a:t>Transcode</a:t>
            </a:r>
            <a:r>
              <a:rPr lang="es-VE" sz="3300" b="1" dirty="0" smtClean="0"/>
              <a:t>: </a:t>
            </a:r>
          </a:p>
          <a:p>
            <a:pPr lvl="1"/>
            <a:r>
              <a:rPr lang="es-VE" sz="3300" dirty="0" err="1" smtClean="0"/>
              <a:t>Analog</a:t>
            </a:r>
            <a:r>
              <a:rPr lang="es-VE" sz="3300" dirty="0" smtClean="0"/>
              <a:t> &lt;-&gt; Digital (Format)</a:t>
            </a:r>
          </a:p>
          <a:p>
            <a:pPr lvl="1"/>
            <a:r>
              <a:rPr lang="es-VE" sz="3300" dirty="0" smtClean="0"/>
              <a:t>Hardware / CPU / GCPU</a:t>
            </a:r>
          </a:p>
          <a:p>
            <a:r>
              <a:rPr lang="es-VE" sz="3300" b="1" dirty="0" err="1" smtClean="0"/>
              <a:t>Transmuxe</a:t>
            </a:r>
            <a:r>
              <a:rPr lang="es-VE" sz="3300" b="1" dirty="0" smtClean="0"/>
              <a:t>: </a:t>
            </a:r>
          </a:p>
          <a:p>
            <a:pPr lvl="1"/>
            <a:r>
              <a:rPr lang="es-VE" sz="3300" dirty="0" smtClean="0"/>
              <a:t>Digital A&amp;V Format Conversion (</a:t>
            </a:r>
            <a:r>
              <a:rPr lang="es-VE" sz="3300" dirty="0" err="1" smtClean="0"/>
              <a:t>a.k.a</a:t>
            </a:r>
            <a:r>
              <a:rPr lang="es-VE" sz="3300" dirty="0" smtClean="0"/>
              <a:t> </a:t>
            </a:r>
            <a:r>
              <a:rPr lang="es-VE" sz="3300" dirty="0" err="1" smtClean="0"/>
              <a:t>Transcode</a:t>
            </a:r>
            <a:r>
              <a:rPr lang="es-VE" sz="3300" dirty="0" smtClean="0"/>
              <a:t>)</a:t>
            </a:r>
          </a:p>
          <a:p>
            <a:r>
              <a:rPr lang="es-VE" sz="3300" b="1" dirty="0" smtClean="0"/>
              <a:t>Stream (Digital *</a:t>
            </a:r>
            <a:r>
              <a:rPr lang="es-VE" sz="3300" b="1" dirty="0" err="1" smtClean="0"/>
              <a:t>Cast</a:t>
            </a:r>
            <a:r>
              <a:rPr lang="es-VE" sz="3300" b="1" dirty="0" smtClean="0"/>
              <a:t>): </a:t>
            </a:r>
          </a:p>
          <a:p>
            <a:pPr lvl="1"/>
            <a:r>
              <a:rPr lang="es-VE" sz="3300" dirty="0" smtClean="0"/>
              <a:t>Server / </a:t>
            </a:r>
            <a:r>
              <a:rPr lang="es-VE" sz="3300" dirty="0" err="1" smtClean="0"/>
              <a:t>Client</a:t>
            </a:r>
            <a:r>
              <a:rPr lang="es-VE" sz="3300" dirty="0" smtClean="0"/>
              <a:t> (Playback).</a:t>
            </a:r>
          </a:p>
          <a:p>
            <a:pPr lvl="1"/>
            <a:r>
              <a:rPr lang="es-VE" sz="3300" dirty="0" smtClean="0"/>
              <a:t>Live Stream =&gt; Live (Re)Streaming (LS)</a:t>
            </a:r>
          </a:p>
          <a:p>
            <a:pPr lvl="1"/>
            <a:r>
              <a:rPr lang="es-VE" sz="3300" dirty="0" err="1" smtClean="0"/>
              <a:t>Recorded</a:t>
            </a:r>
            <a:r>
              <a:rPr lang="es-VE" sz="3300" dirty="0" smtClean="0"/>
              <a:t> File =&gt; Video </a:t>
            </a:r>
            <a:r>
              <a:rPr lang="es-VE" sz="3300" dirty="0" err="1" smtClean="0"/>
              <a:t>On</a:t>
            </a:r>
            <a:r>
              <a:rPr lang="es-VE" sz="3300" dirty="0" smtClean="0"/>
              <a:t> </a:t>
            </a:r>
            <a:r>
              <a:rPr lang="es-VE" sz="3300" dirty="0" err="1" smtClean="0"/>
              <a:t>Demand</a:t>
            </a:r>
            <a:r>
              <a:rPr lang="es-VE" sz="3300" dirty="0" smtClean="0"/>
              <a:t> (VOD)</a:t>
            </a:r>
          </a:p>
          <a:p>
            <a:pPr lvl="2"/>
            <a:endParaRPr lang="es-VE" dirty="0" smtClean="0"/>
          </a:p>
        </p:txBody>
      </p:sp>
    </p:spTree>
    <p:extLst>
      <p:ext uri="{BB962C8B-B14F-4D97-AF65-F5344CB8AC3E}">
        <p14:creationId xmlns:p14="http://schemas.microsoft.com/office/powerpoint/2010/main" val="2778607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VE" b="1" dirty="0" smtClean="0">
                <a:solidFill>
                  <a:srgbClr val="0070C0"/>
                </a:solidFill>
              </a:rPr>
              <a:t>Digital</a:t>
            </a:r>
            <a:br>
              <a:rPr lang="es-VE" b="1" dirty="0" smtClean="0">
                <a:solidFill>
                  <a:srgbClr val="0070C0"/>
                </a:solidFill>
              </a:rPr>
            </a:br>
            <a:r>
              <a:rPr lang="es-VE" b="1" dirty="0" smtClean="0">
                <a:solidFill>
                  <a:srgbClr val="0070C0"/>
                </a:solidFill>
              </a:rPr>
              <a:t>Streaming</a:t>
            </a:r>
            <a:br>
              <a:rPr lang="es-VE" b="1" dirty="0" smtClean="0">
                <a:solidFill>
                  <a:srgbClr val="0070C0"/>
                </a:solidFill>
              </a:rPr>
            </a:br>
            <a:r>
              <a:rPr lang="es-VE" b="1" dirty="0" smtClean="0">
                <a:solidFill>
                  <a:srgbClr val="0070C0"/>
                </a:solidFill>
              </a:rPr>
              <a:t>Technologies</a:t>
            </a:r>
            <a:endParaRPr lang="es-VE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62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 smtClean="0">
                <a:solidFill>
                  <a:srgbClr val="0070C0"/>
                </a:solidFill>
              </a:rPr>
              <a:t>Streaming Technologies</a:t>
            </a:r>
            <a:endParaRPr lang="es-VE" b="1" dirty="0">
              <a:solidFill>
                <a:srgbClr val="0070C0"/>
              </a:solidFill>
            </a:endParaRPr>
          </a:p>
        </p:txBody>
      </p:sp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430367"/>
              </p:ext>
            </p:extLst>
          </p:nvPr>
        </p:nvGraphicFramePr>
        <p:xfrm>
          <a:off x="1523480" y="1556792"/>
          <a:ext cx="6110041" cy="329093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952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1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2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es-VE" sz="1400" b="1" dirty="0" smtClean="0"/>
                        <a:t>BENEFIT</a:t>
                      </a:r>
                      <a:endParaRPr lang="es-VE" sz="14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b="1" dirty="0" smtClean="0"/>
                        <a:t>LIVE STREAMING</a:t>
                      </a:r>
                      <a:endParaRPr lang="es-VE" sz="14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b="1" dirty="0" smtClean="0"/>
                        <a:t>PSEUDO STREAMING</a:t>
                      </a:r>
                      <a:endParaRPr lang="es-VE" sz="14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b="1" dirty="0" smtClean="0"/>
                        <a:t>PROGRESSIVE DOWNLOAD</a:t>
                      </a:r>
                      <a:endParaRPr lang="es-VE" sz="1400" b="1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313"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Real-time </a:t>
                      </a:r>
                      <a:r>
                        <a:rPr lang="es-VE" sz="1400" dirty="0" err="1" smtClean="0"/>
                        <a:t>broadcasts</a:t>
                      </a:r>
                      <a:endParaRPr lang="es-VE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4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313"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Long clips</a:t>
                      </a:r>
                      <a:endParaRPr lang="es-VE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4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62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Immediate random access to different parts of a movie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4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313"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err="1" smtClean="0"/>
                        <a:t>Downloads</a:t>
                      </a:r>
                      <a:r>
                        <a:rPr lang="es-VE" sz="1400" dirty="0" smtClean="0"/>
                        <a:t> </a:t>
                      </a:r>
                      <a:r>
                        <a:rPr lang="es-VE" sz="1400" dirty="0" err="1" smtClean="0"/>
                        <a:t>entire</a:t>
                      </a:r>
                      <a:r>
                        <a:rPr lang="es-VE" sz="1400" dirty="0" smtClean="0"/>
                        <a:t> </a:t>
                      </a:r>
                      <a:r>
                        <a:rPr lang="es-VE" sz="1400" dirty="0" err="1" smtClean="0"/>
                        <a:t>movie</a:t>
                      </a:r>
                      <a:endParaRPr lang="es-VE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/>
                        <a:t>X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862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Downloads required part of the movie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4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931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Flv</a:t>
                      </a:r>
                      <a:r>
                        <a:rPr lang="en-US" sz="1400" dirty="0" smtClean="0"/>
                        <a:t> is cached on the local system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/>
                        <a:t>X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862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Requires a specialized streaming server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4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931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Requires a web server with </a:t>
                      </a:r>
                      <a:r>
                        <a:rPr lang="en-US" sz="1400" dirty="0" err="1" smtClean="0"/>
                        <a:t>php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4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931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Can be stopped by firewalls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4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862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Consistent high quality playback at any connection speed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/>
                        <a:t>X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9313"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err="1" smtClean="0"/>
                        <a:t>Retransmits</a:t>
                      </a:r>
                      <a:r>
                        <a:rPr lang="es-VE" sz="1400" dirty="0" smtClean="0"/>
                        <a:t> </a:t>
                      </a:r>
                      <a:r>
                        <a:rPr lang="es-VE" sz="1400" dirty="0" err="1" smtClean="0"/>
                        <a:t>lost</a:t>
                      </a:r>
                      <a:r>
                        <a:rPr lang="es-VE" sz="1400" dirty="0" smtClean="0"/>
                        <a:t> </a:t>
                      </a:r>
                      <a:r>
                        <a:rPr lang="es-VE" sz="1400" dirty="0" err="1" smtClean="0"/>
                        <a:t>packets</a:t>
                      </a:r>
                      <a:endParaRPr lang="es-VE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/>
                        <a:t>X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75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 smtClean="0">
                <a:solidFill>
                  <a:srgbClr val="0070C0"/>
                </a:solidFill>
              </a:rPr>
              <a:t>Streaming Technologies</a:t>
            </a:r>
            <a:endParaRPr lang="es-VE" b="1" dirty="0">
              <a:solidFill>
                <a:srgbClr val="0070C0"/>
              </a:solidFill>
            </a:endParaRPr>
          </a:p>
        </p:txBody>
      </p:sp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278325"/>
              </p:ext>
            </p:extLst>
          </p:nvPr>
        </p:nvGraphicFramePr>
        <p:xfrm>
          <a:off x="899593" y="1628800"/>
          <a:ext cx="7272807" cy="36518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24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2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647">
                <a:tc>
                  <a:txBody>
                    <a:bodyPr/>
                    <a:lstStyle/>
                    <a:p>
                      <a:pPr algn="ctr"/>
                      <a:r>
                        <a:rPr lang="es-VE" sz="1800" b="1" dirty="0" smtClean="0"/>
                        <a:t>SCENARIO</a:t>
                      </a:r>
                      <a:endParaRPr lang="es-VE" sz="18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 b="1" dirty="0" smtClean="0"/>
                        <a:t>LIVE</a:t>
                      </a:r>
                    </a:p>
                    <a:p>
                      <a:pPr algn="ctr"/>
                      <a:r>
                        <a:rPr lang="es-VE" sz="1800" b="1" dirty="0" smtClean="0"/>
                        <a:t>STREAMING</a:t>
                      </a:r>
                      <a:endParaRPr lang="es-VE" sz="18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 b="1" dirty="0" smtClean="0"/>
                        <a:t>PSEUDO STREAMING</a:t>
                      </a:r>
                      <a:endParaRPr lang="es-VE" sz="18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 b="1" dirty="0" smtClean="0"/>
                        <a:t>PROGRESSIVE DOWNLOAD</a:t>
                      </a:r>
                      <a:endParaRPr lang="es-VE" sz="1800" b="1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323">
                <a:tc>
                  <a:txBody>
                    <a:bodyPr/>
                    <a:lstStyle/>
                    <a:p>
                      <a:pPr algn="ctr"/>
                      <a:r>
                        <a:rPr lang="es-VE" sz="1800" dirty="0" smtClean="0"/>
                        <a:t>Live </a:t>
                      </a:r>
                      <a:r>
                        <a:rPr lang="es-VE" sz="1800" dirty="0" err="1" smtClean="0"/>
                        <a:t>broadcasts</a:t>
                      </a:r>
                      <a:endParaRPr lang="es-VE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323">
                <a:tc>
                  <a:txBody>
                    <a:bodyPr/>
                    <a:lstStyle/>
                    <a:p>
                      <a:pPr algn="ctr"/>
                      <a:r>
                        <a:rPr lang="es-VE" sz="1800" dirty="0" err="1" smtClean="0"/>
                        <a:t>Webtv</a:t>
                      </a:r>
                      <a:endParaRPr lang="es-VE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 dirty="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323">
                <a:tc>
                  <a:txBody>
                    <a:bodyPr/>
                    <a:lstStyle/>
                    <a:p>
                      <a:pPr algn="ctr"/>
                      <a:r>
                        <a:rPr lang="es-VE" sz="1800" dirty="0" smtClean="0"/>
                        <a:t>E learning</a:t>
                      </a:r>
                      <a:endParaRPr lang="es-VE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 dirty="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647">
                <a:tc>
                  <a:txBody>
                    <a:bodyPr/>
                    <a:lstStyle/>
                    <a:p>
                      <a:pPr algn="ctr"/>
                      <a:r>
                        <a:rPr lang="es-VE" sz="1800" dirty="0" smtClean="0"/>
                        <a:t>Online </a:t>
                      </a:r>
                      <a:r>
                        <a:rPr lang="es-VE" sz="1800" dirty="0" err="1" smtClean="0"/>
                        <a:t>rich</a:t>
                      </a:r>
                      <a:r>
                        <a:rPr lang="es-VE" sz="1800" dirty="0" smtClean="0"/>
                        <a:t> </a:t>
                      </a:r>
                    </a:p>
                    <a:p>
                      <a:pPr algn="ctr"/>
                      <a:r>
                        <a:rPr lang="es-VE" sz="1800" dirty="0" smtClean="0"/>
                        <a:t>Media </a:t>
                      </a:r>
                      <a:r>
                        <a:rPr lang="es-VE" sz="1800" dirty="0" err="1" smtClean="0"/>
                        <a:t>presentation</a:t>
                      </a:r>
                      <a:endParaRPr lang="es-VE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 dirty="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323">
                <a:tc>
                  <a:txBody>
                    <a:bodyPr/>
                    <a:lstStyle/>
                    <a:p>
                      <a:pPr algn="ctr"/>
                      <a:r>
                        <a:rPr lang="es-VE" sz="1800" dirty="0" err="1" smtClean="0"/>
                        <a:t>Movie</a:t>
                      </a:r>
                      <a:r>
                        <a:rPr lang="es-VE" sz="1800" dirty="0" smtClean="0"/>
                        <a:t> </a:t>
                      </a:r>
                      <a:r>
                        <a:rPr lang="es-VE" sz="1800" dirty="0" err="1" smtClean="0"/>
                        <a:t>trailers</a:t>
                      </a:r>
                      <a:endParaRPr lang="es-VE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 dirty="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/>
                        <a:t>X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8647">
                <a:tc>
                  <a:txBody>
                    <a:bodyPr/>
                    <a:lstStyle/>
                    <a:p>
                      <a:pPr algn="ctr"/>
                      <a:r>
                        <a:rPr lang="es-VE" sz="1800" dirty="0" smtClean="0"/>
                        <a:t>Short </a:t>
                      </a:r>
                      <a:r>
                        <a:rPr lang="es-VE" sz="1800" dirty="0" err="1" smtClean="0"/>
                        <a:t>product</a:t>
                      </a:r>
                      <a:r>
                        <a:rPr lang="es-VE" sz="1800" dirty="0" smtClean="0"/>
                        <a:t> </a:t>
                      </a:r>
                      <a:br>
                        <a:rPr lang="es-VE" sz="1800" dirty="0" smtClean="0"/>
                      </a:br>
                      <a:r>
                        <a:rPr lang="es-VE" sz="1800" dirty="0" smtClean="0"/>
                        <a:t>training clip</a:t>
                      </a:r>
                      <a:endParaRPr lang="es-VE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/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 dirty="0"/>
                        <a:t>X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8647">
                <a:tc>
                  <a:txBody>
                    <a:bodyPr/>
                    <a:lstStyle/>
                    <a:p>
                      <a:pPr algn="ctr"/>
                      <a:r>
                        <a:rPr lang="es-VE" sz="1800" dirty="0" smtClean="0"/>
                        <a:t>Offline </a:t>
                      </a:r>
                      <a:br>
                        <a:rPr lang="es-VE" sz="1800" dirty="0" smtClean="0"/>
                      </a:br>
                      <a:r>
                        <a:rPr lang="es-VE" sz="1800" dirty="0" err="1" smtClean="0"/>
                        <a:t>product</a:t>
                      </a:r>
                      <a:r>
                        <a:rPr lang="es-VE" sz="1800" dirty="0" smtClean="0"/>
                        <a:t> (cd, </a:t>
                      </a:r>
                      <a:r>
                        <a:rPr lang="es-VE" sz="1800" dirty="0" err="1" smtClean="0"/>
                        <a:t>dvd</a:t>
                      </a:r>
                      <a:r>
                        <a:rPr lang="es-VE" sz="1800" dirty="0" smtClean="0"/>
                        <a:t>)</a:t>
                      </a:r>
                      <a:endParaRPr lang="es-VE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 dirty="0"/>
                        <a:t>X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450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 smtClean="0">
                <a:solidFill>
                  <a:srgbClr val="0070C0"/>
                </a:solidFill>
              </a:rPr>
              <a:t>Streaming </a:t>
            </a:r>
            <a:r>
              <a:rPr lang="es-VE" b="1" dirty="0" err="1" smtClean="0">
                <a:solidFill>
                  <a:srgbClr val="0070C0"/>
                </a:solidFill>
              </a:rPr>
              <a:t>Protocols</a:t>
            </a:r>
            <a:endParaRPr lang="es-VE" b="1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1" algn="just"/>
            <a:r>
              <a:rPr lang="es-VE" sz="2600" b="1" dirty="0" smtClean="0">
                <a:solidFill>
                  <a:schemeClr val="accent6">
                    <a:lumMod val="75000"/>
                  </a:schemeClr>
                </a:solidFill>
              </a:rPr>
              <a:t>Internet Based (IP):</a:t>
            </a:r>
          </a:p>
          <a:p>
            <a:pPr lvl="2" algn="just"/>
            <a:endParaRPr lang="es-VE" sz="1900" b="1" dirty="0" smtClean="0"/>
          </a:p>
          <a:p>
            <a:pPr lvl="2" algn="just"/>
            <a:r>
              <a:rPr lang="es-VE" sz="1900" b="1" dirty="0" smtClean="0"/>
              <a:t>UDP (Not </a:t>
            </a:r>
            <a:r>
              <a:rPr lang="es-VE" sz="1900" b="1" dirty="0" err="1" smtClean="0"/>
              <a:t>Connection</a:t>
            </a:r>
            <a:r>
              <a:rPr lang="es-VE" sz="1900" b="1" dirty="0" smtClean="0"/>
              <a:t> </a:t>
            </a:r>
            <a:r>
              <a:rPr lang="es-VE" sz="1900" b="1" dirty="0" err="1" smtClean="0"/>
              <a:t>Oriented</a:t>
            </a:r>
            <a:r>
              <a:rPr lang="es-VE" sz="1900" b="1" dirty="0" smtClean="0"/>
              <a:t> / </a:t>
            </a:r>
            <a:r>
              <a:rPr lang="es-VE" sz="1900" b="1" dirty="0" err="1" smtClean="0"/>
              <a:t>Datagram</a:t>
            </a:r>
            <a:r>
              <a:rPr lang="es-VE" sz="1900" b="1" dirty="0" smtClean="0"/>
              <a:t>)</a:t>
            </a:r>
          </a:p>
          <a:p>
            <a:pPr lvl="3" algn="just"/>
            <a:r>
              <a:rPr lang="en-US" sz="1900" b="1" dirty="0" smtClean="0"/>
              <a:t>Real Time Streaming Protocol</a:t>
            </a:r>
            <a:r>
              <a:rPr lang="en-US" sz="1900" dirty="0" smtClean="0"/>
              <a:t> (</a:t>
            </a:r>
            <a:r>
              <a:rPr lang="en-US" sz="1900" b="1" dirty="0" smtClean="0"/>
              <a:t>RTSP</a:t>
            </a:r>
            <a:r>
              <a:rPr lang="en-US" sz="1900" dirty="0" smtClean="0"/>
              <a:t>) is a network control protocol designed by </a:t>
            </a:r>
            <a:r>
              <a:rPr lang="en-US" sz="1900" dirty="0" err="1" smtClean="0"/>
              <a:t>RealNetworks</a:t>
            </a:r>
            <a:r>
              <a:rPr lang="en-US" sz="1900" dirty="0" smtClean="0"/>
              <a:t> (1996) for use in entertainment and communications systems to establishing and controlling media sessions  between end points </a:t>
            </a:r>
            <a:endParaRPr lang="es-VE" sz="1900" dirty="0" smtClean="0"/>
          </a:p>
          <a:p>
            <a:pPr lvl="2" algn="just"/>
            <a:endParaRPr lang="es-VE" sz="1900" b="1" dirty="0" smtClean="0"/>
          </a:p>
          <a:p>
            <a:pPr lvl="2" algn="just"/>
            <a:r>
              <a:rPr lang="es-VE" sz="1900" b="1" dirty="0" smtClean="0"/>
              <a:t>TCP (</a:t>
            </a:r>
            <a:r>
              <a:rPr lang="es-VE" sz="1900" b="1" dirty="0" err="1" smtClean="0"/>
              <a:t>Connection</a:t>
            </a:r>
            <a:r>
              <a:rPr lang="es-VE" sz="1900" b="1" dirty="0" smtClean="0"/>
              <a:t> </a:t>
            </a:r>
            <a:r>
              <a:rPr lang="es-VE" sz="1900" b="1" dirty="0" err="1" smtClean="0"/>
              <a:t>Oriented</a:t>
            </a:r>
            <a:r>
              <a:rPr lang="es-VE" sz="1900" b="1" dirty="0" smtClean="0"/>
              <a:t> / </a:t>
            </a:r>
            <a:r>
              <a:rPr lang="es-VE" sz="1900" b="1" dirty="0" err="1" smtClean="0"/>
              <a:t>Packet</a:t>
            </a:r>
            <a:r>
              <a:rPr lang="es-VE" sz="1900" b="1" dirty="0" smtClean="0"/>
              <a:t>)</a:t>
            </a:r>
          </a:p>
          <a:p>
            <a:pPr lvl="3" algn="just"/>
            <a:r>
              <a:rPr lang="es-VE" sz="1900" b="1" dirty="0" smtClean="0"/>
              <a:t>RTMP (Real Time </a:t>
            </a:r>
            <a:r>
              <a:rPr lang="es-VE" sz="1900" b="1" dirty="0" err="1" smtClean="0"/>
              <a:t>Messaging</a:t>
            </a:r>
            <a:r>
              <a:rPr lang="es-VE" sz="1900" b="1" dirty="0" smtClean="0"/>
              <a:t> Protocol) </a:t>
            </a:r>
            <a:r>
              <a:rPr lang="es-VE" sz="1900" dirty="0" smtClean="0"/>
              <a:t>created by Macromedia (Adobe) for Internet </a:t>
            </a:r>
            <a:r>
              <a:rPr lang="es-VE" sz="1900" dirty="0" err="1" smtClean="0"/>
              <a:t>stream</a:t>
            </a:r>
            <a:r>
              <a:rPr lang="es-VE" sz="1900" dirty="0" smtClean="0"/>
              <a:t> of Flash Video (FLV ~ H.263 + MP3). </a:t>
            </a:r>
            <a:r>
              <a:rPr lang="es-VE" sz="1900" dirty="0" err="1" smtClean="0"/>
              <a:t>Released</a:t>
            </a:r>
            <a:r>
              <a:rPr lang="es-VE" sz="1900" dirty="0" smtClean="0"/>
              <a:t> for </a:t>
            </a:r>
            <a:r>
              <a:rPr lang="es-VE" sz="1900" dirty="0" err="1" smtClean="0"/>
              <a:t>public</a:t>
            </a:r>
            <a:r>
              <a:rPr lang="es-VE" sz="1900" dirty="0" smtClean="0"/>
              <a:t> use in 2005</a:t>
            </a:r>
          </a:p>
          <a:p>
            <a:pPr lvl="3" algn="just"/>
            <a:endParaRPr lang="es-VE" sz="1900" dirty="0" smtClean="0"/>
          </a:p>
          <a:p>
            <a:pPr lvl="3" algn="just"/>
            <a:r>
              <a:rPr lang="es-VE" sz="1900" b="1" dirty="0" smtClean="0"/>
              <a:t>Web Real Time </a:t>
            </a:r>
            <a:r>
              <a:rPr lang="es-VE" sz="1900" b="1" dirty="0" err="1" smtClean="0"/>
              <a:t>Communication</a:t>
            </a:r>
            <a:r>
              <a:rPr lang="es-VE" sz="1900" b="1" dirty="0" smtClean="0"/>
              <a:t> (</a:t>
            </a:r>
            <a:r>
              <a:rPr lang="es-VE" sz="1900" b="1" dirty="0" err="1" smtClean="0"/>
              <a:t>WebRTC</a:t>
            </a:r>
            <a:r>
              <a:rPr lang="es-VE" sz="1900" b="1" dirty="0" smtClean="0"/>
              <a:t>) </a:t>
            </a:r>
            <a:r>
              <a:rPr lang="es-VE" sz="1900" dirty="0" smtClean="0"/>
              <a:t>new </a:t>
            </a:r>
            <a:r>
              <a:rPr lang="es-VE" sz="1900" dirty="0" err="1" smtClean="0"/>
              <a:t>project</a:t>
            </a:r>
            <a:r>
              <a:rPr lang="es-VE" sz="1900" dirty="0" smtClean="0"/>
              <a:t> for </a:t>
            </a:r>
            <a:r>
              <a:rPr lang="es-VE" sz="1900" dirty="0" err="1" smtClean="0"/>
              <a:t>native</a:t>
            </a:r>
            <a:r>
              <a:rPr lang="es-VE" sz="1900" dirty="0" smtClean="0"/>
              <a:t> </a:t>
            </a:r>
            <a:r>
              <a:rPr lang="es-VE" sz="1900" dirty="0" err="1" smtClean="0"/>
              <a:t>zero</a:t>
            </a:r>
            <a:r>
              <a:rPr lang="es-VE" sz="1900" dirty="0" smtClean="0"/>
              <a:t> </a:t>
            </a:r>
            <a:r>
              <a:rPr lang="es-VE" sz="1900" dirty="0" err="1" smtClean="0"/>
              <a:t>install</a:t>
            </a:r>
            <a:r>
              <a:rPr lang="es-VE" sz="1900" dirty="0" smtClean="0"/>
              <a:t> </a:t>
            </a:r>
            <a:r>
              <a:rPr lang="es-VE" sz="1900" dirty="0" err="1" smtClean="0"/>
              <a:t>any</a:t>
            </a:r>
            <a:r>
              <a:rPr lang="es-VE" sz="1900" dirty="0" smtClean="0"/>
              <a:t> browser open and free video streaming </a:t>
            </a:r>
            <a:r>
              <a:rPr lang="es-VE" sz="1900" dirty="0" err="1" smtClean="0"/>
              <a:t>standart</a:t>
            </a:r>
            <a:r>
              <a:rPr lang="es-VE" sz="1900" dirty="0" smtClean="0"/>
              <a:t> for Internet, </a:t>
            </a:r>
            <a:r>
              <a:rPr lang="es-VE" sz="1900" dirty="0" err="1" smtClean="0"/>
              <a:t>started</a:t>
            </a:r>
            <a:r>
              <a:rPr lang="es-VE" sz="1900" dirty="0" smtClean="0"/>
              <a:t> in 2011. </a:t>
            </a:r>
            <a:r>
              <a:rPr lang="es-VE" sz="1900" dirty="0" err="1" smtClean="0"/>
              <a:t>Supported</a:t>
            </a:r>
            <a:r>
              <a:rPr lang="es-VE" sz="1900" dirty="0" smtClean="0"/>
              <a:t> by </a:t>
            </a:r>
            <a:r>
              <a:rPr lang="es-VE" sz="1900" dirty="0" err="1" smtClean="0"/>
              <a:t>all</a:t>
            </a:r>
            <a:r>
              <a:rPr lang="es-VE" sz="1900" dirty="0" smtClean="0"/>
              <a:t> </a:t>
            </a:r>
            <a:r>
              <a:rPr lang="es-VE" sz="1900" dirty="0" err="1" smtClean="0"/>
              <a:t>major</a:t>
            </a:r>
            <a:r>
              <a:rPr lang="es-VE" sz="1900" dirty="0" smtClean="0"/>
              <a:t> browsers </a:t>
            </a:r>
            <a:r>
              <a:rPr lang="es-VE" sz="1900" dirty="0" err="1" smtClean="0"/>
              <a:t>Chrome</a:t>
            </a:r>
            <a:r>
              <a:rPr lang="es-VE" sz="1900" dirty="0" smtClean="0"/>
              <a:t>, Firefox, Opera, Android &amp; </a:t>
            </a:r>
            <a:r>
              <a:rPr lang="es-VE" sz="1900" dirty="0" err="1" smtClean="0"/>
              <a:t>iOS</a:t>
            </a:r>
            <a:endParaRPr lang="es-VE" sz="1900" dirty="0" smtClean="0"/>
          </a:p>
          <a:p>
            <a:pPr lvl="2" algn="just"/>
            <a:endParaRPr lang="es-VE" sz="1900" dirty="0" smtClean="0"/>
          </a:p>
          <a:p>
            <a:pPr lvl="2" algn="just"/>
            <a:r>
              <a:rPr lang="es-VE" sz="1900" b="1" dirty="0" err="1" smtClean="0"/>
              <a:t>Others</a:t>
            </a:r>
            <a:r>
              <a:rPr lang="es-VE" sz="1900" b="1" dirty="0" smtClean="0"/>
              <a:t>:</a:t>
            </a:r>
          </a:p>
          <a:p>
            <a:pPr lvl="3" algn="just"/>
            <a:r>
              <a:rPr lang="es-VE" sz="1900" b="1" dirty="0" smtClean="0"/>
              <a:t>MPEG-2 </a:t>
            </a:r>
            <a:r>
              <a:rPr lang="es-VE" sz="1900" b="1" dirty="0" err="1" smtClean="0"/>
              <a:t>Transport</a:t>
            </a:r>
            <a:r>
              <a:rPr lang="es-VE" sz="1900" b="1" dirty="0" smtClean="0"/>
              <a:t> Stream (MPEG-TS) </a:t>
            </a:r>
            <a:r>
              <a:rPr lang="es-VE" sz="1900" dirty="0" err="1" smtClean="0"/>
              <a:t>is</a:t>
            </a:r>
            <a:r>
              <a:rPr lang="es-VE" sz="1900" dirty="0" smtClean="0"/>
              <a:t> a </a:t>
            </a:r>
            <a:r>
              <a:rPr lang="es-VE" sz="1900" dirty="0" err="1" smtClean="0"/>
              <a:t>standard</a:t>
            </a:r>
            <a:r>
              <a:rPr lang="es-VE" sz="1900" dirty="0" smtClean="0"/>
              <a:t> digital </a:t>
            </a:r>
            <a:r>
              <a:rPr lang="es-VE" sz="1900" dirty="0" err="1" smtClean="0"/>
              <a:t>container</a:t>
            </a:r>
            <a:r>
              <a:rPr lang="es-VE" sz="1900" dirty="0" smtClean="0"/>
              <a:t> </a:t>
            </a:r>
            <a:r>
              <a:rPr lang="es-VE" sz="1900" dirty="0" err="1" smtClean="0"/>
              <a:t>format</a:t>
            </a:r>
            <a:r>
              <a:rPr lang="es-VE" sz="1900" dirty="0" smtClean="0"/>
              <a:t> for </a:t>
            </a:r>
            <a:r>
              <a:rPr lang="es-VE" sz="1900" dirty="0" err="1" smtClean="0"/>
              <a:t>transmission</a:t>
            </a:r>
            <a:r>
              <a:rPr lang="es-VE" sz="1900" dirty="0" smtClean="0"/>
              <a:t> and </a:t>
            </a:r>
            <a:r>
              <a:rPr lang="es-VE" sz="1900" dirty="0" err="1" smtClean="0"/>
              <a:t>storage</a:t>
            </a:r>
            <a:r>
              <a:rPr lang="es-VE" sz="1900" dirty="0" smtClean="0"/>
              <a:t> of audio, video, and </a:t>
            </a:r>
            <a:r>
              <a:rPr lang="es-VE" sz="1900" dirty="0" err="1" smtClean="0"/>
              <a:t>Program</a:t>
            </a:r>
            <a:r>
              <a:rPr lang="es-VE" sz="1900" dirty="0" smtClean="0"/>
              <a:t> and System </a:t>
            </a:r>
            <a:r>
              <a:rPr lang="es-VE" sz="1900" dirty="0" err="1" smtClean="0"/>
              <a:t>Information</a:t>
            </a:r>
            <a:r>
              <a:rPr lang="es-VE" sz="1900" dirty="0" smtClean="0"/>
              <a:t> Protocol (PSIP) data.[3] </a:t>
            </a:r>
            <a:r>
              <a:rPr lang="es-VE" sz="1900" dirty="0" err="1" smtClean="0"/>
              <a:t>It</a:t>
            </a:r>
            <a:r>
              <a:rPr lang="es-VE" sz="1900" dirty="0" smtClean="0"/>
              <a:t> </a:t>
            </a:r>
            <a:r>
              <a:rPr lang="es-VE" sz="1900" dirty="0" err="1" smtClean="0"/>
              <a:t>is</a:t>
            </a:r>
            <a:r>
              <a:rPr lang="es-VE" sz="1900" dirty="0" smtClean="0"/>
              <a:t> </a:t>
            </a:r>
            <a:r>
              <a:rPr lang="es-VE" sz="1900" dirty="0" err="1" smtClean="0"/>
              <a:t>used</a:t>
            </a:r>
            <a:r>
              <a:rPr lang="es-VE" sz="1900" dirty="0" smtClean="0"/>
              <a:t> in broadcast </a:t>
            </a:r>
            <a:r>
              <a:rPr lang="es-VE" sz="1900" dirty="0" err="1" smtClean="0"/>
              <a:t>systems</a:t>
            </a:r>
            <a:r>
              <a:rPr lang="es-VE" sz="1900" dirty="0" smtClean="0"/>
              <a:t> </a:t>
            </a:r>
            <a:r>
              <a:rPr lang="es-VE" sz="1900" dirty="0" err="1" smtClean="0"/>
              <a:t>such</a:t>
            </a:r>
            <a:r>
              <a:rPr lang="es-VE" sz="1900" dirty="0" smtClean="0"/>
              <a:t> as Digital Video </a:t>
            </a:r>
            <a:r>
              <a:rPr lang="es-VE" sz="1900" dirty="0" err="1" smtClean="0"/>
              <a:t>Broadcasting</a:t>
            </a:r>
            <a:r>
              <a:rPr lang="es-VE" sz="1900" dirty="0" smtClean="0"/>
              <a:t> (DVB), ATSC and IPTV</a:t>
            </a:r>
          </a:p>
          <a:p>
            <a:pPr lvl="3" algn="just"/>
            <a:endParaRPr lang="es-VE" sz="1400" dirty="0" smtClean="0"/>
          </a:p>
          <a:p>
            <a:pPr lvl="2" algn="just"/>
            <a:endParaRPr lang="es-VE" sz="2000" b="1" dirty="0" smtClean="0"/>
          </a:p>
          <a:p>
            <a:pPr lvl="3" algn="just"/>
            <a:endParaRPr lang="es-VE" sz="1400" dirty="0" smtClean="0"/>
          </a:p>
          <a:p>
            <a:pPr lvl="2" algn="just"/>
            <a:endParaRPr lang="es-VE" sz="1800" dirty="0" smtClean="0"/>
          </a:p>
          <a:p>
            <a:endParaRPr lang="es-VE" b="1" dirty="0" smtClean="0"/>
          </a:p>
          <a:p>
            <a:pPr>
              <a:tabLst>
                <a:tab pos="87313" algn="l"/>
              </a:tabLst>
            </a:pPr>
            <a:endParaRPr lang="es-VE" dirty="0" smtClean="0"/>
          </a:p>
          <a:p>
            <a:pPr lvl="1"/>
            <a:endParaRPr lang="es-VE" dirty="0" smtClean="0"/>
          </a:p>
        </p:txBody>
      </p:sp>
    </p:spTree>
    <p:extLst>
      <p:ext uri="{BB962C8B-B14F-4D97-AF65-F5344CB8AC3E}">
        <p14:creationId xmlns:p14="http://schemas.microsoft.com/office/powerpoint/2010/main" val="3551504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 smtClean="0">
                <a:solidFill>
                  <a:srgbClr val="0070C0"/>
                </a:solidFill>
              </a:rPr>
              <a:t>Streaming </a:t>
            </a:r>
            <a:r>
              <a:rPr lang="es-VE" b="1" dirty="0" err="1" smtClean="0">
                <a:solidFill>
                  <a:srgbClr val="0070C0"/>
                </a:solidFill>
              </a:rPr>
              <a:t>Protocols</a:t>
            </a:r>
            <a:endParaRPr lang="es-VE" b="1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70000" lnSpcReduction="20000"/>
          </a:bodyPr>
          <a:lstStyle/>
          <a:p>
            <a:pPr lvl="1" algn="just"/>
            <a:r>
              <a:rPr lang="es-VE" sz="3400" b="1" dirty="0" smtClean="0">
                <a:solidFill>
                  <a:schemeClr val="accent6">
                    <a:lumMod val="75000"/>
                  </a:schemeClr>
                </a:solidFill>
              </a:rPr>
              <a:t>Web Based (HTTP):</a:t>
            </a:r>
          </a:p>
          <a:p>
            <a:pPr lvl="1" algn="just"/>
            <a:endParaRPr lang="es-VE" b="1" dirty="0" smtClean="0"/>
          </a:p>
          <a:p>
            <a:pPr lvl="2" algn="just"/>
            <a:r>
              <a:rPr lang="es-VE" sz="2300" b="1" dirty="0" err="1" smtClean="0"/>
              <a:t>Progressive</a:t>
            </a:r>
            <a:r>
              <a:rPr lang="es-VE" sz="2300" b="1" dirty="0" smtClean="0"/>
              <a:t> Download (</a:t>
            </a:r>
            <a:r>
              <a:rPr lang="es-VE" sz="2300" b="1" dirty="0" err="1" smtClean="0"/>
              <a:t>Pseudostreaming</a:t>
            </a:r>
            <a:r>
              <a:rPr lang="es-VE" sz="2300" b="1" dirty="0" smtClean="0"/>
              <a:t>):</a:t>
            </a:r>
            <a:r>
              <a:rPr lang="es-VE" sz="2300" dirty="0" smtClean="0"/>
              <a:t> web server </a:t>
            </a:r>
            <a:r>
              <a:rPr lang="es-VE" sz="2300" dirty="0" err="1" smtClean="0"/>
              <a:t>based</a:t>
            </a:r>
            <a:r>
              <a:rPr lang="es-VE" sz="2300" dirty="0" smtClean="0"/>
              <a:t> </a:t>
            </a:r>
            <a:r>
              <a:rPr lang="es-VE" sz="2300" dirty="0" err="1" smtClean="0"/>
              <a:t>method</a:t>
            </a:r>
            <a:r>
              <a:rPr lang="es-VE" sz="2300" dirty="0" smtClean="0"/>
              <a:t> for </a:t>
            </a:r>
            <a:r>
              <a:rPr lang="es-VE" sz="2300" dirty="0" err="1" smtClean="0"/>
              <a:t>seek</a:t>
            </a:r>
            <a:r>
              <a:rPr lang="es-VE" sz="2300" dirty="0" smtClean="0"/>
              <a:t> and </a:t>
            </a:r>
            <a:r>
              <a:rPr lang="es-VE" sz="2300" dirty="0" err="1" smtClean="0"/>
              <a:t>buffering</a:t>
            </a:r>
            <a:r>
              <a:rPr lang="es-VE" sz="2300" dirty="0" smtClean="0"/>
              <a:t>, Apache/</a:t>
            </a:r>
            <a:r>
              <a:rPr lang="es-VE" sz="2300" dirty="0" err="1" smtClean="0"/>
              <a:t>Lighthttpd</a:t>
            </a:r>
            <a:r>
              <a:rPr lang="es-VE" sz="2300" dirty="0" smtClean="0"/>
              <a:t> (</a:t>
            </a:r>
            <a:r>
              <a:rPr lang="es-VE" sz="2300" dirty="0" err="1" smtClean="0"/>
              <a:t>mod</a:t>
            </a:r>
            <a:r>
              <a:rPr lang="es-VE" sz="2300" dirty="0" smtClean="0"/>
              <a:t>_[h264|flvx]), Nginx (http_[mp4|flvx]_module, </a:t>
            </a:r>
            <a:r>
              <a:rPr lang="es-VE" sz="2300" dirty="0" err="1" smtClean="0"/>
              <a:t>Nimble</a:t>
            </a:r>
            <a:r>
              <a:rPr lang="es-VE" sz="2300" dirty="0" smtClean="0"/>
              <a:t> </a:t>
            </a:r>
            <a:r>
              <a:rPr lang="es-VE" sz="2300" dirty="0" err="1" smtClean="0"/>
              <a:t>Streamer</a:t>
            </a:r>
            <a:r>
              <a:rPr lang="es-VE" sz="2300" dirty="0" smtClean="0"/>
              <a:t> and </a:t>
            </a:r>
            <a:r>
              <a:rPr lang="es-VE" sz="2300" dirty="0" err="1" smtClean="0"/>
              <a:t>many</a:t>
            </a:r>
            <a:r>
              <a:rPr lang="es-VE" sz="2300" dirty="0" smtClean="0"/>
              <a:t> </a:t>
            </a:r>
            <a:r>
              <a:rPr lang="es-VE" sz="2300" dirty="0" err="1" smtClean="0"/>
              <a:t>others</a:t>
            </a:r>
            <a:r>
              <a:rPr lang="es-VE" sz="2300" dirty="0" smtClean="0"/>
              <a:t>).</a:t>
            </a:r>
          </a:p>
          <a:p>
            <a:pPr lvl="2" algn="just"/>
            <a:endParaRPr lang="es-VE" sz="2300" b="1" dirty="0"/>
          </a:p>
          <a:p>
            <a:pPr lvl="3" algn="just"/>
            <a:r>
              <a:rPr lang="es-VE" sz="2300" b="1" dirty="0" smtClean="0"/>
              <a:t>HTML 5: </a:t>
            </a:r>
            <a:r>
              <a:rPr lang="es-VE" sz="2300" dirty="0" err="1" smtClean="0"/>
              <a:t>Most</a:t>
            </a:r>
            <a:r>
              <a:rPr lang="es-VE" sz="2300" dirty="0" smtClean="0"/>
              <a:t> of browsers are </a:t>
            </a:r>
            <a:r>
              <a:rPr lang="es-VE" sz="2300" dirty="0" err="1" smtClean="0"/>
              <a:t>comming</a:t>
            </a:r>
            <a:r>
              <a:rPr lang="es-VE" sz="2300" dirty="0" smtClean="0"/>
              <a:t> </a:t>
            </a:r>
            <a:r>
              <a:rPr lang="es-VE" sz="2300" dirty="0" err="1" smtClean="0"/>
              <a:t>to</a:t>
            </a:r>
            <a:r>
              <a:rPr lang="es-VE" sz="2300" dirty="0" smtClean="0"/>
              <a:t> </a:t>
            </a:r>
            <a:r>
              <a:rPr lang="es-VE" sz="2300" dirty="0" err="1" smtClean="0"/>
              <a:t>support</a:t>
            </a:r>
            <a:r>
              <a:rPr lang="es-VE" sz="2300" dirty="0" smtClean="0"/>
              <a:t> open &amp; </a:t>
            </a:r>
            <a:r>
              <a:rPr lang="es-VE" sz="2300" dirty="0" err="1" smtClean="0"/>
              <a:t>standart</a:t>
            </a:r>
            <a:r>
              <a:rPr lang="es-VE" sz="2300" dirty="0" smtClean="0"/>
              <a:t> «video audio» combos: WAVE PCM, MP4 H.264 (AAC o MP3), </a:t>
            </a:r>
            <a:r>
              <a:rPr lang="es-VE" sz="2300" dirty="0" err="1" smtClean="0"/>
              <a:t>WebM</a:t>
            </a:r>
            <a:r>
              <a:rPr lang="es-VE" sz="2300" dirty="0" smtClean="0"/>
              <a:t>, </a:t>
            </a:r>
            <a:r>
              <a:rPr lang="es-VE" sz="2300" dirty="0" err="1" smtClean="0"/>
              <a:t>Ogg</a:t>
            </a:r>
            <a:r>
              <a:rPr lang="es-VE" sz="2300" dirty="0" smtClean="0"/>
              <a:t> </a:t>
            </a:r>
            <a:r>
              <a:rPr lang="es-VE" sz="2300" dirty="0" err="1" smtClean="0"/>
              <a:t>Theora</a:t>
            </a:r>
            <a:r>
              <a:rPr lang="es-VE" sz="2300" dirty="0" smtClean="0"/>
              <a:t> </a:t>
            </a:r>
            <a:r>
              <a:rPr lang="es-VE" sz="2300" dirty="0" err="1" smtClean="0"/>
              <a:t>Vorbis</a:t>
            </a:r>
            <a:r>
              <a:rPr lang="es-VE" sz="2300" dirty="0" smtClean="0"/>
              <a:t>, </a:t>
            </a:r>
            <a:r>
              <a:rPr lang="es-VE" sz="2300" dirty="0" err="1" smtClean="0"/>
              <a:t>Ogg</a:t>
            </a:r>
            <a:r>
              <a:rPr lang="es-VE" sz="2300" dirty="0" smtClean="0"/>
              <a:t> Opus.</a:t>
            </a:r>
          </a:p>
          <a:p>
            <a:pPr marL="914400" lvl="2" indent="0" algn="just">
              <a:buNone/>
            </a:pPr>
            <a:endParaRPr lang="es-VE" sz="2300" dirty="0" smtClean="0"/>
          </a:p>
          <a:p>
            <a:pPr lvl="2" algn="just"/>
            <a:r>
              <a:rPr lang="es-VE" sz="2300" b="1" dirty="0" smtClean="0"/>
              <a:t>HTTP Live Streaming (HLS) </a:t>
            </a:r>
            <a:r>
              <a:rPr lang="es-VE" sz="2300" dirty="0" smtClean="0"/>
              <a:t>created by Apple for streaming audio </a:t>
            </a:r>
            <a:r>
              <a:rPr lang="es-VE" sz="2300" dirty="0" err="1" smtClean="0"/>
              <a:t>to</a:t>
            </a:r>
            <a:r>
              <a:rPr lang="es-VE" sz="2300" dirty="0" smtClean="0"/>
              <a:t> </a:t>
            </a:r>
            <a:r>
              <a:rPr lang="es-VE" sz="2300" dirty="0" err="1" smtClean="0"/>
              <a:t>its</a:t>
            </a:r>
            <a:r>
              <a:rPr lang="es-VE" sz="2300" dirty="0" smtClean="0"/>
              <a:t> iPhone, </a:t>
            </a:r>
            <a:r>
              <a:rPr lang="es-VE" sz="2300" dirty="0" err="1" smtClean="0"/>
              <a:t>iPad</a:t>
            </a:r>
            <a:r>
              <a:rPr lang="es-VE" sz="2300" dirty="0" smtClean="0"/>
              <a:t>, Mac, Apple TV devices (</a:t>
            </a:r>
            <a:r>
              <a:rPr lang="es-VE" sz="2300" dirty="0" err="1" smtClean="0"/>
              <a:t>also</a:t>
            </a:r>
            <a:r>
              <a:rPr lang="es-VE" sz="2300" dirty="0" smtClean="0"/>
              <a:t> PC) </a:t>
            </a:r>
            <a:r>
              <a:rPr lang="es-VE" sz="2300" dirty="0" err="1" smtClean="0"/>
              <a:t>since</a:t>
            </a:r>
            <a:r>
              <a:rPr lang="es-VE" sz="2300" dirty="0" smtClean="0"/>
              <a:t> 2009. </a:t>
            </a:r>
          </a:p>
          <a:p>
            <a:pPr lvl="3" algn="just"/>
            <a:r>
              <a:rPr lang="es-VE" sz="2300" dirty="0" smtClean="0"/>
              <a:t>Apple VOD </a:t>
            </a:r>
            <a:r>
              <a:rPr lang="es-VE" sz="2300" dirty="0" err="1" smtClean="0"/>
              <a:t>formats</a:t>
            </a:r>
            <a:r>
              <a:rPr lang="es-VE" sz="2300" dirty="0" smtClean="0"/>
              <a:t> </a:t>
            </a:r>
            <a:r>
              <a:rPr lang="es-VE" sz="2300" dirty="0" err="1" smtClean="0"/>
              <a:t>takes</a:t>
            </a:r>
            <a:r>
              <a:rPr lang="es-VE" sz="2300" dirty="0" smtClean="0"/>
              <a:t> video file </a:t>
            </a:r>
            <a:r>
              <a:rPr lang="es-VE" sz="2300" dirty="0" err="1" smtClean="0"/>
              <a:t>from</a:t>
            </a:r>
            <a:r>
              <a:rPr lang="es-VE" sz="2300" dirty="0" smtClean="0"/>
              <a:t> MPEG-4 / QuickTime MOV </a:t>
            </a:r>
            <a:r>
              <a:rPr lang="es-VE" sz="2300" dirty="0" err="1" smtClean="0"/>
              <a:t>to</a:t>
            </a:r>
            <a:r>
              <a:rPr lang="es-VE" sz="2300" dirty="0" smtClean="0"/>
              <a:t> H.264 </a:t>
            </a:r>
            <a:r>
              <a:rPr lang="es-VE" sz="2300" dirty="0" err="1" smtClean="0"/>
              <a:t>Compression</a:t>
            </a:r>
            <a:r>
              <a:rPr lang="es-VE" sz="2300" dirty="0" smtClean="0"/>
              <a:t> and audio files </a:t>
            </a:r>
            <a:r>
              <a:rPr lang="es-VE" sz="2300" dirty="0" err="1" smtClean="0"/>
              <a:t>to</a:t>
            </a:r>
            <a:r>
              <a:rPr lang="es-VE" sz="2300" dirty="0" smtClean="0"/>
              <a:t> AAC or MP3 </a:t>
            </a:r>
            <a:r>
              <a:rPr lang="es-VE" sz="2300" dirty="0" err="1" smtClean="0"/>
              <a:t>compression</a:t>
            </a:r>
            <a:r>
              <a:rPr lang="es-VE" sz="2300" dirty="0" smtClean="0"/>
              <a:t>. </a:t>
            </a:r>
          </a:p>
          <a:p>
            <a:pPr lvl="3" algn="just"/>
            <a:r>
              <a:rPr lang="es-VE" sz="2300" dirty="0" smtClean="0"/>
              <a:t>Apple LS </a:t>
            </a:r>
            <a:r>
              <a:rPr lang="es-VE" sz="2300" dirty="0" err="1" smtClean="0"/>
              <a:t>formats</a:t>
            </a:r>
            <a:r>
              <a:rPr lang="es-VE" sz="2300" dirty="0" smtClean="0"/>
              <a:t> uses MPEG-2 </a:t>
            </a:r>
            <a:r>
              <a:rPr lang="es-VE" sz="2300" dirty="0" err="1" smtClean="0"/>
              <a:t>transport</a:t>
            </a:r>
            <a:r>
              <a:rPr lang="es-VE" sz="2300" dirty="0" smtClean="0"/>
              <a:t> streams </a:t>
            </a:r>
            <a:r>
              <a:rPr lang="es-VE" sz="2300" dirty="0" err="1" smtClean="0"/>
              <a:t>carrying</a:t>
            </a:r>
            <a:r>
              <a:rPr lang="es-VE" sz="2300" dirty="0" smtClean="0"/>
              <a:t> H.264 video, AAC or MP3 audio.</a:t>
            </a:r>
          </a:p>
          <a:p>
            <a:pPr marL="1371600" lvl="3" indent="0" algn="just">
              <a:buNone/>
            </a:pPr>
            <a:endParaRPr lang="es-VE" sz="2300" dirty="0" smtClean="0"/>
          </a:p>
          <a:p>
            <a:pPr lvl="2" algn="just"/>
            <a:r>
              <a:rPr lang="es-VE" sz="2300" b="1" dirty="0" smtClean="0"/>
              <a:t>Dynamic </a:t>
            </a:r>
            <a:r>
              <a:rPr lang="es-VE" sz="2300" b="1" dirty="0" err="1" smtClean="0"/>
              <a:t>Adaptive</a:t>
            </a:r>
            <a:r>
              <a:rPr lang="es-VE" sz="2300" b="1" dirty="0" smtClean="0"/>
              <a:t> Streaming over HTTP (mpeg-DASH) </a:t>
            </a:r>
            <a:r>
              <a:rPr lang="es-VE" sz="2300" dirty="0" err="1" smtClean="0"/>
              <a:t>developed</a:t>
            </a:r>
            <a:r>
              <a:rPr lang="es-VE" sz="2300" dirty="0" smtClean="0"/>
              <a:t> by MPEG (</a:t>
            </a:r>
            <a:r>
              <a:rPr lang="es-VE" sz="2300" dirty="0" err="1" smtClean="0"/>
              <a:t>Moving</a:t>
            </a:r>
            <a:r>
              <a:rPr lang="es-VE" sz="2300" dirty="0" smtClean="0"/>
              <a:t> Picture </a:t>
            </a:r>
            <a:r>
              <a:rPr lang="es-VE" sz="2300" dirty="0" err="1" smtClean="0"/>
              <a:t>Expert</a:t>
            </a:r>
            <a:r>
              <a:rPr lang="es-VE" sz="2300" dirty="0" smtClean="0"/>
              <a:t> </a:t>
            </a:r>
            <a:r>
              <a:rPr lang="es-VE" sz="2300" dirty="0" err="1" smtClean="0"/>
              <a:t>Group</a:t>
            </a:r>
            <a:r>
              <a:rPr lang="es-VE" sz="2300" dirty="0" smtClean="0"/>
              <a:t>) </a:t>
            </a:r>
            <a:r>
              <a:rPr lang="es-VE" sz="2300" dirty="0" err="1" smtClean="0"/>
              <a:t>is</a:t>
            </a:r>
            <a:r>
              <a:rPr lang="es-VE" sz="2300" dirty="0" smtClean="0"/>
              <a:t> </a:t>
            </a:r>
            <a:r>
              <a:rPr lang="es-VE" sz="2300" dirty="0" err="1" smtClean="0"/>
              <a:t>the</a:t>
            </a:r>
            <a:r>
              <a:rPr lang="es-VE" sz="2300" dirty="0" smtClean="0"/>
              <a:t> ISO/IEC 23009-1:2012[14[ </a:t>
            </a:r>
            <a:r>
              <a:rPr lang="es-VE" sz="2300" dirty="0" err="1" smtClean="0"/>
              <a:t>since</a:t>
            </a:r>
            <a:r>
              <a:rPr lang="es-VE" sz="2300" dirty="0" smtClean="0"/>
              <a:t> </a:t>
            </a:r>
            <a:r>
              <a:rPr lang="es-VE" sz="2300" dirty="0" err="1" smtClean="0"/>
              <a:t>April</a:t>
            </a:r>
            <a:r>
              <a:rPr lang="es-VE" sz="2300" dirty="0" smtClean="0"/>
              <a:t> 2012.</a:t>
            </a:r>
          </a:p>
          <a:p>
            <a:pPr lvl="3" algn="just"/>
            <a:endParaRPr lang="es-VE" sz="2300" dirty="0" smtClean="0"/>
          </a:p>
          <a:p>
            <a:endParaRPr lang="es-VE" b="1" dirty="0" smtClean="0"/>
          </a:p>
          <a:p>
            <a:pPr>
              <a:tabLst>
                <a:tab pos="87313" algn="l"/>
              </a:tabLst>
            </a:pPr>
            <a:endParaRPr lang="es-VE" dirty="0" smtClean="0"/>
          </a:p>
          <a:p>
            <a:pPr lvl="1"/>
            <a:endParaRPr lang="es-VE" dirty="0" smtClean="0"/>
          </a:p>
        </p:txBody>
      </p:sp>
    </p:spTree>
    <p:extLst>
      <p:ext uri="{BB962C8B-B14F-4D97-AF65-F5344CB8AC3E}">
        <p14:creationId xmlns:p14="http://schemas.microsoft.com/office/powerpoint/2010/main" val="3129318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 smtClean="0">
                <a:solidFill>
                  <a:srgbClr val="0070C0"/>
                </a:solidFill>
              </a:rPr>
              <a:t>Streaming </a:t>
            </a:r>
            <a:r>
              <a:rPr lang="es-VE" b="1" dirty="0" err="1" smtClean="0">
                <a:solidFill>
                  <a:srgbClr val="0070C0"/>
                </a:solidFill>
              </a:rPr>
              <a:t>Protocols</a:t>
            </a:r>
            <a:endParaRPr lang="es-VE" b="1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7931224" cy="4709120"/>
          </a:xfrm>
        </p:spPr>
        <p:txBody>
          <a:bodyPr>
            <a:normAutofit fontScale="92500"/>
          </a:bodyPr>
          <a:lstStyle/>
          <a:p>
            <a:pPr lvl="1" algn="just"/>
            <a:r>
              <a:rPr lang="es-VE" sz="3400" b="1" dirty="0" smtClean="0">
                <a:solidFill>
                  <a:schemeClr val="accent6">
                    <a:lumMod val="75000"/>
                  </a:schemeClr>
                </a:solidFill>
              </a:rPr>
              <a:t>Web Based (HTTP):</a:t>
            </a:r>
          </a:p>
          <a:p>
            <a:pPr lvl="2" algn="just"/>
            <a:r>
              <a:rPr lang="es-VE" sz="2300" b="1" dirty="0" smtClean="0"/>
              <a:t>HTTP Dynamic Streaming (HDS): </a:t>
            </a:r>
            <a:r>
              <a:rPr lang="es-VE" sz="2300" dirty="0" smtClean="0"/>
              <a:t>created by Adobe as </a:t>
            </a:r>
            <a:r>
              <a:rPr lang="es-VE" sz="2300" dirty="0" err="1" smtClean="0"/>
              <a:t>part</a:t>
            </a:r>
            <a:r>
              <a:rPr lang="es-VE" sz="2300" dirty="0" smtClean="0"/>
              <a:t> of Flash (&gt;=10.1) using MP4 Fragment Format (ISO/IEC 14496-12:2008) </a:t>
            </a:r>
            <a:r>
              <a:rPr lang="es-VE" sz="2300" dirty="0" err="1" smtClean="0"/>
              <a:t>that</a:t>
            </a:r>
            <a:r>
              <a:rPr lang="es-VE" sz="2300" dirty="0" smtClean="0"/>
              <a:t> </a:t>
            </a:r>
            <a:r>
              <a:rPr lang="es-VE" sz="2300" dirty="0" err="1" smtClean="0"/>
              <a:t>allows</a:t>
            </a:r>
            <a:r>
              <a:rPr lang="es-VE" sz="2300" dirty="0" smtClean="0"/>
              <a:t> </a:t>
            </a:r>
            <a:r>
              <a:rPr lang="es-VE" sz="2300" dirty="0" err="1" smtClean="0"/>
              <a:t>fetch</a:t>
            </a:r>
            <a:r>
              <a:rPr lang="es-VE" sz="2300" dirty="0"/>
              <a:t> </a:t>
            </a:r>
            <a:r>
              <a:rPr lang="es-VE" sz="2300" dirty="0" err="1" smtClean="0"/>
              <a:t>smaller</a:t>
            </a:r>
            <a:r>
              <a:rPr lang="es-VE" sz="2300" dirty="0" smtClean="0"/>
              <a:t> </a:t>
            </a:r>
            <a:r>
              <a:rPr lang="es-VE" sz="2300" dirty="0" err="1" smtClean="0"/>
              <a:t>portions</a:t>
            </a:r>
            <a:r>
              <a:rPr lang="es-VE" sz="2300" dirty="0" smtClean="0"/>
              <a:t> of media </a:t>
            </a:r>
            <a:r>
              <a:rPr lang="es-VE" sz="2300" dirty="0" err="1" smtClean="0"/>
              <a:t>than</a:t>
            </a:r>
            <a:r>
              <a:rPr lang="es-VE" sz="2300" dirty="0" smtClean="0"/>
              <a:t> HLS. </a:t>
            </a:r>
            <a:r>
              <a:rPr lang="es-VE" sz="2300" dirty="0" err="1" smtClean="0"/>
              <a:t>Allows</a:t>
            </a:r>
            <a:r>
              <a:rPr lang="es-VE" sz="2300" dirty="0" smtClean="0"/>
              <a:t> DRM </a:t>
            </a:r>
            <a:r>
              <a:rPr lang="es-VE" sz="2300" dirty="0" err="1" smtClean="0"/>
              <a:t>on</a:t>
            </a:r>
            <a:r>
              <a:rPr lang="es-VE" sz="2300" dirty="0" smtClean="0"/>
              <a:t> </a:t>
            </a:r>
            <a:r>
              <a:rPr lang="es-VE" sz="2300" dirty="0" err="1" smtClean="0"/>
              <a:t>live</a:t>
            </a:r>
            <a:r>
              <a:rPr lang="es-VE" sz="2300" dirty="0" smtClean="0"/>
              <a:t> or VOD. </a:t>
            </a:r>
            <a:r>
              <a:rPr lang="es-VE" sz="2300" dirty="0" err="1" smtClean="0"/>
              <a:t>Improve</a:t>
            </a:r>
            <a:r>
              <a:rPr lang="es-VE" sz="2300" dirty="0" smtClean="0"/>
              <a:t> RTMP Dynamic Streaming (Flash &gt;=6) and HTTP </a:t>
            </a:r>
            <a:r>
              <a:rPr lang="es-VE" sz="2300" dirty="0" err="1" smtClean="0"/>
              <a:t>Progresive</a:t>
            </a:r>
            <a:r>
              <a:rPr lang="es-VE" sz="2300" dirty="0" smtClean="0"/>
              <a:t> Download (Flash &gt;=7) </a:t>
            </a:r>
            <a:r>
              <a:rPr lang="es-VE" sz="2300" dirty="0" err="1" smtClean="0"/>
              <a:t>from</a:t>
            </a:r>
            <a:r>
              <a:rPr lang="es-VE" sz="2300" dirty="0" smtClean="0"/>
              <a:t> Adobe.</a:t>
            </a:r>
          </a:p>
          <a:p>
            <a:pPr lvl="2" algn="just"/>
            <a:endParaRPr lang="es-VE" sz="2300" dirty="0" smtClean="0"/>
          </a:p>
          <a:p>
            <a:pPr lvl="2" algn="just"/>
            <a:r>
              <a:rPr lang="es-VE" sz="2300" b="1" dirty="0" smtClean="0"/>
              <a:t>Microsoft Smooth Streaming (MSS): </a:t>
            </a:r>
            <a:r>
              <a:rPr lang="es-VE" sz="2300" dirty="0" err="1" smtClean="0"/>
              <a:t>is</a:t>
            </a:r>
            <a:r>
              <a:rPr lang="es-VE" sz="2300" dirty="0" smtClean="0"/>
              <a:t> a pseudo-streaming </a:t>
            </a:r>
            <a:r>
              <a:rPr lang="es-VE" sz="2300" dirty="0" err="1" smtClean="0"/>
              <a:t>implementation</a:t>
            </a:r>
            <a:r>
              <a:rPr lang="es-VE" sz="2300" dirty="0" smtClean="0"/>
              <a:t> </a:t>
            </a:r>
            <a:r>
              <a:rPr lang="es-VE" sz="2300" dirty="0" err="1" smtClean="0"/>
              <a:t>introduced</a:t>
            </a:r>
            <a:r>
              <a:rPr lang="es-VE" sz="2300" dirty="0" smtClean="0"/>
              <a:t> in 2008 by Microsoft as </a:t>
            </a:r>
            <a:r>
              <a:rPr lang="es-VE" sz="2300" dirty="0" err="1" smtClean="0"/>
              <a:t>part</a:t>
            </a:r>
            <a:r>
              <a:rPr lang="es-VE" sz="2300" dirty="0" smtClean="0"/>
              <a:t> of </a:t>
            </a:r>
            <a:r>
              <a:rPr lang="es-VE" sz="2300" dirty="0" err="1" smtClean="0"/>
              <a:t>their</a:t>
            </a:r>
            <a:r>
              <a:rPr lang="es-VE" sz="2300" dirty="0" smtClean="0"/>
              <a:t> Silverlight </a:t>
            </a:r>
            <a:r>
              <a:rPr lang="es-VE" sz="2300" dirty="0" err="1" smtClean="0"/>
              <a:t>architecture</a:t>
            </a:r>
            <a:r>
              <a:rPr lang="es-VE" sz="2300" dirty="0" smtClean="0"/>
              <a:t>.  Microsoft and </a:t>
            </a:r>
            <a:r>
              <a:rPr lang="es-VE" sz="2300" dirty="0" err="1" smtClean="0"/>
              <a:t>Akamai</a:t>
            </a:r>
            <a:r>
              <a:rPr lang="es-VE" sz="2300" dirty="0" smtClean="0"/>
              <a:t> </a:t>
            </a:r>
            <a:r>
              <a:rPr lang="es-VE" sz="2300" dirty="0" err="1" smtClean="0"/>
              <a:t>works</a:t>
            </a:r>
            <a:r>
              <a:rPr lang="es-VE" sz="2300" dirty="0" smtClean="0"/>
              <a:t> </a:t>
            </a:r>
            <a:r>
              <a:rPr lang="es-VE" sz="2300" dirty="0" err="1" smtClean="0"/>
              <a:t>on</a:t>
            </a:r>
            <a:r>
              <a:rPr lang="es-VE" sz="2300" dirty="0" smtClean="0"/>
              <a:t> «www.smoothHD.com».</a:t>
            </a:r>
          </a:p>
          <a:p>
            <a:pPr lvl="3" algn="just"/>
            <a:endParaRPr lang="es-VE" sz="2300" dirty="0" smtClean="0"/>
          </a:p>
          <a:p>
            <a:endParaRPr lang="es-VE" b="1" dirty="0" smtClean="0"/>
          </a:p>
          <a:p>
            <a:pPr>
              <a:tabLst>
                <a:tab pos="87313" algn="l"/>
              </a:tabLst>
            </a:pPr>
            <a:endParaRPr lang="es-VE" dirty="0" smtClean="0"/>
          </a:p>
          <a:p>
            <a:pPr lvl="1"/>
            <a:endParaRPr lang="es-VE" dirty="0" smtClean="0"/>
          </a:p>
        </p:txBody>
      </p:sp>
    </p:spTree>
    <p:extLst>
      <p:ext uri="{BB962C8B-B14F-4D97-AF65-F5344CB8AC3E}">
        <p14:creationId xmlns:p14="http://schemas.microsoft.com/office/powerpoint/2010/main" val="321927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 smtClean="0">
                <a:solidFill>
                  <a:srgbClr val="0070C0"/>
                </a:solidFill>
              </a:rPr>
              <a:t>Streaming </a:t>
            </a:r>
            <a:r>
              <a:rPr lang="es-VE" b="1" dirty="0" err="1" smtClean="0">
                <a:solidFill>
                  <a:srgbClr val="0070C0"/>
                </a:solidFill>
              </a:rPr>
              <a:t>Protocols</a:t>
            </a:r>
            <a:endParaRPr lang="es-VE" b="1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pPr lvl="1" algn="just"/>
            <a:r>
              <a:rPr lang="es-VE" sz="3200" b="1" dirty="0" smtClean="0">
                <a:solidFill>
                  <a:schemeClr val="accent6">
                    <a:lumMod val="75000"/>
                  </a:schemeClr>
                </a:solidFill>
              </a:rPr>
              <a:t>Web Based (HTTP):</a:t>
            </a:r>
            <a:endParaRPr lang="es-VE" b="1" dirty="0" smtClean="0"/>
          </a:p>
          <a:p>
            <a:pPr lvl="2" algn="just"/>
            <a:r>
              <a:rPr lang="en-US" sz="2300" b="1" dirty="0" err="1" smtClean="0"/>
              <a:t>SHOUTcast</a:t>
            </a:r>
            <a:r>
              <a:rPr lang="en-US" sz="2300" dirty="0" smtClean="0"/>
              <a:t> cross-platform proprietary freeware for streaming media (audio/MP3) over the Internet developed by </a:t>
            </a:r>
            <a:r>
              <a:rPr lang="en-US" sz="2300" dirty="0" err="1" smtClean="0"/>
              <a:t>Nullsoft</a:t>
            </a:r>
            <a:r>
              <a:rPr lang="en-US" sz="2300" dirty="0" smtClean="0"/>
              <a:t> but owned by AOL.</a:t>
            </a:r>
          </a:p>
          <a:p>
            <a:pPr lvl="2" algn="just"/>
            <a:endParaRPr lang="en-US" sz="2300" dirty="0" smtClean="0"/>
          </a:p>
          <a:p>
            <a:pPr lvl="2" algn="just"/>
            <a:r>
              <a:rPr lang="en-US" sz="2300" b="1" dirty="0" err="1" smtClean="0"/>
              <a:t>IceCast</a:t>
            </a:r>
            <a:r>
              <a:rPr lang="en-US" sz="2300" b="1" dirty="0" smtClean="0"/>
              <a:t>:</a:t>
            </a:r>
            <a:r>
              <a:rPr lang="en-US" sz="2300" dirty="0" smtClean="0"/>
              <a:t> cross-platform free software (GPLv2) </a:t>
            </a:r>
            <a:r>
              <a:rPr lang="en-US" sz="2300" dirty="0" err="1" smtClean="0"/>
              <a:t>mantained</a:t>
            </a:r>
            <a:r>
              <a:rPr lang="en-US" sz="2300" dirty="0" smtClean="0"/>
              <a:t> by the </a:t>
            </a:r>
            <a:r>
              <a:rPr lang="en-US" sz="2300" dirty="0" err="1" smtClean="0"/>
              <a:t>Xiph.Org</a:t>
            </a:r>
            <a:r>
              <a:rPr lang="en-US" sz="2300" dirty="0" smtClean="0"/>
              <a:t> (</a:t>
            </a:r>
            <a:r>
              <a:rPr lang="en-US" sz="2300" dirty="0" smtClean="0">
                <a:hlinkClick r:id="rId3"/>
              </a:rPr>
              <a:t>www.icecast.org</a:t>
            </a:r>
            <a:r>
              <a:rPr lang="en-US" sz="2300" dirty="0" smtClean="0"/>
              <a:t>) for streaming the following streams: </a:t>
            </a:r>
            <a:r>
              <a:rPr lang="en-US" dirty="0" err="1" smtClean="0"/>
              <a:t>Ogg</a:t>
            </a:r>
            <a:r>
              <a:rPr lang="en-US" dirty="0" smtClean="0"/>
              <a:t> (</a:t>
            </a:r>
            <a:r>
              <a:rPr lang="en-US" dirty="0" err="1" smtClean="0"/>
              <a:t>Vorbis</a:t>
            </a:r>
            <a:r>
              <a:rPr lang="en-US" dirty="0" smtClean="0"/>
              <a:t>, </a:t>
            </a:r>
            <a:r>
              <a:rPr lang="en-US" dirty="0" err="1" smtClean="0"/>
              <a:t>Speex</a:t>
            </a:r>
            <a:r>
              <a:rPr lang="en-US" dirty="0" smtClean="0"/>
              <a:t>, </a:t>
            </a:r>
            <a:r>
              <a:rPr lang="en-US" dirty="0" err="1" smtClean="0"/>
              <a:t>Flac</a:t>
            </a:r>
            <a:r>
              <a:rPr lang="en-US" dirty="0" smtClean="0"/>
              <a:t>, </a:t>
            </a:r>
            <a:r>
              <a:rPr lang="en-US" dirty="0" err="1" smtClean="0"/>
              <a:t>Theora</a:t>
            </a:r>
            <a:r>
              <a:rPr lang="en-US" dirty="0" smtClean="0"/>
              <a:t>), Opus, </a:t>
            </a:r>
            <a:r>
              <a:rPr lang="en-US" dirty="0" err="1" smtClean="0"/>
              <a:t>WebM</a:t>
            </a:r>
            <a:r>
              <a:rPr lang="en-US" dirty="0" smtClean="0"/>
              <a:t> and MP3</a:t>
            </a:r>
            <a:r>
              <a:rPr lang="es-VE" dirty="0" smtClean="0"/>
              <a:t>.</a:t>
            </a:r>
          </a:p>
          <a:p>
            <a:pPr lvl="1"/>
            <a:endParaRPr lang="es-VE" dirty="0" smtClean="0"/>
          </a:p>
        </p:txBody>
      </p:sp>
    </p:spTree>
    <p:extLst>
      <p:ext uri="{BB962C8B-B14F-4D97-AF65-F5344CB8AC3E}">
        <p14:creationId xmlns:p14="http://schemas.microsoft.com/office/powerpoint/2010/main" val="189025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VE" b="1" dirty="0" smtClean="0">
                <a:solidFill>
                  <a:srgbClr val="0070C0"/>
                </a:solidFill>
              </a:rPr>
              <a:t>Audio &amp; Video </a:t>
            </a:r>
            <a:r>
              <a:rPr lang="es-VE" b="1" dirty="0" err="1" smtClean="0">
                <a:solidFill>
                  <a:srgbClr val="0070C0"/>
                </a:solidFill>
              </a:rPr>
              <a:t>Formats</a:t>
            </a:r>
            <a:endParaRPr lang="es-VE" b="1" dirty="0">
              <a:solidFill>
                <a:srgbClr val="0070C0"/>
              </a:solidFill>
            </a:endParaRPr>
          </a:p>
        </p:txBody>
      </p:sp>
      <p:sp>
        <p:nvSpPr>
          <p:cNvPr id="4" name="3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VE" dirty="0" err="1" smtClean="0"/>
              <a:t>They</a:t>
            </a:r>
            <a:r>
              <a:rPr lang="es-VE" dirty="0" smtClean="0"/>
              <a:t> </a:t>
            </a:r>
            <a:r>
              <a:rPr lang="es-VE" dirty="0" err="1" smtClean="0"/>
              <a:t>can’t</a:t>
            </a:r>
            <a:r>
              <a:rPr lang="es-VE" dirty="0" smtClean="0"/>
              <a:t> be </a:t>
            </a:r>
            <a:r>
              <a:rPr lang="es-VE" dirty="0" err="1" smtClean="0"/>
              <a:t>written</a:t>
            </a:r>
            <a:r>
              <a:rPr lang="es-VE" dirty="0" smtClean="0"/>
              <a:t> </a:t>
            </a:r>
            <a:r>
              <a:rPr lang="es-VE" dirty="0" err="1" smtClean="0"/>
              <a:t>neither</a:t>
            </a:r>
            <a:r>
              <a:rPr lang="es-VE" dirty="0" smtClean="0"/>
              <a:t> </a:t>
            </a:r>
            <a:r>
              <a:rPr lang="es-VE" dirty="0" err="1" smtClean="0"/>
              <a:t>this</a:t>
            </a:r>
            <a:r>
              <a:rPr lang="es-VE" dirty="0" smtClean="0"/>
              <a:t> </a:t>
            </a:r>
            <a:r>
              <a:rPr lang="es-VE" dirty="0" err="1" smtClean="0"/>
              <a:t>slide</a:t>
            </a:r>
            <a:r>
              <a:rPr lang="es-VE" dirty="0" smtClean="0"/>
              <a:t> </a:t>
            </a:r>
            <a:r>
              <a:rPr lang="es-VE" dirty="0" err="1" smtClean="0"/>
              <a:t>nor</a:t>
            </a:r>
            <a:r>
              <a:rPr lang="es-VE" dirty="0" smtClean="0"/>
              <a:t> </a:t>
            </a:r>
            <a:r>
              <a:rPr lang="es-VE" dirty="0" err="1" smtClean="0"/>
              <a:t>this</a:t>
            </a:r>
            <a:r>
              <a:rPr lang="es-VE" dirty="0" smtClean="0"/>
              <a:t> </a:t>
            </a:r>
            <a:r>
              <a:rPr lang="es-VE" dirty="0" err="1" smtClean="0"/>
              <a:t>document</a:t>
            </a:r>
            <a:r>
              <a:rPr lang="es-VE" dirty="0" smtClean="0"/>
              <a:t>…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840429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VE" sz="3600" b="1" dirty="0" err="1" smtClean="0">
                <a:solidFill>
                  <a:srgbClr val="0070C0"/>
                </a:solidFill>
              </a:rPr>
              <a:t>Formats</a:t>
            </a:r>
            <a:r>
              <a:rPr lang="es-VE" sz="3600" b="1" dirty="0" smtClean="0">
                <a:solidFill>
                  <a:srgbClr val="0070C0"/>
                </a:solidFill>
              </a:rPr>
              <a:t> versus </a:t>
            </a:r>
            <a:r>
              <a:rPr lang="es-VE" sz="3600" b="1" dirty="0" err="1" smtClean="0">
                <a:solidFill>
                  <a:srgbClr val="0070C0"/>
                </a:solidFill>
              </a:rPr>
              <a:t>Protocols</a:t>
            </a:r>
            <a:endParaRPr lang="es-VE" sz="3600" b="1" dirty="0">
              <a:solidFill>
                <a:srgbClr val="0070C0"/>
              </a:solidFill>
            </a:endParaRP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1238250"/>
            <a:ext cx="8486775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5076056" y="2924944"/>
            <a:ext cx="37393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H.264 + AAC</a:t>
            </a:r>
            <a:endParaRPr lang="es-VE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116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 smtClean="0">
                <a:solidFill>
                  <a:srgbClr val="0070C0"/>
                </a:solidFill>
              </a:rPr>
              <a:t>Live Transcoder</a:t>
            </a:r>
            <a:endParaRPr lang="es-VE" b="1" dirty="0">
              <a:solidFill>
                <a:srgbClr val="0070C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556792"/>
            <a:ext cx="7755783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5580112" y="5001344"/>
            <a:ext cx="2736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 smtClean="0">
                <a:solidFill>
                  <a:srgbClr val="FF0000"/>
                </a:solidFill>
              </a:rPr>
              <a:t>Not for free</a:t>
            </a:r>
          </a:p>
          <a:p>
            <a:pPr algn="ctr"/>
            <a:r>
              <a:rPr lang="es-VE" sz="2400" b="1" dirty="0" smtClean="0"/>
              <a:t>Stream (Live) != File</a:t>
            </a:r>
            <a:endParaRPr lang="es-VE" sz="2400" b="1" dirty="0"/>
          </a:p>
        </p:txBody>
      </p:sp>
    </p:spTree>
    <p:extLst>
      <p:ext uri="{BB962C8B-B14F-4D97-AF65-F5344CB8AC3E}">
        <p14:creationId xmlns:p14="http://schemas.microsoft.com/office/powerpoint/2010/main" val="313148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VE" b="1" dirty="0" smtClean="0">
                <a:solidFill>
                  <a:srgbClr val="0070C0"/>
                </a:solidFill>
              </a:rPr>
              <a:t>Digital</a:t>
            </a:r>
            <a:br>
              <a:rPr lang="es-VE" b="1" dirty="0" smtClean="0">
                <a:solidFill>
                  <a:srgbClr val="0070C0"/>
                </a:solidFill>
              </a:rPr>
            </a:br>
            <a:r>
              <a:rPr lang="es-VE" b="1" dirty="0" smtClean="0">
                <a:solidFill>
                  <a:srgbClr val="0070C0"/>
                </a:solidFill>
              </a:rPr>
              <a:t>Streaming </a:t>
            </a:r>
            <a:br>
              <a:rPr lang="es-VE" b="1" dirty="0" smtClean="0">
                <a:solidFill>
                  <a:srgbClr val="0070C0"/>
                </a:solidFill>
              </a:rPr>
            </a:br>
            <a:r>
              <a:rPr lang="es-VE" b="1" dirty="0" err="1" smtClean="0">
                <a:solidFill>
                  <a:srgbClr val="0070C0"/>
                </a:solidFill>
              </a:rPr>
              <a:t>Architectures</a:t>
            </a:r>
            <a:endParaRPr lang="es-VE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322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VE" sz="3600" b="1" dirty="0" smtClean="0">
                <a:solidFill>
                  <a:srgbClr val="0070C0"/>
                </a:solidFill>
              </a:rPr>
              <a:t>Live Streaming (Transmuxing)</a:t>
            </a:r>
            <a:endParaRPr lang="es-VE" sz="3600" b="1" dirty="0">
              <a:solidFill>
                <a:srgbClr val="0070C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57" y="1340768"/>
            <a:ext cx="5524500" cy="515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95460"/>
            <a:ext cx="4297997" cy="2269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210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 smtClean="0">
                <a:solidFill>
                  <a:srgbClr val="0070C0"/>
                </a:solidFill>
              </a:rPr>
              <a:t>Live Streaming (RTMP)</a:t>
            </a:r>
            <a:endParaRPr lang="es-VE" b="1" dirty="0">
              <a:solidFill>
                <a:srgbClr val="0070C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412776"/>
            <a:ext cx="5524500" cy="484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6204350" y="2884874"/>
            <a:ext cx="2328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400" b="1" i="1" dirty="0" smtClean="0">
                <a:solidFill>
                  <a:srgbClr val="0070C0"/>
                </a:solidFill>
              </a:rPr>
              <a:t>Re-streaming</a:t>
            </a:r>
            <a:endParaRPr lang="es-VE" sz="2400" b="1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896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 smtClean="0">
                <a:solidFill>
                  <a:srgbClr val="0070C0"/>
                </a:solidFill>
              </a:rPr>
              <a:t>Live Streaming (RTSP)</a:t>
            </a:r>
            <a:endParaRPr lang="es-VE" b="1" dirty="0">
              <a:solidFill>
                <a:srgbClr val="0070C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341579"/>
            <a:ext cx="5524500" cy="516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2276872"/>
            <a:ext cx="3405926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0268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 err="1" smtClean="0">
                <a:solidFill>
                  <a:srgbClr val="0070C0"/>
                </a:solidFill>
              </a:rPr>
              <a:t>Pseudo</a:t>
            </a:r>
            <a:r>
              <a:rPr lang="es-VE" b="1" dirty="0" smtClean="0">
                <a:solidFill>
                  <a:srgbClr val="0070C0"/>
                </a:solidFill>
              </a:rPr>
              <a:t> Streaming</a:t>
            </a:r>
            <a:endParaRPr lang="es-VE" b="1" dirty="0">
              <a:solidFill>
                <a:srgbClr val="0070C0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233624"/>
            <a:ext cx="5056705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187624" y="5179341"/>
            <a:ext cx="71287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s-VE" b="1" dirty="0" smtClean="0"/>
              <a:t>File </a:t>
            </a:r>
            <a:r>
              <a:rPr lang="es-VE" b="1" dirty="0" err="1" smtClean="0"/>
              <a:t>formats</a:t>
            </a:r>
            <a:r>
              <a:rPr lang="es-VE" b="1" dirty="0" smtClean="0"/>
              <a:t>: </a:t>
            </a:r>
            <a:r>
              <a:rPr lang="es-VE" dirty="0" smtClean="0"/>
              <a:t>mp3, mp4, </a:t>
            </a:r>
            <a:r>
              <a:rPr lang="es-VE" dirty="0" err="1" smtClean="0"/>
              <a:t>flv</a:t>
            </a:r>
            <a:r>
              <a:rPr lang="es-VE" dirty="0" smtClean="0"/>
              <a:t>, </a:t>
            </a:r>
            <a:r>
              <a:rPr lang="es-VE" dirty="0" err="1" smtClean="0"/>
              <a:t>oga</a:t>
            </a:r>
            <a:r>
              <a:rPr lang="es-VE" dirty="0" smtClean="0"/>
              <a:t>, </a:t>
            </a:r>
            <a:r>
              <a:rPr lang="es-VE" dirty="0" err="1" smtClean="0"/>
              <a:t>ogv</a:t>
            </a:r>
            <a:r>
              <a:rPr lang="es-VE" dirty="0" smtClean="0"/>
              <a:t>, </a:t>
            </a:r>
            <a:r>
              <a:rPr lang="es-VE" dirty="0" err="1" smtClean="0"/>
              <a:t>wav</a:t>
            </a:r>
            <a:r>
              <a:rPr lang="es-VE" dirty="0" smtClean="0"/>
              <a:t>, </a:t>
            </a:r>
            <a:r>
              <a:rPr lang="es-VE" dirty="0" err="1" smtClean="0"/>
              <a:t>webm</a:t>
            </a:r>
            <a:r>
              <a:rPr lang="es-VE" dirty="0" smtClean="0"/>
              <a:t>, </a:t>
            </a:r>
            <a:r>
              <a:rPr lang="es-VE" dirty="0" err="1" smtClean="0"/>
              <a:t>mkv</a:t>
            </a:r>
            <a:endParaRPr lang="es-VE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b="1" dirty="0"/>
              <a:t>Optimization: </a:t>
            </a:r>
            <a:r>
              <a:rPr lang="en-US" dirty="0"/>
              <a:t>flash time marks seek, HTTP range header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VE" b="1" dirty="0" err="1" smtClean="0"/>
              <a:t>Packet</a:t>
            </a:r>
            <a:r>
              <a:rPr lang="es-VE" b="1" dirty="0" smtClean="0"/>
              <a:t> </a:t>
            </a:r>
            <a:r>
              <a:rPr lang="es-VE" b="1" dirty="0" err="1" smtClean="0"/>
              <a:t>loss</a:t>
            </a:r>
            <a:r>
              <a:rPr lang="es-VE" b="1" dirty="0" smtClean="0"/>
              <a:t> </a:t>
            </a:r>
            <a:r>
              <a:rPr lang="es-VE" b="1" dirty="0" err="1" smtClean="0"/>
              <a:t>retransmission</a:t>
            </a:r>
            <a:r>
              <a:rPr lang="es-VE" b="1" dirty="0" smtClean="0"/>
              <a:t>:</a:t>
            </a:r>
            <a:r>
              <a:rPr lang="es-VE" dirty="0" smtClean="0"/>
              <a:t> </a:t>
            </a:r>
            <a:r>
              <a:rPr lang="es-VE" dirty="0" err="1" smtClean="0"/>
              <a:t>which</a:t>
            </a:r>
            <a:r>
              <a:rPr lang="es-VE" dirty="0" smtClean="0"/>
              <a:t> </a:t>
            </a:r>
            <a:r>
              <a:rPr lang="es-VE" dirty="0" err="1" smtClean="0"/>
              <a:t>is</a:t>
            </a:r>
            <a:r>
              <a:rPr lang="es-VE" dirty="0" smtClean="0"/>
              <a:t> </a:t>
            </a:r>
            <a:r>
              <a:rPr lang="es-VE" dirty="0" err="1" smtClean="0"/>
              <a:t>not</a:t>
            </a:r>
            <a:r>
              <a:rPr lang="es-VE" dirty="0" smtClean="0"/>
              <a:t> </a:t>
            </a:r>
            <a:r>
              <a:rPr lang="es-VE" dirty="0" err="1" smtClean="0"/>
              <a:t>available</a:t>
            </a:r>
            <a:r>
              <a:rPr lang="es-VE" dirty="0" smtClean="0"/>
              <a:t> </a:t>
            </a:r>
            <a:r>
              <a:rPr lang="es-VE" dirty="0" err="1" smtClean="0"/>
              <a:t>on</a:t>
            </a:r>
            <a:r>
              <a:rPr lang="es-VE" dirty="0" smtClean="0"/>
              <a:t> </a:t>
            </a:r>
            <a:r>
              <a:rPr lang="es-VE" dirty="0" err="1" smtClean="0"/>
              <a:t>live</a:t>
            </a:r>
            <a:r>
              <a:rPr lang="es-VE" dirty="0" smtClean="0"/>
              <a:t> streaming</a:t>
            </a:r>
            <a:endParaRPr lang="es-VE" dirty="0"/>
          </a:p>
        </p:txBody>
      </p:sp>
      <p:sp>
        <p:nvSpPr>
          <p:cNvPr id="4" name="3 CuadroTexto"/>
          <p:cNvSpPr txBox="1"/>
          <p:nvPr/>
        </p:nvSpPr>
        <p:spPr>
          <a:xfrm>
            <a:off x="6471105" y="1412776"/>
            <a:ext cx="21602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b="1" dirty="0" err="1" smtClean="0">
                <a:solidFill>
                  <a:srgbClr val="FF0000"/>
                </a:solidFill>
              </a:rPr>
              <a:t>Keyframes</a:t>
            </a:r>
            <a:endParaRPr lang="es-VE" b="1" dirty="0" smtClean="0">
              <a:solidFill>
                <a:srgbClr val="FF0000"/>
              </a:solidFill>
            </a:endParaRPr>
          </a:p>
          <a:p>
            <a:pPr algn="ctr"/>
            <a:r>
              <a:rPr lang="es-VE" b="1" dirty="0" smtClean="0">
                <a:solidFill>
                  <a:srgbClr val="FF0000"/>
                </a:solidFill>
              </a:rPr>
              <a:t>Play Back &amp; Forward</a:t>
            </a:r>
          </a:p>
          <a:p>
            <a:pPr algn="ctr"/>
            <a:r>
              <a:rPr lang="es-VE" b="1" dirty="0" err="1" smtClean="0">
                <a:solidFill>
                  <a:srgbClr val="FF0000"/>
                </a:solidFill>
              </a:rPr>
              <a:t>Range</a:t>
            </a:r>
            <a:r>
              <a:rPr lang="es-VE" b="1" dirty="0" smtClean="0">
                <a:solidFill>
                  <a:srgbClr val="FF0000"/>
                </a:solidFill>
              </a:rPr>
              <a:t> Download</a:t>
            </a:r>
          </a:p>
          <a:p>
            <a:pPr algn="ctr"/>
            <a:r>
              <a:rPr lang="es-VE" b="1" dirty="0" err="1" smtClean="0">
                <a:solidFill>
                  <a:srgbClr val="FF0000"/>
                </a:solidFill>
              </a:rPr>
              <a:t>Only</a:t>
            </a:r>
            <a:r>
              <a:rPr lang="es-VE" b="1" dirty="0" smtClean="0">
                <a:solidFill>
                  <a:srgbClr val="FF0000"/>
                </a:solidFill>
              </a:rPr>
              <a:t> HTTP</a:t>
            </a:r>
            <a:endParaRPr lang="es-VE" b="1" dirty="0">
              <a:solidFill>
                <a:srgbClr val="FF0000"/>
              </a:solidFill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644181" y="1538207"/>
            <a:ext cx="17641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b="1" dirty="0" err="1" smtClean="0">
                <a:solidFill>
                  <a:srgbClr val="FF0000"/>
                </a:solidFill>
              </a:rPr>
              <a:t>Buffered</a:t>
            </a:r>
            <a:endParaRPr lang="es-VE" b="1" dirty="0" smtClean="0">
              <a:solidFill>
                <a:srgbClr val="FF0000"/>
              </a:solidFill>
            </a:endParaRPr>
          </a:p>
          <a:p>
            <a:pPr algn="ctr"/>
            <a:r>
              <a:rPr lang="es-VE" b="1" dirty="0" err="1" smtClean="0">
                <a:solidFill>
                  <a:srgbClr val="FF0000"/>
                </a:solidFill>
              </a:rPr>
              <a:t>Current</a:t>
            </a:r>
            <a:r>
              <a:rPr lang="es-VE" b="1" dirty="0" smtClean="0">
                <a:solidFill>
                  <a:srgbClr val="FF0000"/>
                </a:solidFill>
              </a:rPr>
              <a:t> </a:t>
            </a:r>
            <a:r>
              <a:rPr lang="es-VE" b="1" dirty="0" err="1" smtClean="0">
                <a:solidFill>
                  <a:srgbClr val="FF0000"/>
                </a:solidFill>
              </a:rPr>
              <a:t>Playing</a:t>
            </a:r>
            <a:endParaRPr lang="es-VE" b="1" dirty="0" smtClean="0">
              <a:solidFill>
                <a:srgbClr val="FF0000"/>
              </a:solidFill>
            </a:endParaRPr>
          </a:p>
          <a:p>
            <a:pPr algn="ctr"/>
            <a:r>
              <a:rPr lang="es-VE" b="1" dirty="0" smtClean="0">
                <a:solidFill>
                  <a:srgbClr val="FF0000"/>
                </a:solidFill>
              </a:rPr>
              <a:t>Lineal Download</a:t>
            </a:r>
          </a:p>
          <a:p>
            <a:pPr algn="ctr"/>
            <a:r>
              <a:rPr lang="es-VE" b="1" dirty="0" smtClean="0">
                <a:solidFill>
                  <a:srgbClr val="FF0000"/>
                </a:solidFill>
              </a:rPr>
              <a:t>FTP or HTTP</a:t>
            </a:r>
            <a:endParaRPr lang="es-VE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98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 smtClean="0">
                <a:solidFill>
                  <a:srgbClr val="0070C0"/>
                </a:solidFill>
              </a:rPr>
              <a:t>Video </a:t>
            </a:r>
            <a:r>
              <a:rPr lang="es-VE" b="1" dirty="0" err="1" smtClean="0">
                <a:solidFill>
                  <a:srgbClr val="0070C0"/>
                </a:solidFill>
              </a:rPr>
              <a:t>On</a:t>
            </a:r>
            <a:r>
              <a:rPr lang="es-VE" b="1" dirty="0" smtClean="0">
                <a:solidFill>
                  <a:srgbClr val="0070C0"/>
                </a:solidFill>
              </a:rPr>
              <a:t> </a:t>
            </a:r>
            <a:r>
              <a:rPr lang="es-VE" b="1" dirty="0" err="1" smtClean="0">
                <a:solidFill>
                  <a:srgbClr val="0070C0"/>
                </a:solidFill>
              </a:rPr>
              <a:t>Demand</a:t>
            </a:r>
            <a:r>
              <a:rPr lang="es-VE" b="1" dirty="0" smtClean="0">
                <a:solidFill>
                  <a:srgbClr val="0070C0"/>
                </a:solidFill>
              </a:rPr>
              <a:t> (VOD)</a:t>
            </a:r>
            <a:endParaRPr lang="es-VE" b="1" dirty="0">
              <a:solidFill>
                <a:srgbClr val="0070C0"/>
              </a:solidFill>
            </a:endParaRPr>
          </a:p>
        </p:txBody>
      </p:sp>
      <p:pic>
        <p:nvPicPr>
          <p:cNvPr id="4098" name="Picture 2" descr="HLS origin and edge streaming with Nimb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412776"/>
            <a:ext cx="5236468" cy="4604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776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VE" b="1" dirty="0" smtClean="0">
                <a:solidFill>
                  <a:srgbClr val="0070C0"/>
                </a:solidFill>
              </a:rPr>
              <a:t>HTTP Live Streaming (HLS)</a:t>
            </a:r>
            <a:endParaRPr lang="es-VE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988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 smtClean="0">
                <a:solidFill>
                  <a:srgbClr val="0070C0"/>
                </a:solidFill>
              </a:rPr>
              <a:t>Live Streaming (HLS)</a:t>
            </a:r>
            <a:endParaRPr lang="es-VE" b="1" dirty="0">
              <a:solidFill>
                <a:srgbClr val="0070C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3" y="1628800"/>
            <a:ext cx="7078353" cy="4015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258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 smtClean="0">
                <a:solidFill>
                  <a:srgbClr val="0070C0"/>
                </a:solidFill>
              </a:rPr>
              <a:t>HLS </a:t>
            </a:r>
            <a:r>
              <a:rPr lang="es-VE" b="1" dirty="0" err="1" smtClean="0">
                <a:solidFill>
                  <a:srgbClr val="0070C0"/>
                </a:solidFill>
              </a:rPr>
              <a:t>Benefits</a:t>
            </a:r>
            <a:r>
              <a:rPr lang="es-VE" b="1" dirty="0" smtClean="0">
                <a:solidFill>
                  <a:srgbClr val="0070C0"/>
                </a:solidFill>
              </a:rPr>
              <a:t> &amp; </a:t>
            </a:r>
            <a:r>
              <a:rPr lang="es-VE" b="1" dirty="0" err="1" smtClean="0">
                <a:solidFill>
                  <a:srgbClr val="0070C0"/>
                </a:solidFill>
              </a:rPr>
              <a:t>Tips</a:t>
            </a:r>
            <a:endParaRPr lang="es-VE" b="1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71600" y="1600200"/>
            <a:ext cx="77152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HLS is not A&amp;V is only the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delivery way</a:t>
            </a:r>
          </a:p>
          <a:p>
            <a:r>
              <a:rPr lang="en-US" dirty="0" smtClean="0"/>
              <a:t>Supports (client-driven)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adaptive bitrate</a:t>
            </a: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Better experience</a:t>
            </a:r>
            <a:r>
              <a:rPr lang="en-US" b="1" dirty="0" smtClean="0"/>
              <a:t>:</a:t>
            </a:r>
            <a:endParaRPr lang="en-US" dirty="0" smtClean="0"/>
          </a:p>
          <a:p>
            <a:pPr lvl="1"/>
            <a:r>
              <a:rPr lang="en-US" dirty="0" smtClean="0"/>
              <a:t>No “partial play”</a:t>
            </a:r>
          </a:p>
          <a:p>
            <a:pPr lvl="1"/>
            <a:r>
              <a:rPr lang="en-US" dirty="0" smtClean="0"/>
              <a:t>No “Complete download”</a:t>
            </a: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Delivered over standard HTTP</a:t>
            </a:r>
            <a:r>
              <a:rPr lang="en-US" dirty="0" smtClean="0"/>
              <a:t>, so zero firewall blocking policies.</a:t>
            </a: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Developer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and devices easy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integration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smtClean="0"/>
              <a:t>with simple, text-based manifest format</a:t>
            </a:r>
            <a:r>
              <a:rPr lang="en-US" dirty="0"/>
              <a:t>.</a:t>
            </a:r>
            <a:endParaRPr lang="en-US" dirty="0" smtClean="0"/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No proprietary streaming servers </a:t>
            </a:r>
            <a:r>
              <a:rPr lang="en-US" dirty="0" smtClean="0"/>
              <a:t>required, so more people streaming &amp; playing back.</a:t>
            </a:r>
          </a:p>
          <a:p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89532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VE" b="1" dirty="0">
                <a:solidFill>
                  <a:srgbClr val="0070C0"/>
                </a:solidFill>
              </a:rPr>
              <a:t>HLS </a:t>
            </a:r>
            <a:r>
              <a:rPr lang="es-VE" b="1" dirty="0" err="1">
                <a:solidFill>
                  <a:srgbClr val="0070C0"/>
                </a:solidFill>
              </a:rPr>
              <a:t>Benefits</a:t>
            </a:r>
            <a:r>
              <a:rPr lang="es-VE" b="1" dirty="0">
                <a:solidFill>
                  <a:srgbClr val="0070C0"/>
                </a:solidFill>
              </a:rPr>
              <a:t> &amp; </a:t>
            </a:r>
            <a:r>
              <a:rPr lang="es-VE" b="1" dirty="0" err="1">
                <a:solidFill>
                  <a:srgbClr val="0070C0"/>
                </a:solidFill>
              </a:rPr>
              <a:t>Tips</a:t>
            </a:r>
            <a:endParaRPr lang="es-VE" b="1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43608" y="1600200"/>
            <a:ext cx="7643192" cy="4525963"/>
          </a:xfrm>
        </p:spPr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User are dropping </a:t>
            </a:r>
            <a:r>
              <a:rPr lang="en-US" dirty="0" smtClean="0"/>
              <a:t>major vendors with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proprietary standards </a:t>
            </a:r>
            <a:r>
              <a:rPr lang="en-US" dirty="0" smtClean="0"/>
              <a:t>(i.e. Flash).</a:t>
            </a:r>
          </a:p>
          <a:p>
            <a:endParaRPr lang="en-US" b="1" dirty="0" smtClean="0"/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Major browsers no longer support plugins </a:t>
            </a:r>
            <a:r>
              <a:rPr lang="en-US" dirty="0" smtClean="0"/>
              <a:t>(zero install, plug &amp; play, security, licensing).</a:t>
            </a:r>
          </a:p>
          <a:p>
            <a:endParaRPr lang="en-US" b="1" dirty="0" smtClean="0"/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HLS video is now supported on multicast</a:t>
            </a:r>
            <a:r>
              <a:rPr lang="en-US" b="1" dirty="0" smtClean="0">
                <a:solidFill>
                  <a:srgbClr val="0070C0"/>
                </a:solidFill>
              </a:rPr>
              <a:t> </a:t>
            </a:r>
            <a:r>
              <a:rPr lang="en-US" dirty="0" smtClean="0"/>
              <a:t>(RAMP Multicast Engine Startup).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54040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092" y="2636912"/>
            <a:ext cx="3281332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s-VE" sz="4000" b="1" dirty="0">
                <a:solidFill>
                  <a:srgbClr val="0070C0"/>
                </a:solidFill>
              </a:rPr>
              <a:t>HLS Playback </a:t>
            </a:r>
            <a:r>
              <a:rPr lang="es-VE" sz="4000" b="1" dirty="0" err="1">
                <a:solidFill>
                  <a:srgbClr val="0070C0"/>
                </a:solidFill>
              </a:rPr>
              <a:t>Device</a:t>
            </a:r>
            <a:r>
              <a:rPr lang="es-VE" sz="4000" b="1" dirty="0">
                <a:solidFill>
                  <a:srgbClr val="0070C0"/>
                </a:solidFill>
              </a:rPr>
              <a:t> Support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595" y="1700808"/>
            <a:ext cx="2238375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1404464"/>
            <a:ext cx="40290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3581375"/>
            <a:ext cx="4411540" cy="2719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782" y="2780928"/>
            <a:ext cx="2139359" cy="615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5308589" y="5105060"/>
            <a:ext cx="24308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s-VE" sz="2000" b="1" dirty="0" smtClean="0">
                <a:solidFill>
                  <a:srgbClr val="FF0000"/>
                </a:solidFill>
              </a:rPr>
              <a:t>Free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VE" sz="2000" b="1" dirty="0" err="1" smtClean="0">
                <a:solidFill>
                  <a:srgbClr val="FF0000"/>
                </a:solidFill>
              </a:rPr>
              <a:t>Plays</a:t>
            </a:r>
            <a:r>
              <a:rPr lang="es-VE" sz="2000" b="1" dirty="0" smtClean="0">
                <a:solidFill>
                  <a:srgbClr val="FF0000"/>
                </a:solidFill>
              </a:rPr>
              <a:t> (Clics)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s-VE" sz="2000" b="1" dirty="0" err="1" smtClean="0">
                <a:solidFill>
                  <a:srgbClr val="FF0000"/>
                </a:solidFill>
              </a:rPr>
              <a:t>Streams</a:t>
            </a:r>
            <a:r>
              <a:rPr lang="es-VE" sz="2000" b="1" dirty="0" smtClean="0">
                <a:solidFill>
                  <a:srgbClr val="FF0000"/>
                </a:solidFill>
              </a:rPr>
              <a:t> (Data)</a:t>
            </a:r>
            <a:endParaRPr lang="es-VE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362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VE" sz="4000" b="1" dirty="0">
                <a:solidFill>
                  <a:srgbClr val="0070C0"/>
                </a:solidFill>
              </a:rPr>
              <a:t>HLS Playback </a:t>
            </a:r>
            <a:r>
              <a:rPr lang="es-VE" sz="4000" b="1" dirty="0" err="1">
                <a:solidFill>
                  <a:srgbClr val="0070C0"/>
                </a:solidFill>
              </a:rPr>
              <a:t>Device</a:t>
            </a:r>
            <a:r>
              <a:rPr lang="es-VE" sz="4000" b="1" dirty="0">
                <a:solidFill>
                  <a:srgbClr val="0070C0"/>
                </a:solidFill>
              </a:rPr>
              <a:t> Support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92" y="1844824"/>
            <a:ext cx="8431350" cy="4166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193" y="3934262"/>
            <a:ext cx="5248275" cy="273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2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135" y="3928219"/>
            <a:ext cx="937864" cy="937864"/>
          </a:xfrm>
          <a:prstGeom prst="rect">
            <a:avLst/>
          </a:prstGeom>
        </p:spPr>
      </p:pic>
      <p:sp>
        <p:nvSpPr>
          <p:cNvPr id="4" name="3 CuadroTexto"/>
          <p:cNvSpPr txBox="1"/>
          <p:nvPr/>
        </p:nvSpPr>
        <p:spPr>
          <a:xfrm>
            <a:off x="2699792" y="1400907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b="1" dirty="0" smtClean="0">
                <a:solidFill>
                  <a:srgbClr val="FF0000"/>
                </a:solidFill>
              </a:rPr>
              <a:t>5 Minutes App </a:t>
            </a:r>
            <a:r>
              <a:rPr lang="es-VE" b="1" dirty="0" err="1" smtClean="0">
                <a:solidFill>
                  <a:srgbClr val="FF0000"/>
                </a:solidFill>
              </a:rPr>
              <a:t>Store</a:t>
            </a:r>
            <a:r>
              <a:rPr lang="es-VE" b="1" dirty="0" smtClean="0">
                <a:solidFill>
                  <a:srgbClr val="FF0000"/>
                </a:solidFill>
              </a:rPr>
              <a:t> </a:t>
            </a:r>
            <a:r>
              <a:rPr lang="es-VE" b="1" dirty="0" err="1" smtClean="0">
                <a:solidFill>
                  <a:srgbClr val="FF0000"/>
                </a:solidFill>
              </a:rPr>
              <a:t>Limit</a:t>
            </a:r>
            <a:endParaRPr lang="es-VE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675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VE" sz="4000" b="1" dirty="0" smtClean="0">
                <a:solidFill>
                  <a:srgbClr val="0070C0"/>
                </a:solidFill>
              </a:rPr>
              <a:t>HLS Playback </a:t>
            </a:r>
            <a:r>
              <a:rPr lang="es-VE" sz="4000" b="1" dirty="0" err="1" smtClean="0">
                <a:solidFill>
                  <a:srgbClr val="0070C0"/>
                </a:solidFill>
              </a:rPr>
              <a:t>Device</a:t>
            </a:r>
            <a:r>
              <a:rPr lang="es-VE" sz="4000" b="1" dirty="0" smtClean="0">
                <a:solidFill>
                  <a:srgbClr val="0070C0"/>
                </a:solidFill>
              </a:rPr>
              <a:t> Support</a:t>
            </a:r>
            <a:endParaRPr lang="es-VE" sz="4000" b="1" dirty="0">
              <a:solidFill>
                <a:srgbClr val="0070C0"/>
              </a:solidFill>
            </a:endParaRP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343608"/>
            <a:ext cx="3384376" cy="2162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432" y="1340768"/>
            <a:ext cx="2429783" cy="215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690953"/>
            <a:ext cx="3024335" cy="261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4376" y="3799523"/>
            <a:ext cx="2718064" cy="2165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196" y="3155171"/>
            <a:ext cx="1071564" cy="1071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9104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VE" sz="4000" b="1" dirty="0">
                <a:solidFill>
                  <a:srgbClr val="0070C0"/>
                </a:solidFill>
              </a:rPr>
              <a:t>HLS Playback </a:t>
            </a:r>
            <a:r>
              <a:rPr lang="es-VE" sz="4000" b="1" dirty="0" err="1">
                <a:solidFill>
                  <a:srgbClr val="0070C0"/>
                </a:solidFill>
              </a:rPr>
              <a:t>Device</a:t>
            </a:r>
            <a:r>
              <a:rPr lang="es-VE" sz="4000" b="1" dirty="0">
                <a:solidFill>
                  <a:srgbClr val="0070C0"/>
                </a:solidFill>
              </a:rPr>
              <a:t> </a:t>
            </a:r>
            <a:r>
              <a:rPr lang="es-VE" sz="4000" b="1" dirty="0" err="1">
                <a:solidFill>
                  <a:srgbClr val="0070C0"/>
                </a:solidFill>
              </a:rPr>
              <a:t>Bitrates</a:t>
            </a:r>
            <a:endParaRPr lang="es-VE" sz="4000" b="1" dirty="0">
              <a:solidFill>
                <a:srgbClr val="0070C0"/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115616" y="1306187"/>
            <a:ext cx="69847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000" b="1" dirty="0" err="1" smtClean="0"/>
              <a:t>Adaptative</a:t>
            </a:r>
            <a:r>
              <a:rPr lang="es-VE" sz="2000" b="1" dirty="0" smtClean="0"/>
              <a:t> </a:t>
            </a:r>
            <a:r>
              <a:rPr lang="es-VE" sz="2000" b="1" dirty="0" err="1" smtClean="0"/>
              <a:t>Bitrate</a:t>
            </a:r>
            <a:r>
              <a:rPr lang="es-VE" sz="2000" b="1" dirty="0" smtClean="0"/>
              <a:t> -&gt; </a:t>
            </a:r>
            <a:r>
              <a:rPr lang="es-VE" sz="2000" b="1" dirty="0" err="1" smtClean="0"/>
              <a:t>Simultaneous</a:t>
            </a:r>
            <a:r>
              <a:rPr lang="es-VE" sz="2000" b="1" dirty="0" smtClean="0"/>
              <a:t> </a:t>
            </a:r>
            <a:r>
              <a:rPr lang="es-VE" sz="2000" b="1" dirty="0" err="1" smtClean="0"/>
              <a:t>Multiple</a:t>
            </a:r>
            <a:r>
              <a:rPr lang="es-VE" sz="2000" b="1" dirty="0" smtClean="0"/>
              <a:t> </a:t>
            </a:r>
            <a:r>
              <a:rPr lang="es-VE" sz="2000" b="1" dirty="0" err="1" smtClean="0"/>
              <a:t>Bitrates</a:t>
            </a:r>
            <a:r>
              <a:rPr lang="es-VE" sz="2000" b="1" dirty="0" smtClean="0"/>
              <a:t> (</a:t>
            </a:r>
            <a:r>
              <a:rPr lang="es-VE" sz="2000" b="1" dirty="0" err="1" smtClean="0"/>
              <a:t>Variants</a:t>
            </a:r>
            <a:r>
              <a:rPr lang="es-VE" sz="2000" b="1" dirty="0" smtClean="0"/>
              <a:t>)</a:t>
            </a:r>
            <a:endParaRPr lang="es-VE" sz="20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2330"/>
          <a:stretch/>
        </p:blipFill>
        <p:spPr bwMode="auto">
          <a:xfrm>
            <a:off x="1979712" y="1706297"/>
            <a:ext cx="5616624" cy="4058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711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VE" sz="4000" b="1" dirty="0" smtClean="0">
                <a:solidFill>
                  <a:srgbClr val="0070C0"/>
                </a:solidFill>
              </a:rPr>
              <a:t>HLS Playback </a:t>
            </a:r>
            <a:r>
              <a:rPr lang="es-VE" sz="4000" b="1" dirty="0" err="1" smtClean="0">
                <a:solidFill>
                  <a:srgbClr val="0070C0"/>
                </a:solidFill>
              </a:rPr>
              <a:t>Device</a:t>
            </a:r>
            <a:r>
              <a:rPr lang="es-VE" sz="4000" b="1" dirty="0" smtClean="0">
                <a:solidFill>
                  <a:srgbClr val="0070C0"/>
                </a:solidFill>
              </a:rPr>
              <a:t> </a:t>
            </a:r>
            <a:r>
              <a:rPr lang="es-VE" sz="4000" b="1" dirty="0" err="1" smtClean="0">
                <a:solidFill>
                  <a:srgbClr val="0070C0"/>
                </a:solidFill>
              </a:rPr>
              <a:t>Bitrates</a:t>
            </a:r>
            <a:endParaRPr lang="es-VE" sz="4000" b="1" dirty="0">
              <a:solidFill>
                <a:srgbClr val="0070C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410942"/>
            <a:ext cx="6526213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57" y="2994647"/>
            <a:ext cx="937864" cy="93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153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VE" b="1" dirty="0" smtClean="0">
                <a:solidFill>
                  <a:srgbClr val="0070C0"/>
                </a:solidFill>
              </a:rPr>
              <a:t>Digital Streaming </a:t>
            </a:r>
            <a:r>
              <a:rPr lang="es-VE" b="1" dirty="0" err="1" smtClean="0">
                <a:solidFill>
                  <a:srgbClr val="0070C0"/>
                </a:solidFill>
              </a:rPr>
              <a:t>Architectures</a:t>
            </a:r>
            <a:r>
              <a:rPr lang="es-VE" b="1" dirty="0" smtClean="0">
                <a:solidFill>
                  <a:srgbClr val="0070C0"/>
                </a:solidFill>
              </a:rPr>
              <a:t/>
            </a:r>
            <a:br>
              <a:rPr lang="es-VE" b="1" dirty="0" smtClean="0">
                <a:solidFill>
                  <a:srgbClr val="0070C0"/>
                </a:solidFill>
              </a:rPr>
            </a:br>
            <a:r>
              <a:rPr lang="es-VE" b="1" dirty="0" smtClean="0"/>
              <a:t>(Amazon Web Services)</a:t>
            </a:r>
            <a:endParaRPr lang="es-VE" b="1" dirty="0"/>
          </a:p>
        </p:txBody>
      </p:sp>
    </p:spTree>
    <p:extLst>
      <p:ext uri="{BB962C8B-B14F-4D97-AF65-F5344CB8AC3E}">
        <p14:creationId xmlns:p14="http://schemas.microsoft.com/office/powerpoint/2010/main" val="3641438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472429" y="9188"/>
            <a:ext cx="8229600" cy="1143000"/>
          </a:xfrm>
        </p:spPr>
        <p:txBody>
          <a:bodyPr>
            <a:normAutofit/>
          </a:bodyPr>
          <a:lstStyle/>
          <a:p>
            <a:r>
              <a:rPr lang="es-VE" sz="4000" b="1" dirty="0" smtClean="0">
                <a:solidFill>
                  <a:srgbClr val="0070C0"/>
                </a:solidFill>
              </a:rPr>
              <a:t>Media </a:t>
            </a:r>
            <a:r>
              <a:rPr lang="es-VE" sz="4000" b="1" dirty="0" err="1" smtClean="0">
                <a:solidFill>
                  <a:srgbClr val="0070C0"/>
                </a:solidFill>
              </a:rPr>
              <a:t>Sharing</a:t>
            </a:r>
            <a:r>
              <a:rPr lang="es-VE" sz="4000" b="1" dirty="0" smtClean="0">
                <a:solidFill>
                  <a:srgbClr val="0070C0"/>
                </a:solidFill>
              </a:rPr>
              <a:t> </a:t>
            </a:r>
            <a:r>
              <a:rPr lang="es-VE" sz="4000" b="1" dirty="0" err="1" smtClean="0">
                <a:solidFill>
                  <a:srgbClr val="0070C0"/>
                </a:solidFill>
              </a:rPr>
              <a:t>Architecture</a:t>
            </a:r>
            <a:endParaRPr lang="es-VE" sz="4000" b="1" dirty="0">
              <a:solidFill>
                <a:srgbClr val="0070C0"/>
              </a:solidFill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548358"/>
            <a:ext cx="7808624" cy="4184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1052736"/>
            <a:ext cx="1212726" cy="679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CuadroTexto"/>
          <p:cNvSpPr txBox="1"/>
          <p:nvPr/>
        </p:nvSpPr>
        <p:spPr>
          <a:xfrm>
            <a:off x="3418983" y="5661248"/>
            <a:ext cx="35283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s-VE" sz="1600" b="1" u="sng" dirty="0" smtClean="0">
                <a:solidFill>
                  <a:srgbClr val="FF0000"/>
                </a:solidFill>
              </a:rPr>
              <a:t>Bandwidth</a:t>
            </a:r>
            <a:r>
              <a:rPr lang="es-VE" sz="1600" dirty="0" smtClean="0"/>
              <a:t> vs. Stream Transfer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VE" sz="1600" b="1" u="sng" dirty="0" smtClean="0">
                <a:solidFill>
                  <a:srgbClr val="FF0000"/>
                </a:solidFill>
              </a:rPr>
              <a:t>Security</a:t>
            </a:r>
            <a:r>
              <a:rPr lang="es-VE" sz="1600" b="1" dirty="0" smtClean="0">
                <a:solidFill>
                  <a:srgbClr val="FF0000"/>
                </a:solidFill>
              </a:rPr>
              <a:t>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VE" sz="1600" b="1" dirty="0" smtClean="0">
                <a:solidFill>
                  <a:srgbClr val="FF0000"/>
                </a:solidFill>
              </a:rPr>
              <a:t>Compute (</a:t>
            </a:r>
            <a:r>
              <a:rPr lang="es-VE" sz="1600" b="1" dirty="0" err="1" smtClean="0">
                <a:solidFill>
                  <a:srgbClr val="FF0000"/>
                </a:solidFill>
              </a:rPr>
              <a:t>Encoding</a:t>
            </a:r>
            <a:r>
              <a:rPr lang="es-VE" sz="1600" b="1" dirty="0" smtClean="0">
                <a:solidFill>
                  <a:srgbClr val="FF0000"/>
                </a:solidFill>
              </a:rPr>
              <a:t>?)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VE" sz="1600" b="1" dirty="0" smtClean="0">
                <a:solidFill>
                  <a:srgbClr val="FF0000"/>
                </a:solidFill>
              </a:rPr>
              <a:t>Storage</a:t>
            </a:r>
            <a:endParaRPr lang="es-VE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9025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472429" y="9188"/>
            <a:ext cx="8229600" cy="1143000"/>
          </a:xfrm>
        </p:spPr>
        <p:txBody>
          <a:bodyPr>
            <a:normAutofit/>
          </a:bodyPr>
          <a:lstStyle/>
          <a:p>
            <a:r>
              <a:rPr lang="es-VE" sz="4000" b="1" dirty="0" smtClean="0">
                <a:solidFill>
                  <a:srgbClr val="0070C0"/>
                </a:solidFill>
              </a:rPr>
              <a:t>Media </a:t>
            </a:r>
            <a:r>
              <a:rPr lang="es-VE" sz="4000" b="1" dirty="0" err="1" smtClean="0">
                <a:solidFill>
                  <a:srgbClr val="0070C0"/>
                </a:solidFill>
              </a:rPr>
              <a:t>Serving</a:t>
            </a:r>
            <a:r>
              <a:rPr lang="es-VE" sz="4000" b="1" dirty="0" smtClean="0">
                <a:solidFill>
                  <a:srgbClr val="0070C0"/>
                </a:solidFill>
              </a:rPr>
              <a:t> </a:t>
            </a:r>
            <a:r>
              <a:rPr lang="es-VE" sz="4000" b="1" dirty="0" err="1" smtClean="0">
                <a:solidFill>
                  <a:srgbClr val="0070C0"/>
                </a:solidFill>
              </a:rPr>
              <a:t>Architecture</a:t>
            </a:r>
            <a:endParaRPr lang="es-VE" sz="4000" b="1" dirty="0">
              <a:solidFill>
                <a:srgbClr val="0070C0"/>
              </a:solidFill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052736"/>
            <a:ext cx="8391059" cy="466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1052736"/>
            <a:ext cx="1663632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3418983" y="5661248"/>
            <a:ext cx="35283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s-VE" sz="1600" b="1" u="sng" dirty="0" smtClean="0">
                <a:solidFill>
                  <a:srgbClr val="FF0000"/>
                </a:solidFill>
              </a:rPr>
              <a:t>Bandwidth</a:t>
            </a:r>
            <a:r>
              <a:rPr lang="es-VE" sz="1600" dirty="0" smtClean="0"/>
              <a:t> vs. Stream Transfer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VE" sz="1600" b="1" u="sng" dirty="0" smtClean="0">
                <a:solidFill>
                  <a:srgbClr val="FF0000"/>
                </a:solidFill>
              </a:rPr>
              <a:t>Security</a:t>
            </a:r>
            <a:r>
              <a:rPr lang="es-VE" sz="1600" b="1" dirty="0" smtClean="0">
                <a:solidFill>
                  <a:srgbClr val="FF0000"/>
                </a:solidFill>
              </a:rPr>
              <a:t>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VE" sz="1600" b="1" dirty="0" smtClean="0">
                <a:solidFill>
                  <a:srgbClr val="FF0000"/>
                </a:solidFill>
              </a:rPr>
              <a:t>Compute (</a:t>
            </a:r>
            <a:r>
              <a:rPr lang="es-VE" sz="1600" b="1" dirty="0" err="1" smtClean="0">
                <a:solidFill>
                  <a:srgbClr val="FF0000"/>
                </a:solidFill>
              </a:rPr>
              <a:t>Encoding</a:t>
            </a:r>
            <a:r>
              <a:rPr lang="es-VE" sz="1600" b="1" dirty="0" smtClean="0">
                <a:solidFill>
                  <a:srgbClr val="FF0000"/>
                </a:solidFill>
              </a:rPr>
              <a:t>?)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VE" sz="1600" b="1" dirty="0" smtClean="0">
                <a:solidFill>
                  <a:srgbClr val="FF0000"/>
                </a:solidFill>
              </a:rPr>
              <a:t>Storage</a:t>
            </a:r>
            <a:endParaRPr lang="es-VE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267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 err="1" smtClean="0">
                <a:solidFill>
                  <a:srgbClr val="0070C0"/>
                </a:solidFill>
              </a:rPr>
              <a:t>Don’t</a:t>
            </a:r>
            <a:r>
              <a:rPr lang="es-VE" b="1" dirty="0" smtClean="0">
                <a:solidFill>
                  <a:srgbClr val="0070C0"/>
                </a:solidFill>
              </a:rPr>
              <a:t> </a:t>
            </a:r>
            <a:r>
              <a:rPr lang="es-VE" b="1" dirty="0" err="1" smtClean="0">
                <a:solidFill>
                  <a:srgbClr val="0070C0"/>
                </a:solidFill>
              </a:rPr>
              <a:t>Forget</a:t>
            </a:r>
            <a:r>
              <a:rPr lang="es-VE" b="1" dirty="0" smtClean="0">
                <a:solidFill>
                  <a:srgbClr val="0070C0"/>
                </a:solidFill>
              </a:rPr>
              <a:t> Security</a:t>
            </a:r>
            <a:endParaRPr lang="es-VE" b="1" dirty="0">
              <a:solidFill>
                <a:srgbClr val="0070C0"/>
              </a:solidFill>
            </a:endParaRPr>
          </a:p>
        </p:txBody>
      </p:sp>
      <p:sp>
        <p:nvSpPr>
          <p:cNvPr id="4" name="3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Hot-linking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protection.</a:t>
            </a: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Re-streaming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smtClean="0"/>
              <a:t>protection.</a:t>
            </a:r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Domain locking </a:t>
            </a:r>
            <a:r>
              <a:rPr lang="en-US" dirty="0" smtClean="0"/>
              <a:t>geo-location and IP-based.</a:t>
            </a:r>
          </a:p>
          <a:p>
            <a:pPr algn="just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Digital Right Management / DRM </a:t>
            </a:r>
            <a:r>
              <a:rPr lang="en-US" dirty="0" smtClean="0"/>
              <a:t>(Google </a:t>
            </a:r>
            <a:r>
              <a:rPr lang="en-US" dirty="0" err="1" smtClean="0"/>
              <a:t>Wildevine</a:t>
            </a:r>
            <a:r>
              <a:rPr lang="en-US" dirty="0" smtClean="0"/>
              <a:t>, Microsoft </a:t>
            </a:r>
            <a:r>
              <a:rPr lang="en-US" dirty="0" err="1" smtClean="0"/>
              <a:t>Playready</a:t>
            </a:r>
            <a:r>
              <a:rPr lang="en-US" dirty="0" smtClean="0"/>
              <a:t>, Adobe Flash Access, Apple </a:t>
            </a:r>
            <a:r>
              <a:rPr lang="en-US" dirty="0" err="1" smtClean="0"/>
              <a:t>Fairplay</a:t>
            </a:r>
            <a:r>
              <a:rPr lang="en-US" dirty="0" smtClean="0"/>
              <a:t>).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01974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VE" sz="4000" b="1" dirty="0" smtClean="0">
                <a:solidFill>
                  <a:srgbClr val="0070C0"/>
                </a:solidFill>
              </a:rPr>
              <a:t>Streaming </a:t>
            </a:r>
            <a:r>
              <a:rPr lang="es-VE" sz="4000" b="1" dirty="0" err="1" smtClean="0">
                <a:solidFill>
                  <a:srgbClr val="0070C0"/>
                </a:solidFill>
              </a:rPr>
              <a:t>Solutions</a:t>
            </a:r>
            <a:endParaRPr lang="es-VE" sz="4000" b="1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4056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Services </a:t>
            </a:r>
            <a:r>
              <a:rPr lang="en-US" dirty="0" smtClean="0"/>
              <a:t>(Content Delivery Network / CDN)</a:t>
            </a:r>
          </a:p>
          <a:p>
            <a:pPr lvl="1" algn="just"/>
            <a:r>
              <a:rPr lang="en-US" b="1" dirty="0" smtClean="0"/>
              <a:t>Akamai</a:t>
            </a:r>
            <a:r>
              <a:rPr lang="en-US" dirty="0" smtClean="0"/>
              <a:t>, Amazon Web Services (Elastic Transcoder / </a:t>
            </a:r>
            <a:r>
              <a:rPr lang="en-US" dirty="0" err="1" smtClean="0"/>
              <a:t>CloudFront</a:t>
            </a:r>
            <a:r>
              <a:rPr lang="en-US" dirty="0" smtClean="0"/>
              <a:t>), Azure Media Services, </a:t>
            </a:r>
            <a:r>
              <a:rPr lang="en-US" dirty="0" err="1" smtClean="0"/>
              <a:t>bitmovin</a:t>
            </a:r>
            <a:r>
              <a:rPr lang="en-US" dirty="0" smtClean="0"/>
              <a:t>, </a:t>
            </a:r>
            <a:r>
              <a:rPr lang="en-US" b="1" dirty="0" err="1" smtClean="0"/>
              <a:t>Ustream</a:t>
            </a:r>
            <a:r>
              <a:rPr lang="en-US" b="1" dirty="0" smtClean="0"/>
              <a:t>, </a:t>
            </a:r>
            <a:r>
              <a:rPr lang="en-US" dirty="0" smtClean="0"/>
              <a:t>Limelight Network, Tata Communications, </a:t>
            </a:r>
            <a:r>
              <a:rPr lang="en-US" dirty="0" err="1" smtClean="0"/>
              <a:t>Brightcove</a:t>
            </a:r>
            <a:r>
              <a:rPr lang="en-US" dirty="0" smtClean="0"/>
              <a:t> </a:t>
            </a:r>
            <a:r>
              <a:rPr lang="en-US" dirty="0" err="1" smtClean="0"/>
              <a:t>Zencoder</a:t>
            </a:r>
            <a:r>
              <a:rPr lang="en-US" dirty="0" smtClean="0"/>
              <a:t>, </a:t>
            </a:r>
            <a:r>
              <a:rPr lang="en-US" b="1" dirty="0" smtClean="0"/>
              <a:t>encoding.com,</a:t>
            </a:r>
            <a:r>
              <a:rPr lang="en-US" dirty="0" smtClean="0"/>
              <a:t> Altitude Multicast+, smoothHD.com</a:t>
            </a:r>
          </a:p>
          <a:p>
            <a:pPr lvl="1" algn="just"/>
            <a:endParaRPr lang="en-US" dirty="0" smtClean="0"/>
          </a:p>
          <a:p>
            <a:r>
              <a:rPr lang="en-US" b="1" dirty="0" smtClean="0"/>
              <a:t>Servers </a:t>
            </a:r>
            <a:r>
              <a:rPr lang="en-US" dirty="0" smtClean="0"/>
              <a:t>(Streaming Server / SS)</a:t>
            </a:r>
          </a:p>
          <a:p>
            <a:pPr lvl="1" algn="just"/>
            <a:r>
              <a:rPr lang="en-US" b="1" dirty="0" smtClean="0"/>
              <a:t>Adobe Media Server, </a:t>
            </a:r>
            <a:r>
              <a:rPr lang="en-US" dirty="0" smtClean="0"/>
              <a:t>Apache, Elemental Technologies, Helix Universal Server, Darwin SS, </a:t>
            </a:r>
            <a:r>
              <a:rPr lang="en-US" b="1" dirty="0" smtClean="0"/>
              <a:t>Nginx,</a:t>
            </a:r>
            <a:r>
              <a:rPr lang="en-US" dirty="0" smtClean="0"/>
              <a:t> </a:t>
            </a:r>
            <a:r>
              <a:rPr lang="en-US" b="1" dirty="0" smtClean="0"/>
              <a:t>Nimble Streamer</a:t>
            </a:r>
            <a:r>
              <a:rPr lang="en-US" dirty="0" smtClean="0"/>
              <a:t>, Red5, Unified Origin, Unreal Media Server, </a:t>
            </a:r>
            <a:r>
              <a:rPr lang="es-VE" dirty="0"/>
              <a:t>Microsoft IIS w/Smooth Streaming </a:t>
            </a:r>
            <a:r>
              <a:rPr lang="es-VE" dirty="0" smtClean="0"/>
              <a:t>Extension,</a:t>
            </a:r>
            <a:r>
              <a:rPr lang="en-US" dirty="0" smtClean="0"/>
              <a:t> </a:t>
            </a:r>
            <a:r>
              <a:rPr lang="en-US" b="1" dirty="0" err="1" smtClean="0"/>
              <a:t>Wowza</a:t>
            </a:r>
            <a:r>
              <a:rPr lang="en-US" b="1" dirty="0" smtClean="0"/>
              <a:t> Streaming Engine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7960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Subtítulo"/>
          <p:cNvSpPr>
            <a:spLocks noGrp="1"/>
          </p:cNvSpPr>
          <p:nvPr>
            <p:ph idx="4294967295"/>
          </p:nvPr>
        </p:nvSpPr>
        <p:spPr>
          <a:xfrm>
            <a:off x="1268302" y="1916832"/>
            <a:ext cx="6659292" cy="93610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VE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olafrv@gmail.com</a:t>
            </a:r>
            <a:endParaRPr lang="es-VE" sz="4400" b="1" dirty="0" smtClean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r:id="rId2"/>
            </a:endParaRPr>
          </a:p>
          <a:p>
            <a:pPr marL="0" indent="0" algn="ctr">
              <a:buNone/>
            </a:pPr>
            <a:r>
              <a:rPr lang="es-VE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www.olafrv.com</a:t>
            </a:r>
            <a:endParaRPr lang="es-VE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s-VE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</a:t>
            </a:r>
            <a:r>
              <a:rPr lang="es-VE" sz="4400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olafrv</a:t>
            </a:r>
            <a:endParaRPr lang="es-VE" sz="44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endParaRPr lang="es-VE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1 Título"/>
          <p:cNvSpPr txBox="1">
            <a:spLocks/>
          </p:cNvSpPr>
          <p:nvPr/>
        </p:nvSpPr>
        <p:spPr>
          <a:xfrm>
            <a:off x="483148" y="37269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VE" b="1" dirty="0" smtClean="0">
                <a:solidFill>
                  <a:srgbClr val="0070C0"/>
                </a:solidFill>
              </a:rPr>
              <a:t>Contactos</a:t>
            </a:r>
            <a:endParaRPr lang="es-VE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97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2599</TotalTime>
  <Words>1461</Words>
  <Application>Microsoft Office PowerPoint</Application>
  <PresentationFormat>Presentación en pantalla (4:3)</PresentationFormat>
  <Paragraphs>284</Paragraphs>
  <Slides>34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7" baseType="lpstr">
      <vt:lpstr>Arial</vt:lpstr>
      <vt:lpstr>Calibri</vt:lpstr>
      <vt:lpstr>Tema de Office</vt:lpstr>
      <vt:lpstr>Presentación de PowerPoint</vt:lpstr>
      <vt:lpstr>Audio &amp; Video Delivery</vt:lpstr>
      <vt:lpstr>A&amp;V Digital Processing</vt:lpstr>
      <vt:lpstr>Digital Streaming Technologies</vt:lpstr>
      <vt:lpstr>Streaming Technologies</vt:lpstr>
      <vt:lpstr>Streaming Technologies</vt:lpstr>
      <vt:lpstr>Streaming Protocols</vt:lpstr>
      <vt:lpstr>Streaming Protocols</vt:lpstr>
      <vt:lpstr>Streaming Protocols</vt:lpstr>
      <vt:lpstr>Streaming Protocols</vt:lpstr>
      <vt:lpstr>Audio &amp; Video Formats</vt:lpstr>
      <vt:lpstr>Formats versus Protocols</vt:lpstr>
      <vt:lpstr>Live Transcoder</vt:lpstr>
      <vt:lpstr>Digital Streaming  Architectures</vt:lpstr>
      <vt:lpstr>Live Streaming (Transmuxing)</vt:lpstr>
      <vt:lpstr>Live Streaming (RTMP)</vt:lpstr>
      <vt:lpstr>Live Streaming (RTSP)</vt:lpstr>
      <vt:lpstr>Pseudo Streaming</vt:lpstr>
      <vt:lpstr>Video On Demand (VOD)</vt:lpstr>
      <vt:lpstr>HTTP Live Streaming (HLS)</vt:lpstr>
      <vt:lpstr>Live Streaming (HLS)</vt:lpstr>
      <vt:lpstr>HLS Benefits &amp; Tips</vt:lpstr>
      <vt:lpstr>HLS Benefits &amp; Tips</vt:lpstr>
      <vt:lpstr>HLS Playback Device Support</vt:lpstr>
      <vt:lpstr>HLS Playback Device Support</vt:lpstr>
      <vt:lpstr>HLS Playback Device Support</vt:lpstr>
      <vt:lpstr>HLS Playback Device Bitrates</vt:lpstr>
      <vt:lpstr>HLS Playback Device Bitrates</vt:lpstr>
      <vt:lpstr>Digital Streaming Architectures (Amazon Web Services)</vt:lpstr>
      <vt:lpstr>Media Sharing Architecture</vt:lpstr>
      <vt:lpstr>Media Serving Architecture</vt:lpstr>
      <vt:lpstr>Don’t Forget Security</vt:lpstr>
      <vt:lpstr>Streaming Solutions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Streaming Architecture</dc:title>
  <dc:creator>Olaf Reitmaier</dc:creator>
  <cp:lastModifiedBy>Olaf Reitmaier</cp:lastModifiedBy>
  <cp:revision>97</cp:revision>
  <dcterms:created xsi:type="dcterms:W3CDTF">2016-10-31T21:07:46Z</dcterms:created>
  <dcterms:modified xsi:type="dcterms:W3CDTF">2018-12-05T15:27:38Z</dcterms:modified>
</cp:coreProperties>
</file>