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handoutMasterIdLst>
    <p:handoutMasterId r:id="rId7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sldSz cx="10080625" cy="7559675"/>
  <p:notesSz cx="7772400" cy="100584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51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2EDE5EF-C567-1E17-BD8A-A4F82D43B849}"/>
              </a:ext>
            </a:extLst>
          </p:cNvPr>
          <p:cNvSpPr txBox="1">
            <a:spLocks noGrp="1"/>
          </p:cNvSpPr>
          <p:nvPr>
            <p:ph type="hdr" sz="quarter"/>
          </p:nvPr>
        </p:nvSpPr>
        <p:spPr>
          <a:xfrm>
            <a:off x="0" y="0"/>
            <a:ext cx="3372840" cy="502560"/>
          </a:xfrm>
          <a:prstGeom prst="rect">
            <a:avLst/>
          </a:prstGeom>
          <a:noFill/>
          <a:ln>
            <a:noFill/>
          </a:ln>
        </p:spPr>
        <p:txBody>
          <a:bodyPr vert="horz" lIns="90000" tIns="45000" rIns="90000" bIns="4500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sz="1400"/>
            </a:pPr>
            <a:endParaRPr lang="es-VE" sz="1400" b="0" i="0" u="none" strike="noStrike" baseline="0">
              <a:ln>
                <a:noFill/>
              </a:ln>
              <a:solidFill>
                <a:srgbClr val="000000"/>
              </a:solidFill>
              <a:latin typeface="Arial" pitchFamily="34"/>
              <a:ea typeface="Bitstream Vera Sans" pitchFamily="2"/>
              <a:cs typeface="Bitstream Vera Sans" pitchFamily="2"/>
            </a:endParaRPr>
          </a:p>
        </p:txBody>
      </p:sp>
      <p:sp>
        <p:nvSpPr>
          <p:cNvPr id="3" name="Datumsplatzhalter 2">
            <a:extLst>
              <a:ext uri="{FF2B5EF4-FFF2-40B4-BE49-F238E27FC236}">
                <a16:creationId xmlns:a16="http://schemas.microsoft.com/office/drawing/2014/main" id="{8AEABB8B-B0B6-6C54-1C6D-BA852E070752}"/>
              </a:ext>
            </a:extLst>
          </p:cNvPr>
          <p:cNvSpPr txBox="1">
            <a:spLocks noGrp="1"/>
          </p:cNvSpPr>
          <p:nvPr>
            <p:ph type="dt" sz="quarter" idx="1"/>
          </p:nvPr>
        </p:nvSpPr>
        <p:spPr>
          <a:xfrm>
            <a:off x="4399200" y="0"/>
            <a:ext cx="3372840" cy="502560"/>
          </a:xfrm>
          <a:prstGeom prst="rect">
            <a:avLst/>
          </a:prstGeom>
          <a:noFill/>
          <a:ln>
            <a:noFill/>
          </a:ln>
        </p:spPr>
        <p:txBody>
          <a:bodyPr vert="horz" lIns="90000" tIns="45000" rIns="90000" bIns="45000" compatLnSpc="1">
            <a:noAutofit/>
          </a:bodyPr>
          <a:lstStyle/>
          <a:p>
            <a:pPr marL="0" marR="0" lvl="0" indent="0" algn="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sz="1400"/>
            </a:pPr>
            <a:endParaRPr lang="es-VE" sz="1400" b="0" i="0" u="none" strike="noStrike" baseline="0">
              <a:ln>
                <a:noFill/>
              </a:ln>
              <a:solidFill>
                <a:srgbClr val="000000"/>
              </a:solidFill>
              <a:latin typeface="Arial" pitchFamily="34"/>
              <a:ea typeface="Bitstream Vera Sans" pitchFamily="2"/>
              <a:cs typeface="Bitstream Vera Sans" pitchFamily="2"/>
            </a:endParaRPr>
          </a:p>
        </p:txBody>
      </p:sp>
      <p:sp>
        <p:nvSpPr>
          <p:cNvPr id="4" name="Fußzeilenplatzhalter 3">
            <a:extLst>
              <a:ext uri="{FF2B5EF4-FFF2-40B4-BE49-F238E27FC236}">
                <a16:creationId xmlns:a16="http://schemas.microsoft.com/office/drawing/2014/main" id="{F15FA3A6-3FD3-AB19-2F66-4BBE6C1FD40D}"/>
              </a:ext>
            </a:extLst>
          </p:cNvPr>
          <p:cNvSpPr txBox="1">
            <a:spLocks noGrp="1"/>
          </p:cNvSpPr>
          <p:nvPr>
            <p:ph type="ftr" sz="quarter" idx="2"/>
          </p:nvPr>
        </p:nvSpPr>
        <p:spPr>
          <a:xfrm>
            <a:off x="0" y="9555480"/>
            <a:ext cx="3372840" cy="502560"/>
          </a:xfrm>
          <a:prstGeom prst="rect">
            <a:avLst/>
          </a:prstGeom>
          <a:noFill/>
          <a:ln>
            <a:noFill/>
          </a:ln>
        </p:spPr>
        <p:txBody>
          <a:bodyPr vert="horz" lIns="90000" tIns="45000" rIns="90000" bIns="45000" anchor="b"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sz="1400"/>
            </a:pPr>
            <a:endParaRPr lang="es-VE" sz="1400" b="0" i="0" u="none" strike="noStrike" baseline="0">
              <a:ln>
                <a:noFill/>
              </a:ln>
              <a:solidFill>
                <a:srgbClr val="000000"/>
              </a:solidFill>
              <a:latin typeface="Arial" pitchFamily="34"/>
              <a:ea typeface="Bitstream Vera Sans" pitchFamily="2"/>
              <a:cs typeface="Bitstream Vera Sans" pitchFamily="2"/>
            </a:endParaRPr>
          </a:p>
        </p:txBody>
      </p:sp>
      <p:sp>
        <p:nvSpPr>
          <p:cNvPr id="5" name="Foliennummernplatzhalter 4">
            <a:extLst>
              <a:ext uri="{FF2B5EF4-FFF2-40B4-BE49-F238E27FC236}">
                <a16:creationId xmlns:a16="http://schemas.microsoft.com/office/drawing/2014/main" id="{2602BB2C-D3DA-8F58-85B0-3ADAA497CE0B}"/>
              </a:ext>
            </a:extLst>
          </p:cNvPr>
          <p:cNvSpPr txBox="1">
            <a:spLocks noGrp="1"/>
          </p:cNvSpPr>
          <p:nvPr>
            <p:ph type="sldNum" sz="quarter" idx="3"/>
          </p:nvPr>
        </p:nvSpPr>
        <p:spPr>
          <a:xfrm>
            <a:off x="4399200" y="9555480"/>
            <a:ext cx="3372840" cy="502560"/>
          </a:xfrm>
          <a:prstGeom prst="rect">
            <a:avLst/>
          </a:prstGeom>
          <a:noFill/>
          <a:ln>
            <a:noFill/>
          </a:ln>
        </p:spPr>
        <p:txBody>
          <a:bodyPr vert="horz" lIns="90000" tIns="45000" rIns="90000" bIns="45000" anchor="b" compatLnSpc="1">
            <a:noAutofit/>
          </a:bodyPr>
          <a:lstStyle/>
          <a:p>
            <a:pPr marL="0" marR="0" lvl="0" indent="0" algn="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sz="1400"/>
            </a:pPr>
            <a:fld id="{1E8C2E29-C98F-46AE-92F4-75BA31A1B98E}" type="slidenum">
              <a:t>‹Nr.›</a:t>
            </a:fld>
            <a:endParaRPr lang="es-VE" sz="1400" b="0" i="0" u="none" strike="noStrike" baseline="0">
              <a:ln>
                <a:noFill/>
              </a:ln>
              <a:solidFill>
                <a:srgbClr val="000000"/>
              </a:solidFill>
              <a:latin typeface="Arial" pitchFamily="34"/>
              <a:ea typeface="Bitstream Vera Sans" pitchFamily="2"/>
              <a:cs typeface="Bitstream Vera Sans" pitchFamily="2"/>
            </a:endParaRPr>
          </a:p>
        </p:txBody>
      </p:sp>
    </p:spTree>
    <p:extLst>
      <p:ext uri="{BB962C8B-B14F-4D97-AF65-F5344CB8AC3E}">
        <p14:creationId xmlns:p14="http://schemas.microsoft.com/office/powerpoint/2010/main" val="14843860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CAED36E-0D69-2525-0E7A-92A78D39F535}"/>
              </a:ext>
            </a:extLst>
          </p:cNvPr>
          <p:cNvSpPr>
            <a:spLocks noMove="1" noResize="1"/>
          </p:cNvSpPr>
          <p:nvPr/>
        </p:nvSpPr>
        <p:spPr>
          <a:xfrm>
            <a:off x="0" y="0"/>
            <a:ext cx="7772400" cy="10058400"/>
          </a:xfrm>
          <a:prstGeom prst="rect">
            <a:avLst/>
          </a:prstGeom>
          <a:solidFill>
            <a:srgbClr val="FFFFFF"/>
          </a:solidFill>
          <a:ln>
            <a:noFill/>
            <a:prstDash val="solid"/>
          </a:ln>
        </p:spPr>
        <p:txBody>
          <a:bodyPr vert="horz" lIns="90000" tIns="45000" rIns="90000" bIns="45000" anchor="ctr" anchorCtr="1"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Freihandform: Form 2">
            <a:extLst>
              <a:ext uri="{FF2B5EF4-FFF2-40B4-BE49-F238E27FC236}">
                <a16:creationId xmlns:a16="http://schemas.microsoft.com/office/drawing/2014/main" id="{9879E24F-C547-7F6F-0E63-7D6E2FC50A4B}"/>
              </a:ext>
            </a:extLst>
          </p:cNvPr>
          <p:cNvSpPr/>
          <p:nvPr/>
        </p:nvSpPr>
        <p:spPr>
          <a:xfrm>
            <a:off x="0" y="0"/>
            <a:ext cx="7772400" cy="10058400"/>
          </a:xfrm>
          <a:custGeom>
            <a:avLst>
              <a:gd name="f0" fmla="val 4"/>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a:noFill/>
            <a:prstDash val="solid"/>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4" name="Folienbildplatzhalter 3">
            <a:extLst>
              <a:ext uri="{FF2B5EF4-FFF2-40B4-BE49-F238E27FC236}">
                <a16:creationId xmlns:a16="http://schemas.microsoft.com/office/drawing/2014/main" id="{9F2023B0-113E-37AF-E850-0071CE00CF37}"/>
              </a:ext>
            </a:extLst>
          </p:cNvPr>
          <p:cNvSpPr>
            <a:spLocks noGrp="1" noRot="1" noChangeAspect="1"/>
          </p:cNvSpPr>
          <p:nvPr>
            <p:ph type="sldImg" idx="2"/>
          </p:nvPr>
        </p:nvSpPr>
        <p:spPr>
          <a:xfrm>
            <a:off x="1348920" y="965160"/>
            <a:ext cx="5069160" cy="3478680"/>
          </a:xfrm>
          <a:prstGeom prst="rect">
            <a:avLst/>
          </a:prstGeom>
          <a:noFill/>
          <a:ln>
            <a:noFill/>
            <a:prstDash val="solid"/>
          </a:ln>
        </p:spPr>
      </p:sp>
      <p:sp>
        <p:nvSpPr>
          <p:cNvPr id="5" name="Notizenplatzhalter 4">
            <a:extLst>
              <a:ext uri="{FF2B5EF4-FFF2-40B4-BE49-F238E27FC236}">
                <a16:creationId xmlns:a16="http://schemas.microsoft.com/office/drawing/2014/main" id="{7A84A2A8-4B19-A698-A43E-C62FD4DDF8F4}"/>
              </a:ext>
            </a:extLst>
          </p:cNvPr>
          <p:cNvSpPr txBox="1">
            <a:spLocks noGrp="1"/>
          </p:cNvSpPr>
          <p:nvPr>
            <p:ph type="body" sz="quarter" idx="3"/>
          </p:nvPr>
        </p:nvSpPr>
        <p:spPr>
          <a:xfrm>
            <a:off x="1201679" y="4784759"/>
            <a:ext cx="5370480" cy="3861000"/>
          </a:xfrm>
          <a:prstGeom prst="rect">
            <a:avLst/>
          </a:prstGeom>
          <a:noFill/>
          <a:ln>
            <a:noFill/>
          </a:ln>
        </p:spPr>
        <p:txBody>
          <a:bodyPr vert="horz" lIns="0" tIns="0" rIns="0" bIns="0"/>
          <a:lstStyle/>
          <a:p>
            <a:endParaRPr lang="es-VE"/>
          </a:p>
        </p:txBody>
      </p:sp>
    </p:spTree>
    <p:extLst>
      <p:ext uri="{BB962C8B-B14F-4D97-AF65-F5344CB8AC3E}">
        <p14:creationId xmlns:p14="http://schemas.microsoft.com/office/powerpoint/2010/main" val="1981089154"/>
      </p:ext>
    </p:extLst>
  </p:cSld>
  <p:clrMap bg1="lt1" tx1="dk1" bg2="lt2" tx2="dk2" accent1="accent1" accent2="accent2" accent3="accent3" accent4="accent4" accent5="accent5" accent6="accent6" hlink="hlink" folHlink="folHlink"/>
  <p:notesStyle>
    <a:lvl1pPr marL="0" marR="0" indent="0" algn="l" rtl="0" hangingPunct="0">
      <a:lnSpc>
        <a:spcPct val="100000"/>
      </a:lnSpc>
      <a:spcBef>
        <a:spcPts val="448"/>
      </a:spcBef>
      <a:spcAft>
        <a:spcPts val="0"/>
      </a:spcAft>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lang="es-VE" sz="1200" b="0" i="0" u="none" strike="noStrike" baseline="0">
        <a:ln>
          <a:noFill/>
        </a:ln>
        <a:solidFill>
          <a:srgbClr val="000000"/>
        </a:solidFill>
        <a:latin typeface="Times New Roman"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A5486B6A-EBBF-08A6-059E-86961EECDFDA}"/>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9EB82154-BB2E-12A8-740B-AEF00513AC7B}"/>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F417894F-6FD7-E799-F1FE-A9EE630F62DE}"/>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BCBD2B79-5FCC-13FD-7DEA-B4E7BA73E569}"/>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05B820A-579C-216D-1851-7136B59ECD9A}"/>
              </a:ext>
            </a:extLst>
          </p:cNvPr>
          <p:cNvSpPr>
            <a:spLocks noGrp="1" noRot="1" noChangeAspect="1" noResize="1"/>
          </p:cNvSpPr>
          <p:nvPr>
            <p:ph type="sldImg"/>
          </p:nvPr>
        </p:nvSpPr>
        <p:spPr>
          <a:solidFill>
            <a:schemeClr val="accent1"/>
          </a:solidFill>
          <a:ln w="25400">
            <a:solidFill>
              <a:schemeClr val="accent1">
                <a:shade val="50000"/>
              </a:schemeClr>
            </a:solidFill>
            <a:prstDash val="solid"/>
          </a:ln>
        </p:spPr>
      </p:sp>
      <p:sp>
        <p:nvSpPr>
          <p:cNvPr id="3" name="Notizenplatzhalter 2">
            <a:extLst>
              <a:ext uri="{FF2B5EF4-FFF2-40B4-BE49-F238E27FC236}">
                <a16:creationId xmlns:a16="http://schemas.microsoft.com/office/drawing/2014/main" id="{D060DB20-EAE5-9654-D0A0-3BD8E3AA033B}"/>
              </a:ext>
            </a:extLst>
          </p:cNvPr>
          <p:cNvSpPr txBox="1">
            <a:spLocks noGrp="1"/>
          </p:cNvSpPr>
          <p:nvPr>
            <p:ph type="body" sz="quarter" idx="1"/>
          </p:nvPr>
        </p:nvSpPr>
        <p:spPr>
          <a:xfrm>
            <a:off x="1201679" y="4784759"/>
            <a:ext cx="5370480" cy="3771000"/>
          </a:xfrm>
        </p:spPr>
        <p:txBody>
          <a:bodyPr/>
          <a:lstStyle/>
          <a:p>
            <a:endParaRPr lang="es-V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977AAFF4-CF7F-44A6-A014-2B25BE28E48A}"/>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C30D0388-28AB-AD60-2207-AF4ECAAC24B7}"/>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0A0EFC5C-16D9-2C2B-4B45-99A5ACFD8825}"/>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9792A542-9DC1-721B-425C-AF589D13B26D}"/>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21AF7939-C4FE-10B7-E858-C52DDF0E3104}"/>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FB1B5767-9FE0-504F-FCFE-22E2142424BD}"/>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7E45AEF3-0486-E343-2956-7A1F5816F79F}"/>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1F3034D2-EDE4-09FC-05E0-F774F0EDAD3C}"/>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B12D7A3D-DCE5-7156-8BAF-2FB9139C7C22}"/>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DB36AF3A-55FE-BCB2-7E2F-EC568783B76E}"/>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85B92D08-9AAA-43F9-7687-481A007A7AF8}"/>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08C01B42-A6FA-7A64-E66E-772155CFD11C}"/>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55C85AE7-E69C-2A46-9BD6-33A2187BA369}"/>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119D9B40-8E86-D2CB-86F5-69D1BC79C994}"/>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5C2693E6-82E4-E631-3737-1FEC53BBB392}"/>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3F978940-44C2-BCA6-F249-4399E0B01C4B}"/>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9A21E882-8043-7491-B07D-FD509D64B19C}"/>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56B1DC7A-2D6D-0D89-174B-2DDDA9489A79}"/>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E0F0B4CD-3439-9CA8-188C-E00AB84AF647}"/>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D5B4681A-A3B0-5175-642D-B36A79F4BB0E}"/>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FF9C3597-F38C-3831-F0F5-A5AA7C5C2E3C}"/>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E0C37BF0-07F5-E49C-4F1B-0C969CCAA8D6}"/>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25D0E659-67D2-3426-F6D4-50CDEB172E48}"/>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D5295435-5044-41D2-05BA-1923F03115A2}"/>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A453B74D-E9D5-FE6F-F655-FCE4CF39789F}"/>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5F4A35F2-7E61-B4BA-5257-3A57F485D870}"/>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0766B920-5A8D-8C7D-DAFC-4A8934D2F119}"/>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0BF86BBD-0C8E-A8D7-7B5E-0C144FAEFBC7}"/>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0896D54-F23F-A35F-9D6D-4DC96C87D329}"/>
              </a:ext>
            </a:extLst>
          </p:cNvPr>
          <p:cNvSpPr>
            <a:spLocks noGrp="1" noRot="1" noChangeAspect="1" noResize="1"/>
          </p:cNvSpPr>
          <p:nvPr>
            <p:ph type="sldImg"/>
          </p:nvPr>
        </p:nvSpPr>
        <p:spPr>
          <a:solidFill>
            <a:schemeClr val="accent1"/>
          </a:solidFill>
          <a:ln w="25400">
            <a:solidFill>
              <a:schemeClr val="accent1">
                <a:shade val="50000"/>
              </a:schemeClr>
            </a:solidFill>
            <a:prstDash val="solid"/>
          </a:ln>
        </p:spPr>
      </p:sp>
      <p:sp>
        <p:nvSpPr>
          <p:cNvPr id="3" name="Notizenplatzhalter 2">
            <a:extLst>
              <a:ext uri="{FF2B5EF4-FFF2-40B4-BE49-F238E27FC236}">
                <a16:creationId xmlns:a16="http://schemas.microsoft.com/office/drawing/2014/main" id="{42217113-6F4A-9E9D-9A6E-DD7FD1BDF3AC}"/>
              </a:ext>
            </a:extLst>
          </p:cNvPr>
          <p:cNvSpPr txBox="1">
            <a:spLocks noGrp="1"/>
          </p:cNvSpPr>
          <p:nvPr>
            <p:ph type="body" sz="quarter" idx="1"/>
          </p:nvPr>
        </p:nvSpPr>
        <p:spPr>
          <a:xfrm>
            <a:off x="1201679" y="4784759"/>
            <a:ext cx="5370480" cy="3771000"/>
          </a:xfrm>
        </p:spPr>
        <p:txBody>
          <a:bodyPr/>
          <a:lstStyle/>
          <a:p>
            <a:endParaRPr lang="es-V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3AE82B7D-8BEA-F783-D860-87D03EDEF6F2}"/>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9429660F-6E74-740A-FD3D-2C8A0A2EB7DC}"/>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45EEAA47-7FAF-6067-AD87-D0AEAB45EA16}"/>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BA2BD268-A607-97F7-74BD-B9F0EAF41260}"/>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4BC72901-CEE8-3086-AB41-F5CFF91B2B4D}"/>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850BCA50-5E69-2C7F-ABF5-9F7E6F63E4A6}"/>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41B52730-D06D-C9B2-5651-83EA389E1534}"/>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547F3E34-934E-AE82-EF4C-AF0EAC971BF6}"/>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40603CB7-E15D-0287-A80D-00E0885ECA76}"/>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71A525EB-67A3-F226-F420-C841E0C3E7F1}"/>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07ECC40E-602A-3793-9162-89631D4A5945}"/>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83FA0E8B-D020-C9C7-98A5-33DDF27F412E}"/>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C341A847-92DD-8081-2ED9-0892952A5469}"/>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6439C5A7-B075-9F34-E17A-4C6C4E17FA8A}"/>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8E5045E1-1C4D-57E3-B6BD-734DE1ABDB78}"/>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50C4D76D-BFDF-3010-94D2-AE86E1459104}"/>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D6A59553-3E51-575F-01B0-FFFBE97EC3C2}"/>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6BB1D22D-E00F-6662-426C-F0F81EB11CB9}"/>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51F63913-A52F-8725-3C7F-981338E5B69D}"/>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8238E9F1-24E9-E375-B0B8-4A75899583A3}"/>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4429F429-A139-CFBB-6881-EC32D9BDB9AA}"/>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9D4C0F01-0477-DDBE-F165-CDA08E88C9FB}"/>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623483BE-CCB9-FBB0-CA8B-0C6E89C05632}"/>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CD83E8F2-289C-905F-3A3F-90652FF3A78F}"/>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6DDA5A56-912A-5C2E-1CAD-FB2E98EE650B}"/>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DED71637-758F-5ADF-AD35-C565501A9275}"/>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6DE8C4FC-CE06-705B-7FAD-8280FEB605EC}"/>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6EE76925-2708-5FDF-AF1E-1D5596FD02F7}"/>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B1AA5398-FE4A-912D-A0C0-55D8EC6E0A35}"/>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BDB19A2B-AF4C-FA80-0D88-8A58951AB3DA}"/>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7DEF0624-7CFF-D6EF-5814-9B7C03952517}"/>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2FD5A11B-F79E-0C4F-8670-1000334848CC}"/>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D775076C-9ACA-9667-38AB-9C3313ECC23D}"/>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CA42550C-01CD-2B5C-DE4F-135747F6222E}"/>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4700A2E3-5379-A375-DDCB-8055B1F8A03E}"/>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4364CE49-8DA8-4D99-D63C-9FEDA9D47F7C}"/>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91A91FA7-4831-4DD9-2F38-CBFFFEA22B78}"/>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CA8AA68E-F020-45ED-CC27-830722870C18}"/>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C4DAF056-502E-E7D4-7061-74C822636A70}"/>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594CD0E8-5A05-336E-E5AA-B47B58A24762}"/>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182D364D-10B6-40D5-B668-A29F306FD7CA}"/>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FE79FAC6-5EDC-2BFD-3E33-FCEF3AFE3CD1}"/>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E05EAE05-3CAA-5E9A-B20C-FD432F250E85}"/>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4222BC7E-F103-699A-837A-4D8320028D45}"/>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3ED731DE-70C2-E018-39D5-A3BB3783AD6C}"/>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0D1F2098-760F-71A8-11A3-878467CE77DD}"/>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F7E45849-17F7-D0D7-FD3C-4AF0E6119273}"/>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7F737540-71B1-C319-CD67-64C84CF7FA60}"/>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0C4E9B20-9EEF-306D-9C43-E689917D1DC1}"/>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D004E04E-8E80-6073-987A-C20047C4E90F}"/>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E1DC8394-B78D-CA67-677E-13818FD1CDCE}"/>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609F9980-7E1E-544A-9CAD-5D756354FE77}"/>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30E30B74-26C3-A697-3BDB-C318C42BF730}"/>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3CFE78FA-9C8C-72B8-1EC8-A0E62B702BBD}"/>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D88CB684-26FE-5EAD-10C5-E68E63857897}"/>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8E732F01-5603-B61A-E2CF-76986EA217FC}"/>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DE075B5F-2C2A-571E-1F48-10F7B9F5E648}"/>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6712F690-DC2F-5FAC-E979-733F80856972}"/>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75A757A1-8656-B20D-24FF-A265C10FD0AE}"/>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884A7107-8ACF-530B-7007-01E05C6FCA96}"/>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5E64CE54-AAA2-AD51-53A1-1A9351995F6E}"/>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47FD1294-995A-C94A-33D9-7B3479D13B49}"/>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BD5C82B6-0175-007A-D065-DBF51CA569CD}"/>
              </a:ext>
            </a:extLst>
          </p:cNvPr>
          <p:cNvSpPr/>
          <p:nvPr/>
        </p:nvSpPr>
        <p:spPr>
          <a:xfrm>
            <a:off x="1349280" y="965160"/>
            <a:ext cx="5070600" cy="3479760"/>
          </a:xfrm>
          <a:prstGeom prst="rect">
            <a:avLst/>
          </a:prstGeom>
        </p:spPr>
        <p:style>
          <a:lnRef idx="2">
            <a:schemeClr val="accent1">
              <a:shade val="15000"/>
            </a:schemeClr>
          </a:lnRef>
          <a:fillRef idx="1">
            <a:schemeClr val="accent1"/>
          </a:fillRef>
          <a:effectRef idx="0">
            <a:schemeClr val="accent1"/>
          </a:effectRef>
          <a:fontRef idx="minor">
            <a:schemeClr val="lt1"/>
          </a:fontRef>
        </p:style>
      </p:sp>
      <p:sp>
        <p:nvSpPr>
          <p:cNvPr id="3" name="Notizenplatzhalter 2">
            <a:extLst>
              <a:ext uri="{FF2B5EF4-FFF2-40B4-BE49-F238E27FC236}">
                <a16:creationId xmlns:a16="http://schemas.microsoft.com/office/drawing/2014/main" id="{61EA9136-4EE7-F4EA-967C-9A584EF7B2FD}"/>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1E605137-36E0-571B-8712-FF3CA31C3767}"/>
              </a:ext>
            </a:extLst>
          </p:cNvPr>
          <p:cNvSpPr/>
          <p:nvPr/>
        </p:nvSpPr>
        <p:spPr>
          <a:xfrm>
            <a:off x="1349280" y="965160"/>
            <a:ext cx="5070600" cy="3479760"/>
          </a:xfrm>
          <a:prstGeom prst="rect">
            <a:avLst/>
          </a:prstGeom>
        </p:spPr>
        <p:style>
          <a:lnRef idx="2">
            <a:schemeClr val="accent1">
              <a:shade val="15000"/>
            </a:schemeClr>
          </a:lnRef>
          <a:fillRef idx="1">
            <a:schemeClr val="accent1"/>
          </a:fillRef>
          <a:effectRef idx="0">
            <a:schemeClr val="accent1"/>
          </a:effectRef>
          <a:fontRef idx="minor">
            <a:schemeClr val="lt1"/>
          </a:fontRef>
        </p:style>
      </p:sp>
      <p:sp>
        <p:nvSpPr>
          <p:cNvPr id="3" name="Notizenplatzhalter 2">
            <a:extLst>
              <a:ext uri="{FF2B5EF4-FFF2-40B4-BE49-F238E27FC236}">
                <a16:creationId xmlns:a16="http://schemas.microsoft.com/office/drawing/2014/main" id="{BF2CDCDF-8218-1D67-5CB9-13E582A9DAE0}"/>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66FDAC30-17CE-B16A-A346-E93A44108ED9}"/>
              </a:ext>
            </a:extLst>
          </p:cNvPr>
          <p:cNvSpPr/>
          <p:nvPr/>
        </p:nvSpPr>
        <p:spPr>
          <a:xfrm>
            <a:off x="1349280" y="965160"/>
            <a:ext cx="5070600" cy="3479760"/>
          </a:xfrm>
          <a:prstGeom prst="rect">
            <a:avLst/>
          </a:prstGeom>
        </p:spPr>
        <p:style>
          <a:lnRef idx="2">
            <a:schemeClr val="accent1">
              <a:shade val="15000"/>
            </a:schemeClr>
          </a:lnRef>
          <a:fillRef idx="1">
            <a:schemeClr val="accent1"/>
          </a:fillRef>
          <a:effectRef idx="0">
            <a:schemeClr val="accent1"/>
          </a:effectRef>
          <a:fontRef idx="minor">
            <a:schemeClr val="lt1"/>
          </a:fontRef>
        </p:style>
      </p:sp>
      <p:sp>
        <p:nvSpPr>
          <p:cNvPr id="3" name="Notizenplatzhalter 2">
            <a:extLst>
              <a:ext uri="{FF2B5EF4-FFF2-40B4-BE49-F238E27FC236}">
                <a16:creationId xmlns:a16="http://schemas.microsoft.com/office/drawing/2014/main" id="{9EF8628F-5BD9-0815-5C72-020E1EDE2531}"/>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2F512E2B-608B-0920-A5CF-FE029E0858A8}"/>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E5738830-8107-2F4E-270A-51DFF860BA75}"/>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142E29A8-258E-AAB8-425F-5C08E4D2026C}"/>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D7DAF29A-B3DA-30D0-179B-1E9F296030DE}"/>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0D56368A-78E9-E332-7261-AC65A5FC6C57}"/>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A58EF97F-E25F-AC35-1791-92E1CD2B7731}"/>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82EEC4CB-72E2-4F5C-EA04-CDB60E557FFC}"/>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D1BA80A1-ACF1-7D43-835E-008E862480AA}"/>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3463E5E6-62F7-21AF-E1AA-A9651547A977}"/>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32BD0CD7-8EAC-B674-4E03-EC7F6D5B8AC4}"/>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1B7F2857-2F12-98AB-5859-A1384475F5E0}"/>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C97052BB-6147-86D1-2EBB-F24BBFBC9E5F}"/>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8E82BD3C-94EF-ACEC-91FB-6C123138739A}"/>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2B7CFA08-C3E8-BE66-51C0-21FB17154170}"/>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06ACBBE8-B6B0-8471-5C87-5CC9717F453F}"/>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F02B5489-B331-7D58-5C26-680845F37EA4}"/>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82B0BE32-3110-ED30-709D-4C13B8901292}"/>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CF638DBA-16DA-78A0-4CFE-AD92F77DE545}"/>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AD9777A7-C2AC-638B-6530-A5C1C73CEEC2}"/>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B36E993D-7040-254B-8120-B00CB9BE8CAF}"/>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4E19FC5D-1B2C-ED59-1EE0-1A861BCEF0E4}"/>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0C582DAF-ABA0-0B7F-8867-853832D88C92}"/>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8315CC84-A8B0-8DEE-FD02-5D899702C7CF}"/>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5980D34C-86C1-DA12-4326-940F9168B0BD}"/>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974F24B0-6C68-DDB6-C8D7-30BB92B18E46}"/>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AD58FBFC-328F-D1F0-5B24-62AC42C6EEEE}"/>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94418BA0-E0DE-2377-FBC3-106370EAAE86}"/>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7D389833-F282-EA41-1108-A988CC148797}"/>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3AB26BEE-9E95-25B8-6EBE-5CFCFCCED4B6}"/>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A728E621-3BD9-E2CD-E434-EF15568ED56C}"/>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8DD7A52F-1591-E0D6-5340-BDD767FAE188}"/>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00E92A71-C795-254A-3BC0-59814648DAA5}"/>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DC25BCAC-F061-2B82-2BDD-0A6849E54A4D}"/>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CC1E98D8-61C5-FCDC-D460-859A59FD4362}"/>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E4639D9A-16BD-7074-0A4F-E623E1FD1FBD}"/>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765B8585-BA56-CF77-B07E-260B5179CAD8}"/>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FE0FBB12-E037-20A1-2DE4-41114DBD9099}"/>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3A12B485-E3E3-BDF4-55CF-6EED58E4965E}"/>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8480A318-ADFD-D6EF-0A1A-A739D9009A7D}"/>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26EC6CC6-8015-47DE-05C6-FA0D1CA2FCED}"/>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B844ECDF-0CBB-6269-2800-4BC745AA50D7}"/>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0BC7CC39-4289-61DD-6ACB-B0E9DA580986}"/>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9A6B3848-707E-3933-00CF-7ACAC815DAAA}"/>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3F5C5242-3154-8BCB-FF83-398D00E9DA4D}"/>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7D603D5E-F4E0-4E69-60CB-938962EFE26E}"/>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7D1C5743-7915-C45C-9C70-0439D52AD9F6}"/>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916CD348-BF65-3EFE-BE69-37D3297E288E}"/>
              </a:ext>
            </a:extLst>
          </p:cNvPr>
          <p:cNvSpPr/>
          <p:nvPr/>
        </p:nvSpPr>
        <p:spPr>
          <a:xfrm>
            <a:off x="1349280" y="965160"/>
            <a:ext cx="5072040" cy="3481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a:solidFill>
              <a:srgbClr val="000000"/>
            </a:solidFill>
            <a:prstDash val="solid"/>
            <a:miter/>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3" name="Notizenplatzhalter 2">
            <a:extLst>
              <a:ext uri="{FF2B5EF4-FFF2-40B4-BE49-F238E27FC236}">
                <a16:creationId xmlns:a16="http://schemas.microsoft.com/office/drawing/2014/main" id="{72AAB804-F147-1E20-C041-B5DF4C12EFE9}"/>
              </a:ext>
            </a:extLst>
          </p:cNvPr>
          <p:cNvSpPr txBox="1">
            <a:spLocks noGrp="1"/>
          </p:cNvSpPr>
          <p:nvPr>
            <p:ph type="body" sz="quarter" idx="1"/>
          </p:nvPr>
        </p:nvSpPr>
        <p:spPr>
          <a:xfrm>
            <a:off x="1201679" y="4784759"/>
            <a:ext cx="5370480" cy="3861359"/>
          </a:xfrm>
        </p:spPr>
        <p:txBody>
          <a:bodyPr>
            <a:spAutoFit/>
          </a:bodyPr>
          <a:lstStyle/>
          <a:p>
            <a:endParaRPr lang="es-V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5FD525-7DF4-1C16-1760-CA43CB266792}"/>
              </a:ext>
            </a:extLst>
          </p:cNvPr>
          <p:cNvSpPr>
            <a:spLocks noGrp="1"/>
          </p:cNvSpPr>
          <p:nvPr>
            <p:ph type="ctrTitle"/>
          </p:nvPr>
        </p:nvSpPr>
        <p:spPr>
          <a:xfrm>
            <a:off x="1260475" y="1236663"/>
            <a:ext cx="7559675" cy="2632075"/>
          </a:xfrm>
        </p:spPr>
        <p:txBody>
          <a:bodyPr anchor="b"/>
          <a:lstStyle>
            <a:lvl1pPr algn="ctr">
              <a:defRPr sz="6000"/>
            </a:lvl1pPr>
          </a:lstStyle>
          <a:p>
            <a:r>
              <a:rPr lang="de-DE"/>
              <a:t>Mastertitelformat bearbeiten</a:t>
            </a:r>
            <a:endParaRPr lang="es-ES"/>
          </a:p>
        </p:txBody>
      </p:sp>
      <p:sp>
        <p:nvSpPr>
          <p:cNvPr id="3" name="Untertitel 2">
            <a:extLst>
              <a:ext uri="{FF2B5EF4-FFF2-40B4-BE49-F238E27FC236}">
                <a16:creationId xmlns:a16="http://schemas.microsoft.com/office/drawing/2014/main" id="{21C9FB78-4BF7-4E85-D309-CD3552786761}"/>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
          </a:p>
        </p:txBody>
      </p:sp>
    </p:spTree>
    <p:extLst>
      <p:ext uri="{BB962C8B-B14F-4D97-AF65-F5344CB8AC3E}">
        <p14:creationId xmlns:p14="http://schemas.microsoft.com/office/powerpoint/2010/main" val="37223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C052C2-8063-7848-A08C-1649E9729E62}"/>
              </a:ext>
            </a:extLst>
          </p:cNvPr>
          <p:cNvSpPr>
            <a:spLocks noGrp="1"/>
          </p:cNvSpPr>
          <p:nvPr>
            <p:ph type="title"/>
          </p:nvPr>
        </p:nvSpPr>
        <p:spPr/>
        <p:txBody>
          <a:bodyPr/>
          <a:lstStyle/>
          <a:p>
            <a:r>
              <a:rPr lang="de-DE"/>
              <a:t>Mastertitelformat bearbeiten</a:t>
            </a:r>
            <a:endParaRPr lang="es-ES"/>
          </a:p>
        </p:txBody>
      </p:sp>
      <p:sp>
        <p:nvSpPr>
          <p:cNvPr id="3" name="Inhaltsplatzhalter 2">
            <a:extLst>
              <a:ext uri="{FF2B5EF4-FFF2-40B4-BE49-F238E27FC236}">
                <a16:creationId xmlns:a16="http://schemas.microsoft.com/office/drawing/2014/main" id="{F47E9714-C7EF-547D-D76F-62B16BAFC05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Tree>
    <p:extLst>
      <p:ext uri="{BB962C8B-B14F-4D97-AF65-F5344CB8AC3E}">
        <p14:creationId xmlns:p14="http://schemas.microsoft.com/office/powerpoint/2010/main" val="367191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FA351B-E385-6F12-3631-3ABE9F020990}"/>
              </a:ext>
            </a:extLst>
          </p:cNvPr>
          <p:cNvSpPr>
            <a:spLocks noGrp="1"/>
          </p:cNvSpPr>
          <p:nvPr>
            <p:ph type="title"/>
          </p:nvPr>
        </p:nvSpPr>
        <p:spPr>
          <a:xfrm>
            <a:off x="687388" y="1884363"/>
            <a:ext cx="8694737" cy="3144837"/>
          </a:xfrm>
        </p:spPr>
        <p:txBody>
          <a:bodyPr anchor="b"/>
          <a:lstStyle>
            <a:lvl1pPr>
              <a:defRPr sz="6000"/>
            </a:lvl1pPr>
          </a:lstStyle>
          <a:p>
            <a:r>
              <a:rPr lang="de-DE"/>
              <a:t>Mastertitelformat bearbeiten</a:t>
            </a:r>
            <a:endParaRPr lang="es-ES"/>
          </a:p>
        </p:txBody>
      </p:sp>
      <p:sp>
        <p:nvSpPr>
          <p:cNvPr id="3" name="Textplatzhalter 2">
            <a:extLst>
              <a:ext uri="{FF2B5EF4-FFF2-40B4-BE49-F238E27FC236}">
                <a16:creationId xmlns:a16="http://schemas.microsoft.com/office/drawing/2014/main" id="{4BFFE31A-2D7C-D590-04ED-5AA077335B80}"/>
              </a:ext>
            </a:extLst>
          </p:cNvPr>
          <p:cNvSpPr>
            <a:spLocks noGrp="1"/>
          </p:cNvSpPr>
          <p:nvPr>
            <p:ph type="body" idx="1"/>
          </p:nvPr>
        </p:nvSpPr>
        <p:spPr>
          <a:xfrm>
            <a:off x="687388" y="5059363"/>
            <a:ext cx="8694737" cy="16525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Tree>
    <p:extLst>
      <p:ext uri="{BB962C8B-B14F-4D97-AF65-F5344CB8AC3E}">
        <p14:creationId xmlns:p14="http://schemas.microsoft.com/office/powerpoint/2010/main" val="45405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440663-4EEB-ADF8-C497-D2F9A7FE00D9}"/>
              </a:ext>
            </a:extLst>
          </p:cNvPr>
          <p:cNvSpPr>
            <a:spLocks noGrp="1"/>
          </p:cNvSpPr>
          <p:nvPr>
            <p:ph type="title"/>
          </p:nvPr>
        </p:nvSpPr>
        <p:spPr/>
        <p:txBody>
          <a:bodyPr/>
          <a:lstStyle/>
          <a:p>
            <a:r>
              <a:rPr lang="de-DE"/>
              <a:t>Mastertitelformat bearbeiten</a:t>
            </a:r>
            <a:endParaRPr lang="es-ES"/>
          </a:p>
        </p:txBody>
      </p:sp>
      <p:sp>
        <p:nvSpPr>
          <p:cNvPr id="3" name="Inhaltsplatzhalter 2">
            <a:extLst>
              <a:ext uri="{FF2B5EF4-FFF2-40B4-BE49-F238E27FC236}">
                <a16:creationId xmlns:a16="http://schemas.microsoft.com/office/drawing/2014/main" id="{C4CF82FC-A092-E02F-4AE7-107324E1D165}"/>
              </a:ext>
            </a:extLst>
          </p:cNvPr>
          <p:cNvSpPr>
            <a:spLocks noGrp="1"/>
          </p:cNvSpPr>
          <p:nvPr>
            <p:ph sz="half" idx="1"/>
          </p:nvPr>
        </p:nvSpPr>
        <p:spPr>
          <a:xfrm>
            <a:off x="741363" y="1963738"/>
            <a:ext cx="4308475" cy="49339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Inhaltsplatzhalter 3">
            <a:extLst>
              <a:ext uri="{FF2B5EF4-FFF2-40B4-BE49-F238E27FC236}">
                <a16:creationId xmlns:a16="http://schemas.microsoft.com/office/drawing/2014/main" id="{EEA6A9E7-AD54-99E6-6FFE-4FAEDFE9AF03}"/>
              </a:ext>
            </a:extLst>
          </p:cNvPr>
          <p:cNvSpPr>
            <a:spLocks noGrp="1"/>
          </p:cNvSpPr>
          <p:nvPr>
            <p:ph sz="half" idx="2"/>
          </p:nvPr>
        </p:nvSpPr>
        <p:spPr>
          <a:xfrm>
            <a:off x="5202238" y="1963738"/>
            <a:ext cx="4308475" cy="49339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Tree>
    <p:extLst>
      <p:ext uri="{BB962C8B-B14F-4D97-AF65-F5344CB8AC3E}">
        <p14:creationId xmlns:p14="http://schemas.microsoft.com/office/powerpoint/2010/main" val="3397647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593771-52E7-784A-B745-726088557136}"/>
              </a:ext>
            </a:extLst>
          </p:cNvPr>
          <p:cNvSpPr>
            <a:spLocks noGrp="1"/>
          </p:cNvSpPr>
          <p:nvPr>
            <p:ph type="title"/>
          </p:nvPr>
        </p:nvSpPr>
        <p:spPr>
          <a:xfrm>
            <a:off x="693738" y="403225"/>
            <a:ext cx="8694737" cy="1460500"/>
          </a:xfrm>
        </p:spPr>
        <p:txBody>
          <a:bodyPr/>
          <a:lstStyle/>
          <a:p>
            <a:r>
              <a:rPr lang="de-DE"/>
              <a:t>Mastertitelformat bearbeiten</a:t>
            </a:r>
            <a:endParaRPr lang="es-ES"/>
          </a:p>
        </p:txBody>
      </p:sp>
      <p:sp>
        <p:nvSpPr>
          <p:cNvPr id="3" name="Textplatzhalter 2">
            <a:extLst>
              <a:ext uri="{FF2B5EF4-FFF2-40B4-BE49-F238E27FC236}">
                <a16:creationId xmlns:a16="http://schemas.microsoft.com/office/drawing/2014/main" id="{A5186505-AF6A-26C1-92BA-FF87F498DDB2}"/>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71C16FA-1A16-56B3-C1BE-A59D1379C03F}"/>
              </a:ext>
            </a:extLst>
          </p:cNvPr>
          <p:cNvSpPr>
            <a:spLocks noGrp="1"/>
          </p:cNvSpPr>
          <p:nvPr>
            <p:ph sz="half" idx="2"/>
          </p:nvPr>
        </p:nvSpPr>
        <p:spPr>
          <a:xfrm>
            <a:off x="693738" y="2760663"/>
            <a:ext cx="4265612" cy="40624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5" name="Textplatzhalter 4">
            <a:extLst>
              <a:ext uri="{FF2B5EF4-FFF2-40B4-BE49-F238E27FC236}">
                <a16:creationId xmlns:a16="http://schemas.microsoft.com/office/drawing/2014/main" id="{5FDE2BDF-5545-BFF0-976E-CAEC49255F01}"/>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7BA1A7A-EB1D-F1A9-C4B3-8E6ECEF3C735}"/>
              </a:ext>
            </a:extLst>
          </p:cNvPr>
          <p:cNvSpPr>
            <a:spLocks noGrp="1"/>
          </p:cNvSpPr>
          <p:nvPr>
            <p:ph sz="quarter" idx="4"/>
          </p:nvPr>
        </p:nvSpPr>
        <p:spPr>
          <a:xfrm>
            <a:off x="5103813" y="2760663"/>
            <a:ext cx="4284662" cy="406241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Tree>
    <p:extLst>
      <p:ext uri="{BB962C8B-B14F-4D97-AF65-F5344CB8AC3E}">
        <p14:creationId xmlns:p14="http://schemas.microsoft.com/office/powerpoint/2010/main" val="583169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07D323-8031-DFE5-4A18-B6637F1694CC}"/>
              </a:ext>
            </a:extLst>
          </p:cNvPr>
          <p:cNvSpPr>
            <a:spLocks noGrp="1"/>
          </p:cNvSpPr>
          <p:nvPr>
            <p:ph type="title"/>
          </p:nvPr>
        </p:nvSpPr>
        <p:spPr/>
        <p:txBody>
          <a:bodyPr/>
          <a:lstStyle/>
          <a:p>
            <a:r>
              <a:rPr lang="de-DE"/>
              <a:t>Mastertitelformat bearbeiten</a:t>
            </a:r>
            <a:endParaRPr lang="es-ES"/>
          </a:p>
        </p:txBody>
      </p:sp>
    </p:spTree>
    <p:extLst>
      <p:ext uri="{BB962C8B-B14F-4D97-AF65-F5344CB8AC3E}">
        <p14:creationId xmlns:p14="http://schemas.microsoft.com/office/powerpoint/2010/main" val="3085409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2513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67F7F0-7198-F12C-A9BE-C5576FDF1566}"/>
              </a:ext>
            </a:extLst>
          </p:cNvPr>
          <p:cNvSpPr>
            <a:spLocks noGrp="1"/>
          </p:cNvSpPr>
          <p:nvPr>
            <p:ph type="title"/>
          </p:nvPr>
        </p:nvSpPr>
        <p:spPr>
          <a:xfrm>
            <a:off x="693738" y="503238"/>
            <a:ext cx="3251200" cy="1765300"/>
          </a:xfrm>
        </p:spPr>
        <p:txBody>
          <a:bodyPr anchor="b"/>
          <a:lstStyle>
            <a:lvl1pPr>
              <a:defRPr sz="3200"/>
            </a:lvl1pPr>
          </a:lstStyle>
          <a:p>
            <a:r>
              <a:rPr lang="de-DE"/>
              <a:t>Mastertitelformat bearbeiten</a:t>
            </a:r>
            <a:endParaRPr lang="es-ES"/>
          </a:p>
        </p:txBody>
      </p:sp>
      <p:sp>
        <p:nvSpPr>
          <p:cNvPr id="3" name="Inhaltsplatzhalter 2">
            <a:extLst>
              <a:ext uri="{FF2B5EF4-FFF2-40B4-BE49-F238E27FC236}">
                <a16:creationId xmlns:a16="http://schemas.microsoft.com/office/drawing/2014/main" id="{2BAAC1B3-1EA0-D2E9-CEE5-15E65FB9FC76}"/>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Textplatzhalter 3">
            <a:extLst>
              <a:ext uri="{FF2B5EF4-FFF2-40B4-BE49-F238E27FC236}">
                <a16:creationId xmlns:a16="http://schemas.microsoft.com/office/drawing/2014/main" id="{BD02E7C7-DDA0-551B-B8A8-8F7BBEB8DD93}"/>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1914543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4C3E2C-F6B8-1F5F-C8A7-1FD4979B98A1}"/>
              </a:ext>
            </a:extLst>
          </p:cNvPr>
          <p:cNvSpPr>
            <a:spLocks noGrp="1"/>
          </p:cNvSpPr>
          <p:nvPr>
            <p:ph type="title"/>
          </p:nvPr>
        </p:nvSpPr>
        <p:spPr>
          <a:xfrm>
            <a:off x="693738" y="503238"/>
            <a:ext cx="3251200" cy="1765300"/>
          </a:xfrm>
        </p:spPr>
        <p:txBody>
          <a:bodyPr anchor="b"/>
          <a:lstStyle>
            <a:lvl1pPr>
              <a:defRPr sz="3200"/>
            </a:lvl1pPr>
          </a:lstStyle>
          <a:p>
            <a:r>
              <a:rPr lang="de-DE"/>
              <a:t>Mastertitelformat bearbeiten</a:t>
            </a:r>
            <a:endParaRPr lang="es-ES"/>
          </a:p>
        </p:txBody>
      </p:sp>
      <p:sp>
        <p:nvSpPr>
          <p:cNvPr id="3" name="Bildplatzhalter 2">
            <a:extLst>
              <a:ext uri="{FF2B5EF4-FFF2-40B4-BE49-F238E27FC236}">
                <a16:creationId xmlns:a16="http://schemas.microsoft.com/office/drawing/2014/main" id="{78FB2511-73BD-59EB-F5F9-42328D0FC025}"/>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platzhalter 3">
            <a:extLst>
              <a:ext uri="{FF2B5EF4-FFF2-40B4-BE49-F238E27FC236}">
                <a16:creationId xmlns:a16="http://schemas.microsoft.com/office/drawing/2014/main" id="{647EE002-5E6F-7636-9A41-EAB805A2848B}"/>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2769525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8EEEDC-CE3A-0BF5-9FAC-C495F2102116}"/>
              </a:ext>
            </a:extLst>
          </p:cNvPr>
          <p:cNvSpPr>
            <a:spLocks noGrp="1"/>
          </p:cNvSpPr>
          <p:nvPr>
            <p:ph type="title"/>
          </p:nvPr>
        </p:nvSpPr>
        <p:spPr/>
        <p:txBody>
          <a:bodyPr/>
          <a:lstStyle/>
          <a:p>
            <a:r>
              <a:rPr lang="de-DE"/>
              <a:t>Mastertitelformat bearbeiten</a:t>
            </a:r>
            <a:endParaRPr lang="es-ES"/>
          </a:p>
        </p:txBody>
      </p:sp>
      <p:sp>
        <p:nvSpPr>
          <p:cNvPr id="3" name="Vertikaler Textplatzhalter 2">
            <a:extLst>
              <a:ext uri="{FF2B5EF4-FFF2-40B4-BE49-F238E27FC236}">
                <a16:creationId xmlns:a16="http://schemas.microsoft.com/office/drawing/2014/main" id="{58211F15-2FCC-90AC-0109-9F7B4B3B22A4}"/>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Tree>
    <p:extLst>
      <p:ext uri="{BB962C8B-B14F-4D97-AF65-F5344CB8AC3E}">
        <p14:creationId xmlns:p14="http://schemas.microsoft.com/office/powerpoint/2010/main" val="244736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0A6A156-A999-54ED-9B98-952A407C09F5}"/>
              </a:ext>
            </a:extLst>
          </p:cNvPr>
          <p:cNvSpPr>
            <a:spLocks noGrp="1"/>
          </p:cNvSpPr>
          <p:nvPr>
            <p:ph type="title" orient="vert"/>
          </p:nvPr>
        </p:nvSpPr>
        <p:spPr>
          <a:xfrm>
            <a:off x="7318375" y="282575"/>
            <a:ext cx="2192338" cy="6615113"/>
          </a:xfrm>
        </p:spPr>
        <p:txBody>
          <a:bodyPr vert="eaVert"/>
          <a:lstStyle/>
          <a:p>
            <a:r>
              <a:rPr lang="de-DE"/>
              <a:t>Mastertitelformat bearbeiten</a:t>
            </a:r>
            <a:endParaRPr lang="es-ES"/>
          </a:p>
        </p:txBody>
      </p:sp>
      <p:sp>
        <p:nvSpPr>
          <p:cNvPr id="3" name="Vertikaler Textplatzhalter 2">
            <a:extLst>
              <a:ext uri="{FF2B5EF4-FFF2-40B4-BE49-F238E27FC236}">
                <a16:creationId xmlns:a16="http://schemas.microsoft.com/office/drawing/2014/main" id="{2F807638-5734-0B2B-6340-6D65F95266BA}"/>
              </a:ext>
            </a:extLst>
          </p:cNvPr>
          <p:cNvSpPr>
            <a:spLocks noGrp="1"/>
          </p:cNvSpPr>
          <p:nvPr>
            <p:ph type="body" orient="vert" idx="1"/>
          </p:nvPr>
        </p:nvSpPr>
        <p:spPr>
          <a:xfrm>
            <a:off x="741363" y="282575"/>
            <a:ext cx="6424612" cy="6615113"/>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Tree>
    <p:extLst>
      <p:ext uri="{BB962C8B-B14F-4D97-AF65-F5344CB8AC3E}">
        <p14:creationId xmlns:p14="http://schemas.microsoft.com/office/powerpoint/2010/main" val="1405078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907BD731-1635-1211-CD30-2D5E263AFC3C}"/>
              </a:ext>
            </a:extLst>
          </p:cNvPr>
          <p:cNvSpPr txBox="1">
            <a:spLocks noGrp="1"/>
          </p:cNvSpPr>
          <p:nvPr>
            <p:ph type="title"/>
          </p:nvPr>
        </p:nvSpPr>
        <p:spPr>
          <a:xfrm>
            <a:off x="740879" y="282240"/>
            <a:ext cx="8604360" cy="1259280"/>
          </a:xfrm>
          <a:prstGeom prst="rect">
            <a:avLst/>
          </a:prstGeom>
          <a:noFill/>
          <a:ln>
            <a:noFill/>
          </a:ln>
        </p:spPr>
        <p:txBody>
          <a:bodyPr vert="horz" lIns="0" tIns="0" rIns="0" bIns="0" anchor="ctr"/>
          <a:lstStyle/>
          <a:p>
            <a:endParaRPr lang="es-VE"/>
          </a:p>
        </p:txBody>
      </p:sp>
      <p:sp>
        <p:nvSpPr>
          <p:cNvPr id="3" name="Textplatzhalter 2">
            <a:extLst>
              <a:ext uri="{FF2B5EF4-FFF2-40B4-BE49-F238E27FC236}">
                <a16:creationId xmlns:a16="http://schemas.microsoft.com/office/drawing/2014/main" id="{791481AB-DA68-E8B7-AFAD-EB49D56C6ADC}"/>
              </a:ext>
            </a:extLst>
          </p:cNvPr>
          <p:cNvSpPr txBox="1">
            <a:spLocks noGrp="1"/>
          </p:cNvSpPr>
          <p:nvPr>
            <p:ph type="body" idx="1"/>
          </p:nvPr>
        </p:nvSpPr>
        <p:spPr>
          <a:xfrm>
            <a:off x="741239" y="1963440"/>
            <a:ext cx="8769600" cy="4933800"/>
          </a:xfrm>
          <a:prstGeom prst="rect">
            <a:avLst/>
          </a:prstGeom>
          <a:noFill/>
          <a:ln>
            <a:noFill/>
          </a:ln>
        </p:spPr>
        <p:txBody>
          <a:bodyPr vert="horz" lIns="0" tIns="0" rIns="0" bIns="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VE"/>
          </a:p>
        </p:txBody>
      </p:sp>
      <p:sp>
        <p:nvSpPr>
          <p:cNvPr id="4" name="Freihandform: Form 3">
            <a:extLst>
              <a:ext uri="{FF2B5EF4-FFF2-40B4-BE49-F238E27FC236}">
                <a16:creationId xmlns:a16="http://schemas.microsoft.com/office/drawing/2014/main" id="{64D064AE-21CB-5730-CE71-44FFEA8DE565}"/>
              </a:ext>
            </a:extLst>
          </p:cNvPr>
          <p:cNvSpPr/>
          <p:nvPr/>
        </p:nvSpPr>
        <p:spPr>
          <a:xfrm>
            <a:off x="723959" y="7077240"/>
            <a:ext cx="9354959" cy="96840"/>
          </a:xfrm>
          <a:custGeom>
            <a:avLst>
              <a:gd name="f0" fmla="val 36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9966"/>
          </a:solidFill>
          <a:ln>
            <a:noFill/>
            <a:prstDash val="solid"/>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
        <p:nvSpPr>
          <p:cNvPr id="5" name="Freihandform: Form 4">
            <a:extLst>
              <a:ext uri="{FF2B5EF4-FFF2-40B4-BE49-F238E27FC236}">
                <a16:creationId xmlns:a16="http://schemas.microsoft.com/office/drawing/2014/main" id="{352EFD09-A195-5989-371B-C414C21FC153}"/>
              </a:ext>
            </a:extLst>
          </p:cNvPr>
          <p:cNvSpPr/>
          <p:nvPr/>
        </p:nvSpPr>
        <p:spPr>
          <a:xfrm>
            <a:off x="1987560" y="7289640"/>
            <a:ext cx="8091360" cy="96840"/>
          </a:xfrm>
          <a:custGeom>
            <a:avLst>
              <a:gd name="f0" fmla="val 36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9966"/>
          </a:solidFill>
          <a:ln>
            <a:noFill/>
            <a:prstDash val="solid"/>
          </a:ln>
        </p:spPr>
        <p:txBody>
          <a:bodyPr vert="horz" wrap="none" lIns="90000" tIns="46800" rIns="90000" bIns="46800" anchor="ctr"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indent="0" algn="l" rtl="0" hangingPunct="0">
        <a:lnSpc>
          <a:spcPct val="93000"/>
        </a:lnSpc>
        <a:spcBef>
          <a:spcPts val="0"/>
        </a:spcBef>
        <a:spcAft>
          <a:spcPts val="0"/>
        </a:spcAft>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lang="es-VE" sz="4000" b="1" i="1" u="none" strike="noStrike" baseline="0">
          <a:ln>
            <a:noFill/>
          </a:ln>
          <a:solidFill>
            <a:srgbClr val="FF9966"/>
          </a:solidFill>
          <a:latin typeface="Arial" pitchFamily="34"/>
        </a:defRPr>
      </a:lvl1pPr>
    </p:titleStyle>
    <p:bodyStyle>
      <a:lvl1pPr marL="342720" marR="0" indent="-342720" algn="l" rtl="0" hangingPunct="0">
        <a:lnSpc>
          <a:spcPct val="93000"/>
        </a:lnSpc>
        <a:spcBef>
          <a:spcPts val="0"/>
        </a:spcBef>
        <a:spcAft>
          <a:spcPts val="1423"/>
        </a:spcAft>
        <a:tabLst>
          <a:tab pos="342720" algn="l"/>
          <a:tab pos="448920" algn="l"/>
          <a:tab pos="898200" algn="l"/>
          <a:tab pos="1347480" algn="l"/>
          <a:tab pos="1796760" algn="l"/>
          <a:tab pos="2246040" algn="l"/>
          <a:tab pos="2695320" algn="l"/>
          <a:tab pos="3144600" algn="l"/>
          <a:tab pos="3593879" algn="l"/>
          <a:tab pos="4043160" algn="l"/>
          <a:tab pos="4492439" algn="l"/>
          <a:tab pos="4941360" algn="l"/>
          <a:tab pos="5390640" algn="l"/>
          <a:tab pos="5839920" algn="l"/>
          <a:tab pos="6289200" algn="l"/>
          <a:tab pos="6738479" algn="l"/>
          <a:tab pos="7187760" algn="l"/>
          <a:tab pos="7637039" algn="l"/>
          <a:tab pos="8086320" algn="l"/>
          <a:tab pos="8535600" algn="l"/>
          <a:tab pos="8984880" algn="l"/>
        </a:tabLst>
        <a:defRPr lang="es-VE" sz="3200" b="0" i="0" u="none" strike="noStrike" baseline="0">
          <a:ln>
            <a:noFill/>
          </a:ln>
          <a:solidFill>
            <a:srgbClr val="E6E6E6"/>
          </a:solidFill>
          <a:latin typeface="Times New Roman"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www.xen.org/"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8" Type="http://schemas.openxmlformats.org/officeDocument/2006/relationships/hyperlink" Target="http://publib.boulder.ibm.com/cgi-bin/bookmgr_OS390/Shelves/hcsh2ab0" TargetMode="External"/><Relationship Id="rId3" Type="http://schemas.openxmlformats.org/officeDocument/2006/relationships/hyperlink" Target="http://www.xen.org/" TargetMode="External"/><Relationship Id="rId7" Type="http://schemas.openxmlformats.org/officeDocument/2006/relationships/hyperlink" Target="http://www.vm.ibm.com/" TargetMode="External"/><Relationship Id="rId2" Type="http://schemas.openxmlformats.org/officeDocument/2006/relationships/notesSlide" Target="../notesSlides/notesSlide75.xml"/><Relationship Id="rId1" Type="http://schemas.openxmlformats.org/officeDocument/2006/relationships/slideLayout" Target="../slideLayouts/slideLayout7.xml"/><Relationship Id="rId6" Type="http://schemas.openxmlformats.org/officeDocument/2006/relationships/hyperlink" Target="http://wiki.openvz.org/Main_Page" TargetMode="External"/><Relationship Id="rId5" Type="http://schemas.openxmlformats.org/officeDocument/2006/relationships/hyperlink" Target="http://www.parallels.com/" TargetMode="External"/><Relationship Id="rId4" Type="http://schemas.openxmlformats.org/officeDocument/2006/relationships/hyperlink" Target="http://www.ibm.com/developerworks/library/l-linuxvirt/" TargetMode="External"/></Relationships>
</file>

<file path=ppt/slides/_rels/slide76.xml.rels><?xml version="1.0" encoding="UTF-8" standalone="yes"?>
<Relationships xmlns="http://schemas.openxmlformats.org/package/2006/relationships"><Relationship Id="rId3" Type="http://schemas.openxmlformats.org/officeDocument/2006/relationships/hyperlink" Target="http://en.wikipedia.org/wiki/Operating_system-level_virtualization" TargetMode="External"/><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215703-8D87-C06B-257B-DD3CD24FC6A0}"/>
              </a:ext>
            </a:extLst>
          </p:cNvPr>
          <p:cNvSpPr txBox="1">
            <a:spLocks noGrp="1"/>
          </p:cNvSpPr>
          <p:nvPr>
            <p:ph type="title" idx="4294967295"/>
          </p:nvPr>
        </p:nvSpPr>
        <p:spPr>
          <a:xfrm>
            <a:off x="752400" y="2700360"/>
            <a:ext cx="8607600" cy="1621439"/>
          </a:xfrm>
        </p:spPr>
        <p:txBody>
          <a:bodyPr wrap="square" anchorCtr="0">
            <a:spAutoFit/>
          </a:bodyPr>
          <a:lstStyle/>
          <a:p>
            <a:pPr lvl="0" algn="ctr"/>
            <a:r>
              <a:rPr lang="es-VE"/>
              <a:t>Virtualización con Xen 3.2  en </a:t>
            </a:r>
            <a:br>
              <a:rPr lang="es-VE"/>
            </a:br>
            <a:r>
              <a:rPr lang="es-VE"/>
              <a:t>GNU /Linux Debian Lenny 5.0 /</a:t>
            </a:r>
            <a:br>
              <a:rPr lang="es-VE"/>
            </a:br>
            <a:r>
              <a:rPr lang="es-VE"/>
              <a:t>Squeeze 6.0</a:t>
            </a:r>
          </a:p>
        </p:txBody>
      </p:sp>
      <p:sp>
        <p:nvSpPr>
          <p:cNvPr id="3" name="Untertitel 2">
            <a:extLst>
              <a:ext uri="{FF2B5EF4-FFF2-40B4-BE49-F238E27FC236}">
                <a16:creationId xmlns:a16="http://schemas.microsoft.com/office/drawing/2014/main" id="{E9100A34-6110-E231-CED1-ABB8A4E53C09}"/>
              </a:ext>
            </a:extLst>
          </p:cNvPr>
          <p:cNvSpPr txBox="1">
            <a:spLocks noGrp="1"/>
          </p:cNvSpPr>
          <p:nvPr>
            <p:ph type="subTitle" idx="4294967295"/>
          </p:nvPr>
        </p:nvSpPr>
        <p:spPr>
          <a:xfrm>
            <a:off x="741239" y="5579640"/>
            <a:ext cx="8772480" cy="1321200"/>
          </a:xfrm>
        </p:spPr>
        <p:txBody>
          <a:bodyPr wrap="square" anchor="ctr" anchorCtr="0">
            <a:spAutoFit/>
          </a:bodyPr>
          <a:lstStyle/>
          <a:p>
            <a:pPr lvl="0" algn="r">
              <a:spcAft>
                <a:spcPts val="0"/>
              </a:spcAft>
            </a:pPr>
            <a:r>
              <a:rPr lang="es-VE">
                <a:solidFill>
                  <a:srgbClr val="CCCCCC"/>
                </a:solidFill>
              </a:rPr>
              <a:t>Ing. Olaf Reitmaier Veracierta</a:t>
            </a:r>
          </a:p>
          <a:p>
            <a:pPr lvl="0" algn="r">
              <a:spcAft>
                <a:spcPts val="0"/>
              </a:spcAft>
            </a:pPr>
            <a:r>
              <a:rPr lang="es-VE">
                <a:solidFill>
                  <a:srgbClr val="CCCCCC"/>
                </a:solidFill>
              </a:rPr>
              <a:t>Caracas, Abril de 2011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CDAD88-D4F7-463D-41FA-626E0B6F066D}"/>
              </a:ext>
            </a:extLst>
          </p:cNvPr>
          <p:cNvSpPr txBox="1">
            <a:spLocks noGrp="1"/>
          </p:cNvSpPr>
          <p:nvPr>
            <p:ph type="title" idx="4294967295"/>
          </p:nvPr>
        </p:nvSpPr>
        <p:spPr>
          <a:xfrm>
            <a:off x="741239" y="282600"/>
            <a:ext cx="8607600" cy="1262520"/>
          </a:xfrm>
        </p:spPr>
        <p:txBody>
          <a:bodyPr wrap="square" anchorCtr="0">
            <a:spAutoFit/>
          </a:bodyPr>
          <a:lstStyle/>
          <a:p>
            <a:pPr lvl="0"/>
            <a:r>
              <a:rPr lang="es-VE"/>
              <a:t>Virtualización</a:t>
            </a:r>
          </a:p>
        </p:txBody>
      </p:sp>
      <p:sp>
        <p:nvSpPr>
          <p:cNvPr id="3" name="Textplatzhalter 2">
            <a:extLst>
              <a:ext uri="{FF2B5EF4-FFF2-40B4-BE49-F238E27FC236}">
                <a16:creationId xmlns:a16="http://schemas.microsoft.com/office/drawing/2014/main" id="{48A812AC-311E-7D4B-B815-BC751CB17C33}"/>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Es un mecanismo, modelo o método de abstracción del hardware.</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El fin de la virtualización es permitir que el hardware sea compartido por varias instancias de sistemas operativos.</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Lo que se quiere virtualizar es el hardware.</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La pregunta es: ¿Cómo se hace?.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3823CC-AF8D-5D16-ECDE-1BA8F28CED98}"/>
              </a:ext>
            </a:extLst>
          </p:cNvPr>
          <p:cNvSpPr txBox="1">
            <a:spLocks noGrp="1"/>
          </p:cNvSpPr>
          <p:nvPr>
            <p:ph type="title" idx="4294967295"/>
          </p:nvPr>
        </p:nvSpPr>
        <p:spPr>
          <a:xfrm>
            <a:off x="740879" y="282240"/>
            <a:ext cx="8604360" cy="1259639"/>
          </a:xfrm>
        </p:spPr>
        <p:txBody>
          <a:bodyPr>
            <a:spAutoFit/>
          </a:bodyPr>
          <a:lstStyle/>
          <a:p>
            <a:pPr lvl="0"/>
            <a:r>
              <a:rPr lang="es-VE"/>
              <a:t>Virtualización</a:t>
            </a:r>
          </a:p>
        </p:txBody>
      </p:sp>
      <p:sp>
        <p:nvSpPr>
          <p:cNvPr id="3" name="Textplatzhalter 2">
            <a:extLst>
              <a:ext uri="{FF2B5EF4-FFF2-40B4-BE49-F238E27FC236}">
                <a16:creationId xmlns:a16="http://schemas.microsoft.com/office/drawing/2014/main" id="{19D2D8ED-90E7-A488-683F-0C61B627488B}"/>
              </a:ext>
            </a:extLst>
          </p:cNvPr>
          <p:cNvSpPr txBox="1">
            <a:spLocks noGrp="1"/>
          </p:cNvSpPr>
          <p:nvPr>
            <p:ph type="body" idx="4294967295"/>
          </p:nvPr>
        </p:nvSpPr>
        <p:spPr/>
        <p:txBody>
          <a:bodyPr/>
          <a:lstStyle/>
          <a:p>
            <a:pPr marL="0" lvl="0" indent="0">
              <a:buClr>
                <a:srgbClr val="FFFFFF"/>
              </a:buClr>
              <a:buSzPct val="100000"/>
              <a:buFont typeface="Times New Roman" pitchFamily="18"/>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000">
                <a:solidFill>
                  <a:srgbClr val="E6E6FF"/>
                </a:solidFill>
              </a:rPr>
              <a:t>Búsqueda de soluciones para el aislamiento y compartición de:</a:t>
            </a:r>
          </a:p>
          <a:p>
            <a:pPr marL="342720" lvl="1" indent="-342720" hangingPunct="0">
              <a:lnSpc>
                <a:spcPct val="93000"/>
              </a:lnSpc>
              <a:spcBef>
                <a:spcPts val="0"/>
              </a:spcBef>
              <a:spcAft>
                <a:spcPts val="1423"/>
              </a:spcAft>
              <a:buClr>
                <a:srgbClr val="FFFFFF"/>
              </a:buClr>
              <a:buSzPct val="100000"/>
              <a:buFont typeface="Times New Roman" pitchFamily="18"/>
              <a:buChar char="–"/>
              <a:tabLst>
                <a:tab pos="342720" algn="l"/>
                <a:tab pos="448920" algn="l"/>
                <a:tab pos="898200" algn="l"/>
                <a:tab pos="1347480" algn="l"/>
                <a:tab pos="1796760" algn="l"/>
                <a:tab pos="2246040" algn="l"/>
                <a:tab pos="2695320" algn="l"/>
                <a:tab pos="3144600" algn="l"/>
                <a:tab pos="3593879" algn="l"/>
                <a:tab pos="4043160" algn="l"/>
                <a:tab pos="4492439" algn="l"/>
                <a:tab pos="4941360" algn="l"/>
                <a:tab pos="5390640" algn="l"/>
                <a:tab pos="5839920" algn="l"/>
                <a:tab pos="6289200" algn="l"/>
                <a:tab pos="6738479" algn="l"/>
                <a:tab pos="7187760" algn="l"/>
                <a:tab pos="7637039" algn="l"/>
                <a:tab pos="8086320" algn="l"/>
                <a:tab pos="8535600" algn="l"/>
                <a:tab pos="8984880" algn="l"/>
              </a:tabLst>
            </a:pPr>
            <a:r>
              <a:rPr lang="es-VE" sz="3000">
                <a:solidFill>
                  <a:srgbClr val="E6E6FF"/>
                </a:solidFill>
                <a:latin typeface="Times New Roman" pitchFamily="18"/>
              </a:rPr>
              <a:t>CPU y Memoria.</a:t>
            </a:r>
          </a:p>
          <a:p>
            <a:pPr marL="342720" lvl="1" indent="-342720" hangingPunct="0">
              <a:lnSpc>
                <a:spcPct val="93000"/>
              </a:lnSpc>
              <a:spcBef>
                <a:spcPts val="0"/>
              </a:spcBef>
              <a:spcAft>
                <a:spcPts val="1423"/>
              </a:spcAft>
              <a:buClr>
                <a:srgbClr val="FFFFFF"/>
              </a:buClr>
              <a:buSzPct val="100000"/>
              <a:buFont typeface="Times New Roman" pitchFamily="18"/>
              <a:buChar char="–"/>
              <a:tabLst>
                <a:tab pos="342720" algn="l"/>
                <a:tab pos="448920" algn="l"/>
                <a:tab pos="898200" algn="l"/>
                <a:tab pos="1347480" algn="l"/>
                <a:tab pos="1796760" algn="l"/>
                <a:tab pos="2246040" algn="l"/>
                <a:tab pos="2695320" algn="l"/>
                <a:tab pos="3144600" algn="l"/>
                <a:tab pos="3593879" algn="l"/>
                <a:tab pos="4043160" algn="l"/>
                <a:tab pos="4492439" algn="l"/>
                <a:tab pos="4941360" algn="l"/>
                <a:tab pos="5390640" algn="l"/>
                <a:tab pos="5839920" algn="l"/>
                <a:tab pos="6289200" algn="l"/>
                <a:tab pos="6738479" algn="l"/>
                <a:tab pos="7187760" algn="l"/>
                <a:tab pos="7637039" algn="l"/>
                <a:tab pos="8086320" algn="l"/>
                <a:tab pos="8535600" algn="l"/>
                <a:tab pos="8984880" algn="l"/>
              </a:tabLst>
            </a:pPr>
            <a:r>
              <a:rPr lang="es-VE" sz="3000">
                <a:solidFill>
                  <a:srgbClr val="E6E6FF"/>
                </a:solidFill>
                <a:latin typeface="Times New Roman" pitchFamily="18"/>
              </a:rPr>
              <a:t>Dispositivos de Bloques.</a:t>
            </a:r>
          </a:p>
          <a:p>
            <a:pPr marL="342720" lvl="1" indent="-342720" hangingPunct="0">
              <a:lnSpc>
                <a:spcPct val="93000"/>
              </a:lnSpc>
              <a:spcBef>
                <a:spcPts val="0"/>
              </a:spcBef>
              <a:spcAft>
                <a:spcPts val="1423"/>
              </a:spcAft>
              <a:buClr>
                <a:srgbClr val="FFFFFF"/>
              </a:buClr>
              <a:buSzPct val="100000"/>
              <a:buFont typeface="Times New Roman" pitchFamily="18"/>
              <a:buChar char="–"/>
              <a:tabLst>
                <a:tab pos="342720" algn="l"/>
                <a:tab pos="448920" algn="l"/>
                <a:tab pos="898200" algn="l"/>
                <a:tab pos="1347480" algn="l"/>
                <a:tab pos="1796760" algn="l"/>
                <a:tab pos="2246040" algn="l"/>
                <a:tab pos="2695320" algn="l"/>
                <a:tab pos="3144600" algn="l"/>
                <a:tab pos="3593879" algn="l"/>
                <a:tab pos="4043160" algn="l"/>
                <a:tab pos="4492439" algn="l"/>
                <a:tab pos="4941360" algn="l"/>
                <a:tab pos="5390640" algn="l"/>
                <a:tab pos="5839920" algn="l"/>
                <a:tab pos="6289200" algn="l"/>
                <a:tab pos="6738479" algn="l"/>
                <a:tab pos="7187760" algn="l"/>
                <a:tab pos="7637039" algn="l"/>
                <a:tab pos="8086320" algn="l"/>
                <a:tab pos="8535600" algn="l"/>
                <a:tab pos="8984880" algn="l"/>
              </a:tabLst>
            </a:pPr>
            <a:r>
              <a:rPr lang="es-VE" sz="3000">
                <a:solidFill>
                  <a:srgbClr val="E6E6FF"/>
                </a:solidFill>
                <a:latin typeface="Times New Roman" pitchFamily="18"/>
              </a:rPr>
              <a:t>Dispositivos de Red.</a:t>
            </a:r>
          </a:p>
          <a:p>
            <a:pPr marL="342720" lvl="1" indent="-342720" hangingPunct="0">
              <a:lnSpc>
                <a:spcPct val="93000"/>
              </a:lnSpc>
              <a:spcBef>
                <a:spcPts val="0"/>
              </a:spcBef>
              <a:spcAft>
                <a:spcPts val="1423"/>
              </a:spcAft>
              <a:buClr>
                <a:srgbClr val="FFFFFF"/>
              </a:buClr>
              <a:buSzPct val="100000"/>
              <a:buFont typeface="Times New Roman" pitchFamily="18"/>
              <a:buChar char="–"/>
              <a:tabLst>
                <a:tab pos="342720" algn="l"/>
                <a:tab pos="448920" algn="l"/>
                <a:tab pos="898200" algn="l"/>
                <a:tab pos="1347480" algn="l"/>
                <a:tab pos="1796760" algn="l"/>
                <a:tab pos="2246040" algn="l"/>
                <a:tab pos="2695320" algn="l"/>
                <a:tab pos="3144600" algn="l"/>
                <a:tab pos="3593879" algn="l"/>
                <a:tab pos="4043160" algn="l"/>
                <a:tab pos="4492439" algn="l"/>
                <a:tab pos="4941360" algn="l"/>
                <a:tab pos="5390640" algn="l"/>
                <a:tab pos="5839920" algn="l"/>
                <a:tab pos="6289200" algn="l"/>
                <a:tab pos="6738479" algn="l"/>
                <a:tab pos="7187760" algn="l"/>
                <a:tab pos="7637039" algn="l"/>
                <a:tab pos="8086320" algn="l"/>
                <a:tab pos="8535600" algn="l"/>
                <a:tab pos="8984880" algn="l"/>
              </a:tabLst>
            </a:pPr>
            <a:r>
              <a:rPr lang="es-VE" sz="3000">
                <a:solidFill>
                  <a:srgbClr val="E6E6FF"/>
                </a:solidFill>
                <a:latin typeface="Times New Roman" pitchFamily="18"/>
              </a:rPr>
              <a:t>Tasa de E/S.</a:t>
            </a:r>
          </a:p>
          <a:p>
            <a:pPr marL="342720" lvl="1" indent="-342720" hangingPunct="0">
              <a:lnSpc>
                <a:spcPct val="93000"/>
              </a:lnSpc>
              <a:spcBef>
                <a:spcPts val="0"/>
              </a:spcBef>
              <a:spcAft>
                <a:spcPts val="1423"/>
              </a:spcAft>
              <a:buClr>
                <a:srgbClr val="FFFFFF"/>
              </a:buClr>
              <a:buSzPct val="100000"/>
              <a:buFont typeface="Times New Roman" pitchFamily="18"/>
              <a:buChar char="–"/>
              <a:tabLst>
                <a:tab pos="342720" algn="l"/>
                <a:tab pos="448920" algn="l"/>
                <a:tab pos="898200" algn="l"/>
                <a:tab pos="1347480" algn="l"/>
                <a:tab pos="1796760" algn="l"/>
                <a:tab pos="2246040" algn="l"/>
                <a:tab pos="2695320" algn="l"/>
                <a:tab pos="3144600" algn="l"/>
                <a:tab pos="3593879" algn="l"/>
                <a:tab pos="4043160" algn="l"/>
                <a:tab pos="4492439" algn="l"/>
                <a:tab pos="4941360" algn="l"/>
                <a:tab pos="5390640" algn="l"/>
                <a:tab pos="5839920" algn="l"/>
                <a:tab pos="6289200" algn="l"/>
                <a:tab pos="6738479" algn="l"/>
                <a:tab pos="7187760" algn="l"/>
                <a:tab pos="7637039" algn="l"/>
                <a:tab pos="8086320" algn="l"/>
                <a:tab pos="8535600" algn="l"/>
                <a:tab pos="8984880" algn="l"/>
              </a:tabLst>
            </a:pPr>
            <a:r>
              <a:rPr lang="es-VE" sz="3000">
                <a:solidFill>
                  <a:srgbClr val="E6E6FF"/>
                </a:solidFill>
                <a:latin typeface="Times New Roman" pitchFamily="18"/>
              </a:rPr>
              <a:t>Control de Ejecución.</a:t>
            </a:r>
          </a:p>
          <a:p>
            <a:pPr marL="342720" lvl="1" indent="-342720" hangingPunct="0">
              <a:lnSpc>
                <a:spcPct val="93000"/>
              </a:lnSpc>
              <a:spcBef>
                <a:spcPts val="0"/>
              </a:spcBef>
              <a:spcAft>
                <a:spcPts val="1423"/>
              </a:spcAft>
              <a:buClr>
                <a:srgbClr val="FFFFFF"/>
              </a:buClr>
              <a:buSzPct val="100000"/>
              <a:buFont typeface="Times New Roman" pitchFamily="18"/>
              <a:buChar char="–"/>
              <a:tabLst>
                <a:tab pos="342720" algn="l"/>
                <a:tab pos="448920" algn="l"/>
                <a:tab pos="898200" algn="l"/>
                <a:tab pos="1347480" algn="l"/>
                <a:tab pos="1796760" algn="l"/>
                <a:tab pos="2246040" algn="l"/>
                <a:tab pos="2695320" algn="l"/>
                <a:tab pos="3144600" algn="l"/>
                <a:tab pos="3593879" algn="l"/>
                <a:tab pos="4043160" algn="l"/>
                <a:tab pos="4492439" algn="l"/>
                <a:tab pos="4941360" algn="l"/>
                <a:tab pos="5390640" algn="l"/>
                <a:tab pos="5839920" algn="l"/>
                <a:tab pos="6289200" algn="l"/>
                <a:tab pos="6738479" algn="l"/>
                <a:tab pos="7187760" algn="l"/>
                <a:tab pos="7637039" algn="l"/>
                <a:tab pos="8086320" algn="l"/>
                <a:tab pos="8535600" algn="l"/>
                <a:tab pos="8984880" algn="l"/>
              </a:tabLst>
            </a:pPr>
            <a:r>
              <a:rPr lang="es-VE" sz="3000">
                <a:solidFill>
                  <a:srgbClr val="E6E6FF"/>
                </a:solidFill>
                <a:latin typeface="Times New Roman" pitchFamily="18"/>
              </a:rPr>
              <a:t>Migración en caliente.</a:t>
            </a:r>
          </a:p>
          <a:p>
            <a:pPr marL="342720" lvl="1" indent="-342720" hangingPunct="0">
              <a:lnSpc>
                <a:spcPct val="93000"/>
              </a:lnSpc>
              <a:spcBef>
                <a:spcPts val="0"/>
              </a:spcBef>
              <a:spcAft>
                <a:spcPts val="1423"/>
              </a:spcAft>
              <a:buClr>
                <a:srgbClr val="FFFFFF"/>
              </a:buClr>
              <a:buSzPct val="100000"/>
              <a:buFont typeface="Times New Roman" pitchFamily="18"/>
              <a:buChar char="–"/>
              <a:tabLst>
                <a:tab pos="342720" algn="l"/>
                <a:tab pos="448920" algn="l"/>
                <a:tab pos="898200" algn="l"/>
                <a:tab pos="1347480" algn="l"/>
                <a:tab pos="1796760" algn="l"/>
                <a:tab pos="2246040" algn="l"/>
                <a:tab pos="2695320" algn="l"/>
                <a:tab pos="3144600" algn="l"/>
                <a:tab pos="3593879" algn="l"/>
                <a:tab pos="4043160" algn="l"/>
                <a:tab pos="4492439" algn="l"/>
                <a:tab pos="4941360" algn="l"/>
                <a:tab pos="5390640" algn="l"/>
                <a:tab pos="5839920" algn="l"/>
                <a:tab pos="6289200" algn="l"/>
                <a:tab pos="6738479" algn="l"/>
                <a:tab pos="7187760" algn="l"/>
                <a:tab pos="7637039" algn="l"/>
                <a:tab pos="8086320" algn="l"/>
                <a:tab pos="8535600" algn="l"/>
                <a:tab pos="8984880" algn="l"/>
              </a:tabLst>
            </a:pPr>
            <a:r>
              <a:rPr lang="es-VE" sz="3000">
                <a:solidFill>
                  <a:srgbClr val="E6E6FF"/>
                </a:solidFill>
                <a:latin typeface="Times New Roman" pitchFamily="18"/>
              </a:rPr>
              <a:t>Imágenes  y instantáneas.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E7219B-C4CE-F92D-D051-2D6EAFF33666}"/>
              </a:ext>
            </a:extLst>
          </p:cNvPr>
          <p:cNvSpPr txBox="1">
            <a:spLocks noGrp="1"/>
          </p:cNvSpPr>
          <p:nvPr>
            <p:ph type="title" idx="4294967295"/>
          </p:nvPr>
        </p:nvSpPr>
        <p:spPr>
          <a:xfrm>
            <a:off x="741239" y="282600"/>
            <a:ext cx="8607600" cy="1262520"/>
          </a:xfrm>
        </p:spPr>
        <p:txBody>
          <a:bodyPr wrap="square" anchorCtr="0">
            <a:spAutoFit/>
          </a:bodyPr>
          <a:lstStyle/>
          <a:p>
            <a:pPr lvl="0"/>
            <a:r>
              <a:rPr lang="es-VE"/>
              <a:t>Virtualización de Hardware</a:t>
            </a:r>
          </a:p>
        </p:txBody>
      </p:sp>
      <p:sp>
        <p:nvSpPr>
          <p:cNvPr id="3" name="Textplatzhalter 2">
            <a:extLst>
              <a:ext uri="{FF2B5EF4-FFF2-40B4-BE49-F238E27FC236}">
                <a16:creationId xmlns:a16="http://schemas.microsoft.com/office/drawing/2014/main" id="{167BC2E0-60C0-74D3-EEB3-54521F288A4D}"/>
              </a:ext>
            </a:extLst>
          </p:cNvPr>
          <p:cNvSpPr txBox="1">
            <a:spLocks noGrp="1"/>
          </p:cNvSpPr>
          <p:nvPr>
            <p:ph type="body" idx="4294967295"/>
          </p:nvPr>
        </p:nvSpPr>
        <p:spPr>
          <a:xfrm>
            <a:off x="720719" y="199188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No es un tema nuevo, hace más de cuatro (4) décadas se utilizó en el IBM 7044.</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La IBM 704 que implementaba Compatible Time Sharing System desarrollado por el MIT.</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El proyecto Atlas de supercomputación de la Universidad de Manchester, son pioneros en la demanda por páginas y llamadas de supervisión.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El Mainframe IBM 360 modelo 67, virtualizaba hardware con un “supervisor”, en los 70s se denominó hypervisor, hoy en día es superado por el System z9.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4DAFE0-C09D-65F8-5D20-28C727D22BA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Virtualización del Procesador</a:t>
            </a:r>
          </a:p>
        </p:txBody>
      </p:sp>
      <p:sp>
        <p:nvSpPr>
          <p:cNvPr id="3" name="Textplatzhalter 2">
            <a:extLst>
              <a:ext uri="{FF2B5EF4-FFF2-40B4-BE49-F238E27FC236}">
                <a16:creationId xmlns:a16="http://schemas.microsoft.com/office/drawing/2014/main" id="{0FB734D8-D5C5-0E3E-50ED-A3F26A223093}"/>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En los 70s se compilaba a P-CODE o pseudo código que era ejecutado por un maquina virtual (simulador) no por el hardware propiamente.</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En los 60s BCPL el ancestro de C, compilaba en un pseudo código llamado código objeto u O-CODE, que después era compilado en código de máquina (binario).  Este es el esquema actual de compilación de Linux pero con lenguaje 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8961F9-5D9E-3D51-A4CE-524FEB726BF3}"/>
              </a:ext>
            </a:extLst>
          </p:cNvPr>
          <p:cNvSpPr txBox="1">
            <a:spLocks noGrp="1"/>
          </p:cNvSpPr>
          <p:nvPr>
            <p:ph type="title" idx="4294967295"/>
          </p:nvPr>
        </p:nvSpPr>
        <p:spPr>
          <a:xfrm>
            <a:off x="741239" y="282600"/>
            <a:ext cx="8607600" cy="1262520"/>
          </a:xfrm>
        </p:spPr>
        <p:txBody>
          <a:bodyPr wrap="square" anchorCtr="0">
            <a:spAutoFit/>
          </a:bodyPr>
          <a:lstStyle/>
          <a:p>
            <a:pPr lvl="0"/>
            <a:r>
              <a:rPr lang="es-VE"/>
              <a:t>Virtualización de Instrucciones</a:t>
            </a:r>
          </a:p>
        </p:txBody>
      </p:sp>
      <p:sp>
        <p:nvSpPr>
          <p:cNvPr id="3" name="Textplatzhalter 2">
            <a:extLst>
              <a:ext uri="{FF2B5EF4-FFF2-40B4-BE49-F238E27FC236}">
                <a16:creationId xmlns:a16="http://schemas.microsoft.com/office/drawing/2014/main" id="{B3956EDB-AD0C-22F0-CD28-7BFDBC00BAC7}"/>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Un nuevo aspecto de virtualización es la llamada virtualización del conjunto de instrucciones o traducción binaria.</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En la traducción binaria, una instrucción virtual es traducida al conjunto de instrucciones físicas de la capa de hardware de forma dinámica (o estática).</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La traducción ocurre a medida que se ejecuta el código, cuando hay un salto el nuevo conjunto de instrucciones virtuales es cargado y traducido.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D4640F-A9EB-ABF6-2331-91C9C5570433}"/>
              </a:ext>
            </a:extLst>
          </p:cNvPr>
          <p:cNvSpPr txBox="1">
            <a:spLocks noGrp="1"/>
          </p:cNvSpPr>
          <p:nvPr>
            <p:ph type="title" idx="4294967295"/>
          </p:nvPr>
        </p:nvSpPr>
        <p:spPr>
          <a:xfrm>
            <a:off x="741239" y="282600"/>
            <a:ext cx="8607600" cy="1262520"/>
          </a:xfrm>
        </p:spPr>
        <p:txBody>
          <a:bodyPr wrap="square" anchorCtr="0">
            <a:spAutoFit/>
          </a:bodyPr>
          <a:lstStyle/>
          <a:p>
            <a:pPr lvl="0"/>
            <a:r>
              <a:rPr lang="es-VE"/>
              <a:t>Virtualización de Instrucciones</a:t>
            </a:r>
          </a:p>
        </p:txBody>
      </p:sp>
      <p:sp>
        <p:nvSpPr>
          <p:cNvPr id="3" name="Textplatzhalter 2">
            <a:extLst>
              <a:ext uri="{FF2B5EF4-FFF2-40B4-BE49-F238E27FC236}">
                <a16:creationId xmlns:a16="http://schemas.microsoft.com/office/drawing/2014/main" id="{857067D7-0D67-0A81-5D70-AB1136EE5950}"/>
              </a:ext>
            </a:extLst>
          </p:cNvPr>
          <p:cNvSpPr txBox="1">
            <a:spLocks noGrp="1"/>
          </p:cNvSpPr>
          <p:nvPr>
            <p:ph type="body" idx="4294967295"/>
          </p:nvPr>
        </p:nvSpPr>
        <p:spPr>
          <a:xfrm>
            <a:off x="766800" y="181260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La traducción binaria es similar al “caching” de operaciones (instrucciones), donde los bloques de instrucciones son movidos de la memoria a una cache local rápida para su ejecución.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Transmeta desarrollo una CPU que permite realizar esto, esta arquitectura propietaria se denomina Code Morphing.</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Esta técnica es similar a la utilizada por las soluciones actuales de virtualización completa para encontrar y redireccionar las instrucciones privilegiadas, a los fines de resolver ciertos problemas con los conjuntos de instrucciones.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7FA399-60B2-4B4F-2CF7-996631FCE8F1}"/>
              </a:ext>
            </a:extLst>
          </p:cNvPr>
          <p:cNvSpPr txBox="1">
            <a:spLocks noGrp="1"/>
          </p:cNvSpPr>
          <p:nvPr>
            <p:ph type="title" idx="4294967295"/>
          </p:nvPr>
        </p:nvSpPr>
        <p:spPr>
          <a:xfrm>
            <a:off x="741239" y="282600"/>
            <a:ext cx="8607600" cy="1262520"/>
          </a:xfrm>
        </p:spPr>
        <p:txBody>
          <a:bodyPr wrap="square" anchorCtr="0">
            <a:spAutoFit/>
          </a:bodyPr>
          <a:lstStyle/>
          <a:p>
            <a:pPr lvl="0"/>
            <a:r>
              <a:rPr lang="es-VE"/>
              <a:t>Tipos de Virtualización de Hardware por Software</a:t>
            </a:r>
          </a:p>
        </p:txBody>
      </p:sp>
      <p:sp>
        <p:nvSpPr>
          <p:cNvPr id="3" name="Textplatzhalter 2">
            <a:extLst>
              <a:ext uri="{FF2B5EF4-FFF2-40B4-BE49-F238E27FC236}">
                <a16:creationId xmlns:a16="http://schemas.microsoft.com/office/drawing/2014/main" id="{1692717D-EFE5-B928-D832-C3EAFBB53E41}"/>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Emulación de Hardware (Hardware Emulation).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Paravirtualización (Paravirtualization).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Virtualización Completa (Fullvirtualization).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Virtualización a nivel de Sistema Operativo (Operating System-Level Virtualization).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7F55D4-C090-E0EC-838E-1314F456183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Emulación de Hardware</a:t>
            </a:r>
          </a:p>
        </p:txBody>
      </p:sp>
      <p:sp>
        <p:nvSpPr>
          <p:cNvPr id="3" name="Freihandform: Form 2">
            <a:extLst>
              <a:ext uri="{FF2B5EF4-FFF2-40B4-BE49-F238E27FC236}">
                <a16:creationId xmlns:a16="http://schemas.microsoft.com/office/drawing/2014/main" id="{D6C4CA83-4169-F943-B28E-DE70AE10E19D}"/>
              </a:ext>
            </a:extLst>
          </p:cNvPr>
          <p:cNvSpPr/>
          <p:nvPr/>
        </p:nvSpPr>
        <p:spPr>
          <a:xfrm>
            <a:off x="1620000" y="540000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33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Hardware (Intel, AMD, Sparc, ...)‏</a:t>
            </a:r>
          </a:p>
        </p:txBody>
      </p:sp>
      <p:sp>
        <p:nvSpPr>
          <p:cNvPr id="4" name="Freihandform: Form 3">
            <a:extLst>
              <a:ext uri="{FF2B5EF4-FFF2-40B4-BE49-F238E27FC236}">
                <a16:creationId xmlns:a16="http://schemas.microsoft.com/office/drawing/2014/main" id="{140A0D65-4261-9B3E-DBE6-0E39CE2B9945}"/>
              </a:ext>
            </a:extLst>
          </p:cNvPr>
          <p:cNvSpPr/>
          <p:nvPr/>
        </p:nvSpPr>
        <p:spPr>
          <a:xfrm>
            <a:off x="1619640" y="3779279"/>
            <a:ext cx="3419279"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66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Hardware Virtual A (Intel)</a:t>
            </a:r>
          </a:p>
        </p:txBody>
      </p:sp>
      <p:sp>
        <p:nvSpPr>
          <p:cNvPr id="5" name="Freihandform: Form 4">
            <a:extLst>
              <a:ext uri="{FF2B5EF4-FFF2-40B4-BE49-F238E27FC236}">
                <a16:creationId xmlns:a16="http://schemas.microsoft.com/office/drawing/2014/main" id="{1B26B35B-F7BD-E976-D5A2-02FF9BDAD5D8}"/>
              </a:ext>
            </a:extLst>
          </p:cNvPr>
          <p:cNvSpPr/>
          <p:nvPr/>
        </p:nvSpPr>
        <p:spPr>
          <a:xfrm>
            <a:off x="5040720" y="3779279"/>
            <a:ext cx="3419279"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66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Hardware Virtual B (AMD)</a:t>
            </a:r>
          </a:p>
        </p:txBody>
      </p:sp>
      <p:sp>
        <p:nvSpPr>
          <p:cNvPr id="6" name="Freihandform: Form 5">
            <a:extLst>
              <a:ext uri="{FF2B5EF4-FFF2-40B4-BE49-F238E27FC236}">
                <a16:creationId xmlns:a16="http://schemas.microsoft.com/office/drawing/2014/main" id="{C7A3F872-15CC-1D64-D6ED-9CB30FA564EC}"/>
              </a:ext>
            </a:extLst>
          </p:cNvPr>
          <p:cNvSpPr/>
          <p:nvPr/>
        </p:nvSpPr>
        <p:spPr>
          <a:xfrm>
            <a:off x="1800000" y="2160000"/>
            <a:ext cx="1440000" cy="16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a:t>
            </a:r>
          </a:p>
        </p:txBody>
      </p:sp>
      <p:sp>
        <p:nvSpPr>
          <p:cNvPr id="7" name="Freihandform: Form 6">
            <a:extLst>
              <a:ext uri="{FF2B5EF4-FFF2-40B4-BE49-F238E27FC236}">
                <a16:creationId xmlns:a16="http://schemas.microsoft.com/office/drawing/2014/main" id="{40CDB8D5-253F-839A-1B9B-3140676D2701}"/>
              </a:ext>
            </a:extLst>
          </p:cNvPr>
          <p:cNvSpPr/>
          <p:nvPr/>
        </p:nvSpPr>
        <p:spPr>
          <a:xfrm>
            <a:off x="3420000" y="2160000"/>
            <a:ext cx="1440000" cy="16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II</a:t>
            </a:r>
          </a:p>
        </p:txBody>
      </p:sp>
      <p:sp>
        <p:nvSpPr>
          <p:cNvPr id="8" name="Freihandform: Form 7">
            <a:extLst>
              <a:ext uri="{FF2B5EF4-FFF2-40B4-BE49-F238E27FC236}">
                <a16:creationId xmlns:a16="http://schemas.microsoft.com/office/drawing/2014/main" id="{4DD999AB-53CA-FB03-279C-2D7CFDC8DE0F}"/>
              </a:ext>
            </a:extLst>
          </p:cNvPr>
          <p:cNvSpPr/>
          <p:nvPr/>
        </p:nvSpPr>
        <p:spPr>
          <a:xfrm>
            <a:off x="5220000" y="2160000"/>
            <a:ext cx="1440000" cy="16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III</a:t>
            </a:r>
          </a:p>
        </p:txBody>
      </p:sp>
      <p:sp>
        <p:nvSpPr>
          <p:cNvPr id="9" name="Freihandform: Form 8">
            <a:extLst>
              <a:ext uri="{FF2B5EF4-FFF2-40B4-BE49-F238E27FC236}">
                <a16:creationId xmlns:a16="http://schemas.microsoft.com/office/drawing/2014/main" id="{0BF992CC-988B-7C6B-88A4-ADF4552537F2}"/>
              </a:ext>
            </a:extLst>
          </p:cNvPr>
          <p:cNvSpPr/>
          <p:nvPr/>
        </p:nvSpPr>
        <p:spPr>
          <a:xfrm>
            <a:off x="6840000" y="2160000"/>
            <a:ext cx="1440000" cy="16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IV</a:t>
            </a:r>
          </a:p>
        </p:txBody>
      </p:sp>
      <p:sp>
        <p:nvSpPr>
          <p:cNvPr id="10" name="Freihandform: Form 9">
            <a:extLst>
              <a:ext uri="{FF2B5EF4-FFF2-40B4-BE49-F238E27FC236}">
                <a16:creationId xmlns:a16="http://schemas.microsoft.com/office/drawing/2014/main" id="{DE83B201-110B-743A-CFF7-82A5A224EAA4}"/>
              </a:ext>
            </a:extLst>
          </p:cNvPr>
          <p:cNvSpPr/>
          <p:nvPr/>
        </p:nvSpPr>
        <p:spPr>
          <a:xfrm>
            <a:off x="1620000" y="486000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FF0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Sistema Operativo (Windows, Linux, Solaris, ...)</a:t>
            </a:r>
          </a:p>
        </p:txBody>
      </p:sp>
      <p:sp>
        <p:nvSpPr>
          <p:cNvPr id="11" name="Freihandform: Form 10">
            <a:extLst>
              <a:ext uri="{FF2B5EF4-FFF2-40B4-BE49-F238E27FC236}">
                <a16:creationId xmlns:a16="http://schemas.microsoft.com/office/drawing/2014/main" id="{19B3267B-57A5-5B62-1CCB-C33D03E3A1EE}"/>
              </a:ext>
            </a:extLst>
          </p:cNvPr>
          <p:cNvSpPr/>
          <p:nvPr/>
        </p:nvSpPr>
        <p:spPr>
          <a:xfrm>
            <a:off x="1620000" y="432000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00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solidFill>
                  <a:srgbClr val="FFFFFF"/>
                </a:solidFill>
              </a:defRPr>
            </a:pPr>
            <a:r>
              <a:rPr lang="es-VE" sz="1800" b="1" i="0" u="none" strike="noStrike" baseline="0">
                <a:ln>
                  <a:noFill/>
                </a:ln>
                <a:solidFill>
                  <a:srgbClr val="FFFFFF"/>
                </a:solidFill>
                <a:latin typeface="Arial" pitchFamily="34"/>
                <a:ea typeface="Bitstream Vera Sans" pitchFamily="2"/>
                <a:cs typeface="Bitstream Vera Sans" pitchFamily="2"/>
              </a:rPr>
              <a:t>Emulador de Hardware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710FC2-51BA-AA1F-778A-EDA0ADFE4F40}"/>
              </a:ext>
            </a:extLst>
          </p:cNvPr>
          <p:cNvSpPr txBox="1">
            <a:spLocks noGrp="1"/>
          </p:cNvSpPr>
          <p:nvPr>
            <p:ph type="title" idx="4294967295"/>
          </p:nvPr>
        </p:nvSpPr>
        <p:spPr>
          <a:xfrm>
            <a:off x="741239" y="282600"/>
            <a:ext cx="8607600" cy="1262520"/>
          </a:xfrm>
        </p:spPr>
        <p:txBody>
          <a:bodyPr wrap="square" anchorCtr="0">
            <a:spAutoFit/>
          </a:bodyPr>
          <a:lstStyle/>
          <a:p>
            <a:pPr lvl="0"/>
            <a:r>
              <a:rPr lang="es-VE"/>
              <a:t>Emulación de Hardware</a:t>
            </a:r>
          </a:p>
        </p:txBody>
      </p:sp>
      <p:sp>
        <p:nvSpPr>
          <p:cNvPr id="3" name="Textplatzhalter 2">
            <a:extLst>
              <a:ext uri="{FF2B5EF4-FFF2-40B4-BE49-F238E27FC236}">
                <a16:creationId xmlns:a16="http://schemas.microsoft.com/office/drawing/2014/main" id="{BA044D69-1C5F-2278-E49B-44CDCD7545C7}"/>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En emulaciones de alta fidelidad de ciclos de CPU, precisión, líneas de procesamiento (pipelines) y cache, puede ser más lenta en el orden O(1000).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El emulador debe ejecutarse o ser un sistema operativo específico para un hardware específico, pero la ventaja está en la transparencia con que se puede ejecutar un sistema operativo invitado destinado para un procesador Power PC en un servidor anfitrión con procesador Intel, simplemente emulando PowerPC, por ejemplo.</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QEMU, Bochs y ZSNES (Nintendo Emulator) son ejemplos de emulación de hardware.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942F43-0A51-DFD6-AC47-F6E40F8211CD}"/>
              </a:ext>
            </a:extLst>
          </p:cNvPr>
          <p:cNvSpPr txBox="1">
            <a:spLocks noGrp="1"/>
          </p:cNvSpPr>
          <p:nvPr>
            <p:ph type="title" idx="4294967295"/>
          </p:nvPr>
        </p:nvSpPr>
        <p:spPr>
          <a:xfrm>
            <a:off x="741239" y="326520"/>
            <a:ext cx="8607600" cy="1172160"/>
          </a:xfrm>
        </p:spPr>
        <p:txBody>
          <a:bodyPr wrap="square" anchorCtr="0">
            <a:spAutoFit/>
          </a:bodyPr>
          <a:lstStyle/>
          <a:p>
            <a:pPr lvl="0"/>
            <a:r>
              <a:rPr lang="es-VE"/>
              <a:t>Virtualización Completa</a:t>
            </a:r>
          </a:p>
        </p:txBody>
      </p:sp>
      <p:sp>
        <p:nvSpPr>
          <p:cNvPr id="3" name="Freihandform: Form 2">
            <a:extLst>
              <a:ext uri="{FF2B5EF4-FFF2-40B4-BE49-F238E27FC236}">
                <a16:creationId xmlns:a16="http://schemas.microsoft.com/office/drawing/2014/main" id="{E9A71698-EB66-7396-D4EF-97C8FEFC8389}"/>
              </a:ext>
            </a:extLst>
          </p:cNvPr>
          <p:cNvSpPr/>
          <p:nvPr/>
        </p:nvSpPr>
        <p:spPr>
          <a:xfrm>
            <a:off x="3600000" y="2341440"/>
            <a:ext cx="1440000" cy="197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a:t>
            </a:r>
          </a:p>
        </p:txBody>
      </p:sp>
      <p:sp>
        <p:nvSpPr>
          <p:cNvPr id="4" name="Freihandform: Form 3">
            <a:extLst>
              <a:ext uri="{FF2B5EF4-FFF2-40B4-BE49-F238E27FC236}">
                <a16:creationId xmlns:a16="http://schemas.microsoft.com/office/drawing/2014/main" id="{436C098E-E41C-3DBB-4194-CFE85C8A606E}"/>
              </a:ext>
            </a:extLst>
          </p:cNvPr>
          <p:cNvSpPr/>
          <p:nvPr/>
        </p:nvSpPr>
        <p:spPr>
          <a:xfrm>
            <a:off x="5220000" y="2340000"/>
            <a:ext cx="1440000" cy="197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II</a:t>
            </a:r>
          </a:p>
        </p:txBody>
      </p:sp>
      <p:sp>
        <p:nvSpPr>
          <p:cNvPr id="5" name="Freihandform: Form 4">
            <a:extLst>
              <a:ext uri="{FF2B5EF4-FFF2-40B4-BE49-F238E27FC236}">
                <a16:creationId xmlns:a16="http://schemas.microsoft.com/office/drawing/2014/main" id="{53F9814F-DE0E-02C5-E80C-48C3CF629806}"/>
              </a:ext>
            </a:extLst>
          </p:cNvPr>
          <p:cNvSpPr/>
          <p:nvPr/>
        </p:nvSpPr>
        <p:spPr>
          <a:xfrm>
            <a:off x="6840000" y="2340000"/>
            <a:ext cx="1620000" cy="197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III</a:t>
            </a:r>
          </a:p>
        </p:txBody>
      </p:sp>
      <p:sp>
        <p:nvSpPr>
          <p:cNvPr id="6" name="Freihandform: Form 5">
            <a:extLst>
              <a:ext uri="{FF2B5EF4-FFF2-40B4-BE49-F238E27FC236}">
                <a16:creationId xmlns:a16="http://schemas.microsoft.com/office/drawing/2014/main" id="{B8877C73-55D4-300D-E125-F27EAE2CF4C1}"/>
              </a:ext>
            </a:extLst>
          </p:cNvPr>
          <p:cNvSpPr/>
          <p:nvPr/>
        </p:nvSpPr>
        <p:spPr>
          <a:xfrm>
            <a:off x="1620360" y="540036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33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Hardware (Intel, AMD, Sparc, ...)‏</a:t>
            </a:r>
          </a:p>
        </p:txBody>
      </p:sp>
      <p:sp>
        <p:nvSpPr>
          <p:cNvPr id="7" name="Freihandform: Form 6">
            <a:extLst>
              <a:ext uri="{FF2B5EF4-FFF2-40B4-BE49-F238E27FC236}">
                <a16:creationId xmlns:a16="http://schemas.microsoft.com/office/drawing/2014/main" id="{6E7BEE37-59A2-8FF6-900F-24AEB775D2EE}"/>
              </a:ext>
            </a:extLst>
          </p:cNvPr>
          <p:cNvSpPr/>
          <p:nvPr/>
        </p:nvSpPr>
        <p:spPr>
          <a:xfrm>
            <a:off x="1620360" y="486036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FF0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Sistema Operativo (Windows, Linux, Solaris, ...)</a:t>
            </a:r>
          </a:p>
        </p:txBody>
      </p:sp>
      <p:sp>
        <p:nvSpPr>
          <p:cNvPr id="8" name="Freihandform: Form 7">
            <a:extLst>
              <a:ext uri="{FF2B5EF4-FFF2-40B4-BE49-F238E27FC236}">
                <a16:creationId xmlns:a16="http://schemas.microsoft.com/office/drawing/2014/main" id="{B873D3D8-946A-1FB5-3088-AF3FF560D4B1}"/>
              </a:ext>
            </a:extLst>
          </p:cNvPr>
          <p:cNvSpPr/>
          <p:nvPr/>
        </p:nvSpPr>
        <p:spPr>
          <a:xfrm>
            <a:off x="1620360" y="432036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00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FFFFFF"/>
                </a:solidFill>
              </a:defRPr>
            </a:pPr>
            <a:r>
              <a:rPr lang="es-VE" sz="1800" b="1" i="0" u="none" strike="noStrike" baseline="0">
                <a:ln>
                  <a:noFill/>
                </a:ln>
                <a:solidFill>
                  <a:srgbClr val="FFFFFF"/>
                </a:solidFill>
                <a:latin typeface="Arial" pitchFamily="34"/>
                <a:ea typeface="Bitstream Vera Sans" pitchFamily="2"/>
                <a:cs typeface="Bitstream Vera Sans" pitchFamily="2"/>
              </a:rPr>
              <a:t>Hypervisor (VMM = Mediador de Máquinas Virtuales)‏</a:t>
            </a:r>
          </a:p>
        </p:txBody>
      </p:sp>
      <p:sp>
        <p:nvSpPr>
          <p:cNvPr id="9" name="Freihandform: Form 8">
            <a:extLst>
              <a:ext uri="{FF2B5EF4-FFF2-40B4-BE49-F238E27FC236}">
                <a16:creationId xmlns:a16="http://schemas.microsoft.com/office/drawing/2014/main" id="{9E266DE3-3B72-CC95-9F90-085B3A0641F5}"/>
              </a:ext>
            </a:extLst>
          </p:cNvPr>
          <p:cNvSpPr/>
          <p:nvPr/>
        </p:nvSpPr>
        <p:spPr>
          <a:xfrm>
            <a:off x="1620000" y="2340000"/>
            <a:ext cx="1800000" cy="198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D32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Cónsola de</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Administración</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del Hypervisor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53B35B-8155-EC1A-08C9-289F5B9FB318}"/>
              </a:ext>
            </a:extLst>
          </p:cNvPr>
          <p:cNvSpPr txBox="1">
            <a:spLocks noGrp="1"/>
          </p:cNvSpPr>
          <p:nvPr>
            <p:ph type="title" idx="4294967295"/>
          </p:nvPr>
        </p:nvSpPr>
        <p:spPr>
          <a:xfrm>
            <a:off x="741239" y="326520"/>
            <a:ext cx="8607600" cy="1172160"/>
          </a:xfrm>
        </p:spPr>
        <p:txBody>
          <a:bodyPr wrap="square" anchorCtr="0">
            <a:spAutoFit/>
          </a:bodyPr>
          <a:lstStyle/>
          <a:p>
            <a:pPr lvl="0"/>
            <a:r>
              <a:rPr lang="es-VE"/>
              <a:t>Virtualización Completa</a:t>
            </a:r>
          </a:p>
        </p:txBody>
      </p:sp>
      <p:sp>
        <p:nvSpPr>
          <p:cNvPr id="3" name="Textplatzhalter 2">
            <a:extLst>
              <a:ext uri="{FF2B5EF4-FFF2-40B4-BE49-F238E27FC236}">
                <a16:creationId xmlns:a16="http://schemas.microsoft.com/office/drawing/2014/main" id="{D620F17D-7ACA-E28B-9F8D-3EDF7652132B}"/>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Se utiliza una máquina virtual que sirve de mediador entre el hardware físico cuya administración es monopolizada por el sistema operativo anfitrión.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Las instrucciones del sistema operativo invitado deben ser atrapadas y manejadas a través del mediador (supervisor ó “hypervisor”) debido a que los recursos del hardware son compartidos por todos los invitados.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ACB64B-5D15-0B52-8940-ABF1C8128970}"/>
              </a:ext>
            </a:extLst>
          </p:cNvPr>
          <p:cNvSpPr txBox="1">
            <a:spLocks noGrp="1"/>
          </p:cNvSpPr>
          <p:nvPr>
            <p:ph type="title" idx="4294967295"/>
          </p:nvPr>
        </p:nvSpPr>
        <p:spPr>
          <a:xfrm>
            <a:off x="741239" y="326520"/>
            <a:ext cx="8607600" cy="1172160"/>
          </a:xfrm>
        </p:spPr>
        <p:txBody>
          <a:bodyPr wrap="square" anchorCtr="0">
            <a:spAutoFit/>
          </a:bodyPr>
          <a:lstStyle/>
          <a:p>
            <a:pPr lvl="0"/>
            <a:r>
              <a:rPr lang="es-VE"/>
              <a:t>Virtualización Completa</a:t>
            </a:r>
          </a:p>
        </p:txBody>
      </p:sp>
      <p:sp>
        <p:nvSpPr>
          <p:cNvPr id="3" name="Textplatzhalter 2">
            <a:extLst>
              <a:ext uri="{FF2B5EF4-FFF2-40B4-BE49-F238E27FC236}">
                <a16:creationId xmlns:a16="http://schemas.microsoft.com/office/drawing/2014/main" id="{E876B6DA-6E52-F33D-A383-0090472FAB34}"/>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La virtualización completa es más lenta que utilizar el hardware directamente debido a la capa de abstracción impuesta por el “hypervisor”.</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La virtualización completa requiere que el sistema operativo soporte la arquitectura de hardware donde se ejecuta el mediador.</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VMWare, Virtualbox y z/VM son ejemplo de virtualización completa.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C45E92-AD08-5415-FA1A-8B1FF92ACEC4}"/>
              </a:ext>
            </a:extLst>
          </p:cNvPr>
          <p:cNvSpPr txBox="1">
            <a:spLocks noGrp="1"/>
          </p:cNvSpPr>
          <p:nvPr>
            <p:ph type="title" idx="4294967295"/>
          </p:nvPr>
        </p:nvSpPr>
        <p:spPr>
          <a:xfrm>
            <a:off x="741239" y="326520"/>
            <a:ext cx="8607600" cy="1172160"/>
          </a:xfrm>
        </p:spPr>
        <p:txBody>
          <a:bodyPr wrap="square" anchorCtr="0">
            <a:spAutoFit/>
          </a:bodyPr>
          <a:lstStyle/>
          <a:p>
            <a:pPr lvl="0"/>
            <a:r>
              <a:rPr lang="es-VE"/>
              <a:t>Paravirtualización</a:t>
            </a:r>
          </a:p>
        </p:txBody>
      </p:sp>
      <p:sp>
        <p:nvSpPr>
          <p:cNvPr id="3" name="Freihandform: Form 2">
            <a:extLst>
              <a:ext uri="{FF2B5EF4-FFF2-40B4-BE49-F238E27FC236}">
                <a16:creationId xmlns:a16="http://schemas.microsoft.com/office/drawing/2014/main" id="{75EC490E-F5BE-33CA-3982-142DA0C58062}"/>
              </a:ext>
            </a:extLst>
          </p:cNvPr>
          <p:cNvSpPr/>
          <p:nvPr/>
        </p:nvSpPr>
        <p:spPr>
          <a:xfrm>
            <a:off x="1800000" y="2340360"/>
            <a:ext cx="1260000" cy="179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a:t>
            </a:r>
          </a:p>
        </p:txBody>
      </p:sp>
      <p:sp>
        <p:nvSpPr>
          <p:cNvPr id="4" name="Freihandform: Form 3">
            <a:extLst>
              <a:ext uri="{FF2B5EF4-FFF2-40B4-BE49-F238E27FC236}">
                <a16:creationId xmlns:a16="http://schemas.microsoft.com/office/drawing/2014/main" id="{EF795C8D-9CF7-2834-21A0-EB9873EBFC7C}"/>
              </a:ext>
            </a:extLst>
          </p:cNvPr>
          <p:cNvSpPr/>
          <p:nvPr/>
        </p:nvSpPr>
        <p:spPr>
          <a:xfrm>
            <a:off x="3420000" y="2340000"/>
            <a:ext cx="1260000" cy="18010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II</a:t>
            </a:r>
          </a:p>
        </p:txBody>
      </p:sp>
      <p:sp>
        <p:nvSpPr>
          <p:cNvPr id="5" name="Freihandform: Form 4">
            <a:extLst>
              <a:ext uri="{FF2B5EF4-FFF2-40B4-BE49-F238E27FC236}">
                <a16:creationId xmlns:a16="http://schemas.microsoft.com/office/drawing/2014/main" id="{B0A6B704-8FA2-BEB9-0537-9442E440308B}"/>
              </a:ext>
            </a:extLst>
          </p:cNvPr>
          <p:cNvSpPr/>
          <p:nvPr/>
        </p:nvSpPr>
        <p:spPr>
          <a:xfrm>
            <a:off x="1800720" y="3959640"/>
            <a:ext cx="1259280" cy="5403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FF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200" b="1" i="0" u="none" strike="noStrike" baseline="0">
                <a:ln>
                  <a:noFill/>
                </a:ln>
                <a:solidFill>
                  <a:srgbClr val="000000"/>
                </a:solidFill>
                <a:latin typeface="Arial" pitchFamily="34"/>
                <a:ea typeface="Bitstream Vera Sans" pitchFamily="2"/>
                <a:cs typeface="Bitstream Vera Sans" pitchFamily="2"/>
              </a:rPr>
              <a:t>Modificaciones</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200" b="1" i="0" u="none" strike="noStrike" baseline="0">
                <a:ln>
                  <a:noFill/>
                </a:ln>
                <a:solidFill>
                  <a:srgbClr val="000000"/>
                </a:solidFill>
                <a:latin typeface="Arial" pitchFamily="34"/>
                <a:ea typeface="Bitstream Vera Sans" pitchFamily="2"/>
                <a:cs typeface="Bitstream Vera Sans" pitchFamily="2"/>
              </a:rPr>
              <a:t>Internas</a:t>
            </a:r>
          </a:p>
        </p:txBody>
      </p:sp>
      <p:sp>
        <p:nvSpPr>
          <p:cNvPr id="6" name="Freihandform: Form 5">
            <a:extLst>
              <a:ext uri="{FF2B5EF4-FFF2-40B4-BE49-F238E27FC236}">
                <a16:creationId xmlns:a16="http://schemas.microsoft.com/office/drawing/2014/main" id="{CF8B703F-03DF-19D5-72C1-785DD62C824B}"/>
              </a:ext>
            </a:extLst>
          </p:cNvPr>
          <p:cNvSpPr/>
          <p:nvPr/>
        </p:nvSpPr>
        <p:spPr>
          <a:xfrm>
            <a:off x="3420720" y="3961080"/>
            <a:ext cx="1260720" cy="54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FF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solidFill>
                  <a:srgbClr val="000000"/>
                </a:solidFill>
              </a:defRPr>
            </a:pPr>
            <a:r>
              <a:rPr lang="es-VE" sz="1200" b="1" i="0" u="none" strike="noStrike" baseline="0">
                <a:ln>
                  <a:noFill/>
                </a:ln>
                <a:solidFill>
                  <a:srgbClr val="000000"/>
                </a:solidFill>
                <a:latin typeface="Arial" pitchFamily="34"/>
                <a:ea typeface="Bitstream Vera Sans" pitchFamily="2"/>
                <a:cs typeface="Bitstream Vera Sans" pitchFamily="2"/>
              </a:rPr>
              <a:t>Modificaciones</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solidFill>
                  <a:srgbClr val="000000"/>
                </a:solidFill>
              </a:defRPr>
            </a:pPr>
            <a:r>
              <a:rPr lang="es-VE" sz="1200" b="1" i="0" u="none" strike="noStrike" baseline="0">
                <a:ln>
                  <a:noFill/>
                </a:ln>
                <a:solidFill>
                  <a:srgbClr val="000000"/>
                </a:solidFill>
                <a:latin typeface="Arial" pitchFamily="34"/>
                <a:ea typeface="Bitstream Vera Sans" pitchFamily="2"/>
                <a:cs typeface="Bitstream Vera Sans" pitchFamily="2"/>
              </a:rPr>
              <a:t>Internas</a:t>
            </a:r>
          </a:p>
        </p:txBody>
      </p:sp>
      <p:sp>
        <p:nvSpPr>
          <p:cNvPr id="7" name="Freihandform: Form 6">
            <a:extLst>
              <a:ext uri="{FF2B5EF4-FFF2-40B4-BE49-F238E27FC236}">
                <a16:creationId xmlns:a16="http://schemas.microsoft.com/office/drawing/2014/main" id="{5FAD068D-0BA4-653B-795E-97ABB99768E6}"/>
              </a:ext>
            </a:extLst>
          </p:cNvPr>
          <p:cNvSpPr/>
          <p:nvPr/>
        </p:nvSpPr>
        <p:spPr>
          <a:xfrm>
            <a:off x="5040000" y="2340000"/>
            <a:ext cx="1260000" cy="18010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Operativo</a:t>
            </a:r>
            <a:br>
              <a:rPr lang="es-VE" sz="1800" b="0" i="0" u="none" strike="noStrike" baseline="0">
                <a:ln>
                  <a:noFill/>
                </a:ln>
                <a:solidFill>
                  <a:srgbClr val="000000"/>
                </a:solidFill>
                <a:latin typeface="Arial" pitchFamily="34"/>
                <a:ea typeface="Bitstream Vera Sans" pitchFamily="2"/>
                <a:cs typeface="Bitstream Vera Sans" pitchFamily="2"/>
              </a:rPr>
            </a:b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III</a:t>
            </a:r>
          </a:p>
        </p:txBody>
      </p:sp>
      <p:sp>
        <p:nvSpPr>
          <p:cNvPr id="8" name="Freihandform: Form 7">
            <a:extLst>
              <a:ext uri="{FF2B5EF4-FFF2-40B4-BE49-F238E27FC236}">
                <a16:creationId xmlns:a16="http://schemas.microsoft.com/office/drawing/2014/main" id="{143C9320-F439-7B5C-2BAE-F81DA1F1917D}"/>
              </a:ext>
            </a:extLst>
          </p:cNvPr>
          <p:cNvSpPr/>
          <p:nvPr/>
        </p:nvSpPr>
        <p:spPr>
          <a:xfrm>
            <a:off x="5040000" y="3961080"/>
            <a:ext cx="1260000" cy="54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808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200" b="1" i="0" u="none" strike="noStrike" baseline="0">
                <a:ln>
                  <a:noFill/>
                </a:ln>
                <a:solidFill>
                  <a:srgbClr val="000000"/>
                </a:solidFill>
                <a:latin typeface="Arial" pitchFamily="34"/>
                <a:ea typeface="Bitstream Vera Sans" pitchFamily="2"/>
                <a:cs typeface="Bitstream Vera Sans" pitchFamily="2"/>
              </a:rPr>
              <a:t>Modificaciones</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200" b="1" i="0" u="none" strike="noStrike" baseline="0">
                <a:ln>
                  <a:noFill/>
                </a:ln>
                <a:solidFill>
                  <a:srgbClr val="000000"/>
                </a:solidFill>
                <a:latin typeface="Arial" pitchFamily="34"/>
                <a:ea typeface="Bitstream Vera Sans" pitchFamily="2"/>
                <a:cs typeface="Bitstream Vera Sans" pitchFamily="2"/>
              </a:rPr>
              <a:t>Externas</a:t>
            </a:r>
          </a:p>
        </p:txBody>
      </p:sp>
      <p:sp>
        <p:nvSpPr>
          <p:cNvPr id="9" name="Freihandform: Form 8">
            <a:extLst>
              <a:ext uri="{FF2B5EF4-FFF2-40B4-BE49-F238E27FC236}">
                <a16:creationId xmlns:a16="http://schemas.microsoft.com/office/drawing/2014/main" id="{0452DFA7-EF05-3A11-3903-F32859177318}"/>
              </a:ext>
            </a:extLst>
          </p:cNvPr>
          <p:cNvSpPr/>
          <p:nvPr/>
        </p:nvSpPr>
        <p:spPr>
          <a:xfrm>
            <a:off x="1620720" y="540072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33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Hardware (Intel, AMD, Sparc, ...)‏</a:t>
            </a:r>
          </a:p>
        </p:txBody>
      </p:sp>
      <p:sp>
        <p:nvSpPr>
          <p:cNvPr id="10" name="Freihandform: Form 9">
            <a:extLst>
              <a:ext uri="{FF2B5EF4-FFF2-40B4-BE49-F238E27FC236}">
                <a16:creationId xmlns:a16="http://schemas.microsoft.com/office/drawing/2014/main" id="{D651CAB6-FAFB-8C2C-60E7-96C9D941A0BA}"/>
              </a:ext>
            </a:extLst>
          </p:cNvPr>
          <p:cNvSpPr/>
          <p:nvPr/>
        </p:nvSpPr>
        <p:spPr>
          <a:xfrm>
            <a:off x="1620720" y="4500000"/>
            <a:ext cx="6840360" cy="90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CC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Hypervisor (VMM = Virtual Machine Mediator)‏</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Sistema Operativo de Virtualización</a:t>
            </a:r>
          </a:p>
        </p:txBody>
      </p:sp>
      <p:sp>
        <p:nvSpPr>
          <p:cNvPr id="11" name="Freihandform: Form 10">
            <a:extLst>
              <a:ext uri="{FF2B5EF4-FFF2-40B4-BE49-F238E27FC236}">
                <a16:creationId xmlns:a16="http://schemas.microsoft.com/office/drawing/2014/main" id="{0CC645DF-4094-956E-5E83-768B21CBC931}"/>
              </a:ext>
            </a:extLst>
          </p:cNvPr>
          <p:cNvSpPr/>
          <p:nvPr/>
        </p:nvSpPr>
        <p:spPr>
          <a:xfrm>
            <a:off x="6660000" y="2340000"/>
            <a:ext cx="1800000" cy="216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D32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Cónsola de</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Administración</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a:solidFill>
                  <a:srgbClr val="000000"/>
                </a:solidFill>
              </a:defRPr>
            </a:pPr>
            <a:r>
              <a:rPr lang="es-VE" sz="1800" b="1" i="0" u="none" strike="noStrike" baseline="0">
                <a:ln>
                  <a:noFill/>
                </a:ln>
                <a:solidFill>
                  <a:srgbClr val="000000"/>
                </a:solidFill>
                <a:latin typeface="Arial" pitchFamily="34"/>
                <a:ea typeface="Bitstream Vera Sans" pitchFamily="2"/>
                <a:cs typeface="Bitstream Vera Sans" pitchFamily="2"/>
              </a:rPr>
              <a:t>del Hypervisor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94977F-6B7E-5899-DBE7-A667515CD622}"/>
              </a:ext>
            </a:extLst>
          </p:cNvPr>
          <p:cNvSpPr txBox="1">
            <a:spLocks noGrp="1"/>
          </p:cNvSpPr>
          <p:nvPr>
            <p:ph type="title" idx="4294967295"/>
          </p:nvPr>
        </p:nvSpPr>
        <p:spPr>
          <a:xfrm>
            <a:off x="741239" y="326520"/>
            <a:ext cx="8607600" cy="1172160"/>
          </a:xfrm>
        </p:spPr>
        <p:txBody>
          <a:bodyPr wrap="square" anchorCtr="0">
            <a:spAutoFit/>
          </a:bodyPr>
          <a:lstStyle/>
          <a:p>
            <a:pPr lvl="0"/>
            <a:r>
              <a:rPr lang="es-VE"/>
              <a:t>Paravirtualización</a:t>
            </a:r>
          </a:p>
        </p:txBody>
      </p:sp>
      <p:sp>
        <p:nvSpPr>
          <p:cNvPr id="3" name="Textplatzhalter 2">
            <a:extLst>
              <a:ext uri="{FF2B5EF4-FFF2-40B4-BE49-F238E27FC236}">
                <a16:creationId xmlns:a16="http://schemas.microsoft.com/office/drawing/2014/main" id="{FF7A5A96-BE82-FC9C-6523-0A3ADD2FCB85}"/>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Usa también un mediador o “hypervisor” pero requiere la modificación interna del núcleo del sistema operativo invitado con “parches” de código para soportar la paravirtualización, o bien, agregando modificaciones externas (capas de firmware) y delegando la virtualización al hardware si éste soporta instrucciones de virtualización nativas (activar en BIOS); tecnología Intel VT  y AMD V (flags de cpu “vmx” y “svm” en Linux, respectivamente).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3A8794-628C-C323-6CA0-EAA2A202D521}"/>
              </a:ext>
            </a:extLst>
          </p:cNvPr>
          <p:cNvSpPr txBox="1">
            <a:spLocks noGrp="1"/>
          </p:cNvSpPr>
          <p:nvPr>
            <p:ph type="title" idx="4294967295"/>
          </p:nvPr>
        </p:nvSpPr>
        <p:spPr>
          <a:xfrm>
            <a:off x="741239" y="326520"/>
            <a:ext cx="8607600" cy="1172160"/>
          </a:xfrm>
        </p:spPr>
        <p:txBody>
          <a:bodyPr wrap="square" anchorCtr="0">
            <a:spAutoFit/>
          </a:bodyPr>
          <a:lstStyle/>
          <a:p>
            <a:pPr lvl="0"/>
            <a:r>
              <a:rPr lang="es-VE"/>
              <a:t>Paravirtualización</a:t>
            </a:r>
          </a:p>
        </p:txBody>
      </p:sp>
      <p:sp>
        <p:nvSpPr>
          <p:cNvPr id="3" name="Textplatzhalter 2">
            <a:extLst>
              <a:ext uri="{FF2B5EF4-FFF2-40B4-BE49-F238E27FC236}">
                <a16:creationId xmlns:a16="http://schemas.microsoft.com/office/drawing/2014/main" id="{945A6BFF-FDC5-6697-2256-455258B761D6}"/>
              </a:ext>
            </a:extLst>
          </p:cNvPr>
          <p:cNvSpPr txBox="1">
            <a:spLocks noGrp="1"/>
          </p:cNvSpPr>
          <p:nvPr>
            <p:ph type="body" idx="4294967295"/>
          </p:nvPr>
        </p:nvSpPr>
        <p:spPr>
          <a:xfrm>
            <a:off x="741239" y="160128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Ofrece un desempeño muy cercano a un sistema no virtualizado porque no no requiere recompilación, atrapado o caching de instrucciones especiales o privilegiadas.</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Pueden ejecutarse múltiples sistemas operativos concurrentemente en un mismo hypervisor.</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Xen y UML son ejemplos de paravirtualización.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E5B3AC-A788-249D-7BB9-C09B4D06A7D5}"/>
              </a:ext>
            </a:extLst>
          </p:cNvPr>
          <p:cNvSpPr txBox="1">
            <a:spLocks noGrp="1"/>
          </p:cNvSpPr>
          <p:nvPr>
            <p:ph type="title" idx="4294967295"/>
          </p:nvPr>
        </p:nvSpPr>
        <p:spPr>
          <a:xfrm>
            <a:off x="741239" y="326520"/>
            <a:ext cx="8607600" cy="1172160"/>
          </a:xfrm>
        </p:spPr>
        <p:txBody>
          <a:bodyPr wrap="square" anchorCtr="0">
            <a:spAutoFit/>
          </a:bodyPr>
          <a:lstStyle/>
          <a:p>
            <a:pPr lvl="0"/>
            <a:r>
              <a:rPr lang="es-VE"/>
              <a:t>Virtualización a Nivel de Sistema Operativo</a:t>
            </a:r>
          </a:p>
        </p:txBody>
      </p:sp>
      <p:sp>
        <p:nvSpPr>
          <p:cNvPr id="3" name="Freihandform: Form 2">
            <a:extLst>
              <a:ext uri="{FF2B5EF4-FFF2-40B4-BE49-F238E27FC236}">
                <a16:creationId xmlns:a16="http://schemas.microsoft.com/office/drawing/2014/main" id="{4A2F85D7-CEFE-EEB5-A8BE-B75D73D13BFE}"/>
              </a:ext>
            </a:extLst>
          </p:cNvPr>
          <p:cNvSpPr/>
          <p:nvPr/>
        </p:nvSpPr>
        <p:spPr>
          <a:xfrm>
            <a:off x="1620000" y="413964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663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Sistema Operativo de Virtualización (Anfitrión)</a:t>
            </a:r>
          </a:p>
        </p:txBody>
      </p:sp>
      <p:sp>
        <p:nvSpPr>
          <p:cNvPr id="4" name="Freihandform: Form 3">
            <a:extLst>
              <a:ext uri="{FF2B5EF4-FFF2-40B4-BE49-F238E27FC236}">
                <a16:creationId xmlns:a16="http://schemas.microsoft.com/office/drawing/2014/main" id="{71FB840C-BFB8-6C80-1F5C-3B1401F6B270}"/>
              </a:ext>
            </a:extLst>
          </p:cNvPr>
          <p:cNvSpPr/>
          <p:nvPr/>
        </p:nvSpPr>
        <p:spPr>
          <a:xfrm>
            <a:off x="1800720" y="2161440"/>
            <a:ext cx="1440000" cy="197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Operativo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Servidor</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Privado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(Jaula)</a:t>
            </a:r>
          </a:p>
        </p:txBody>
      </p:sp>
      <p:sp>
        <p:nvSpPr>
          <p:cNvPr id="5" name="Freihandform: Form 4">
            <a:extLst>
              <a:ext uri="{FF2B5EF4-FFF2-40B4-BE49-F238E27FC236}">
                <a16:creationId xmlns:a16="http://schemas.microsoft.com/office/drawing/2014/main" id="{1699AFC9-93FD-9FA0-9598-05DA45D65636}"/>
              </a:ext>
            </a:extLst>
          </p:cNvPr>
          <p:cNvSpPr/>
          <p:nvPr/>
        </p:nvSpPr>
        <p:spPr>
          <a:xfrm>
            <a:off x="3600720" y="2160000"/>
            <a:ext cx="1260000" cy="197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Operativo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Servidor</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Privado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(Jaula)</a:t>
            </a:r>
          </a:p>
        </p:txBody>
      </p:sp>
      <p:sp>
        <p:nvSpPr>
          <p:cNvPr id="6" name="Freihandform: Form 5">
            <a:extLst>
              <a:ext uri="{FF2B5EF4-FFF2-40B4-BE49-F238E27FC236}">
                <a16:creationId xmlns:a16="http://schemas.microsoft.com/office/drawing/2014/main" id="{62E2F02F-C6F5-35E8-95F7-717C873D6C14}"/>
              </a:ext>
            </a:extLst>
          </p:cNvPr>
          <p:cNvSpPr/>
          <p:nvPr/>
        </p:nvSpPr>
        <p:spPr>
          <a:xfrm>
            <a:off x="5220720" y="2160000"/>
            <a:ext cx="1440000" cy="197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Operativo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Servidor</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Privado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(Jaula)</a:t>
            </a:r>
          </a:p>
        </p:txBody>
      </p:sp>
      <p:sp>
        <p:nvSpPr>
          <p:cNvPr id="7" name="Freihandform: Form 6">
            <a:extLst>
              <a:ext uri="{FF2B5EF4-FFF2-40B4-BE49-F238E27FC236}">
                <a16:creationId xmlns:a16="http://schemas.microsoft.com/office/drawing/2014/main" id="{BBA5C509-520E-0C4B-ADC8-2219D87BABE5}"/>
              </a:ext>
            </a:extLst>
          </p:cNvPr>
          <p:cNvSpPr/>
          <p:nvPr/>
        </p:nvSpPr>
        <p:spPr>
          <a:xfrm>
            <a:off x="7020720" y="2160000"/>
            <a:ext cx="1260000" cy="197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Sistema</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Operativo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Invitado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1800" b="0"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Servidor</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Privado</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(Jaula)</a:t>
            </a:r>
          </a:p>
        </p:txBody>
      </p:sp>
      <p:sp>
        <p:nvSpPr>
          <p:cNvPr id="8" name="Freihandform: Form 7">
            <a:extLst>
              <a:ext uri="{FF2B5EF4-FFF2-40B4-BE49-F238E27FC236}">
                <a16:creationId xmlns:a16="http://schemas.microsoft.com/office/drawing/2014/main" id="{AECB50B3-7E85-C823-411C-D1A7DAB4AE0A}"/>
              </a:ext>
            </a:extLst>
          </p:cNvPr>
          <p:cNvSpPr/>
          <p:nvPr/>
        </p:nvSpPr>
        <p:spPr>
          <a:xfrm>
            <a:off x="1621800" y="4681440"/>
            <a:ext cx="684036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33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defRPr b="1"/>
            </a:pPr>
            <a:r>
              <a:rPr lang="es-VE" sz="1800" b="1" i="0" u="none" strike="noStrike" baseline="0">
                <a:ln>
                  <a:noFill/>
                </a:ln>
                <a:solidFill>
                  <a:srgbClr val="000000"/>
                </a:solidFill>
                <a:latin typeface="Arial" pitchFamily="34"/>
                <a:ea typeface="Bitstream Vera Sans" pitchFamily="2"/>
                <a:cs typeface="Bitstream Vera Sans" pitchFamily="2"/>
              </a:rPr>
              <a:t>Hardware (Intel, AMD, Sparc,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AC5240-E9C3-18F8-F6EE-1B567F671638}"/>
              </a:ext>
            </a:extLst>
          </p:cNvPr>
          <p:cNvSpPr txBox="1">
            <a:spLocks noGrp="1"/>
          </p:cNvSpPr>
          <p:nvPr>
            <p:ph type="title" idx="4294967295"/>
          </p:nvPr>
        </p:nvSpPr>
        <p:spPr>
          <a:xfrm>
            <a:off x="740879" y="327240"/>
            <a:ext cx="8604360" cy="1169280"/>
          </a:xfrm>
        </p:spPr>
        <p:txBody>
          <a:bodyPr/>
          <a:lstStyle/>
          <a:p>
            <a:pPr lvl="0"/>
            <a:r>
              <a:rPr lang="es-VE"/>
              <a:t>Virtualización a Nivel de Sistema Operativo</a:t>
            </a:r>
          </a:p>
        </p:txBody>
      </p:sp>
      <p:sp>
        <p:nvSpPr>
          <p:cNvPr id="3" name="Textplatzhalter 2">
            <a:extLst>
              <a:ext uri="{FF2B5EF4-FFF2-40B4-BE49-F238E27FC236}">
                <a16:creationId xmlns:a16="http://schemas.microsoft.com/office/drawing/2014/main" id="{2604D18F-B5E6-8A08-219E-BB1E981F07DA}"/>
              </a:ext>
            </a:extLst>
          </p:cNvPr>
          <p:cNvSpPr txBox="1">
            <a:spLocks noGrp="1"/>
          </p:cNvSpPr>
          <p:nvPr>
            <p:ph type="body" idx="4294967295"/>
          </p:nvPr>
        </p:nvSpPr>
        <p:spPr/>
        <p:txBody>
          <a:bodyPr/>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000">
                <a:solidFill>
                  <a:srgbClr val="E6E6FF"/>
                </a:solidFill>
              </a:rPr>
              <a:t>Requiere que se modifique el kernel del sistema operativo de virtualización y no el de cada invitado manteniendo un desempeño bastante cercano al real.</a:t>
            </a:r>
          </a:p>
          <a:p>
            <a:pPr marL="0" lvl="0" indent="0">
              <a:buClr>
                <a:srgbClr val="FFFFFF"/>
              </a:buClr>
              <a:buSzPct val="100000"/>
              <a:buFont typeface="Times New Roman" pitchFamily="18"/>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000">
                <a:solidFill>
                  <a:srgbClr val="E6E6FF"/>
                </a:solidFill>
              </a:rPr>
              <a:t>Generalmente no es muy flexible porque no soporta que los sistemas operativos invitados sean diferentes o en muchos casos que tengan una versión diferente del kernel del sistema operativo anfitrión.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000">
                <a:solidFill>
                  <a:srgbClr val="E6E6FF"/>
                </a:solidFill>
              </a:rPr>
              <a:t>Aisla los servidores en una especie de jaulas privadas (~chroots) con espacios de usuario distintos siendo estos copias o instancias del sistema operativo de anfitrión, logrando una eficiencia cercana a la real.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099C7B-6ACC-4200-B072-BD06C6EF97E1}"/>
              </a:ext>
            </a:extLst>
          </p:cNvPr>
          <p:cNvSpPr txBox="1">
            <a:spLocks noGrp="1"/>
          </p:cNvSpPr>
          <p:nvPr>
            <p:ph type="title" idx="4294967295"/>
          </p:nvPr>
        </p:nvSpPr>
        <p:spPr>
          <a:xfrm>
            <a:off x="741239" y="282600"/>
            <a:ext cx="8607600" cy="1262520"/>
          </a:xfrm>
        </p:spPr>
        <p:txBody>
          <a:bodyPr wrap="square" anchorCtr="0">
            <a:spAutoFit/>
          </a:bodyPr>
          <a:lstStyle/>
          <a:p>
            <a:pPr lvl="0"/>
            <a:r>
              <a:rPr lang="es-VE"/>
              <a:t>Virtualización a Nivel de Sistema Operativo</a:t>
            </a:r>
          </a:p>
        </p:txBody>
      </p:sp>
      <p:sp>
        <p:nvSpPr>
          <p:cNvPr id="3" name="Textplatzhalter 2">
            <a:extLst>
              <a:ext uri="{FF2B5EF4-FFF2-40B4-BE49-F238E27FC236}">
                <a16:creationId xmlns:a16="http://schemas.microsoft.com/office/drawing/2014/main" id="{69D93D95-693E-6339-C9C5-E3815B0EC1E6}"/>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000"/>
              <a:t>El comando chroot, FreeVPS, iCore Virtual Accounts, Linux-VServer, lxs, Virtuozzo, OpenVZ, FreeBSD Jail, sysjail, WPARs AIX y Solaris Container Zones son ejemplos de este modelo de virtualización.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000"/>
              <a:t>El almacenamiento se hace a través de un sistema de archivos compartidos con una técnica de “copy on write” a nivel de archivos fácil de respaldar y migrar en caliente, pero muy diferente a las técnica de “copy on write” por bloques de los sistema de virtualización completa que permiten hacer “snapshots”.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AEB30F-1D43-4737-A3E7-DAF6F3318577}"/>
              </a:ext>
            </a:extLst>
          </p:cNvPr>
          <p:cNvSpPr txBox="1">
            <a:spLocks noGrp="1"/>
          </p:cNvSpPr>
          <p:nvPr>
            <p:ph type="title" idx="4294967295"/>
          </p:nvPr>
        </p:nvSpPr>
        <p:spPr>
          <a:xfrm>
            <a:off x="741239" y="282600"/>
            <a:ext cx="8607600" cy="1262520"/>
          </a:xfrm>
        </p:spPr>
        <p:txBody>
          <a:bodyPr wrap="square" anchorCtr="0">
            <a:spAutoFit/>
          </a:bodyPr>
          <a:lstStyle/>
          <a:p>
            <a:pPr lvl="0"/>
            <a:r>
              <a:rPr lang="es-VE"/>
              <a:t>Software vs. Virtualización</a:t>
            </a:r>
          </a:p>
        </p:txBody>
      </p:sp>
      <p:pic>
        <p:nvPicPr>
          <p:cNvPr id="3" name="">
            <a:extLst>
              <a:ext uri="{FF2B5EF4-FFF2-40B4-BE49-F238E27FC236}">
                <a16:creationId xmlns:a16="http://schemas.microsoft.com/office/drawing/2014/main" id="{06EA767B-A9C7-84EE-8F08-56301A0EDA07}"/>
              </a:ext>
            </a:extLst>
          </p:cNvPr>
          <p:cNvPicPr>
            <a:picLocks noChangeAspect="1"/>
          </p:cNvPicPr>
          <p:nvPr/>
        </p:nvPicPr>
        <p:blipFill>
          <a:blip r:embed="rId3">
            <a:lum/>
            <a:alphaModFix/>
          </a:blip>
          <a:srcRect/>
          <a:stretch>
            <a:fillRect/>
          </a:stretch>
        </p:blipFill>
        <p:spPr>
          <a:xfrm>
            <a:off x="801720" y="1619280"/>
            <a:ext cx="8558280" cy="461808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C825D8-DB54-9DD7-56A9-53F22B58BD74}"/>
              </a:ext>
            </a:extLst>
          </p:cNvPr>
          <p:cNvSpPr txBox="1">
            <a:spLocks noGrp="1"/>
          </p:cNvSpPr>
          <p:nvPr>
            <p:ph type="title" idx="4294967295"/>
          </p:nvPr>
        </p:nvSpPr>
        <p:spPr>
          <a:xfrm>
            <a:off x="741239" y="282600"/>
            <a:ext cx="8607600" cy="1262520"/>
          </a:xfrm>
        </p:spPr>
        <p:txBody>
          <a:bodyPr wrap="square" anchorCtr="0">
            <a:spAutoFit/>
          </a:bodyPr>
          <a:lstStyle/>
          <a:p>
            <a:pPr lvl="0"/>
            <a:r>
              <a:rPr lang="es-VE"/>
              <a:t>Xen</a:t>
            </a:r>
          </a:p>
        </p:txBody>
      </p:sp>
      <p:sp>
        <p:nvSpPr>
          <p:cNvPr id="3" name="Textplatzhalter 2">
            <a:extLst>
              <a:ext uri="{FF2B5EF4-FFF2-40B4-BE49-F238E27FC236}">
                <a16:creationId xmlns:a16="http://schemas.microsoft.com/office/drawing/2014/main" id="{C28F51EA-09A4-B914-5E86-9634C2C6E2A6}"/>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Sistema de Virtualización con licencia GNU/GPL basado en el Sistema Operativo Linux.</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CCCCFF"/>
                </a:solidFill>
                <a:hlinkClick r:id="rId3">
                  <a:extLst>
                    <a:ext uri="{A12FA001-AC4F-418D-AE19-62706E023703}">
                      <ahyp:hlinkClr xmlns:ahyp="http://schemas.microsoft.com/office/drawing/2018/hyperlinkcolor" val="tx"/>
                    </a:ext>
                  </a:extLst>
                </a:hlinkClick>
              </a:rPr>
              <a:t>www.xen.org</a:t>
            </a:r>
          </a:p>
        </p:txBody>
      </p:sp>
      <p:pic>
        <p:nvPicPr>
          <p:cNvPr id="4" name="">
            <a:extLst>
              <a:ext uri="{FF2B5EF4-FFF2-40B4-BE49-F238E27FC236}">
                <a16:creationId xmlns:a16="http://schemas.microsoft.com/office/drawing/2014/main" id="{6AC3AFE5-1CCE-A20A-7942-0028D39D1744}"/>
              </a:ext>
            </a:extLst>
          </p:cNvPr>
          <p:cNvPicPr>
            <a:picLocks noChangeAspect="1"/>
          </p:cNvPicPr>
          <p:nvPr/>
        </p:nvPicPr>
        <p:blipFill>
          <a:blip r:embed="rId4">
            <a:lum/>
            <a:alphaModFix/>
          </a:blip>
          <a:srcRect/>
          <a:stretch>
            <a:fillRect/>
          </a:stretch>
        </p:blipFill>
        <p:spPr>
          <a:xfrm>
            <a:off x="1531800" y="3780000"/>
            <a:ext cx="7107479" cy="287964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FD2D40-41CE-C8A7-401D-14366F2517E2}"/>
              </a:ext>
            </a:extLst>
          </p:cNvPr>
          <p:cNvSpPr txBox="1">
            <a:spLocks noGrp="1"/>
          </p:cNvSpPr>
          <p:nvPr>
            <p:ph type="title" idx="4294967295"/>
          </p:nvPr>
        </p:nvSpPr>
        <p:spPr>
          <a:xfrm>
            <a:off x="741239" y="282600"/>
            <a:ext cx="8607600" cy="1262520"/>
          </a:xfrm>
        </p:spPr>
        <p:txBody>
          <a:bodyPr wrap="square" anchorCtr="0">
            <a:spAutoFit/>
          </a:bodyPr>
          <a:lstStyle/>
          <a:p>
            <a:pPr lvl="0"/>
            <a:r>
              <a:rPr lang="es-VE"/>
              <a:t>Elementos de Xen</a:t>
            </a:r>
          </a:p>
        </p:txBody>
      </p:sp>
      <p:sp>
        <p:nvSpPr>
          <p:cNvPr id="3" name="Textplatzhalter 2">
            <a:extLst>
              <a:ext uri="{FF2B5EF4-FFF2-40B4-BE49-F238E27FC236}">
                <a16:creationId xmlns:a16="http://schemas.microsoft.com/office/drawing/2014/main" id="{8B03EC47-964F-AF55-9377-6F758E08D774}"/>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Xen Hypervisor (CPU &amp; Memoria)‏</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Domain/Dominio 0 (PV Backend Drivers)‏</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Domain / Dominio U</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PV Guest / Invitado PV (PV “Frontend” Drivers)‏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HVM Guest / Invitado HVM</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Xen Firmware</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Qemu-dm</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Domain Managment and Control / Dominio de Gestión y Control (Xen DM&amp;C)‏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AF68A6-6664-2716-8D42-3234C0346554}"/>
              </a:ext>
            </a:extLst>
          </p:cNvPr>
          <p:cNvSpPr txBox="1">
            <a:spLocks noGrp="1"/>
          </p:cNvSpPr>
          <p:nvPr>
            <p:ph type="title" idx="4294967295"/>
          </p:nvPr>
        </p:nvSpPr>
        <p:spPr>
          <a:xfrm>
            <a:off x="741239" y="282600"/>
            <a:ext cx="8607600" cy="1262520"/>
          </a:xfrm>
        </p:spPr>
        <p:txBody>
          <a:bodyPr wrap="square" anchorCtr="0">
            <a:spAutoFit/>
          </a:bodyPr>
          <a:lstStyle/>
          <a:p>
            <a:pPr lvl="0"/>
            <a:r>
              <a:rPr lang="es-VE"/>
              <a:t>Elementos de Xen</a:t>
            </a:r>
          </a:p>
        </p:txBody>
      </p:sp>
      <p:sp>
        <p:nvSpPr>
          <p:cNvPr id="3" name="Freihandform: Form 2">
            <a:extLst>
              <a:ext uri="{FF2B5EF4-FFF2-40B4-BE49-F238E27FC236}">
                <a16:creationId xmlns:a16="http://schemas.microsoft.com/office/drawing/2014/main" id="{0D7141D2-4269-DD38-EDB1-287AC480143B}"/>
              </a:ext>
            </a:extLst>
          </p:cNvPr>
          <p:cNvSpPr/>
          <p:nvPr/>
        </p:nvSpPr>
        <p:spPr>
          <a:xfrm>
            <a:off x="720719" y="2160720"/>
            <a:ext cx="1800360" cy="25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6633"/>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0</a:t>
            </a:r>
          </a:p>
        </p:txBody>
      </p:sp>
      <p:sp>
        <p:nvSpPr>
          <p:cNvPr id="4" name="Freihandform: Form 3">
            <a:extLst>
              <a:ext uri="{FF2B5EF4-FFF2-40B4-BE49-F238E27FC236}">
                <a16:creationId xmlns:a16="http://schemas.microsoft.com/office/drawing/2014/main" id="{1424FCDB-BDC5-01BA-78E6-A08C13BD9EA7}"/>
              </a:ext>
            </a:extLst>
          </p:cNvPr>
          <p:cNvSpPr/>
          <p:nvPr/>
        </p:nvSpPr>
        <p:spPr>
          <a:xfrm>
            <a:off x="720719" y="4859280"/>
            <a:ext cx="882000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7DA647"/>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Xen Hypervisor</a:t>
            </a:r>
          </a:p>
        </p:txBody>
      </p:sp>
      <p:sp>
        <p:nvSpPr>
          <p:cNvPr id="5" name="Freihandform: Form 4">
            <a:extLst>
              <a:ext uri="{FF2B5EF4-FFF2-40B4-BE49-F238E27FC236}">
                <a16:creationId xmlns:a16="http://schemas.microsoft.com/office/drawing/2014/main" id="{4EE03196-E6BF-9B04-555C-B9D24185C9D1}"/>
              </a:ext>
            </a:extLst>
          </p:cNvPr>
          <p:cNvSpPr/>
          <p:nvPr/>
        </p:nvSpPr>
        <p:spPr>
          <a:xfrm>
            <a:off x="3060720" y="2160720"/>
            <a:ext cx="1800360" cy="25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U</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2400" b="1"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PV Guest</a:t>
            </a:r>
          </a:p>
        </p:txBody>
      </p:sp>
      <p:sp>
        <p:nvSpPr>
          <p:cNvPr id="6" name="Freihandform: Form 5">
            <a:extLst>
              <a:ext uri="{FF2B5EF4-FFF2-40B4-BE49-F238E27FC236}">
                <a16:creationId xmlns:a16="http://schemas.microsoft.com/office/drawing/2014/main" id="{41EC01D9-BAD3-F789-FBFB-01D5A1713504}"/>
              </a:ext>
            </a:extLst>
          </p:cNvPr>
          <p:cNvSpPr/>
          <p:nvPr/>
        </p:nvSpPr>
        <p:spPr>
          <a:xfrm>
            <a:off x="6300720" y="2160720"/>
            <a:ext cx="1979640" cy="25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U</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2400" b="1"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HVM Guest</a:t>
            </a:r>
          </a:p>
        </p:txBody>
      </p:sp>
      <p:sp>
        <p:nvSpPr>
          <p:cNvPr id="7" name="Freihandform: Form 6">
            <a:extLst>
              <a:ext uri="{FF2B5EF4-FFF2-40B4-BE49-F238E27FC236}">
                <a16:creationId xmlns:a16="http://schemas.microsoft.com/office/drawing/2014/main" id="{ACC35C4D-773D-618F-30D1-63CF7BD6D6BA}"/>
              </a:ext>
            </a:extLst>
          </p:cNvPr>
          <p:cNvSpPr/>
          <p:nvPr/>
        </p:nvSpPr>
        <p:spPr>
          <a:xfrm>
            <a:off x="5040360" y="2884320"/>
            <a:ext cx="1079280" cy="7160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4400" b="1" i="0" u="none" strike="noStrike" baseline="0">
                <a:ln>
                  <a:noFill/>
                </a:ln>
                <a:solidFill>
                  <a:srgbClr val="FFFFFF"/>
                </a:solidFill>
                <a:latin typeface="Arial" pitchFamily="34"/>
                <a:ea typeface="Bitstream Vera Sans" pitchFamily="2"/>
                <a:cs typeface="Bitstream Vera Sans" pitchFamily="2"/>
              </a:rPr>
              <a:t>. . .</a:t>
            </a:r>
          </a:p>
        </p:txBody>
      </p:sp>
      <p:sp>
        <p:nvSpPr>
          <p:cNvPr id="8" name="Freihandform: Form 7">
            <a:extLst>
              <a:ext uri="{FF2B5EF4-FFF2-40B4-BE49-F238E27FC236}">
                <a16:creationId xmlns:a16="http://schemas.microsoft.com/office/drawing/2014/main" id="{989A5BDA-B480-07CD-A090-2EAAF8A1F345}"/>
              </a:ext>
            </a:extLst>
          </p:cNvPr>
          <p:cNvSpPr/>
          <p:nvPr/>
        </p:nvSpPr>
        <p:spPr>
          <a:xfrm>
            <a:off x="8459640" y="2884320"/>
            <a:ext cx="1079639" cy="7160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4400" b="1" i="0" u="none" strike="noStrike" baseline="0">
                <a:ln>
                  <a:noFill/>
                </a:ln>
                <a:solidFill>
                  <a:srgbClr val="FFFFFF"/>
                </a:solidFill>
                <a:latin typeface="Arial" pitchFamily="34"/>
                <a:ea typeface="Bitstream Vera Sans" pitchFamily="2"/>
                <a:cs typeface="Bitstream Vera Sans" pitchFamily="2"/>
              </a:rPr>
              <a:t>. . .</a:t>
            </a:r>
          </a:p>
        </p:txBody>
      </p:sp>
      <p:sp>
        <p:nvSpPr>
          <p:cNvPr id="9" name="Freihandform: Form 8">
            <a:extLst>
              <a:ext uri="{FF2B5EF4-FFF2-40B4-BE49-F238E27FC236}">
                <a16:creationId xmlns:a16="http://schemas.microsoft.com/office/drawing/2014/main" id="{C3B7C86F-34A1-F683-1106-1B0752E76761}"/>
              </a:ext>
            </a:extLst>
          </p:cNvPr>
          <p:cNvSpPr/>
          <p:nvPr/>
        </p:nvSpPr>
        <p:spPr>
          <a:xfrm>
            <a:off x="900000" y="2700360"/>
            <a:ext cx="1440000" cy="90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CCFFFF"/>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Xen </a:t>
            </a:r>
            <a:br>
              <a:rPr lang="es-VE" sz="2400" b="1" i="0" u="none" strike="noStrike" baseline="0">
                <a:ln>
                  <a:noFill/>
                </a:ln>
                <a:solidFill>
                  <a:srgbClr val="000000"/>
                </a:solidFill>
                <a:latin typeface="Arial" pitchFamily="34"/>
                <a:ea typeface="Bitstream Vera Sans" pitchFamily="2"/>
                <a:cs typeface="Bitstream Vera Sans" pitchFamily="2"/>
              </a:rPr>
            </a:br>
            <a:r>
              <a:rPr lang="es-VE" sz="2400" b="1" i="0" u="none" strike="noStrike" baseline="0">
                <a:ln>
                  <a:noFill/>
                </a:ln>
                <a:solidFill>
                  <a:srgbClr val="000000"/>
                </a:solidFill>
                <a:latin typeface="Arial" pitchFamily="34"/>
                <a:ea typeface="Bitstream Vera Sans" pitchFamily="2"/>
                <a:cs typeface="Bitstream Vera Sans" pitchFamily="2"/>
              </a:rPr>
              <a:t>DM &amp; 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2A9EB0-3FDF-9E61-D754-ADD0BF14B6B5}"/>
              </a:ext>
            </a:extLst>
          </p:cNvPr>
          <p:cNvSpPr txBox="1">
            <a:spLocks noGrp="1"/>
          </p:cNvSpPr>
          <p:nvPr>
            <p:ph type="title" idx="4294967295"/>
          </p:nvPr>
        </p:nvSpPr>
        <p:spPr>
          <a:xfrm>
            <a:off x="741239" y="282600"/>
            <a:ext cx="8607600" cy="1262520"/>
          </a:xfrm>
        </p:spPr>
        <p:txBody>
          <a:bodyPr wrap="square" anchorCtr="0">
            <a:spAutoFit/>
          </a:bodyPr>
          <a:lstStyle/>
          <a:p>
            <a:pPr lvl="0"/>
            <a:r>
              <a:rPr lang="es-VE"/>
              <a:t>Xen Hypervisor</a:t>
            </a:r>
          </a:p>
        </p:txBody>
      </p:sp>
      <p:sp>
        <p:nvSpPr>
          <p:cNvPr id="3" name="Textplatzhalter 2">
            <a:extLst>
              <a:ext uri="{FF2B5EF4-FFF2-40B4-BE49-F238E27FC236}">
                <a16:creationId xmlns:a16="http://schemas.microsoft.com/office/drawing/2014/main" id="{A8D019B3-535C-3B48-EAFF-76977D768F8B}"/>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Capa básica de abstracción, situada directamente en el hardware antes del sistema operativo.</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Coordina el trabajo del CPU, el particionamiento de la memoria entre todas las máquinas virtuales que se ejecutan en el hardware físico.</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Controla la ejecución de las máquinas virtuales mientras se ejecutan en el entorno compartido de procesamiento.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A7661F-ABB1-A583-141C-495913C3EFF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Xen Hypervisor</a:t>
            </a:r>
          </a:p>
        </p:txBody>
      </p:sp>
      <p:sp>
        <p:nvSpPr>
          <p:cNvPr id="3" name="Textplatzhalter 2">
            <a:extLst>
              <a:ext uri="{FF2B5EF4-FFF2-40B4-BE49-F238E27FC236}">
                <a16:creationId xmlns:a16="http://schemas.microsoft.com/office/drawing/2014/main" id="{02DFCCE6-F4DE-8A47-CF22-FE8760EED8D8}"/>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FFFFFF"/>
                </a:solidFill>
              </a:rPr>
              <a:t>El Hypervisor NO maneja los dispositivos de red, de almacenamiento externo, video, entre otras funciones de E/S (I/O) características de un sistema de computación, algunas instrucciones son puenteadas directamente al Hardware (Xen PCI Passthru).</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FFFFFF"/>
                </a:solidFill>
              </a:rPr>
              <a:t>La modificaciones hechas al sistema operativo invitado incluyendo los controladores de red, almacenamiento y otras funciones de I/O se encargan de presentar a sistema operativo invitado todo lo que el hypervisor no gestiona per 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DBB674-B033-9546-F9EA-4CF84552A4FD}"/>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Domain 0</a:t>
            </a:r>
          </a:p>
        </p:txBody>
      </p:sp>
      <p:sp>
        <p:nvSpPr>
          <p:cNvPr id="3" name="Textplatzhalter 2">
            <a:extLst>
              <a:ext uri="{FF2B5EF4-FFF2-40B4-BE49-F238E27FC236}">
                <a16:creationId xmlns:a16="http://schemas.microsoft.com/office/drawing/2014/main" id="{31C64F18-855A-FFD1-FE2A-7E279EC1AE20}"/>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Es una máquina virtual que ejecuta un kernel de Linux modificado.</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Tiene privilegios especiales para acceder a los recursos de E/S, así como, interactuar con otras máquinas virtuales (dom U) ejecutándose en éste sistema.</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Debe ejecutarse antes de poder iniciar las otras máquinas virtuales (dom U).</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6ECF86-D861-A87E-0BE7-4A94B535BB72}"/>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Domain 0 – Drivers</a:t>
            </a:r>
          </a:p>
        </p:txBody>
      </p:sp>
      <p:sp>
        <p:nvSpPr>
          <p:cNvPr id="3" name="Freihandform: Form 2">
            <a:extLst>
              <a:ext uri="{FF2B5EF4-FFF2-40B4-BE49-F238E27FC236}">
                <a16:creationId xmlns:a16="http://schemas.microsoft.com/office/drawing/2014/main" id="{0FB0B9C9-7643-58C3-16CF-F00DE7637426}"/>
              </a:ext>
            </a:extLst>
          </p:cNvPr>
          <p:cNvSpPr/>
          <p:nvPr/>
        </p:nvSpPr>
        <p:spPr>
          <a:xfrm>
            <a:off x="720719" y="2160720"/>
            <a:ext cx="1800360" cy="25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6633"/>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0</a:t>
            </a:r>
          </a:p>
        </p:txBody>
      </p:sp>
      <p:sp>
        <p:nvSpPr>
          <p:cNvPr id="4" name="Freihandform: Form 3">
            <a:extLst>
              <a:ext uri="{FF2B5EF4-FFF2-40B4-BE49-F238E27FC236}">
                <a16:creationId xmlns:a16="http://schemas.microsoft.com/office/drawing/2014/main" id="{5BF1884F-A69A-D004-9A6F-5FCCCD56104A}"/>
              </a:ext>
            </a:extLst>
          </p:cNvPr>
          <p:cNvSpPr/>
          <p:nvPr/>
        </p:nvSpPr>
        <p:spPr>
          <a:xfrm>
            <a:off x="720719" y="4859280"/>
            <a:ext cx="882000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7DA647"/>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Xen Hypervisor</a:t>
            </a:r>
          </a:p>
        </p:txBody>
      </p:sp>
      <p:sp>
        <p:nvSpPr>
          <p:cNvPr id="5" name="Freihandform: Form 4">
            <a:extLst>
              <a:ext uri="{FF2B5EF4-FFF2-40B4-BE49-F238E27FC236}">
                <a16:creationId xmlns:a16="http://schemas.microsoft.com/office/drawing/2014/main" id="{9E80B0F6-FBF7-2BD7-A642-785F2F45F833}"/>
              </a:ext>
            </a:extLst>
          </p:cNvPr>
          <p:cNvSpPr/>
          <p:nvPr/>
        </p:nvSpPr>
        <p:spPr>
          <a:xfrm>
            <a:off x="3060720" y="2160720"/>
            <a:ext cx="1800360" cy="25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U</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2400" b="1"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PV Guest</a:t>
            </a:r>
          </a:p>
        </p:txBody>
      </p:sp>
      <p:sp>
        <p:nvSpPr>
          <p:cNvPr id="6" name="Freihandform: Form 5">
            <a:extLst>
              <a:ext uri="{FF2B5EF4-FFF2-40B4-BE49-F238E27FC236}">
                <a16:creationId xmlns:a16="http://schemas.microsoft.com/office/drawing/2014/main" id="{5196FC2D-9160-3BFB-E83F-CB0BFFBFA43B}"/>
              </a:ext>
            </a:extLst>
          </p:cNvPr>
          <p:cNvSpPr/>
          <p:nvPr/>
        </p:nvSpPr>
        <p:spPr>
          <a:xfrm>
            <a:off x="6300720" y="2160720"/>
            <a:ext cx="1979640" cy="25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U</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2400" b="1"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HVM Guest</a:t>
            </a:r>
          </a:p>
        </p:txBody>
      </p:sp>
      <p:sp>
        <p:nvSpPr>
          <p:cNvPr id="7" name="Freihandform: Form 6">
            <a:extLst>
              <a:ext uri="{FF2B5EF4-FFF2-40B4-BE49-F238E27FC236}">
                <a16:creationId xmlns:a16="http://schemas.microsoft.com/office/drawing/2014/main" id="{C370CEAE-158C-C685-2A74-4C24B6B7910E}"/>
              </a:ext>
            </a:extLst>
          </p:cNvPr>
          <p:cNvSpPr/>
          <p:nvPr/>
        </p:nvSpPr>
        <p:spPr>
          <a:xfrm>
            <a:off x="5040360" y="2884320"/>
            <a:ext cx="1079280" cy="7160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4400" b="1" i="0" u="none" strike="noStrike" baseline="0">
                <a:ln>
                  <a:noFill/>
                </a:ln>
                <a:solidFill>
                  <a:srgbClr val="FFFFFF"/>
                </a:solidFill>
                <a:latin typeface="Arial" pitchFamily="34"/>
                <a:ea typeface="Bitstream Vera Sans" pitchFamily="2"/>
                <a:cs typeface="Bitstream Vera Sans" pitchFamily="2"/>
              </a:rPr>
              <a:t>. . .</a:t>
            </a:r>
          </a:p>
        </p:txBody>
      </p:sp>
      <p:sp>
        <p:nvSpPr>
          <p:cNvPr id="8" name="Freihandform: Form 7">
            <a:extLst>
              <a:ext uri="{FF2B5EF4-FFF2-40B4-BE49-F238E27FC236}">
                <a16:creationId xmlns:a16="http://schemas.microsoft.com/office/drawing/2014/main" id="{6E951205-CF96-3015-4CAC-6BAA4CE14BC0}"/>
              </a:ext>
            </a:extLst>
          </p:cNvPr>
          <p:cNvSpPr/>
          <p:nvPr/>
        </p:nvSpPr>
        <p:spPr>
          <a:xfrm>
            <a:off x="8459640" y="2884320"/>
            <a:ext cx="1079639" cy="7160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4400" b="1" i="0" u="none" strike="noStrike" baseline="0">
                <a:ln>
                  <a:noFill/>
                </a:ln>
                <a:solidFill>
                  <a:srgbClr val="FFFFFF"/>
                </a:solidFill>
                <a:latin typeface="Arial" pitchFamily="34"/>
                <a:ea typeface="Bitstream Vera Sans" pitchFamily="2"/>
                <a:cs typeface="Bitstream Vera Sans" pitchFamily="2"/>
              </a:rPr>
              <a:t>. . .</a:t>
            </a:r>
          </a:p>
        </p:txBody>
      </p:sp>
      <p:sp>
        <p:nvSpPr>
          <p:cNvPr id="9" name="Freihandform: Form 8">
            <a:extLst>
              <a:ext uri="{FF2B5EF4-FFF2-40B4-BE49-F238E27FC236}">
                <a16:creationId xmlns:a16="http://schemas.microsoft.com/office/drawing/2014/main" id="{531F29CE-E13F-12AE-2D13-4006BDBC3268}"/>
              </a:ext>
            </a:extLst>
          </p:cNvPr>
          <p:cNvSpPr/>
          <p:nvPr/>
        </p:nvSpPr>
        <p:spPr>
          <a:xfrm>
            <a:off x="900000" y="2700360"/>
            <a:ext cx="1440000" cy="90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CCFFFF"/>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Xen </a:t>
            </a:r>
            <a:br>
              <a:rPr lang="es-VE" sz="2400" b="1" i="0" u="none" strike="noStrike" baseline="0">
                <a:ln>
                  <a:noFill/>
                </a:ln>
                <a:solidFill>
                  <a:srgbClr val="000000"/>
                </a:solidFill>
                <a:latin typeface="Arial" pitchFamily="34"/>
                <a:ea typeface="Bitstream Vera Sans" pitchFamily="2"/>
                <a:cs typeface="Bitstream Vera Sans" pitchFamily="2"/>
              </a:rPr>
            </a:br>
            <a:r>
              <a:rPr lang="es-VE" sz="2400" b="1" i="0" u="none" strike="noStrike" baseline="0">
                <a:ln>
                  <a:noFill/>
                </a:ln>
                <a:solidFill>
                  <a:srgbClr val="000000"/>
                </a:solidFill>
                <a:latin typeface="Arial" pitchFamily="34"/>
                <a:ea typeface="Bitstream Vera Sans" pitchFamily="2"/>
                <a:cs typeface="Bitstream Vera Sans" pitchFamily="2"/>
              </a:rPr>
              <a:t>DM &amp; C</a:t>
            </a:r>
          </a:p>
        </p:txBody>
      </p:sp>
      <p:sp>
        <p:nvSpPr>
          <p:cNvPr id="10" name="Freihandform: Form 9">
            <a:extLst>
              <a:ext uri="{FF2B5EF4-FFF2-40B4-BE49-F238E27FC236}">
                <a16:creationId xmlns:a16="http://schemas.microsoft.com/office/drawing/2014/main" id="{E31865B4-FA41-7AC7-65F0-D4ACE9883BF5}"/>
              </a:ext>
            </a:extLst>
          </p:cNvPr>
          <p:cNvSpPr/>
          <p:nvPr/>
        </p:nvSpPr>
        <p:spPr>
          <a:xfrm>
            <a:off x="900000" y="3780000"/>
            <a:ext cx="144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D320"/>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PV BE</a:t>
            </a:r>
            <a:br>
              <a:rPr lang="es-VE" sz="2400" b="1" i="0" u="none" strike="noStrike" baseline="0">
                <a:ln>
                  <a:noFill/>
                </a:ln>
                <a:solidFill>
                  <a:srgbClr val="000000"/>
                </a:solidFill>
                <a:latin typeface="Arial" pitchFamily="34"/>
                <a:ea typeface="Bitstream Vera Sans" pitchFamily="2"/>
                <a:cs typeface="Bitstream Vera Sans" pitchFamily="2"/>
              </a:rPr>
            </a:br>
            <a:r>
              <a:rPr lang="es-VE" sz="2400" b="1" i="0" u="none" strike="noStrike" baseline="0">
                <a:ln>
                  <a:noFill/>
                </a:ln>
                <a:solidFill>
                  <a:srgbClr val="000000"/>
                </a:solidFill>
                <a:latin typeface="Arial" pitchFamily="34"/>
                <a:ea typeface="Bitstream Vera Sans" pitchFamily="2"/>
                <a:cs typeface="Bitstream Vera Sans" pitchFamily="2"/>
              </a:rPr>
              <a:t>Drivers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A6656A-D10F-DB8A-F87D-2B79068EDA42}"/>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Domain 0 - Drivers</a:t>
            </a:r>
          </a:p>
        </p:txBody>
      </p:sp>
      <p:sp>
        <p:nvSpPr>
          <p:cNvPr id="3" name="Textplatzhalter 2">
            <a:extLst>
              <a:ext uri="{FF2B5EF4-FFF2-40B4-BE49-F238E27FC236}">
                <a16:creationId xmlns:a16="http://schemas.microsoft.com/office/drawing/2014/main" id="{AB2B71F5-9C3C-3F39-B43A-ECCB05D9E1CD}"/>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El dominio 0 incluye dos (2) drivers o controladores: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b="1">
                <a:solidFill>
                  <a:srgbClr val="FFFFCC"/>
                </a:solidFill>
                <a:latin typeface="Times New Roman" pitchFamily="18"/>
              </a:rPr>
              <a:t>Network Backend Driver:</a:t>
            </a:r>
            <a:r>
              <a:rPr lang="es-VE" sz="2600">
                <a:solidFill>
                  <a:srgbClr val="E6E6E6"/>
                </a:solidFill>
                <a:latin typeface="Times New Roman" pitchFamily="18"/>
              </a:rPr>
              <a:t> para permitir la configuración y uso de la red, por parte de los dominios U, este driver se comunica directamente con el hardware de red para procesar las solicitudes de los dominios U.</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b="1">
                <a:solidFill>
                  <a:srgbClr val="FFFFCC"/>
                </a:solidFill>
                <a:latin typeface="Times New Roman" pitchFamily="18"/>
              </a:rPr>
              <a:t>Block Backend Driver:</a:t>
            </a:r>
            <a:r>
              <a:rPr lang="es-VE" sz="2600">
                <a:solidFill>
                  <a:srgbClr val="E6E6E6"/>
                </a:solidFill>
                <a:latin typeface="Times New Roman" pitchFamily="18"/>
              </a:rPr>
              <a:t> para permitir la configuración y uso del acceso a discos locales, por parte de los dominios U, este driver se comunica directamente con los discos de almacenamiento locales para leer y escribir datos según las solicitudes de los dominios U.</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7A72C3-70B3-C305-7A8A-B1DB1CF978AF}"/>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Domain U</a:t>
            </a:r>
          </a:p>
        </p:txBody>
      </p:sp>
      <p:sp>
        <p:nvSpPr>
          <p:cNvPr id="3" name="Textplatzhalter 2">
            <a:extLst>
              <a:ext uri="{FF2B5EF4-FFF2-40B4-BE49-F238E27FC236}">
                <a16:creationId xmlns:a16="http://schemas.microsoft.com/office/drawing/2014/main" id="{1FE5EA93-AE51-C077-1C32-2EB9BADE5479}"/>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Representa a todas las máquinas virtuales distintas al dominio 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Representa también dependiendo del contexto a una máquina virtual genérica distinta del dominio 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Existen dos (2) tipos de dominios U:</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PV G uest</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HVM Guest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page3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052576-7164-6952-6D51-9C15ECA93E6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Domain U - Tipos</a:t>
            </a:r>
          </a:p>
        </p:txBody>
      </p:sp>
      <p:sp>
        <p:nvSpPr>
          <p:cNvPr id="3" name="Textplatzhalter 2">
            <a:extLst>
              <a:ext uri="{FF2B5EF4-FFF2-40B4-BE49-F238E27FC236}">
                <a16:creationId xmlns:a16="http://schemas.microsoft.com/office/drawing/2014/main" id="{DDFA6F7D-E83B-86C3-6999-E4AED56C31A6}"/>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b="1">
                <a:solidFill>
                  <a:srgbClr val="FFFFCC"/>
                </a:solidFill>
              </a:rPr>
              <a:t>PV Guest (Paravirtualized Guest): </a:t>
            </a:r>
            <a:r>
              <a:rPr lang="es-VE"/>
              <a:t>son las máquinas paravirtualizadas que se ejecutan en un sistema operativo modificado, generalmente producido de un GNU/Linux, Solaris, FreeBSD.</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b="1">
                <a:solidFill>
                  <a:srgbClr val="FFFFCC"/>
                </a:solidFill>
              </a:rPr>
              <a:t>HVM Guest (Hardware Virtual Machine Guest):</a:t>
            </a:r>
            <a:r>
              <a:rPr lang="es-VE">
                <a:solidFill>
                  <a:srgbClr val="FFFFCC"/>
                </a:solidFill>
              </a:rPr>
              <a:t> </a:t>
            </a:r>
            <a:r>
              <a:rPr lang="es-VE"/>
              <a:t>son las máquinas completamente virtualizadas (full virtualized) que incluyen Windows y otros sistemas operativos no modificados.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page3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6CFB35-48CA-D174-FB60-5A42807BA876}"/>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Domain U – Tipos</a:t>
            </a:r>
          </a:p>
        </p:txBody>
      </p:sp>
      <p:sp>
        <p:nvSpPr>
          <p:cNvPr id="3" name="Textplatzhalter 2">
            <a:extLst>
              <a:ext uri="{FF2B5EF4-FFF2-40B4-BE49-F238E27FC236}">
                <a16:creationId xmlns:a16="http://schemas.microsoft.com/office/drawing/2014/main" id="{3AD7C016-7879-DF43-CB23-5CFDF8E35CBC}"/>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290160" algn="l"/>
                <a:tab pos="1014119" algn="l"/>
                <a:tab pos="1738079" algn="l"/>
                <a:tab pos="2462040" algn="l"/>
                <a:tab pos="3186000" algn="l"/>
                <a:tab pos="3909960" algn="l"/>
                <a:tab pos="4633560" algn="l"/>
                <a:tab pos="5357520" algn="l"/>
                <a:tab pos="6081480" algn="l"/>
                <a:tab pos="6805440" algn="l"/>
                <a:tab pos="7529400" algn="l"/>
                <a:tab pos="8253359" algn="l"/>
                <a:tab pos="8551800" algn="l"/>
                <a:tab pos="9001080" algn="l"/>
                <a:tab pos="9450360" algn="l"/>
                <a:tab pos="9899640" algn="l"/>
                <a:tab pos="10348560" algn="l"/>
                <a:tab pos="10351800" algn="l"/>
              </a:tabLst>
            </a:pPr>
            <a:r>
              <a:rPr lang="es-VE" b="1">
                <a:solidFill>
                  <a:srgbClr val="FFFFCC"/>
                </a:solidFill>
              </a:rPr>
              <a:t>PV Guest :	</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FFFFFF"/>
                </a:solidFill>
                <a:latin typeface="Times New Roman" pitchFamily="18"/>
              </a:rPr>
              <a:t>No tienen acceso directo al hardware, por el contrario, utilizan PV drivers (semejantes al dominio 0) para acceder al hardware.</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FFFFFF"/>
                </a:solidFill>
                <a:latin typeface="Times New Roman" pitchFamily="18"/>
              </a:rPr>
              <a:t>Reconocen que las otras máquinas virtuales se están ejecutando en el mismo hardware ó máquina.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page3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108E22-50E9-8495-A870-D981FA5E2490}"/>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Domain U – Tipos</a:t>
            </a:r>
          </a:p>
        </p:txBody>
      </p:sp>
      <p:sp>
        <p:nvSpPr>
          <p:cNvPr id="3" name="Textplatzhalter 2">
            <a:extLst>
              <a:ext uri="{FF2B5EF4-FFF2-40B4-BE49-F238E27FC236}">
                <a16:creationId xmlns:a16="http://schemas.microsoft.com/office/drawing/2014/main" id="{E7947E57-16AE-19B4-ED8B-1931A9783A6F}"/>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b="1">
                <a:solidFill>
                  <a:srgbClr val="FFFFCC"/>
                </a:solidFill>
              </a:rPr>
              <a:t>HVM Guest :</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FFFFFF"/>
                </a:solidFill>
                <a:latin typeface="Times New Roman" pitchFamily="18"/>
              </a:rPr>
              <a:t>Tiene acceso casi directo al hardware, a través de un demonio Qemu-dm </a:t>
            </a:r>
            <a:r>
              <a:rPr lang="es-VE" sz="2600" u="sng">
                <a:solidFill>
                  <a:srgbClr val="FFFFFF"/>
                </a:solidFill>
                <a:latin typeface="Times New Roman" pitchFamily="18"/>
              </a:rPr>
              <a:t>individual</a:t>
            </a:r>
            <a:r>
              <a:rPr lang="es-VE" sz="2600">
                <a:solidFill>
                  <a:srgbClr val="FFFFFF"/>
                </a:solidFill>
                <a:latin typeface="Times New Roman" pitchFamily="18"/>
              </a:rPr>
              <a:t> ejecutado en el dom 0.  En versiones posteriores de Xen, se sustituirá Qemu-dm por Stub-dm para unificar todo en un demonio.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FFFFFF"/>
                </a:solidFill>
                <a:latin typeface="Times New Roman" pitchFamily="18"/>
              </a:rPr>
              <a:t>Desconocen que existen otras máquinas virtuales ejecutándose en el mismo hardware o máquina.</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FFFFFF"/>
                </a:solidFill>
                <a:latin typeface="Times New Roman" pitchFamily="18"/>
              </a:rPr>
              <a:t>Requieren de un firmware especial llamado “Xen Firmware”, debido a que se ejecutan sin modificaciones en el sistema operativo que son absorbidas por el firmware, que provee las funciones de un BIOS compatible con PC.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page3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5080AC-E0F8-D42B-BA7C-1E7B8E955784}"/>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Domain 0 – Drivers</a:t>
            </a:r>
          </a:p>
        </p:txBody>
      </p:sp>
      <p:sp>
        <p:nvSpPr>
          <p:cNvPr id="3" name="Freihandform: Form 2">
            <a:extLst>
              <a:ext uri="{FF2B5EF4-FFF2-40B4-BE49-F238E27FC236}">
                <a16:creationId xmlns:a16="http://schemas.microsoft.com/office/drawing/2014/main" id="{9BDB0CF4-8E19-7EA9-66EA-A9289E4A05CA}"/>
              </a:ext>
            </a:extLst>
          </p:cNvPr>
          <p:cNvSpPr/>
          <p:nvPr/>
        </p:nvSpPr>
        <p:spPr>
          <a:xfrm>
            <a:off x="720719" y="2160720"/>
            <a:ext cx="1800360" cy="324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6633"/>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0</a:t>
            </a:r>
          </a:p>
        </p:txBody>
      </p:sp>
      <p:sp>
        <p:nvSpPr>
          <p:cNvPr id="4" name="Freihandform: Form 3">
            <a:extLst>
              <a:ext uri="{FF2B5EF4-FFF2-40B4-BE49-F238E27FC236}">
                <a16:creationId xmlns:a16="http://schemas.microsoft.com/office/drawing/2014/main" id="{FBAE0586-2207-9674-D0A6-BF3560E0A774}"/>
              </a:ext>
            </a:extLst>
          </p:cNvPr>
          <p:cNvSpPr/>
          <p:nvPr/>
        </p:nvSpPr>
        <p:spPr>
          <a:xfrm>
            <a:off x="720719" y="5580000"/>
            <a:ext cx="882000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7DA647"/>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Xen Hypervisor</a:t>
            </a:r>
          </a:p>
        </p:txBody>
      </p:sp>
      <p:sp>
        <p:nvSpPr>
          <p:cNvPr id="5" name="Freihandform: Form 4">
            <a:extLst>
              <a:ext uri="{FF2B5EF4-FFF2-40B4-BE49-F238E27FC236}">
                <a16:creationId xmlns:a16="http://schemas.microsoft.com/office/drawing/2014/main" id="{37E235EC-D9F3-3789-8434-4C3267B2CAB1}"/>
              </a:ext>
            </a:extLst>
          </p:cNvPr>
          <p:cNvSpPr/>
          <p:nvPr/>
        </p:nvSpPr>
        <p:spPr>
          <a:xfrm>
            <a:off x="3060720" y="2160720"/>
            <a:ext cx="1800360" cy="21603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U</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2400" b="1"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PV Guest</a:t>
            </a:r>
          </a:p>
        </p:txBody>
      </p:sp>
      <p:sp>
        <p:nvSpPr>
          <p:cNvPr id="6" name="Freihandform: Form 5">
            <a:extLst>
              <a:ext uri="{FF2B5EF4-FFF2-40B4-BE49-F238E27FC236}">
                <a16:creationId xmlns:a16="http://schemas.microsoft.com/office/drawing/2014/main" id="{649AEA6D-38F7-48D1-F4E0-61BBB22F5CC2}"/>
              </a:ext>
            </a:extLst>
          </p:cNvPr>
          <p:cNvSpPr/>
          <p:nvPr/>
        </p:nvSpPr>
        <p:spPr>
          <a:xfrm>
            <a:off x="6300720" y="2160720"/>
            <a:ext cx="1979640" cy="197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U</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2400" b="1"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HVM Guest</a:t>
            </a:r>
          </a:p>
        </p:txBody>
      </p:sp>
      <p:sp>
        <p:nvSpPr>
          <p:cNvPr id="7" name="Freihandform: Form 6">
            <a:extLst>
              <a:ext uri="{FF2B5EF4-FFF2-40B4-BE49-F238E27FC236}">
                <a16:creationId xmlns:a16="http://schemas.microsoft.com/office/drawing/2014/main" id="{C287CBFD-D866-25E0-CE7E-9D815FF34719}"/>
              </a:ext>
            </a:extLst>
          </p:cNvPr>
          <p:cNvSpPr/>
          <p:nvPr/>
        </p:nvSpPr>
        <p:spPr>
          <a:xfrm>
            <a:off x="5040360" y="2884320"/>
            <a:ext cx="1079280" cy="7160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4400" b="1" i="0" u="none" strike="noStrike" baseline="0">
                <a:ln>
                  <a:noFill/>
                </a:ln>
                <a:solidFill>
                  <a:srgbClr val="FFFFFF"/>
                </a:solidFill>
                <a:latin typeface="Arial" pitchFamily="34"/>
                <a:ea typeface="Bitstream Vera Sans" pitchFamily="2"/>
                <a:cs typeface="Bitstream Vera Sans" pitchFamily="2"/>
              </a:rPr>
              <a:t>. . .</a:t>
            </a:r>
          </a:p>
        </p:txBody>
      </p:sp>
      <p:sp>
        <p:nvSpPr>
          <p:cNvPr id="8" name="Freihandform: Form 7">
            <a:extLst>
              <a:ext uri="{FF2B5EF4-FFF2-40B4-BE49-F238E27FC236}">
                <a16:creationId xmlns:a16="http://schemas.microsoft.com/office/drawing/2014/main" id="{13D76F26-5C58-FAB9-56F3-FBC9E507A23A}"/>
              </a:ext>
            </a:extLst>
          </p:cNvPr>
          <p:cNvSpPr/>
          <p:nvPr/>
        </p:nvSpPr>
        <p:spPr>
          <a:xfrm>
            <a:off x="8459640" y="2884320"/>
            <a:ext cx="1079639" cy="7160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4400" b="1" i="0" u="none" strike="noStrike" baseline="0">
                <a:ln>
                  <a:noFill/>
                </a:ln>
                <a:solidFill>
                  <a:srgbClr val="FFFFFF"/>
                </a:solidFill>
                <a:latin typeface="Arial" pitchFamily="34"/>
                <a:ea typeface="Bitstream Vera Sans" pitchFamily="2"/>
                <a:cs typeface="Bitstream Vera Sans" pitchFamily="2"/>
              </a:rPr>
              <a:t>. . .</a:t>
            </a:r>
          </a:p>
        </p:txBody>
      </p:sp>
      <p:sp>
        <p:nvSpPr>
          <p:cNvPr id="9" name="Freihandform: Form 8">
            <a:extLst>
              <a:ext uri="{FF2B5EF4-FFF2-40B4-BE49-F238E27FC236}">
                <a16:creationId xmlns:a16="http://schemas.microsoft.com/office/drawing/2014/main" id="{71F244C5-AEF5-87DE-D7B5-9F8D3435BAD3}"/>
              </a:ext>
            </a:extLst>
          </p:cNvPr>
          <p:cNvSpPr/>
          <p:nvPr/>
        </p:nvSpPr>
        <p:spPr>
          <a:xfrm>
            <a:off x="900000" y="2700360"/>
            <a:ext cx="1440000" cy="90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CCFFFF"/>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Xen </a:t>
            </a:r>
            <a:br>
              <a:rPr lang="es-VE" sz="2400" b="1" i="0" u="none" strike="noStrike" baseline="0">
                <a:ln>
                  <a:noFill/>
                </a:ln>
                <a:solidFill>
                  <a:srgbClr val="000000"/>
                </a:solidFill>
                <a:latin typeface="Arial" pitchFamily="34"/>
                <a:ea typeface="Bitstream Vera Sans" pitchFamily="2"/>
                <a:cs typeface="Bitstream Vera Sans" pitchFamily="2"/>
              </a:rPr>
            </a:br>
            <a:r>
              <a:rPr lang="es-VE" sz="2400" b="1" i="0" u="none" strike="noStrike" baseline="0">
                <a:ln>
                  <a:noFill/>
                </a:ln>
                <a:solidFill>
                  <a:srgbClr val="000000"/>
                </a:solidFill>
                <a:latin typeface="Arial" pitchFamily="34"/>
                <a:ea typeface="Bitstream Vera Sans" pitchFamily="2"/>
                <a:cs typeface="Bitstream Vera Sans" pitchFamily="2"/>
              </a:rPr>
              <a:t>DM &amp; C</a:t>
            </a:r>
          </a:p>
        </p:txBody>
      </p:sp>
      <p:sp>
        <p:nvSpPr>
          <p:cNvPr id="10" name="Freihandform: Form 9">
            <a:extLst>
              <a:ext uri="{FF2B5EF4-FFF2-40B4-BE49-F238E27FC236}">
                <a16:creationId xmlns:a16="http://schemas.microsoft.com/office/drawing/2014/main" id="{2C46A8B7-1C04-0CA8-1B6F-2EA8B2F22D25}"/>
              </a:ext>
            </a:extLst>
          </p:cNvPr>
          <p:cNvSpPr/>
          <p:nvPr/>
        </p:nvSpPr>
        <p:spPr>
          <a:xfrm>
            <a:off x="900000" y="3780000"/>
            <a:ext cx="144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D320"/>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PV BE</a:t>
            </a:r>
            <a:br>
              <a:rPr lang="es-VE" sz="2400" b="1" i="0" u="none" strike="noStrike" baseline="0">
                <a:ln>
                  <a:noFill/>
                </a:ln>
                <a:solidFill>
                  <a:srgbClr val="000000"/>
                </a:solidFill>
                <a:latin typeface="Arial" pitchFamily="34"/>
                <a:ea typeface="Bitstream Vera Sans" pitchFamily="2"/>
                <a:cs typeface="Bitstream Vera Sans" pitchFamily="2"/>
              </a:rPr>
            </a:br>
            <a:r>
              <a:rPr lang="es-VE" sz="2400" b="1" i="0" u="none" strike="noStrike" baseline="0">
                <a:ln>
                  <a:noFill/>
                </a:ln>
                <a:solidFill>
                  <a:srgbClr val="000000"/>
                </a:solidFill>
                <a:latin typeface="Arial" pitchFamily="34"/>
                <a:ea typeface="Bitstream Vera Sans" pitchFamily="2"/>
                <a:cs typeface="Bitstream Vera Sans" pitchFamily="2"/>
              </a:rPr>
              <a:t>Drivers</a:t>
            </a:r>
          </a:p>
        </p:txBody>
      </p:sp>
      <p:sp>
        <p:nvSpPr>
          <p:cNvPr id="11" name="Freihandform: Form 10">
            <a:extLst>
              <a:ext uri="{FF2B5EF4-FFF2-40B4-BE49-F238E27FC236}">
                <a16:creationId xmlns:a16="http://schemas.microsoft.com/office/drawing/2014/main" id="{96E7FB79-8F02-F20E-D817-624835558618}"/>
              </a:ext>
            </a:extLst>
          </p:cNvPr>
          <p:cNvSpPr/>
          <p:nvPr/>
        </p:nvSpPr>
        <p:spPr>
          <a:xfrm>
            <a:off x="792000" y="4751279"/>
            <a:ext cx="1619280" cy="5400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66CC"/>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Qemu-dm</a:t>
            </a:r>
          </a:p>
        </p:txBody>
      </p:sp>
      <p:sp>
        <p:nvSpPr>
          <p:cNvPr id="12" name="Freihandform: Form 11">
            <a:extLst>
              <a:ext uri="{FF2B5EF4-FFF2-40B4-BE49-F238E27FC236}">
                <a16:creationId xmlns:a16="http://schemas.microsoft.com/office/drawing/2014/main" id="{2278F089-0CC5-29CC-D3E4-8320A71D0C7A}"/>
              </a:ext>
            </a:extLst>
          </p:cNvPr>
          <p:cNvSpPr/>
          <p:nvPr/>
        </p:nvSpPr>
        <p:spPr>
          <a:xfrm>
            <a:off x="3240000" y="3419640"/>
            <a:ext cx="144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DEB3D"/>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PV FE</a:t>
            </a:r>
            <a:br>
              <a:rPr lang="es-VE" sz="2400" b="1" i="0" u="none" strike="noStrike" baseline="0">
                <a:ln>
                  <a:noFill/>
                </a:ln>
                <a:solidFill>
                  <a:srgbClr val="000000"/>
                </a:solidFill>
                <a:latin typeface="Arial" pitchFamily="34"/>
                <a:ea typeface="Bitstream Vera Sans" pitchFamily="2"/>
                <a:cs typeface="Bitstream Vera Sans" pitchFamily="2"/>
              </a:rPr>
            </a:br>
            <a:r>
              <a:rPr lang="es-VE" sz="2400" b="1" i="0" u="none" strike="noStrike" baseline="0">
                <a:ln>
                  <a:noFill/>
                </a:ln>
                <a:solidFill>
                  <a:srgbClr val="000000"/>
                </a:solidFill>
                <a:latin typeface="Arial" pitchFamily="34"/>
                <a:ea typeface="Bitstream Vera Sans" pitchFamily="2"/>
                <a:cs typeface="Bitstream Vera Sans" pitchFamily="2"/>
              </a:rPr>
              <a:t>Drivers</a:t>
            </a:r>
          </a:p>
        </p:txBody>
      </p:sp>
      <p:sp>
        <p:nvSpPr>
          <p:cNvPr id="13" name="Freihandform: Form 12">
            <a:extLst>
              <a:ext uri="{FF2B5EF4-FFF2-40B4-BE49-F238E27FC236}">
                <a16:creationId xmlns:a16="http://schemas.microsoft.com/office/drawing/2014/main" id="{04FE69C5-E41E-3F00-2A29-EAFB8342B7B8}"/>
              </a:ext>
            </a:extLst>
          </p:cNvPr>
          <p:cNvSpPr/>
          <p:nvPr/>
        </p:nvSpPr>
        <p:spPr>
          <a:xfrm>
            <a:off x="6480000" y="3419640"/>
            <a:ext cx="1619280" cy="36035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3366"/>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1" i="0" u="none" strike="noStrike" baseline="0">
                <a:ln>
                  <a:noFill/>
                </a:ln>
                <a:solidFill>
                  <a:srgbClr val="000000"/>
                </a:solidFill>
                <a:latin typeface="Arial" pitchFamily="34"/>
                <a:ea typeface="Bitstream Vera Sans" pitchFamily="2"/>
                <a:cs typeface="Bitstream Vera Sans" pitchFamily="2"/>
              </a:rPr>
              <a:t>Xen Firmware</a:t>
            </a:r>
          </a:p>
        </p:txBody>
      </p:sp>
      <p:cxnSp>
        <p:nvCxnSpPr>
          <p:cNvPr id="14" name="Verbinder: gewinkelt 13">
            <a:extLst>
              <a:ext uri="{FF2B5EF4-FFF2-40B4-BE49-F238E27FC236}">
                <a16:creationId xmlns:a16="http://schemas.microsoft.com/office/drawing/2014/main" id="{92ABC3C9-BA4D-19F2-918C-4553C2E355B8}"/>
              </a:ext>
            </a:extLst>
          </p:cNvPr>
          <p:cNvCxnSpPr>
            <a:stCxn id="11" idx="1"/>
            <a:endCxn id="6" idx="2"/>
          </p:cNvCxnSpPr>
          <p:nvPr/>
        </p:nvCxnSpPr>
        <p:spPr>
          <a:xfrm flipV="1">
            <a:off x="2411280" y="4140360"/>
            <a:ext cx="4879260" cy="880919"/>
          </a:xfrm>
          <a:prstGeom prst="bentConnector2">
            <a:avLst/>
          </a:prstGeom>
          <a:noFill/>
          <a:ln w="36000">
            <a:solidFill>
              <a:srgbClr val="FFFF00"/>
            </a:solidFill>
            <a:prstDash val="solid"/>
            <a:round/>
            <a:tailEnd type="arrow"/>
          </a:ln>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page3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395C7F-0EDB-9F11-5763-DE46DB9CCADD}"/>
              </a:ext>
            </a:extLst>
          </p:cNvPr>
          <p:cNvSpPr txBox="1">
            <a:spLocks noGrp="1"/>
          </p:cNvSpPr>
          <p:nvPr>
            <p:ph type="title" idx="4294967295"/>
          </p:nvPr>
        </p:nvSpPr>
        <p:spPr>
          <a:xfrm>
            <a:off x="741239" y="282600"/>
            <a:ext cx="8607600" cy="1262520"/>
          </a:xfrm>
        </p:spPr>
        <p:txBody>
          <a:bodyPr wrap="square" anchorCtr="0">
            <a:spAutoFit/>
          </a:bodyPr>
          <a:lstStyle/>
          <a:p>
            <a:pPr lvl="0"/>
            <a:r>
              <a:rPr lang="es-VE"/>
              <a:t>Xen Domain Managment and Control (Xen DM&amp;C)‏</a:t>
            </a:r>
          </a:p>
        </p:txBody>
      </p:sp>
      <p:sp>
        <p:nvSpPr>
          <p:cNvPr id="3" name="Textplatzhalter 2">
            <a:extLst>
              <a:ext uri="{FF2B5EF4-FFF2-40B4-BE49-F238E27FC236}">
                <a16:creationId xmlns:a16="http://schemas.microsoft.com/office/drawing/2014/main" id="{70BBCC1C-7E53-1938-DD2E-067EF9591331}"/>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En el dominio 0 se ejecuta el demonio xend, una aplicación (escrita en Python) que se considera el administrador del ambiente Xen.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Utiliza la librería libxenctrl (escrita en C) para realizar solicitudes al Xen Hypervisor.</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Con la interfaz de comando Xm se realizan solicitudes a Xend a través del protocolo XML RPC, las cuales, el dominio 0 gestiona con Xen Hypervisor.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page3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37499B-4CAB-022E-AB3C-569645552837}"/>
              </a:ext>
            </a:extLst>
          </p:cNvPr>
          <p:cNvSpPr txBox="1">
            <a:spLocks noGrp="1"/>
          </p:cNvSpPr>
          <p:nvPr>
            <p:ph type="title" idx="4294967295"/>
          </p:nvPr>
        </p:nvSpPr>
        <p:spPr>
          <a:xfrm>
            <a:off x="741239" y="282600"/>
            <a:ext cx="8607600" cy="1262520"/>
          </a:xfrm>
        </p:spPr>
        <p:txBody>
          <a:bodyPr wrap="square" anchorCtr="0">
            <a:spAutoFit/>
          </a:bodyPr>
          <a:lstStyle/>
          <a:p>
            <a:pPr lvl="0"/>
            <a:r>
              <a:rPr lang="es-VE"/>
              <a:t>Xen Domain Managment and Control (Xen DM&amp;C)‏</a:t>
            </a:r>
          </a:p>
        </p:txBody>
      </p:sp>
      <p:sp>
        <p:nvSpPr>
          <p:cNvPr id="3" name="Freihandform: Form 2">
            <a:extLst>
              <a:ext uri="{FF2B5EF4-FFF2-40B4-BE49-F238E27FC236}">
                <a16:creationId xmlns:a16="http://schemas.microsoft.com/office/drawing/2014/main" id="{0A130739-19DD-8615-7900-A6C30248983E}"/>
              </a:ext>
            </a:extLst>
          </p:cNvPr>
          <p:cNvSpPr/>
          <p:nvPr/>
        </p:nvSpPr>
        <p:spPr>
          <a:xfrm>
            <a:off x="720719" y="2160720"/>
            <a:ext cx="7740720" cy="27003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6633"/>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0</a:t>
            </a:r>
          </a:p>
        </p:txBody>
      </p:sp>
      <p:sp>
        <p:nvSpPr>
          <p:cNvPr id="4" name="Freihandform: Form 3">
            <a:extLst>
              <a:ext uri="{FF2B5EF4-FFF2-40B4-BE49-F238E27FC236}">
                <a16:creationId xmlns:a16="http://schemas.microsoft.com/office/drawing/2014/main" id="{95A5358C-51B1-C9FC-16FB-816BD1BD2A8C}"/>
              </a:ext>
            </a:extLst>
          </p:cNvPr>
          <p:cNvSpPr/>
          <p:nvPr/>
        </p:nvSpPr>
        <p:spPr>
          <a:xfrm>
            <a:off x="720719" y="5580000"/>
            <a:ext cx="882000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7DA647"/>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Xen Hypervisor</a:t>
            </a:r>
          </a:p>
        </p:txBody>
      </p:sp>
      <p:sp>
        <p:nvSpPr>
          <p:cNvPr id="5" name="Freihandform: Form 4">
            <a:extLst>
              <a:ext uri="{FF2B5EF4-FFF2-40B4-BE49-F238E27FC236}">
                <a16:creationId xmlns:a16="http://schemas.microsoft.com/office/drawing/2014/main" id="{CEA3EEFE-54AE-64E8-C8DC-39D5A73FE43D}"/>
              </a:ext>
            </a:extLst>
          </p:cNvPr>
          <p:cNvSpPr/>
          <p:nvPr/>
        </p:nvSpPr>
        <p:spPr>
          <a:xfrm>
            <a:off x="8459640" y="2884320"/>
            <a:ext cx="1079639" cy="7160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4400" b="1" i="0" u="none" strike="noStrike" baseline="0">
                <a:ln>
                  <a:noFill/>
                </a:ln>
                <a:solidFill>
                  <a:srgbClr val="FFFFFF"/>
                </a:solidFill>
                <a:latin typeface="Arial" pitchFamily="34"/>
                <a:ea typeface="Bitstream Vera Sans" pitchFamily="2"/>
                <a:cs typeface="Bitstream Vera Sans" pitchFamily="2"/>
              </a:rPr>
              <a:t>. . .</a:t>
            </a:r>
          </a:p>
        </p:txBody>
      </p:sp>
      <p:sp>
        <p:nvSpPr>
          <p:cNvPr id="6" name="Freihandform: Form 5">
            <a:extLst>
              <a:ext uri="{FF2B5EF4-FFF2-40B4-BE49-F238E27FC236}">
                <a16:creationId xmlns:a16="http://schemas.microsoft.com/office/drawing/2014/main" id="{4EA7F33E-7552-A145-E859-033D402EFB34}"/>
              </a:ext>
            </a:extLst>
          </p:cNvPr>
          <p:cNvSpPr/>
          <p:nvPr/>
        </p:nvSpPr>
        <p:spPr>
          <a:xfrm>
            <a:off x="1260360" y="306072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600" b="1" i="0" u="none" strike="noStrike" baseline="0">
                <a:ln>
                  <a:noFill/>
                </a:ln>
                <a:solidFill>
                  <a:srgbClr val="000000"/>
                </a:solidFill>
                <a:latin typeface="Arial" pitchFamily="34"/>
                <a:ea typeface="Bitstream Vera Sans" pitchFamily="2"/>
                <a:cs typeface="Bitstream Vera Sans" pitchFamily="2"/>
              </a:rPr>
              <a:t>Xend</a:t>
            </a:r>
          </a:p>
        </p:txBody>
      </p:sp>
      <p:sp>
        <p:nvSpPr>
          <p:cNvPr id="7" name="Freihandform: Form 6">
            <a:extLst>
              <a:ext uri="{FF2B5EF4-FFF2-40B4-BE49-F238E27FC236}">
                <a16:creationId xmlns:a16="http://schemas.microsoft.com/office/drawing/2014/main" id="{07DD8D6E-8FC5-88ED-D204-88CB05581EAD}"/>
              </a:ext>
            </a:extLst>
          </p:cNvPr>
          <p:cNvSpPr/>
          <p:nvPr/>
        </p:nvSpPr>
        <p:spPr>
          <a:xfrm>
            <a:off x="1260360" y="378000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AE0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600" b="1" i="0" u="none" strike="noStrike" baseline="0">
                <a:ln>
                  <a:noFill/>
                </a:ln>
                <a:solidFill>
                  <a:srgbClr val="000000"/>
                </a:solidFill>
                <a:latin typeface="Arial" pitchFamily="34"/>
                <a:ea typeface="Bitstream Vera Sans" pitchFamily="2"/>
                <a:cs typeface="Bitstream Vera Sans" pitchFamily="2"/>
              </a:rPr>
              <a:t>libxenctrl</a:t>
            </a:r>
          </a:p>
        </p:txBody>
      </p:sp>
      <p:sp>
        <p:nvSpPr>
          <p:cNvPr id="8" name="Freihandform: Form 7">
            <a:extLst>
              <a:ext uri="{FF2B5EF4-FFF2-40B4-BE49-F238E27FC236}">
                <a16:creationId xmlns:a16="http://schemas.microsoft.com/office/drawing/2014/main" id="{5D169261-8A69-0709-8A18-2CC997FFBA66}"/>
              </a:ext>
            </a:extLst>
          </p:cNvPr>
          <p:cNvSpPr/>
          <p:nvPr/>
        </p:nvSpPr>
        <p:spPr>
          <a:xfrm>
            <a:off x="4680000" y="306072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CC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600" b="1" i="0" u="none" strike="noStrike" baseline="0">
                <a:ln>
                  <a:noFill/>
                </a:ln>
                <a:solidFill>
                  <a:srgbClr val="000000"/>
                </a:solidFill>
                <a:latin typeface="Arial" pitchFamily="34"/>
                <a:ea typeface="Bitstream Vera Sans" pitchFamily="2"/>
                <a:cs typeface="Bitstream Vera Sans" pitchFamily="2"/>
              </a:rPr>
              <a:t>Xm</a:t>
            </a:r>
          </a:p>
        </p:txBody>
      </p:sp>
      <p:cxnSp>
        <p:nvCxnSpPr>
          <p:cNvPr id="9" name="Gerade Verbindung mit Pfeil 8">
            <a:extLst>
              <a:ext uri="{FF2B5EF4-FFF2-40B4-BE49-F238E27FC236}">
                <a16:creationId xmlns:a16="http://schemas.microsoft.com/office/drawing/2014/main" id="{9161F46B-8FEF-F379-85FA-370D77284781}"/>
              </a:ext>
            </a:extLst>
          </p:cNvPr>
          <p:cNvCxnSpPr>
            <a:stCxn id="8" idx="3"/>
            <a:endCxn id="6" idx="1"/>
          </p:cNvCxnSpPr>
          <p:nvPr/>
        </p:nvCxnSpPr>
        <p:spPr>
          <a:xfrm flipH="1">
            <a:off x="2879640" y="3421080"/>
            <a:ext cx="1800360" cy="0"/>
          </a:xfrm>
          <a:prstGeom prst="straightConnector1">
            <a:avLst/>
          </a:prstGeom>
          <a:noFill/>
          <a:ln w="72000">
            <a:solidFill>
              <a:srgbClr val="FFFF00"/>
            </a:solidFill>
            <a:prstDash val="solid"/>
            <a:round/>
            <a:tailEnd type="arrow"/>
          </a:ln>
        </p:spPr>
      </p:cxnSp>
      <p:cxnSp>
        <p:nvCxnSpPr>
          <p:cNvPr id="10" name="Gerade Verbindung mit Pfeil 9">
            <a:extLst>
              <a:ext uri="{FF2B5EF4-FFF2-40B4-BE49-F238E27FC236}">
                <a16:creationId xmlns:a16="http://schemas.microsoft.com/office/drawing/2014/main" id="{A294EA24-AABD-4505-C9DC-C4F8D4FCC454}"/>
              </a:ext>
            </a:extLst>
          </p:cNvPr>
          <p:cNvCxnSpPr>
            <a:stCxn id="3" idx="2"/>
            <a:endCxn id="4" idx="0"/>
          </p:cNvCxnSpPr>
          <p:nvPr/>
        </p:nvCxnSpPr>
        <p:spPr>
          <a:xfrm>
            <a:off x="4591079" y="4861080"/>
            <a:ext cx="539640" cy="718920"/>
          </a:xfrm>
          <a:prstGeom prst="straightConnector1">
            <a:avLst/>
          </a:prstGeom>
          <a:noFill/>
          <a:ln w="72000">
            <a:solidFill>
              <a:srgbClr val="FFFF00"/>
            </a:solidFill>
            <a:prstDash val="solid"/>
            <a:round/>
            <a:tailEnd type="arrow"/>
          </a:ln>
        </p:spPr>
      </p:cxnSp>
      <p:cxnSp>
        <p:nvCxnSpPr>
          <p:cNvPr id="11" name="Gerade Verbindung mit Pfeil 10">
            <a:extLst>
              <a:ext uri="{FF2B5EF4-FFF2-40B4-BE49-F238E27FC236}">
                <a16:creationId xmlns:a16="http://schemas.microsoft.com/office/drawing/2014/main" id="{585CCF23-AEC3-725A-F41D-AF138791A6D1}"/>
              </a:ext>
            </a:extLst>
          </p:cNvPr>
          <p:cNvCxnSpPr>
            <a:stCxn id="7" idx="3"/>
            <a:endCxn id="3" idx="3"/>
          </p:cNvCxnSpPr>
          <p:nvPr/>
        </p:nvCxnSpPr>
        <p:spPr>
          <a:xfrm flipH="1" flipV="1">
            <a:off x="720719" y="3510900"/>
            <a:ext cx="539641" cy="629460"/>
          </a:xfrm>
          <a:prstGeom prst="straightConnector1">
            <a:avLst/>
          </a:prstGeom>
          <a:noFill/>
          <a:ln w="72000">
            <a:solidFill>
              <a:srgbClr val="FFFF00"/>
            </a:solidFill>
            <a:prstDash val="solid"/>
            <a:round/>
            <a:tailEnd type="arrow"/>
          </a:ln>
        </p:spPr>
      </p:cxnSp>
      <p:sp>
        <p:nvSpPr>
          <p:cNvPr id="12" name="Freihandform: Form 11">
            <a:extLst>
              <a:ext uri="{FF2B5EF4-FFF2-40B4-BE49-F238E27FC236}">
                <a16:creationId xmlns:a16="http://schemas.microsoft.com/office/drawing/2014/main" id="{EFCF7FA7-6533-DC0D-A68D-AC422440A3BC}"/>
              </a:ext>
            </a:extLst>
          </p:cNvPr>
          <p:cNvSpPr/>
          <p:nvPr/>
        </p:nvSpPr>
        <p:spPr>
          <a:xfrm>
            <a:off x="3063959" y="2879640"/>
            <a:ext cx="1436759" cy="4032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non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200" b="1" i="0" u="none" strike="noStrike" baseline="0">
                <a:ln>
                  <a:noFill/>
                </a:ln>
                <a:solidFill>
                  <a:srgbClr val="FFFFFF"/>
                </a:solidFill>
                <a:latin typeface="Arial" pitchFamily="34"/>
                <a:ea typeface="Bitstream Vera Sans" pitchFamily="2"/>
                <a:cs typeface="Bitstream Vera Sans" pitchFamily="2"/>
              </a:rPr>
              <a:t>XML RPC</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page3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59BD50-0B58-BAEC-64D8-ABD798D285AA}"/>
              </a:ext>
            </a:extLst>
          </p:cNvPr>
          <p:cNvSpPr txBox="1">
            <a:spLocks noGrp="1"/>
          </p:cNvSpPr>
          <p:nvPr>
            <p:ph type="title" idx="4294967295"/>
          </p:nvPr>
        </p:nvSpPr>
        <p:spPr>
          <a:xfrm>
            <a:off x="741239" y="282600"/>
            <a:ext cx="8607600" cy="1262520"/>
          </a:xfrm>
        </p:spPr>
        <p:txBody>
          <a:bodyPr wrap="square" anchorCtr="0">
            <a:spAutoFit/>
          </a:bodyPr>
          <a:lstStyle/>
          <a:p>
            <a:pPr lvl="0"/>
            <a:r>
              <a:rPr lang="es-VE"/>
              <a:t>Xen Interdomain Communication (PV Guest)‏</a:t>
            </a:r>
          </a:p>
        </p:txBody>
      </p:sp>
      <p:sp>
        <p:nvSpPr>
          <p:cNvPr id="3" name="Freihandform: Form 2">
            <a:extLst>
              <a:ext uri="{FF2B5EF4-FFF2-40B4-BE49-F238E27FC236}">
                <a16:creationId xmlns:a16="http://schemas.microsoft.com/office/drawing/2014/main" id="{9D80A242-C92F-9328-210E-08A0F15ED85C}"/>
              </a:ext>
            </a:extLst>
          </p:cNvPr>
          <p:cNvSpPr/>
          <p:nvPr/>
        </p:nvSpPr>
        <p:spPr>
          <a:xfrm>
            <a:off x="720719" y="2160720"/>
            <a:ext cx="1979640" cy="25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6633"/>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0</a:t>
            </a:r>
          </a:p>
        </p:txBody>
      </p:sp>
      <p:sp>
        <p:nvSpPr>
          <p:cNvPr id="4" name="Freihandform: Form 3">
            <a:extLst>
              <a:ext uri="{FF2B5EF4-FFF2-40B4-BE49-F238E27FC236}">
                <a16:creationId xmlns:a16="http://schemas.microsoft.com/office/drawing/2014/main" id="{79AE9231-DCC7-1FEB-4F20-B76770BEBC26}"/>
              </a:ext>
            </a:extLst>
          </p:cNvPr>
          <p:cNvSpPr/>
          <p:nvPr/>
        </p:nvSpPr>
        <p:spPr>
          <a:xfrm>
            <a:off x="720719" y="4859280"/>
            <a:ext cx="882000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7DA647"/>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Xen Hypervisor</a:t>
            </a:r>
          </a:p>
        </p:txBody>
      </p:sp>
      <p:sp>
        <p:nvSpPr>
          <p:cNvPr id="5" name="Freihandform: Form 4">
            <a:extLst>
              <a:ext uri="{FF2B5EF4-FFF2-40B4-BE49-F238E27FC236}">
                <a16:creationId xmlns:a16="http://schemas.microsoft.com/office/drawing/2014/main" id="{687E1E93-D63D-9170-DE70-BFEF151EE5F3}"/>
              </a:ext>
            </a:extLst>
          </p:cNvPr>
          <p:cNvSpPr/>
          <p:nvPr/>
        </p:nvSpPr>
        <p:spPr>
          <a:xfrm>
            <a:off x="7740720" y="2160720"/>
            <a:ext cx="1979640" cy="251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99"/>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Domain U</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endParaRPr lang="es-VE" sz="2400" b="1" i="0" u="none" strike="noStrike" baseline="0">
              <a:ln>
                <a:noFill/>
              </a:ln>
              <a:solidFill>
                <a:srgbClr val="000000"/>
              </a:solidFill>
              <a:latin typeface="Arial" pitchFamily="34"/>
              <a:ea typeface="Bitstream Vera Sans" pitchFamily="2"/>
              <a:cs typeface="Bitstream Vera Sans" pitchFamily="2"/>
            </a:endParaRP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PV Guest</a:t>
            </a:r>
          </a:p>
        </p:txBody>
      </p:sp>
      <p:sp>
        <p:nvSpPr>
          <p:cNvPr id="6" name="Freihandform: Form 5">
            <a:extLst>
              <a:ext uri="{FF2B5EF4-FFF2-40B4-BE49-F238E27FC236}">
                <a16:creationId xmlns:a16="http://schemas.microsoft.com/office/drawing/2014/main" id="{BF2E5F2C-032E-23F9-1520-B49F3FFB5187}"/>
              </a:ext>
            </a:extLst>
          </p:cNvPr>
          <p:cNvSpPr/>
          <p:nvPr/>
        </p:nvSpPr>
        <p:spPr>
          <a:xfrm>
            <a:off x="900000" y="378000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D320"/>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000000"/>
                </a:solidFill>
                <a:latin typeface="Arial" pitchFamily="34"/>
                <a:ea typeface="Bitstream Vera Sans" pitchFamily="2"/>
                <a:cs typeface="Bitstream Vera Sans" pitchFamily="2"/>
              </a:rPr>
              <a:t>PV Backend</a:t>
            </a:r>
            <a:br>
              <a:rPr lang="es-VE" sz="2000" b="1" i="0" u="none" strike="noStrike" baseline="0">
                <a:ln>
                  <a:noFill/>
                </a:ln>
                <a:solidFill>
                  <a:srgbClr val="000000"/>
                </a:solidFill>
                <a:latin typeface="Arial" pitchFamily="34"/>
                <a:ea typeface="Bitstream Vera Sans" pitchFamily="2"/>
                <a:cs typeface="Bitstream Vera Sans" pitchFamily="2"/>
              </a:rPr>
            </a:br>
            <a:r>
              <a:rPr lang="es-VE" sz="2000" b="1" i="0" u="none" strike="noStrike" baseline="0">
                <a:ln>
                  <a:noFill/>
                </a:ln>
                <a:solidFill>
                  <a:srgbClr val="000000"/>
                </a:solidFill>
                <a:latin typeface="Arial" pitchFamily="34"/>
                <a:ea typeface="Bitstream Vera Sans" pitchFamily="2"/>
                <a:cs typeface="Bitstream Vera Sans" pitchFamily="2"/>
              </a:rPr>
              <a:t>Drivers</a:t>
            </a:r>
          </a:p>
        </p:txBody>
      </p:sp>
      <p:sp>
        <p:nvSpPr>
          <p:cNvPr id="7" name="Freihandform: Form 6">
            <a:extLst>
              <a:ext uri="{FF2B5EF4-FFF2-40B4-BE49-F238E27FC236}">
                <a16:creationId xmlns:a16="http://schemas.microsoft.com/office/drawing/2014/main" id="{6F82F3CE-4240-A47F-2FA9-82EA885D5E51}"/>
              </a:ext>
            </a:extLst>
          </p:cNvPr>
          <p:cNvSpPr/>
          <p:nvPr/>
        </p:nvSpPr>
        <p:spPr>
          <a:xfrm>
            <a:off x="2519280" y="3060720"/>
            <a:ext cx="5400720" cy="53964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808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Event Channel</a:t>
            </a:r>
          </a:p>
        </p:txBody>
      </p:sp>
      <p:sp>
        <p:nvSpPr>
          <p:cNvPr id="8" name="Freihandform: Form 7">
            <a:extLst>
              <a:ext uri="{FF2B5EF4-FFF2-40B4-BE49-F238E27FC236}">
                <a16:creationId xmlns:a16="http://schemas.microsoft.com/office/drawing/2014/main" id="{7742DF2F-21C5-31A1-13A0-F6369ECDB4CF}"/>
              </a:ext>
            </a:extLst>
          </p:cNvPr>
          <p:cNvSpPr/>
          <p:nvPr/>
        </p:nvSpPr>
        <p:spPr>
          <a:xfrm>
            <a:off x="7920000" y="378000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D320"/>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000000"/>
                </a:solidFill>
                <a:latin typeface="Arial" pitchFamily="34"/>
                <a:ea typeface="Bitstream Vera Sans" pitchFamily="2"/>
                <a:cs typeface="Bitstream Vera Sans" pitchFamily="2"/>
              </a:rPr>
              <a:t>PV Frontend</a:t>
            </a:r>
            <a:br>
              <a:rPr lang="es-VE" sz="2000" b="1" i="0" u="none" strike="noStrike" baseline="0">
                <a:ln>
                  <a:noFill/>
                </a:ln>
                <a:solidFill>
                  <a:srgbClr val="000000"/>
                </a:solidFill>
                <a:latin typeface="Arial" pitchFamily="34"/>
                <a:ea typeface="Bitstream Vera Sans" pitchFamily="2"/>
                <a:cs typeface="Bitstream Vera Sans" pitchFamily="2"/>
              </a:rPr>
            </a:br>
            <a:r>
              <a:rPr lang="es-VE" sz="2000" b="1" i="0" u="none" strike="noStrike" baseline="0">
                <a:ln>
                  <a:noFill/>
                </a:ln>
                <a:solidFill>
                  <a:srgbClr val="000000"/>
                </a:solidFill>
                <a:latin typeface="Arial" pitchFamily="34"/>
                <a:ea typeface="Bitstream Vera Sans" pitchFamily="2"/>
                <a:cs typeface="Bitstream Vera Sans" pitchFamily="2"/>
              </a:rPr>
              <a:t>Drivers</a:t>
            </a:r>
          </a:p>
        </p:txBody>
      </p:sp>
      <p:sp>
        <p:nvSpPr>
          <p:cNvPr id="9" name="Freihandform: Form 8">
            <a:extLst>
              <a:ext uri="{FF2B5EF4-FFF2-40B4-BE49-F238E27FC236}">
                <a16:creationId xmlns:a16="http://schemas.microsoft.com/office/drawing/2014/main" id="{655EC2DF-7021-3D71-860A-4B76A54F5C1F}"/>
              </a:ext>
            </a:extLst>
          </p:cNvPr>
          <p:cNvSpPr/>
          <p:nvPr/>
        </p:nvSpPr>
        <p:spPr>
          <a:xfrm>
            <a:off x="3600360" y="5400720"/>
            <a:ext cx="3240000" cy="1079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00"/>
          </a:solidFill>
          <a:ln w="9360">
            <a:solidFill>
              <a:srgbClr val="000000"/>
            </a:solidFill>
            <a:prstDash val="solid"/>
            <a:round/>
          </a:ln>
        </p:spPr>
        <p:txBody>
          <a:bodyPr vert="horz" wrap="none" lIns="90000" tIns="45000" rIns="90000" bIns="45000" anchor="t"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sng" strike="noStrike" baseline="0">
                <a:ln>
                  <a:noFill/>
                </a:ln>
                <a:solidFill>
                  <a:srgbClr val="000000"/>
                </a:solidFill>
                <a:uFillTx/>
                <a:latin typeface="Arial" pitchFamily="34"/>
                <a:ea typeface="Bitstream Vera Sans" pitchFamily="2"/>
                <a:cs typeface="Bitstream Vera Sans" pitchFamily="2"/>
              </a:rPr>
              <a:t>Shared Memory</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Data Dom U</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400" b="1" i="0" u="none" strike="noStrike" baseline="0">
                <a:ln>
                  <a:noFill/>
                </a:ln>
                <a:solidFill>
                  <a:srgbClr val="000000"/>
                </a:solidFill>
                <a:latin typeface="Arial" pitchFamily="34"/>
                <a:ea typeface="Bitstream Vera Sans" pitchFamily="2"/>
                <a:cs typeface="Bitstream Vera Sans" pitchFamily="2"/>
              </a:rPr>
              <a:t>Data Dom U</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page3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A4D776-FF56-F59B-496E-65ED41A250F0}"/>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Cómo configurar Xen</a:t>
            </a:r>
          </a:p>
        </p:txBody>
      </p:sp>
      <p:sp>
        <p:nvSpPr>
          <p:cNvPr id="3" name="Textplatzhalter 2">
            <a:extLst>
              <a:ext uri="{FF2B5EF4-FFF2-40B4-BE49-F238E27FC236}">
                <a16:creationId xmlns:a16="http://schemas.microsoft.com/office/drawing/2014/main" id="{B770A972-59DE-8A49-6264-DF8AEC1E8263}"/>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A pie (las instrucciones incluídas aquí).</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Cónsola: xen-tools (super rígida, googlear).</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Gráfica: virt-manager, etc.</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FF"/>
                </a:solidFill>
              </a:rPr>
              <a:t>Completar con otros ejemplos (googlear).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page3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A44FA8-D801-0A43-B376-54F6F5BE0FBF}"/>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Pasos para Xen en Debian</a:t>
            </a:r>
          </a:p>
        </p:txBody>
      </p:sp>
      <p:sp>
        <p:nvSpPr>
          <p:cNvPr id="3" name="Textplatzhalter 2">
            <a:extLst>
              <a:ext uri="{FF2B5EF4-FFF2-40B4-BE49-F238E27FC236}">
                <a16:creationId xmlns:a16="http://schemas.microsoft.com/office/drawing/2014/main" id="{2425E000-7FB3-75BF-140B-B07216EB4113}"/>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100000"/>
              <a:buAutoNum type="arabicParen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t>Instalar GNU/Linux Debian (Con LVM) en servidor (32/64 bits) y pudieran crearse las particiones de las máquinas virtuales.</a:t>
            </a:r>
          </a:p>
          <a:p>
            <a:pPr marL="0" lvl="0" indent="0">
              <a:buClr>
                <a:srgbClr val="E6E6E6"/>
              </a:buClr>
              <a:buSzPct val="100000"/>
              <a:buAutoNum type="arabicParen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t>Actualizar el sistema a través de los repositorios (apt-get update; apt-get dist-upgrade).</a:t>
            </a:r>
          </a:p>
          <a:p>
            <a:pPr marL="0" lvl="0" indent="0">
              <a:buClr>
                <a:srgbClr val="E6E6E6"/>
              </a:buClr>
              <a:buSzPct val="100000"/>
              <a:buAutoNum type="arabicParen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t>Planear la distribución de las máquinas virtuales: prioridades, cuántas máquinas virtuales, % espacio, % memoria y # cpu por c/u.</a:t>
            </a:r>
          </a:p>
          <a:p>
            <a:pPr marL="0" lvl="0" indent="0">
              <a:buClr>
                <a:srgbClr val="E6E6E6"/>
              </a:buClr>
              <a:buSzPct val="100000"/>
              <a:buAutoNum type="arabicParen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t>Particionar el disco del servidor según la distribución planeada.</a:t>
            </a:r>
          </a:p>
          <a:p>
            <a:pPr marL="0" lvl="0" indent="0">
              <a:buClr>
                <a:srgbClr val="E6E6E6"/>
              </a:buClr>
              <a:buSzPct val="100000"/>
              <a:buAutoNum type="arabicParen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t>Instalar el sistema Xen e reiniciar con el kernel de Xen.</a:t>
            </a:r>
          </a:p>
          <a:p>
            <a:pPr marL="0" lvl="0" indent="0">
              <a:buClr>
                <a:srgbClr val="E6E6E6"/>
              </a:buClr>
              <a:buSzPct val="100000"/>
              <a:buAutoNum type="arabicParen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t>Copiar archivos de máquinas virtuales en particiones y modificarlos según sea necesario (securetty, fstab, interfaces, hwclock, sysctl, etc).</a:t>
            </a:r>
          </a:p>
          <a:p>
            <a:pPr marL="0" lvl="0" indent="0">
              <a:buClr>
                <a:srgbClr val="E6E6E6"/>
              </a:buClr>
              <a:buSzPct val="100000"/>
              <a:buAutoNum type="arabicParen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t>Iniciar las máquinas virtuales (xm create).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page3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22BD79-9990-665F-88BA-E3331CD6171B}"/>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Distribución de Máquinas Virtuales</a:t>
            </a:r>
          </a:p>
        </p:txBody>
      </p:sp>
      <p:sp>
        <p:nvSpPr>
          <p:cNvPr id="3" name="Textplatzhalter 2">
            <a:extLst>
              <a:ext uri="{FF2B5EF4-FFF2-40B4-BE49-F238E27FC236}">
                <a16:creationId xmlns:a16="http://schemas.microsoft.com/office/drawing/2014/main" id="{EBFA7A4A-8A82-CABA-CD1A-96124CE35815}"/>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Supongamos Servidor HP Proliant DL 580 G5 / 2 CPU Quadcore 2.4Ghz 64 bits, 4 GB RAM, RAID 5 / 400 GB.</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Xen dectará 8 cpus físicos, mapeando el cpu virtual #0 al core #1 del cpu físico #1 y el cpu virtual #7 al core #4 del cpu #2, uno a uno de forma ordenada.</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Xen requiere al menos uno (1) o dos (2) cpu(s) virtual(es) dedicado(s) al dom 0 si las máquinas virtuales harán muchas operaciones de E/S (i.e. base de datos, red, etc).</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Xen requiere al menos 128 MB (recomendado 512 MB) para el dom 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page4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1F7791-0D15-D68F-C4AF-F70D8C190F4A}"/>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Distribución de Máquinas Virtuales</a:t>
            </a:r>
          </a:p>
        </p:txBody>
      </p:sp>
      <p:sp>
        <p:nvSpPr>
          <p:cNvPr id="3" name="Textplatzhalter 2">
            <a:extLst>
              <a:ext uri="{FF2B5EF4-FFF2-40B4-BE49-F238E27FC236}">
                <a16:creationId xmlns:a16="http://schemas.microsoft.com/office/drawing/2014/main" id="{DFC7A4D3-CBB5-E719-BBA9-B44FD5597E98}"/>
              </a:ext>
            </a:extLst>
          </p:cNvPr>
          <p:cNvSpPr txBox="1">
            <a:spLocks noGrp="1"/>
          </p:cNvSpPr>
          <p:nvPr>
            <p:ph type="body" idx="4294967295"/>
          </p:nvPr>
        </p:nvSpPr>
        <p:spPr>
          <a:xfrm>
            <a:off x="741239" y="1963800"/>
            <a:ext cx="8772480" cy="486864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Xen requiere una instalación mínima de Debian en el dom 0, el cual, no debe alojar aplicaciones, sistema o servicios pesados o destinados para las máquinas virtuales.</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Opcionalmente podría mejorar el paralelismo de E/S de disco si se destina un disco (arreglo) al dom 0 y otro(s) a los dominios U (no se ha comprobado).</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Cada dom U  (incluyendo dom 0) debe tener su propia espacio o área de intercambio SWAP (partición).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La partición /boot sólo es necesario en el dom 0, los dom U inician con un disco RAM (vmlinuz + initrd) que se instala en el dom 0 y es un kernel de Linux modificado.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page4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EFF1B3-F29A-5340-CD82-E94AB20230A4}"/>
              </a:ext>
            </a:extLst>
          </p:cNvPr>
          <p:cNvSpPr txBox="1">
            <a:spLocks noGrp="1"/>
          </p:cNvSpPr>
          <p:nvPr>
            <p:ph type="title" idx="4294967295"/>
          </p:nvPr>
        </p:nvSpPr>
        <p:spPr>
          <a:xfrm>
            <a:off x="741239" y="282600"/>
            <a:ext cx="8607600" cy="1262520"/>
          </a:xfrm>
        </p:spPr>
        <p:txBody>
          <a:bodyPr wrap="square" anchorCtr="0">
            <a:spAutoFit/>
          </a:bodyPr>
          <a:lstStyle/>
          <a:p>
            <a:pPr lvl="0"/>
            <a:r>
              <a:rPr lang="es-VE"/>
              <a:t>Distribución de Máquinas Virtuales</a:t>
            </a:r>
          </a:p>
        </p:txBody>
      </p:sp>
      <p:sp>
        <p:nvSpPr>
          <p:cNvPr id="3" name="Textplatzhalter 2">
            <a:extLst>
              <a:ext uri="{FF2B5EF4-FFF2-40B4-BE49-F238E27FC236}">
                <a16:creationId xmlns:a16="http://schemas.microsoft.com/office/drawing/2014/main" id="{E776D285-785D-E504-3546-29F6ACE4418E}"/>
              </a:ext>
            </a:extLst>
          </p:cNvPr>
          <p:cNvSpPr txBox="1">
            <a:spLocks noGrp="1"/>
          </p:cNvSpPr>
          <p:nvPr>
            <p:ph type="body" idx="4294967295"/>
          </p:nvPr>
        </p:nvSpPr>
        <p:spPr>
          <a:xfrm>
            <a:off x="741239" y="1963800"/>
            <a:ext cx="8772480" cy="487512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Si se utiliza LVM la partición /boot del dominio 0 debe estar fuera de LVM en una partición /boot.</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Para mayor eficiencia no se recomienda utilizar LVM en las máquinas virtuales (dentro de sí mismas), es decir, ellas no deben ver (verán) particiones normales.</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Se debe dejar espacio libre LVM para expandir las particiones LVM del dom 0 y las dom U.  Si se necesita expandir se hará desde el dom 0 y será transparente para los dom U.</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page4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B8F44F-10A7-05F1-3918-034351EA724D}"/>
              </a:ext>
            </a:extLst>
          </p:cNvPr>
          <p:cNvSpPr txBox="1">
            <a:spLocks noGrp="1"/>
          </p:cNvSpPr>
          <p:nvPr>
            <p:ph type="title" idx="4294967295"/>
          </p:nvPr>
        </p:nvSpPr>
        <p:spPr>
          <a:xfrm>
            <a:off x="741239" y="282600"/>
            <a:ext cx="8607600" cy="1262520"/>
          </a:xfrm>
        </p:spPr>
        <p:txBody>
          <a:bodyPr wrap="square" anchorCtr="0">
            <a:spAutoFit/>
          </a:bodyPr>
          <a:lstStyle/>
          <a:p>
            <a:pPr lvl="0"/>
            <a:r>
              <a:rPr lang="es-VE" sz="3600"/>
              <a:t>Particionamiento – Ejemplo A</a:t>
            </a:r>
          </a:p>
        </p:txBody>
      </p:sp>
      <p:sp>
        <p:nvSpPr>
          <p:cNvPr id="3" name="Freihandform: Form 2">
            <a:extLst>
              <a:ext uri="{FF2B5EF4-FFF2-40B4-BE49-F238E27FC236}">
                <a16:creationId xmlns:a16="http://schemas.microsoft.com/office/drawing/2014/main" id="{8E7F05B3-4497-29F0-026B-9BDACE04C0AD}"/>
              </a:ext>
            </a:extLst>
          </p:cNvPr>
          <p:cNvSpPr/>
          <p:nvPr/>
        </p:nvSpPr>
        <p:spPr>
          <a:xfrm>
            <a:off x="720719" y="2160720"/>
            <a:ext cx="144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/boot (ext3)‏</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 GB</a:t>
            </a:r>
          </a:p>
        </p:txBody>
      </p:sp>
      <p:sp>
        <p:nvSpPr>
          <p:cNvPr id="4" name="Freihandform: Form 3">
            <a:extLst>
              <a:ext uri="{FF2B5EF4-FFF2-40B4-BE49-F238E27FC236}">
                <a16:creationId xmlns:a16="http://schemas.microsoft.com/office/drawing/2014/main" id="{EB780D8E-AD75-511A-26D5-297C02140B97}"/>
              </a:ext>
            </a:extLst>
          </p:cNvPr>
          <p:cNvSpPr/>
          <p:nvPr/>
        </p:nvSpPr>
        <p:spPr>
          <a:xfrm>
            <a:off x="2160720" y="2160720"/>
            <a:ext cx="701964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LVM</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(400 – 1 = 399 GB)‏</a:t>
            </a:r>
          </a:p>
        </p:txBody>
      </p:sp>
      <p:sp>
        <p:nvSpPr>
          <p:cNvPr id="5" name="Freihandform: Form 4">
            <a:extLst>
              <a:ext uri="{FF2B5EF4-FFF2-40B4-BE49-F238E27FC236}">
                <a16:creationId xmlns:a16="http://schemas.microsoft.com/office/drawing/2014/main" id="{79F039B4-6959-3083-BB98-176C7B74A783}"/>
              </a:ext>
            </a:extLst>
          </p:cNvPr>
          <p:cNvSpPr/>
          <p:nvPr/>
        </p:nvSpPr>
        <p:spPr>
          <a:xfrm>
            <a:off x="2160720" y="2879640"/>
            <a:ext cx="701964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66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vg_interno (Volume Group)‏</a:t>
            </a:r>
          </a:p>
        </p:txBody>
      </p:sp>
      <p:sp>
        <p:nvSpPr>
          <p:cNvPr id="6" name="Freihandform: Form 5">
            <a:extLst>
              <a:ext uri="{FF2B5EF4-FFF2-40B4-BE49-F238E27FC236}">
                <a16:creationId xmlns:a16="http://schemas.microsoft.com/office/drawing/2014/main" id="{F4C59193-BD82-160D-696B-F0D7F1065C67}"/>
              </a:ext>
            </a:extLst>
          </p:cNvPr>
          <p:cNvSpPr/>
          <p:nvPr/>
        </p:nvSpPr>
        <p:spPr>
          <a:xfrm>
            <a:off x="2160720" y="431964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lv_xen0_raiz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 GB</a:t>
            </a:r>
          </a:p>
        </p:txBody>
      </p:sp>
      <p:sp>
        <p:nvSpPr>
          <p:cNvPr id="7" name="Freihandform: Form 6">
            <a:extLst>
              <a:ext uri="{FF2B5EF4-FFF2-40B4-BE49-F238E27FC236}">
                <a16:creationId xmlns:a16="http://schemas.microsoft.com/office/drawing/2014/main" id="{32A658C1-642C-6557-161C-2FDF4192982F}"/>
              </a:ext>
            </a:extLst>
          </p:cNvPr>
          <p:cNvSpPr/>
          <p:nvPr/>
        </p:nvSpPr>
        <p:spPr>
          <a:xfrm>
            <a:off x="3780000" y="4319640"/>
            <a:ext cx="180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lv_xen0_var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50 GB</a:t>
            </a:r>
          </a:p>
        </p:txBody>
      </p:sp>
      <p:sp>
        <p:nvSpPr>
          <p:cNvPr id="8" name="Freihandform: Form 7">
            <a:extLst>
              <a:ext uri="{FF2B5EF4-FFF2-40B4-BE49-F238E27FC236}">
                <a16:creationId xmlns:a16="http://schemas.microsoft.com/office/drawing/2014/main" id="{A055DD98-519A-38B4-A229-3F2381BE37B6}"/>
              </a:ext>
            </a:extLst>
          </p:cNvPr>
          <p:cNvSpPr/>
          <p:nvPr/>
        </p:nvSpPr>
        <p:spPr>
          <a:xfrm>
            <a:off x="2160720" y="3600360"/>
            <a:ext cx="107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99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lv_raiz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 GB</a:t>
            </a:r>
          </a:p>
        </p:txBody>
      </p:sp>
      <p:sp>
        <p:nvSpPr>
          <p:cNvPr id="9" name="Freihandform: Form 8">
            <a:extLst>
              <a:ext uri="{FF2B5EF4-FFF2-40B4-BE49-F238E27FC236}">
                <a16:creationId xmlns:a16="http://schemas.microsoft.com/office/drawing/2014/main" id="{9C70BBB9-57BE-D0AC-71CD-D94FA765DB9A}"/>
              </a:ext>
            </a:extLst>
          </p:cNvPr>
          <p:cNvSpPr/>
          <p:nvPr/>
        </p:nvSpPr>
        <p:spPr>
          <a:xfrm>
            <a:off x="3240000" y="3600360"/>
            <a:ext cx="1079639"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99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lv_var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 GB</a:t>
            </a:r>
          </a:p>
        </p:txBody>
      </p:sp>
      <p:sp>
        <p:nvSpPr>
          <p:cNvPr id="10" name="Freihandform: Form 9">
            <a:extLst>
              <a:ext uri="{FF2B5EF4-FFF2-40B4-BE49-F238E27FC236}">
                <a16:creationId xmlns:a16="http://schemas.microsoft.com/office/drawing/2014/main" id="{60CD89A9-19A2-EF86-0CA2-6EA1CDF8B251}"/>
              </a:ext>
            </a:extLst>
          </p:cNvPr>
          <p:cNvSpPr/>
          <p:nvPr/>
        </p:nvSpPr>
        <p:spPr>
          <a:xfrm>
            <a:off x="4299120" y="3610079"/>
            <a:ext cx="107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99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lv_tmp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1" name="Freihandform: Form 10">
            <a:extLst>
              <a:ext uri="{FF2B5EF4-FFF2-40B4-BE49-F238E27FC236}">
                <a16:creationId xmlns:a16="http://schemas.microsoft.com/office/drawing/2014/main" id="{9A1ADB1F-062E-DB0F-7F75-B18EC4CFC471}"/>
              </a:ext>
            </a:extLst>
          </p:cNvPr>
          <p:cNvSpPr/>
          <p:nvPr/>
        </p:nvSpPr>
        <p:spPr>
          <a:xfrm>
            <a:off x="5364000" y="3600360"/>
            <a:ext cx="1079639"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99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lv_swap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2" name="Freihandform: Form 11">
            <a:extLst>
              <a:ext uri="{FF2B5EF4-FFF2-40B4-BE49-F238E27FC236}">
                <a16:creationId xmlns:a16="http://schemas.microsoft.com/office/drawing/2014/main" id="{AC74B0B6-0D04-91B3-B784-D01A9BFA28A8}"/>
              </a:ext>
            </a:extLst>
          </p:cNvPr>
          <p:cNvSpPr/>
          <p:nvPr/>
        </p:nvSpPr>
        <p:spPr>
          <a:xfrm>
            <a:off x="5580000" y="4319640"/>
            <a:ext cx="180036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lv_xen0_tmp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3" name="Freihandform: Form 12">
            <a:extLst>
              <a:ext uri="{FF2B5EF4-FFF2-40B4-BE49-F238E27FC236}">
                <a16:creationId xmlns:a16="http://schemas.microsoft.com/office/drawing/2014/main" id="{3A3F2FC5-B61F-7DEB-2DAF-32363D73B1BB}"/>
              </a:ext>
            </a:extLst>
          </p:cNvPr>
          <p:cNvSpPr/>
          <p:nvPr/>
        </p:nvSpPr>
        <p:spPr>
          <a:xfrm>
            <a:off x="7380360" y="4319640"/>
            <a:ext cx="180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lv_xen0_swap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4" name="Freihandform: Form 13">
            <a:extLst>
              <a:ext uri="{FF2B5EF4-FFF2-40B4-BE49-F238E27FC236}">
                <a16:creationId xmlns:a16="http://schemas.microsoft.com/office/drawing/2014/main" id="{C6E5259C-A782-0111-65CF-FF6CBA9EDD7E}"/>
              </a:ext>
            </a:extLst>
          </p:cNvPr>
          <p:cNvSpPr/>
          <p:nvPr/>
        </p:nvSpPr>
        <p:spPr>
          <a:xfrm>
            <a:off x="2160720" y="504036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lv_xen1_raiz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 GB</a:t>
            </a:r>
          </a:p>
        </p:txBody>
      </p:sp>
      <p:sp>
        <p:nvSpPr>
          <p:cNvPr id="15" name="Freihandform: Form 14">
            <a:extLst>
              <a:ext uri="{FF2B5EF4-FFF2-40B4-BE49-F238E27FC236}">
                <a16:creationId xmlns:a16="http://schemas.microsoft.com/office/drawing/2014/main" id="{90001A7E-8255-4F72-CFFA-10E743772706}"/>
              </a:ext>
            </a:extLst>
          </p:cNvPr>
          <p:cNvSpPr/>
          <p:nvPr/>
        </p:nvSpPr>
        <p:spPr>
          <a:xfrm>
            <a:off x="3780000" y="5040360"/>
            <a:ext cx="180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lv_xen1_var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100 GB</a:t>
            </a:r>
          </a:p>
        </p:txBody>
      </p:sp>
      <p:sp>
        <p:nvSpPr>
          <p:cNvPr id="16" name="Freihandform: Form 15">
            <a:extLst>
              <a:ext uri="{FF2B5EF4-FFF2-40B4-BE49-F238E27FC236}">
                <a16:creationId xmlns:a16="http://schemas.microsoft.com/office/drawing/2014/main" id="{D149C9C7-F7A0-1D14-A414-C064F0B476CF}"/>
              </a:ext>
            </a:extLst>
          </p:cNvPr>
          <p:cNvSpPr/>
          <p:nvPr/>
        </p:nvSpPr>
        <p:spPr>
          <a:xfrm>
            <a:off x="5580000" y="5040360"/>
            <a:ext cx="180036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lv_xen1_tmp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7" name="Freihandform: Form 16">
            <a:extLst>
              <a:ext uri="{FF2B5EF4-FFF2-40B4-BE49-F238E27FC236}">
                <a16:creationId xmlns:a16="http://schemas.microsoft.com/office/drawing/2014/main" id="{37B5D741-3505-F082-5646-16C5ADCF6782}"/>
              </a:ext>
            </a:extLst>
          </p:cNvPr>
          <p:cNvSpPr/>
          <p:nvPr/>
        </p:nvSpPr>
        <p:spPr>
          <a:xfrm>
            <a:off x="7380360" y="5040360"/>
            <a:ext cx="180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lv_xen1_swap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8" name="Freihandform: Form 17">
            <a:extLst>
              <a:ext uri="{FF2B5EF4-FFF2-40B4-BE49-F238E27FC236}">
                <a16:creationId xmlns:a16="http://schemas.microsoft.com/office/drawing/2014/main" id="{2F3EDB5C-5F75-818E-6DFA-D74AF1533BF1}"/>
              </a:ext>
            </a:extLst>
          </p:cNvPr>
          <p:cNvSpPr/>
          <p:nvPr/>
        </p:nvSpPr>
        <p:spPr>
          <a:xfrm>
            <a:off x="720719" y="3681359"/>
            <a:ext cx="1260360" cy="45899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600" b="1" i="0" u="none" strike="noStrike" baseline="0">
                <a:ln>
                  <a:noFill/>
                </a:ln>
                <a:solidFill>
                  <a:srgbClr val="FFFFFF"/>
                </a:solidFill>
                <a:latin typeface="Arial" pitchFamily="34"/>
                <a:ea typeface="Bitstream Vera Sans" pitchFamily="2"/>
                <a:cs typeface="Bitstream Vera Sans" pitchFamily="2"/>
              </a:rPr>
              <a:t>Dom 0</a:t>
            </a:r>
          </a:p>
        </p:txBody>
      </p:sp>
      <p:sp>
        <p:nvSpPr>
          <p:cNvPr id="19" name="Freihandform: Form 18">
            <a:extLst>
              <a:ext uri="{FF2B5EF4-FFF2-40B4-BE49-F238E27FC236}">
                <a16:creationId xmlns:a16="http://schemas.microsoft.com/office/drawing/2014/main" id="{A28BC553-03D8-D130-9B89-B49D63420F9E}"/>
              </a:ext>
            </a:extLst>
          </p:cNvPr>
          <p:cNvSpPr/>
          <p:nvPr/>
        </p:nvSpPr>
        <p:spPr>
          <a:xfrm>
            <a:off x="360359" y="4500720"/>
            <a:ext cx="2160720" cy="3729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FFFFFF"/>
                </a:solidFill>
                <a:latin typeface="Arial" pitchFamily="34"/>
                <a:ea typeface="Bitstream Vera Sans" pitchFamily="2"/>
                <a:cs typeface="Bitstream Vera Sans" pitchFamily="2"/>
              </a:rPr>
              <a:t>Dom U (xen0)‏</a:t>
            </a:r>
          </a:p>
        </p:txBody>
      </p:sp>
      <p:sp>
        <p:nvSpPr>
          <p:cNvPr id="20" name="Freihandform: Form 19">
            <a:extLst>
              <a:ext uri="{FF2B5EF4-FFF2-40B4-BE49-F238E27FC236}">
                <a16:creationId xmlns:a16="http://schemas.microsoft.com/office/drawing/2014/main" id="{E3775012-6F54-E0E5-474A-8D431C0DD1A3}"/>
              </a:ext>
            </a:extLst>
          </p:cNvPr>
          <p:cNvSpPr/>
          <p:nvPr/>
        </p:nvSpPr>
        <p:spPr>
          <a:xfrm>
            <a:off x="360359" y="5219640"/>
            <a:ext cx="2160720" cy="3729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FFFFFF"/>
                </a:solidFill>
                <a:latin typeface="Arial" pitchFamily="34"/>
                <a:ea typeface="Bitstream Vera Sans" pitchFamily="2"/>
                <a:cs typeface="Bitstream Vera Sans" pitchFamily="2"/>
              </a:rPr>
              <a:t>Dom U (xen1)‏</a:t>
            </a:r>
          </a:p>
        </p:txBody>
      </p:sp>
      <p:sp>
        <p:nvSpPr>
          <p:cNvPr id="21" name="Freihandform: Form 20">
            <a:extLst>
              <a:ext uri="{FF2B5EF4-FFF2-40B4-BE49-F238E27FC236}">
                <a16:creationId xmlns:a16="http://schemas.microsoft.com/office/drawing/2014/main" id="{0C8233F2-6DE8-D0C0-7C9E-D59CFF6F503F}"/>
              </a:ext>
            </a:extLst>
          </p:cNvPr>
          <p:cNvSpPr/>
          <p:nvPr/>
        </p:nvSpPr>
        <p:spPr>
          <a:xfrm>
            <a:off x="1800360" y="6107039"/>
            <a:ext cx="6465599" cy="3729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non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E6FF00"/>
                </a:solidFill>
                <a:latin typeface="Arial" pitchFamily="34"/>
                <a:ea typeface="Bitstream Vera Sans" pitchFamily="2"/>
                <a:cs typeface="Bitstream Vera Sans" pitchFamily="2"/>
              </a:rPr>
              <a:t>399 – 202 GB = 197 GB Libres para expansión de LV</a:t>
            </a:r>
          </a:p>
        </p:txBody>
      </p:sp>
      <p:sp>
        <p:nvSpPr>
          <p:cNvPr id="22" name="Freihandform: Form 21">
            <a:extLst>
              <a:ext uri="{FF2B5EF4-FFF2-40B4-BE49-F238E27FC236}">
                <a16:creationId xmlns:a16="http://schemas.microsoft.com/office/drawing/2014/main" id="{741C50BD-2FC7-1CFB-43C2-AE7A33975127}"/>
              </a:ext>
            </a:extLst>
          </p:cNvPr>
          <p:cNvSpPr/>
          <p:nvPr/>
        </p:nvSpPr>
        <p:spPr>
          <a:xfrm>
            <a:off x="720719" y="1440000"/>
            <a:ext cx="845964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000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FFFFFF"/>
                </a:solidFill>
                <a:latin typeface="Arial" pitchFamily="34"/>
                <a:ea typeface="Bitstream Vera Sans" pitchFamily="2"/>
                <a:cs typeface="Bitstream Vera Sans" pitchFamily="2"/>
              </a:rPr>
              <a:t>/dev/sda - RAID 5 de 400 GB</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page4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753B67-5735-7624-FC94-8DD7E8FB5689}"/>
              </a:ext>
            </a:extLst>
          </p:cNvPr>
          <p:cNvSpPr txBox="1">
            <a:spLocks noGrp="1"/>
          </p:cNvSpPr>
          <p:nvPr>
            <p:ph type="title" idx="4294967295"/>
          </p:nvPr>
        </p:nvSpPr>
        <p:spPr>
          <a:xfrm>
            <a:off x="741239" y="282600"/>
            <a:ext cx="8607600" cy="1262520"/>
          </a:xfrm>
        </p:spPr>
        <p:txBody>
          <a:bodyPr wrap="square" anchorCtr="0">
            <a:spAutoFit/>
          </a:bodyPr>
          <a:lstStyle/>
          <a:p>
            <a:pPr lvl="0"/>
            <a:r>
              <a:rPr lang="es-VE" sz="3600"/>
              <a:t>Particionamiento – Ejemplo B</a:t>
            </a:r>
          </a:p>
        </p:txBody>
      </p:sp>
      <p:sp>
        <p:nvSpPr>
          <p:cNvPr id="3" name="Freihandform: Form 2">
            <a:extLst>
              <a:ext uri="{FF2B5EF4-FFF2-40B4-BE49-F238E27FC236}">
                <a16:creationId xmlns:a16="http://schemas.microsoft.com/office/drawing/2014/main" id="{DA28F860-A3AD-D8CA-9FEF-9FD7E5BC7554}"/>
              </a:ext>
            </a:extLst>
          </p:cNvPr>
          <p:cNvSpPr/>
          <p:nvPr/>
        </p:nvSpPr>
        <p:spPr>
          <a:xfrm>
            <a:off x="782640" y="1998719"/>
            <a:ext cx="2638440" cy="341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/boot (ext3) 1 GB</a:t>
            </a:r>
          </a:p>
        </p:txBody>
      </p:sp>
      <p:sp>
        <p:nvSpPr>
          <p:cNvPr id="4" name="Freihandform: Form 3">
            <a:extLst>
              <a:ext uri="{FF2B5EF4-FFF2-40B4-BE49-F238E27FC236}">
                <a16:creationId xmlns:a16="http://schemas.microsoft.com/office/drawing/2014/main" id="{96B67F53-1D66-2982-47BB-787B1A1716AA}"/>
              </a:ext>
            </a:extLst>
          </p:cNvPr>
          <p:cNvSpPr/>
          <p:nvPr/>
        </p:nvSpPr>
        <p:spPr>
          <a:xfrm>
            <a:off x="3419640" y="1979640"/>
            <a:ext cx="6300720" cy="36035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LVM (60 - 1 GB)‏</a:t>
            </a:r>
          </a:p>
        </p:txBody>
      </p:sp>
      <p:sp>
        <p:nvSpPr>
          <p:cNvPr id="5" name="Freihandform: Form 4">
            <a:extLst>
              <a:ext uri="{FF2B5EF4-FFF2-40B4-BE49-F238E27FC236}">
                <a16:creationId xmlns:a16="http://schemas.microsoft.com/office/drawing/2014/main" id="{C60FE159-55F8-F4F9-6E10-B3FC565F29C3}"/>
              </a:ext>
            </a:extLst>
          </p:cNvPr>
          <p:cNvSpPr/>
          <p:nvPr/>
        </p:nvSpPr>
        <p:spPr>
          <a:xfrm>
            <a:off x="3419640" y="2340000"/>
            <a:ext cx="6300720" cy="36035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66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vg_interno (Volume Group)‏</a:t>
            </a:r>
          </a:p>
        </p:txBody>
      </p:sp>
      <p:sp>
        <p:nvSpPr>
          <p:cNvPr id="6" name="Freihandform: Form 5">
            <a:extLst>
              <a:ext uri="{FF2B5EF4-FFF2-40B4-BE49-F238E27FC236}">
                <a16:creationId xmlns:a16="http://schemas.microsoft.com/office/drawing/2014/main" id="{F2A01AE8-3CEE-904B-8404-A2D718EB1CBC}"/>
              </a:ext>
            </a:extLst>
          </p:cNvPr>
          <p:cNvSpPr/>
          <p:nvPr/>
        </p:nvSpPr>
        <p:spPr>
          <a:xfrm>
            <a:off x="2700360" y="504036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lv_xen0_raiz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 GB</a:t>
            </a:r>
          </a:p>
        </p:txBody>
      </p:sp>
      <p:sp>
        <p:nvSpPr>
          <p:cNvPr id="7" name="Freihandform: Form 6">
            <a:extLst>
              <a:ext uri="{FF2B5EF4-FFF2-40B4-BE49-F238E27FC236}">
                <a16:creationId xmlns:a16="http://schemas.microsoft.com/office/drawing/2014/main" id="{B000A5A7-2DF1-78CA-8976-57EE2BC93E91}"/>
              </a:ext>
            </a:extLst>
          </p:cNvPr>
          <p:cNvSpPr/>
          <p:nvPr/>
        </p:nvSpPr>
        <p:spPr>
          <a:xfrm>
            <a:off x="4319640" y="5040360"/>
            <a:ext cx="180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lv_xen0_var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50 GB</a:t>
            </a:r>
          </a:p>
        </p:txBody>
      </p:sp>
      <p:sp>
        <p:nvSpPr>
          <p:cNvPr id="8" name="Freihandform: Form 7">
            <a:extLst>
              <a:ext uri="{FF2B5EF4-FFF2-40B4-BE49-F238E27FC236}">
                <a16:creationId xmlns:a16="http://schemas.microsoft.com/office/drawing/2014/main" id="{46FC86FC-F92C-CA9F-A11E-F14AE240C613}"/>
              </a:ext>
            </a:extLst>
          </p:cNvPr>
          <p:cNvSpPr/>
          <p:nvPr/>
        </p:nvSpPr>
        <p:spPr>
          <a:xfrm>
            <a:off x="3419640" y="2700360"/>
            <a:ext cx="107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99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lv_raiz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 GB</a:t>
            </a:r>
          </a:p>
        </p:txBody>
      </p:sp>
      <p:sp>
        <p:nvSpPr>
          <p:cNvPr id="9" name="Freihandform: Form 8">
            <a:extLst>
              <a:ext uri="{FF2B5EF4-FFF2-40B4-BE49-F238E27FC236}">
                <a16:creationId xmlns:a16="http://schemas.microsoft.com/office/drawing/2014/main" id="{4C1E5E9B-8A3C-D78A-DB51-CA5C1ED46587}"/>
              </a:ext>
            </a:extLst>
          </p:cNvPr>
          <p:cNvSpPr/>
          <p:nvPr/>
        </p:nvSpPr>
        <p:spPr>
          <a:xfrm>
            <a:off x="4500720" y="2700360"/>
            <a:ext cx="107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99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lv_var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 GB</a:t>
            </a:r>
          </a:p>
        </p:txBody>
      </p:sp>
      <p:sp>
        <p:nvSpPr>
          <p:cNvPr id="10" name="Freihandform: Form 9">
            <a:extLst>
              <a:ext uri="{FF2B5EF4-FFF2-40B4-BE49-F238E27FC236}">
                <a16:creationId xmlns:a16="http://schemas.microsoft.com/office/drawing/2014/main" id="{56DFD5ED-E18C-D920-015D-61B3007E1588}"/>
              </a:ext>
            </a:extLst>
          </p:cNvPr>
          <p:cNvSpPr/>
          <p:nvPr/>
        </p:nvSpPr>
        <p:spPr>
          <a:xfrm>
            <a:off x="5559480" y="2709719"/>
            <a:ext cx="107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99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lv_tmp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1" name="Freihandform: Form 10">
            <a:extLst>
              <a:ext uri="{FF2B5EF4-FFF2-40B4-BE49-F238E27FC236}">
                <a16:creationId xmlns:a16="http://schemas.microsoft.com/office/drawing/2014/main" id="{A99B5547-FD80-FA4F-2FB9-763AEEF48216}"/>
              </a:ext>
            </a:extLst>
          </p:cNvPr>
          <p:cNvSpPr/>
          <p:nvPr/>
        </p:nvSpPr>
        <p:spPr>
          <a:xfrm>
            <a:off x="6624719" y="2700360"/>
            <a:ext cx="107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9966"/>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lv_swap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2" name="Freihandform: Form 11">
            <a:extLst>
              <a:ext uri="{FF2B5EF4-FFF2-40B4-BE49-F238E27FC236}">
                <a16:creationId xmlns:a16="http://schemas.microsoft.com/office/drawing/2014/main" id="{A687E76C-BAC7-8B86-19A3-F1689503C957}"/>
              </a:ext>
            </a:extLst>
          </p:cNvPr>
          <p:cNvSpPr/>
          <p:nvPr/>
        </p:nvSpPr>
        <p:spPr>
          <a:xfrm>
            <a:off x="6119640" y="5040360"/>
            <a:ext cx="180036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lv_xen0_tmp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3" name="Freihandform: Form 12">
            <a:extLst>
              <a:ext uri="{FF2B5EF4-FFF2-40B4-BE49-F238E27FC236}">
                <a16:creationId xmlns:a16="http://schemas.microsoft.com/office/drawing/2014/main" id="{578ED3E0-FA59-658A-3098-73F1445894E0}"/>
              </a:ext>
            </a:extLst>
          </p:cNvPr>
          <p:cNvSpPr/>
          <p:nvPr/>
        </p:nvSpPr>
        <p:spPr>
          <a:xfrm>
            <a:off x="7920000" y="5040360"/>
            <a:ext cx="180036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CC"/>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lv_xen0_swap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4" name="Freihandform: Form 13">
            <a:extLst>
              <a:ext uri="{FF2B5EF4-FFF2-40B4-BE49-F238E27FC236}">
                <a16:creationId xmlns:a16="http://schemas.microsoft.com/office/drawing/2014/main" id="{49F57498-D888-FDDF-458F-A57528D5585D}"/>
              </a:ext>
            </a:extLst>
          </p:cNvPr>
          <p:cNvSpPr/>
          <p:nvPr/>
        </p:nvSpPr>
        <p:spPr>
          <a:xfrm>
            <a:off x="2700360" y="5759280"/>
            <a:ext cx="161928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lv_xen1_raiz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 GB</a:t>
            </a:r>
          </a:p>
        </p:txBody>
      </p:sp>
      <p:sp>
        <p:nvSpPr>
          <p:cNvPr id="15" name="Freihandform: Form 14">
            <a:extLst>
              <a:ext uri="{FF2B5EF4-FFF2-40B4-BE49-F238E27FC236}">
                <a16:creationId xmlns:a16="http://schemas.microsoft.com/office/drawing/2014/main" id="{B6192CE0-3920-E787-4831-EAE1B05018DA}"/>
              </a:ext>
            </a:extLst>
          </p:cNvPr>
          <p:cNvSpPr/>
          <p:nvPr/>
        </p:nvSpPr>
        <p:spPr>
          <a:xfrm>
            <a:off x="4319640" y="5759280"/>
            <a:ext cx="180000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lv_xen1_var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100 GB</a:t>
            </a:r>
          </a:p>
        </p:txBody>
      </p:sp>
      <p:sp>
        <p:nvSpPr>
          <p:cNvPr id="16" name="Freihandform: Form 15">
            <a:extLst>
              <a:ext uri="{FF2B5EF4-FFF2-40B4-BE49-F238E27FC236}">
                <a16:creationId xmlns:a16="http://schemas.microsoft.com/office/drawing/2014/main" id="{B78AF654-28C7-2DA1-8CCE-5D579AD029AE}"/>
              </a:ext>
            </a:extLst>
          </p:cNvPr>
          <p:cNvSpPr/>
          <p:nvPr/>
        </p:nvSpPr>
        <p:spPr>
          <a:xfrm>
            <a:off x="6119640" y="5759280"/>
            <a:ext cx="180036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lv_xen1_tmp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7" name="Freihandform: Form 16">
            <a:extLst>
              <a:ext uri="{FF2B5EF4-FFF2-40B4-BE49-F238E27FC236}">
                <a16:creationId xmlns:a16="http://schemas.microsoft.com/office/drawing/2014/main" id="{71FD4000-4C06-31A0-8455-EAC329D6A1C0}"/>
              </a:ext>
            </a:extLst>
          </p:cNvPr>
          <p:cNvSpPr/>
          <p:nvPr/>
        </p:nvSpPr>
        <p:spPr>
          <a:xfrm>
            <a:off x="7920000" y="5759280"/>
            <a:ext cx="180036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lv_xen1_swap /</a:t>
            </a:r>
          </a:p>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2 GB</a:t>
            </a:r>
          </a:p>
        </p:txBody>
      </p:sp>
      <p:sp>
        <p:nvSpPr>
          <p:cNvPr id="18" name="Freihandform: Form 17">
            <a:extLst>
              <a:ext uri="{FF2B5EF4-FFF2-40B4-BE49-F238E27FC236}">
                <a16:creationId xmlns:a16="http://schemas.microsoft.com/office/drawing/2014/main" id="{5CFFB146-1F8A-E37B-B4E3-687BA27A716B}"/>
              </a:ext>
            </a:extLst>
          </p:cNvPr>
          <p:cNvSpPr/>
          <p:nvPr/>
        </p:nvSpPr>
        <p:spPr>
          <a:xfrm>
            <a:off x="2160720" y="2781360"/>
            <a:ext cx="1260360" cy="458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600" b="1" i="0" u="none" strike="noStrike" baseline="0">
                <a:ln>
                  <a:noFill/>
                </a:ln>
                <a:solidFill>
                  <a:srgbClr val="FFFFFF"/>
                </a:solidFill>
                <a:latin typeface="Arial" pitchFamily="34"/>
                <a:ea typeface="Bitstream Vera Sans" pitchFamily="2"/>
                <a:cs typeface="Bitstream Vera Sans" pitchFamily="2"/>
              </a:rPr>
              <a:t>Dom 0</a:t>
            </a:r>
          </a:p>
        </p:txBody>
      </p:sp>
      <p:sp>
        <p:nvSpPr>
          <p:cNvPr id="19" name="Freihandform: Form 18">
            <a:extLst>
              <a:ext uri="{FF2B5EF4-FFF2-40B4-BE49-F238E27FC236}">
                <a16:creationId xmlns:a16="http://schemas.microsoft.com/office/drawing/2014/main" id="{9D9915F2-06AA-05F3-0C1B-22A9F7EC8CD1}"/>
              </a:ext>
            </a:extLst>
          </p:cNvPr>
          <p:cNvSpPr/>
          <p:nvPr/>
        </p:nvSpPr>
        <p:spPr>
          <a:xfrm>
            <a:off x="900000" y="5219640"/>
            <a:ext cx="2160720" cy="3729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FFFFFF"/>
                </a:solidFill>
                <a:latin typeface="Arial" pitchFamily="34"/>
                <a:ea typeface="Bitstream Vera Sans" pitchFamily="2"/>
                <a:cs typeface="Bitstream Vera Sans" pitchFamily="2"/>
              </a:rPr>
              <a:t>Dom U (xen0)‏</a:t>
            </a:r>
          </a:p>
        </p:txBody>
      </p:sp>
      <p:sp>
        <p:nvSpPr>
          <p:cNvPr id="20" name="Freihandform: Form 19">
            <a:extLst>
              <a:ext uri="{FF2B5EF4-FFF2-40B4-BE49-F238E27FC236}">
                <a16:creationId xmlns:a16="http://schemas.microsoft.com/office/drawing/2014/main" id="{1FF0EA2E-0E1D-A684-50BD-4835570A3BDA}"/>
              </a:ext>
            </a:extLst>
          </p:cNvPr>
          <p:cNvSpPr/>
          <p:nvPr/>
        </p:nvSpPr>
        <p:spPr>
          <a:xfrm>
            <a:off x="900000" y="5940360"/>
            <a:ext cx="2160720" cy="3729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noAutofit/>
          </a:bodyPr>
          <a:lstStyle/>
          <a:p>
            <a:pPr marL="0" marR="0" lvl="0" indent="0" algn="l"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FFFFFF"/>
                </a:solidFill>
                <a:latin typeface="Arial" pitchFamily="34"/>
                <a:ea typeface="Bitstream Vera Sans" pitchFamily="2"/>
                <a:cs typeface="Bitstream Vera Sans" pitchFamily="2"/>
              </a:rPr>
              <a:t>Dom U (xen1)‏</a:t>
            </a:r>
          </a:p>
        </p:txBody>
      </p:sp>
      <p:sp>
        <p:nvSpPr>
          <p:cNvPr id="21" name="Freihandform: Form 20">
            <a:extLst>
              <a:ext uri="{FF2B5EF4-FFF2-40B4-BE49-F238E27FC236}">
                <a16:creationId xmlns:a16="http://schemas.microsoft.com/office/drawing/2014/main" id="{D0A8C270-84A5-DF1E-4D23-74BD65E8F7A6}"/>
              </a:ext>
            </a:extLst>
          </p:cNvPr>
          <p:cNvSpPr/>
          <p:nvPr/>
        </p:nvSpPr>
        <p:spPr>
          <a:xfrm>
            <a:off x="720719" y="1440000"/>
            <a:ext cx="8999640" cy="5396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000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FFFFFF"/>
                </a:solidFill>
                <a:latin typeface="Arial" pitchFamily="34"/>
                <a:ea typeface="Bitstream Vera Sans" pitchFamily="2"/>
                <a:cs typeface="Bitstream Vera Sans" pitchFamily="2"/>
              </a:rPr>
              <a:t>/dev/sda - RAID 1 de 60 GB</a:t>
            </a:r>
          </a:p>
        </p:txBody>
      </p:sp>
      <p:sp>
        <p:nvSpPr>
          <p:cNvPr id="22" name="Freihandform: Form 21">
            <a:extLst>
              <a:ext uri="{FF2B5EF4-FFF2-40B4-BE49-F238E27FC236}">
                <a16:creationId xmlns:a16="http://schemas.microsoft.com/office/drawing/2014/main" id="{24F137FE-926B-41FD-C9CE-AFE0CD4E34AD}"/>
              </a:ext>
            </a:extLst>
          </p:cNvPr>
          <p:cNvSpPr/>
          <p:nvPr/>
        </p:nvSpPr>
        <p:spPr>
          <a:xfrm>
            <a:off x="720719" y="3959279"/>
            <a:ext cx="8999640" cy="720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000000"/>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2000" b="1" i="0" u="none" strike="noStrike" baseline="0">
                <a:ln>
                  <a:noFill/>
                </a:ln>
                <a:solidFill>
                  <a:srgbClr val="FFFFFF"/>
                </a:solidFill>
                <a:latin typeface="Arial" pitchFamily="34"/>
                <a:ea typeface="Bitstream Vera Sans" pitchFamily="2"/>
                <a:cs typeface="Bitstream Vera Sans" pitchFamily="2"/>
              </a:rPr>
              <a:t>/dev/sdb - RAID 1 de 400 GB</a:t>
            </a:r>
          </a:p>
        </p:txBody>
      </p:sp>
      <p:sp>
        <p:nvSpPr>
          <p:cNvPr id="23" name="Freihandform: Form 22">
            <a:extLst>
              <a:ext uri="{FF2B5EF4-FFF2-40B4-BE49-F238E27FC236}">
                <a16:creationId xmlns:a16="http://schemas.microsoft.com/office/drawing/2014/main" id="{AC3A1016-40F9-696A-2A03-BC5C16FE257E}"/>
              </a:ext>
            </a:extLst>
          </p:cNvPr>
          <p:cNvSpPr/>
          <p:nvPr/>
        </p:nvSpPr>
        <p:spPr>
          <a:xfrm>
            <a:off x="720719" y="4699080"/>
            <a:ext cx="1979640" cy="341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/boot (ext3) 1 GB</a:t>
            </a:r>
          </a:p>
        </p:txBody>
      </p:sp>
      <p:sp>
        <p:nvSpPr>
          <p:cNvPr id="24" name="Freihandform: Form 23">
            <a:extLst>
              <a:ext uri="{FF2B5EF4-FFF2-40B4-BE49-F238E27FC236}">
                <a16:creationId xmlns:a16="http://schemas.microsoft.com/office/drawing/2014/main" id="{89DF114F-5353-2AF5-77A0-595AB13EA3A6}"/>
              </a:ext>
            </a:extLst>
          </p:cNvPr>
          <p:cNvSpPr/>
          <p:nvPr/>
        </p:nvSpPr>
        <p:spPr>
          <a:xfrm>
            <a:off x="2700360" y="4680000"/>
            <a:ext cx="7020000" cy="36035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9360">
            <a:solidFill>
              <a:srgbClr val="000000"/>
            </a:solidFill>
            <a:prstDash val="solid"/>
            <a:round/>
          </a:ln>
        </p:spPr>
        <p:txBody>
          <a:bodyPr vert="horz" wrap="none" lIns="90000" tIns="45000" rIns="90000" bIns="45000" anchor="ctr" anchorCtr="0" compatLnSpc="1">
            <a:noAutofit/>
          </a:bodyPr>
          <a:lstStyle/>
          <a:p>
            <a:pPr marL="0" marR="0" lvl="0" indent="0" algn="ctr" rtl="0" hangingPunct="0">
              <a:lnSpc>
                <a:spcPct val="93000"/>
              </a:lnSpc>
              <a:spcBef>
                <a:spcPts val="0"/>
              </a:spcBef>
              <a:spcAft>
                <a:spcPts val="0"/>
              </a:spcAft>
              <a:buNone/>
              <a:tabLst>
                <a:tab pos="0" algn="l"/>
                <a:tab pos="448919" algn="l"/>
                <a:tab pos="898199" algn="l"/>
                <a:tab pos="1347480" algn="l"/>
                <a:tab pos="1796760" algn="l"/>
                <a:tab pos="2246040" algn="l"/>
                <a:tab pos="2695320" algn="l"/>
                <a:tab pos="3144600" algn="l"/>
                <a:tab pos="3593880" algn="l"/>
                <a:tab pos="4043159" algn="l"/>
                <a:tab pos="4492440" algn="l"/>
                <a:tab pos="4941719" algn="l"/>
                <a:tab pos="5391000" algn="l"/>
                <a:tab pos="5840280" algn="l"/>
                <a:tab pos="6289560" algn="l"/>
                <a:tab pos="6738840" algn="l"/>
                <a:tab pos="7188120" algn="l"/>
                <a:tab pos="7637400" algn="l"/>
                <a:tab pos="8086679" algn="l"/>
                <a:tab pos="8535960" algn="l"/>
                <a:tab pos="8985240" algn="l"/>
              </a:tabLst>
            </a:pPr>
            <a:r>
              <a:rPr lang="es-VE" sz="1800" b="0" i="0" u="none" strike="noStrike" baseline="0">
                <a:ln>
                  <a:noFill/>
                </a:ln>
                <a:solidFill>
                  <a:srgbClr val="000000"/>
                </a:solidFill>
                <a:latin typeface="Arial" pitchFamily="34"/>
                <a:ea typeface="Bitstream Vera Sans" pitchFamily="2"/>
                <a:cs typeface="Bitstream Vera Sans" pitchFamily="2"/>
              </a:rPr>
              <a:t>LVM (400 - 1 GB)‏</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page4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874F7D-BD1A-45C9-119C-0C776F9C44BE}"/>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Configuración de LVM</a:t>
            </a:r>
          </a:p>
        </p:txBody>
      </p:sp>
      <p:sp>
        <p:nvSpPr>
          <p:cNvPr id="3" name="Textplatzhalter 2">
            <a:extLst>
              <a:ext uri="{FF2B5EF4-FFF2-40B4-BE49-F238E27FC236}">
                <a16:creationId xmlns:a16="http://schemas.microsoft.com/office/drawing/2014/main" id="{67F73335-CDB8-E33E-9B55-6100D29F4A53}"/>
              </a:ext>
            </a:extLst>
          </p:cNvPr>
          <p:cNvSpPr txBox="1">
            <a:spLocks noGrp="1"/>
          </p:cNvSpPr>
          <p:nvPr>
            <p:ph type="body" idx="4294967295"/>
          </p:nvPr>
        </p:nvSpPr>
        <p:spPr>
          <a:xfrm>
            <a:off x="766800" y="1633680"/>
            <a:ext cx="8772480" cy="484632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Los comandos pv+TAB, vg+TAB y lv+TAB, consultar man de cada uno y man lvm.</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Antes de utilizar un disco o partición con lvm se debe inicializar con:</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pvcreate /dev/sda.</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Es preferible instalar LVM v2 (Debian 5.0 Lenny) desde el repositorio oficial.</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b="1">
                <a:solidFill>
                  <a:srgbClr val="FFFF00"/>
                </a:solidFill>
              </a:rPr>
              <a:t>SEGUIREMOS EL EJEMPLO A DE PARTICIONAMIENTO</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page4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E017B6-24D4-DA86-B5F2-95064DA103CD}"/>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Configuración de LVM</a:t>
            </a:r>
          </a:p>
        </p:txBody>
      </p:sp>
      <p:sp>
        <p:nvSpPr>
          <p:cNvPr id="3" name="Textplatzhalter 2">
            <a:extLst>
              <a:ext uri="{FF2B5EF4-FFF2-40B4-BE49-F238E27FC236}">
                <a16:creationId xmlns:a16="http://schemas.microsoft.com/office/drawing/2014/main" id="{D14F9485-8DD6-E48A-E593-AB02A710DAFC}"/>
              </a:ext>
            </a:extLst>
          </p:cNvPr>
          <p:cNvSpPr txBox="1">
            <a:spLocks noGrp="1"/>
          </p:cNvSpPr>
          <p:nvPr>
            <p:ph type="body" idx="4294967295"/>
          </p:nvPr>
        </p:nvSpPr>
        <p:spPr>
          <a:xfrm>
            <a:off x="720719" y="1375919"/>
            <a:ext cx="8772480" cy="492300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Secuencia normal de creación de volúmenes lógicos (sino se realiza durante la instalación del sistema operativo):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 lv_create -n lv_xen0_raiz -L 10 GB /dev/sda vg_interno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 mkfs.ext3 /dev/vg_interno/lv_xen0_raiz</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 lv_create -n lv_xen0_swap -L 2GB /dev/sda vg_interno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 mkswap /dev/vg_interno/lv_xen0_raiz</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Repetir para cada volumen lógico (lv).</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page4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6A54A3-8470-1B9B-6134-9A217565FE3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Copiar y modificar archivos de máquinas virtuales</a:t>
            </a:r>
          </a:p>
        </p:txBody>
      </p:sp>
      <p:sp>
        <p:nvSpPr>
          <p:cNvPr id="3" name="Textplatzhalter 2">
            <a:extLst>
              <a:ext uri="{FF2B5EF4-FFF2-40B4-BE49-F238E27FC236}">
                <a16:creationId xmlns:a16="http://schemas.microsoft.com/office/drawing/2014/main" id="{B686A89E-E4D4-046C-5BA0-B398C96338AF}"/>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mkdir -p /mnt/xen0/{raiz, var, tmp}</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cd /mnt/xen0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mount /dev/vg-interno/lv-xen0_raiz raiz</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mount /dev/vg-interno/lv_xen0_var var</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cp -ax / /mnt/xen0/raiz</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cp -ax /var/* /mnt/xen0/var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page4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99D150-DCEE-C4EF-D35C-A37BDDEFB904}"/>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Copiar y modificar archivos de Máquinas Virtuales</a:t>
            </a:r>
          </a:p>
        </p:txBody>
      </p:sp>
      <p:sp>
        <p:nvSpPr>
          <p:cNvPr id="3" name="Textplatzhalter 2">
            <a:extLst>
              <a:ext uri="{FF2B5EF4-FFF2-40B4-BE49-F238E27FC236}">
                <a16:creationId xmlns:a16="http://schemas.microsoft.com/office/drawing/2014/main" id="{7B170C24-31D9-271C-90FB-F0A3EC2332B6}"/>
              </a:ext>
            </a:extLst>
          </p:cNvPr>
          <p:cNvSpPr txBox="1">
            <a:spLocks noGrp="1"/>
          </p:cNvSpPr>
          <p:nvPr>
            <p:ph type="body" idx="4294967295"/>
          </p:nvPr>
        </p:nvSpPr>
        <p:spPr>
          <a:xfrm>
            <a:off x="741239" y="1963440"/>
            <a:ext cx="8772480" cy="497844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Eliminamos los directorios copiados de / a /mnt/xen0/raiz si no son necesarios.</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Editamos los archivos de configuración de Xen0:</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/etc/inittab (tty)‏</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/etc/securetty (hvc0 y xvc0)‏</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/etc/fstab (xvda's)‏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/etc/hosts (nombre del equipo, alias e IP)‏</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/etc/hostname (nombre del equipo)‏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/etc/resolv.conf (IP servidor de DNS)‏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/etc/network/interfaces (eth0)‏</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/etc/sysctl.conf (sincronización del reloj - clock)‏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page4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BC7E0F-BFAF-CFD9-F36D-00F59DA848C1}"/>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Copiar y modificar archivos de Máquinas Virtuales</a:t>
            </a:r>
          </a:p>
        </p:txBody>
      </p:sp>
      <p:sp>
        <p:nvSpPr>
          <p:cNvPr id="3" name="Textplatzhalter 2">
            <a:extLst>
              <a:ext uri="{FF2B5EF4-FFF2-40B4-BE49-F238E27FC236}">
                <a16:creationId xmlns:a16="http://schemas.microsoft.com/office/drawing/2014/main" id="{E6A5ED18-8D28-D3F5-1053-054E7B2CC224}"/>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En el /etc/inittab, verificamos la redirecciones de la salida de la consola tty1 de la máquina virtual a la cónsola del Hypervisor (o no se podrá hacer login vía el comando xm console xen0).</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“1:2345:respawn:/sbin/getty 38400 hvc0”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En el /etc/securetty verificamos que existan las líneas con “xvc0” y “hvc0”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En el archivo /etc/sysctl.conf agregar las líneas para evitar la sincronización del reloj dom0 vs. domU:</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xen.independent_wallclock=1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page4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DBAA13-C632-BFF6-4F94-FAB09AEA56A2}"/>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Copiar y modificar archivos de Máquinas Virtuales</a:t>
            </a:r>
          </a:p>
        </p:txBody>
      </p:sp>
      <p:sp>
        <p:nvSpPr>
          <p:cNvPr id="3" name="Textplatzhalter 2">
            <a:extLst>
              <a:ext uri="{FF2B5EF4-FFF2-40B4-BE49-F238E27FC236}">
                <a16:creationId xmlns:a16="http://schemas.microsoft.com/office/drawing/2014/main" id="{3D0EB9C7-3468-3038-0975-3D6E97B282A0}"/>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Opcionalmente si se presentan mensajes de error por dmesg sobre sincrronización del error o hay problemas durante el booteo:</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“chmod -x /etc/init.d/hwclock*”</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Para cambiar la hora del sistema se debe usar el comando hwclock (man hwclock, forear o googlear).</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También se puede utiliza ntpdate para sincronizar con un servidor del tiempo (forear o googlear).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page5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4F9650-E484-EE74-A21F-D2908AE62B29}"/>
              </a:ext>
            </a:extLst>
          </p:cNvPr>
          <p:cNvSpPr txBox="1">
            <a:spLocks noGrp="1"/>
          </p:cNvSpPr>
          <p:nvPr>
            <p:ph type="title" idx="4294967295"/>
          </p:nvPr>
        </p:nvSpPr>
        <p:spPr>
          <a:xfrm>
            <a:off x="740879" y="326880"/>
            <a:ext cx="8605800" cy="1170360"/>
          </a:xfrm>
        </p:spPr>
        <p:txBody>
          <a:bodyPr wrap="square" anchorCtr="0">
            <a:spAutoFit/>
          </a:bodyPr>
          <a:lstStyle/>
          <a:p>
            <a:pPr lvl="0"/>
            <a:r>
              <a:rPr lang="es-VE"/>
              <a:t>Copiar y modificar archivos de Máquinas Virtuales</a:t>
            </a:r>
          </a:p>
        </p:txBody>
      </p:sp>
      <p:sp>
        <p:nvSpPr>
          <p:cNvPr id="3" name="Textplatzhalter 2">
            <a:extLst>
              <a:ext uri="{FF2B5EF4-FFF2-40B4-BE49-F238E27FC236}">
                <a16:creationId xmlns:a16="http://schemas.microsoft.com/office/drawing/2014/main" id="{4B025226-3341-6F09-4081-E62189F0F767}"/>
              </a:ext>
            </a:extLst>
          </p:cNvPr>
          <p:cNvSpPr txBox="1">
            <a:spLocks noGrp="1"/>
          </p:cNvSpPr>
          <p:nvPr>
            <p:ph type="body" idx="4294967295"/>
          </p:nvPr>
        </p:nvSpPr>
        <p:spPr>
          <a:xfrm>
            <a:off x="741239" y="1963800"/>
            <a:ext cx="8771040" cy="4935600"/>
          </a:xfrm>
        </p:spPr>
        <p:txBody>
          <a:bodyPr wrap="square" anchor="t" anchorCtr="0"/>
          <a:lstStyle/>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sz="2000"/>
              <a:t># /etc/fstab: static file system information.</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sz="2000"/>
              <a:t># &lt;file system&gt; &lt;mount point&gt;   &lt;type&gt;  &lt;options&gt;       &lt;dump&gt;  &lt;pass&gt;</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sz="2000"/>
              <a:t>proc            /proc           proc    defaults        0       0</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sz="2000"/>
              <a:t>/dev/xvda1      /               ext3    errors=remount-ro 0       1</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sz="2000"/>
              <a:t>/dev/xvda2      /var            ext3    defaults        0       2</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sz="2000"/>
              <a:t>/dev/xvda3      /tmp            ext3    defaults        0       2</a:t>
            </a:r>
          </a:p>
          <a:p>
            <a:pPr marL="430200" lvl="0" indent="-324000">
              <a:tabLst>
                <a:tab pos="430200" algn="l"/>
                <a:tab pos="465120" algn="l"/>
                <a:tab pos="914040" algn="l"/>
                <a:tab pos="1363319" algn="l"/>
                <a:tab pos="1812600" algn="l"/>
                <a:tab pos="2261880" algn="l"/>
                <a:tab pos="2711160" algn="l"/>
                <a:tab pos="3160440" algn="l"/>
                <a:tab pos="3609720" algn="l"/>
                <a:tab pos="4059000" algn="l"/>
                <a:tab pos="4508280" algn="l"/>
                <a:tab pos="4957560" algn="l"/>
                <a:tab pos="5406840" algn="l"/>
                <a:tab pos="5856120" algn="l"/>
                <a:tab pos="6305400" algn="l"/>
                <a:tab pos="6754679" algn="l"/>
                <a:tab pos="7203960" algn="l"/>
                <a:tab pos="7653240" algn="l"/>
                <a:tab pos="8102520" algn="l"/>
                <a:tab pos="8551800" algn="l"/>
                <a:tab pos="8686440" algn="l"/>
                <a:tab pos="8984880" algn="l"/>
                <a:tab pos="9434160" algn="l"/>
                <a:tab pos="9883440" algn="l"/>
                <a:tab pos="10332720" algn="l"/>
                <a:tab pos="10782000" algn="l"/>
              </a:tabLst>
            </a:pPr>
            <a:r>
              <a:rPr lang="es-VE" sz="2000"/>
              <a:t>/dev/xvda4	none            swap    sw              0       0</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endParaRPr lang="es-VE" sz="20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page5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519549-8BC0-CC2B-E098-7BF742789DD3}"/>
              </a:ext>
            </a:extLst>
          </p:cNvPr>
          <p:cNvSpPr txBox="1">
            <a:spLocks noGrp="1"/>
          </p:cNvSpPr>
          <p:nvPr>
            <p:ph type="title" idx="4294967295"/>
          </p:nvPr>
        </p:nvSpPr>
        <p:spPr>
          <a:xfrm>
            <a:off x="740879" y="326880"/>
            <a:ext cx="8605800" cy="1170360"/>
          </a:xfrm>
        </p:spPr>
        <p:txBody>
          <a:bodyPr wrap="square" anchorCtr="0">
            <a:spAutoFit/>
          </a:bodyPr>
          <a:lstStyle/>
          <a:p>
            <a:pPr lvl="0"/>
            <a:r>
              <a:rPr lang="es-VE"/>
              <a:t>Copiar y modificar archivos de Máquinas Virtuales</a:t>
            </a:r>
          </a:p>
        </p:txBody>
      </p:sp>
      <p:sp>
        <p:nvSpPr>
          <p:cNvPr id="3" name="Textplatzhalter 2">
            <a:extLst>
              <a:ext uri="{FF2B5EF4-FFF2-40B4-BE49-F238E27FC236}">
                <a16:creationId xmlns:a16="http://schemas.microsoft.com/office/drawing/2014/main" id="{BF2887AF-A6E9-DF3B-3C33-570E889BF843}"/>
              </a:ext>
            </a:extLst>
          </p:cNvPr>
          <p:cNvSpPr txBox="1">
            <a:spLocks noGrp="1"/>
          </p:cNvSpPr>
          <p:nvPr>
            <p:ph type="body" idx="4294967295"/>
          </p:nvPr>
        </p:nvSpPr>
        <p:spPr>
          <a:xfrm>
            <a:off x="741239" y="1963800"/>
            <a:ext cx="8771040" cy="4935600"/>
          </a:xfrm>
        </p:spPr>
        <p:txBody>
          <a:bodyPr wrap="square" anchor="t" anchorCtr="0"/>
          <a:lstStyle/>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 The loopback network interface</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auto lo</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iface lo inet loopback</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endParaRPr lang="es-VE"/>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 The primary network interface eth0</a:t>
            </a:r>
            <a:br>
              <a:rPr lang="es-VE"/>
            </a:br>
            <a:r>
              <a:rPr lang="es-VE"/>
              <a:t># Using Xen NAT network configuration</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allow-hotplug eth0</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iface eth0 inet static</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address 10.0.0.1</a:t>
            </a:r>
          </a:p>
          <a:p>
            <a:pPr marL="430200" lvl="0" indent="-324000">
              <a:tabLst>
                <a:tab pos="430200" algn="l"/>
                <a:tab pos="465120" algn="l"/>
                <a:tab pos="914040" algn="l"/>
                <a:tab pos="1363319" algn="l"/>
                <a:tab pos="1812600" algn="l"/>
                <a:tab pos="2261880" algn="l"/>
                <a:tab pos="2711160" algn="l"/>
                <a:tab pos="3160440" algn="l"/>
                <a:tab pos="3609720" algn="l"/>
                <a:tab pos="4059000" algn="l"/>
                <a:tab pos="4508280" algn="l"/>
                <a:tab pos="4957560" algn="l"/>
                <a:tab pos="5406840" algn="l"/>
                <a:tab pos="5856120" algn="l"/>
                <a:tab pos="6305400" algn="l"/>
                <a:tab pos="6754679" algn="l"/>
                <a:tab pos="7203960" algn="l"/>
                <a:tab pos="7653240" algn="l"/>
                <a:tab pos="8102520" algn="l"/>
                <a:tab pos="8551800" algn="l"/>
                <a:tab pos="8686440" algn="l"/>
                <a:tab pos="8984880" algn="l"/>
                <a:tab pos="9434160" algn="l"/>
                <a:tab pos="9883440" algn="l"/>
                <a:tab pos="10332720" algn="l"/>
                <a:tab pos="10782000" algn="l"/>
              </a:tabLst>
            </a:pPr>
            <a:r>
              <a:rPr lang="es-VE"/>
              <a:t>netmask	255.0.0.0</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gateway 10.0.0.254</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r>
              <a:rPr lang="es-VE"/>
              <a:t>auto eth0</a:t>
            </a:r>
          </a:p>
          <a:p>
            <a:pPr marL="430200" lvl="0" indent="-324000">
              <a:tabLst>
                <a:tab pos="430200" algn="l"/>
                <a:tab pos="536400" algn="l"/>
                <a:tab pos="985680" algn="l"/>
                <a:tab pos="1434960" algn="l"/>
                <a:tab pos="1884240" algn="l"/>
                <a:tab pos="2333520" algn="l"/>
                <a:tab pos="2782800" algn="l"/>
                <a:tab pos="3232080" algn="l"/>
                <a:tab pos="3681359" algn="l"/>
                <a:tab pos="4130640" algn="l"/>
                <a:tab pos="4579919" algn="l"/>
                <a:tab pos="5028840" algn="l"/>
                <a:tab pos="5478120" algn="l"/>
                <a:tab pos="5927400" algn="l"/>
                <a:tab pos="6376680" algn="l"/>
                <a:tab pos="6825959" algn="l"/>
                <a:tab pos="7275240" algn="l"/>
                <a:tab pos="7724519" algn="l"/>
                <a:tab pos="8173800" algn="l"/>
                <a:tab pos="8623080" algn="l"/>
                <a:tab pos="9072360" algn="l"/>
              </a:tabLst>
            </a:pPr>
            <a:endParaRPr lang="es-V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page5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D814FA-638D-A41F-06E7-E6458C2EA0DC}"/>
              </a:ext>
            </a:extLst>
          </p:cNvPr>
          <p:cNvSpPr txBox="1">
            <a:spLocks noGrp="1"/>
          </p:cNvSpPr>
          <p:nvPr>
            <p:ph type="title" idx="4294967295"/>
          </p:nvPr>
        </p:nvSpPr>
        <p:spPr>
          <a:xfrm>
            <a:off x="740879" y="326880"/>
            <a:ext cx="8605800" cy="1170360"/>
          </a:xfrm>
        </p:spPr>
        <p:txBody>
          <a:bodyPr wrap="square" anchorCtr="0">
            <a:spAutoFit/>
          </a:bodyPr>
          <a:lstStyle/>
          <a:p>
            <a:pPr lvl="0"/>
            <a:r>
              <a:rPr lang="es-VE"/>
              <a:t>Copiar y modificar archivos de Máquinas Virtuales</a:t>
            </a:r>
          </a:p>
        </p:txBody>
      </p:sp>
      <p:sp>
        <p:nvSpPr>
          <p:cNvPr id="3" name="Textplatzhalter 2">
            <a:extLst>
              <a:ext uri="{FF2B5EF4-FFF2-40B4-BE49-F238E27FC236}">
                <a16:creationId xmlns:a16="http://schemas.microsoft.com/office/drawing/2014/main" id="{EBFF7D7F-B5D9-A9FC-2729-6DA43B45EE9D}"/>
              </a:ext>
            </a:extLst>
          </p:cNvPr>
          <p:cNvSpPr txBox="1">
            <a:spLocks noGrp="1"/>
          </p:cNvSpPr>
          <p:nvPr>
            <p:ph type="body" idx="4294967295"/>
          </p:nvPr>
        </p:nvSpPr>
        <p:spPr>
          <a:xfrm>
            <a:off x="741239" y="1963800"/>
            <a:ext cx="8771040" cy="493560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En el /etc/hosts añadir estas líneas:</a:t>
            </a:r>
          </a:p>
          <a:p>
            <a:pPr marL="0" lvl="1" indent="0" hangingPunct="0">
              <a:lnSpc>
                <a:spcPct val="93000"/>
              </a:lnSpc>
              <a:spcBef>
                <a:spcPts val="0"/>
              </a:spcBef>
              <a:spcAft>
                <a:spcPts val="1423"/>
              </a:spcAft>
              <a:buClr>
                <a:srgbClr val="E6E6E6"/>
              </a:buClr>
              <a:buSzPct val="75000"/>
              <a:buFont typeface="Symbol" pitchFamily="2"/>
              <a:buChar char=""/>
              <a:tabLst>
                <a:tab pos="33120" algn="l"/>
                <a:tab pos="482400" algn="l"/>
                <a:tab pos="931680" algn="l"/>
                <a:tab pos="1380959" algn="l"/>
                <a:tab pos="1830239" algn="l"/>
                <a:tab pos="2279520" algn="l"/>
                <a:tab pos="2728800" algn="l"/>
                <a:tab pos="3178080" algn="l"/>
                <a:tab pos="3627360" algn="l"/>
                <a:tab pos="4076640" algn="l"/>
                <a:tab pos="4525920" algn="l"/>
                <a:tab pos="4975200" algn="l"/>
                <a:tab pos="5424480" algn="l"/>
                <a:tab pos="5873400" algn="l"/>
                <a:tab pos="6322680" algn="l"/>
                <a:tab pos="6771960" algn="l"/>
                <a:tab pos="7221240" algn="l"/>
                <a:tab pos="7670520" algn="l"/>
                <a:tab pos="8119800" algn="l"/>
                <a:tab pos="8123040" algn="l"/>
                <a:tab pos="8572320" algn="l"/>
                <a:tab pos="9021600" algn="l"/>
                <a:tab pos="9470880" algn="l"/>
                <a:tab pos="9920160" algn="l"/>
              </a:tabLst>
            </a:pPr>
            <a:r>
              <a:rPr lang="es-VE" sz="3200">
                <a:solidFill>
                  <a:srgbClr val="E6E6E6"/>
                </a:solidFill>
                <a:latin typeface="Times New Roman" pitchFamily="18"/>
              </a:rPr>
              <a:t>127.0.0.1	localhost</a:t>
            </a:r>
          </a:p>
          <a:p>
            <a:pPr marL="0" lvl="1" indent="0" hangingPunct="0">
              <a:lnSpc>
                <a:spcPct val="93000"/>
              </a:lnSpc>
              <a:spcBef>
                <a:spcPts val="0"/>
              </a:spcBef>
              <a:spcAft>
                <a:spcPts val="1423"/>
              </a:spcAft>
              <a:buClr>
                <a:srgbClr val="E6E6E6"/>
              </a:buClr>
              <a:buSzPct val="75000"/>
              <a:buFont typeface="Symbol" pitchFamily="2"/>
              <a:buChar char=""/>
              <a:tabLst>
                <a:tab pos="33120" algn="l"/>
                <a:tab pos="482400" algn="l"/>
                <a:tab pos="931680" algn="l"/>
                <a:tab pos="1380959" algn="l"/>
                <a:tab pos="1830239" algn="l"/>
                <a:tab pos="2279520" algn="l"/>
                <a:tab pos="2728800" algn="l"/>
                <a:tab pos="3178080" algn="l"/>
                <a:tab pos="3627360" algn="l"/>
                <a:tab pos="4076640" algn="l"/>
                <a:tab pos="4525920" algn="l"/>
                <a:tab pos="4975200" algn="l"/>
                <a:tab pos="5424480" algn="l"/>
                <a:tab pos="5873400" algn="l"/>
                <a:tab pos="6322680" algn="l"/>
                <a:tab pos="6771960" algn="l"/>
                <a:tab pos="7221240" algn="l"/>
                <a:tab pos="7670520" algn="l"/>
                <a:tab pos="8119800" algn="l"/>
                <a:tab pos="8123040" algn="l"/>
                <a:tab pos="8572320" algn="l"/>
                <a:tab pos="9021600" algn="l"/>
                <a:tab pos="9470880" algn="l"/>
                <a:tab pos="9920160" algn="l"/>
              </a:tabLst>
            </a:pPr>
            <a:r>
              <a:rPr lang="es-VE" sz="3200">
                <a:solidFill>
                  <a:srgbClr val="E6E6E6"/>
                </a:solidFill>
                <a:latin typeface="Times New Roman" pitchFamily="18"/>
              </a:rPr>
              <a:t>10.0.0.1	xen1.localdomain	xen1</a:t>
            </a:r>
          </a:p>
          <a:p>
            <a:pPr marL="0" lvl="1" indent="0" hangingPunct="0">
              <a:lnSpc>
                <a:spcPct val="93000"/>
              </a:lnSpc>
              <a:spcBef>
                <a:spcPts val="0"/>
              </a:spcBef>
              <a:spcAft>
                <a:spcPts val="1423"/>
              </a:spcAft>
              <a:buClr>
                <a:srgbClr val="E6E6E6"/>
              </a:buClr>
              <a:buSzPct val="75000"/>
              <a:buFont typeface="Symbol" pitchFamily="2"/>
              <a:buChar char=""/>
              <a:tabLst>
                <a:tab pos="33120" algn="l"/>
                <a:tab pos="482400" algn="l"/>
                <a:tab pos="931680" algn="l"/>
                <a:tab pos="1380959" algn="l"/>
                <a:tab pos="1830239" algn="l"/>
                <a:tab pos="2279520" algn="l"/>
                <a:tab pos="2728800" algn="l"/>
                <a:tab pos="3178080" algn="l"/>
                <a:tab pos="3627360" algn="l"/>
                <a:tab pos="4076640" algn="l"/>
                <a:tab pos="4525920" algn="l"/>
                <a:tab pos="4975200" algn="l"/>
                <a:tab pos="5424480" algn="l"/>
                <a:tab pos="5873400" algn="l"/>
                <a:tab pos="6322680" algn="l"/>
                <a:tab pos="6771960" algn="l"/>
                <a:tab pos="7221240" algn="l"/>
                <a:tab pos="7670520" algn="l"/>
                <a:tab pos="8119800" algn="l"/>
                <a:tab pos="8123040" algn="l"/>
                <a:tab pos="8572320" algn="l"/>
                <a:tab pos="9021600" algn="l"/>
                <a:tab pos="9470880" algn="l"/>
                <a:tab pos="9920160" algn="l"/>
              </a:tabLst>
            </a:pPr>
            <a:r>
              <a:rPr lang="es-VE" sz="3200">
                <a:solidFill>
                  <a:srgbClr val="E6E6E6"/>
                </a:solidFill>
                <a:latin typeface="Times New Roman" pitchFamily="18"/>
              </a:rPr>
              <a:t>10.0.0.2	xen2.localdomain	xen2</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En el /etc/hostname colocar:</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Xen1</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Los nombres de DNS son prácticamente internos debido al NAT y a la red privada detrás del NAT.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page5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ADF28F-1182-0C39-FDD5-2813E4BC5DA0}"/>
              </a:ext>
            </a:extLst>
          </p:cNvPr>
          <p:cNvSpPr txBox="1">
            <a:spLocks noGrp="1"/>
          </p:cNvSpPr>
          <p:nvPr>
            <p:ph type="title" idx="4294967295"/>
          </p:nvPr>
        </p:nvSpPr>
        <p:spPr>
          <a:xfrm>
            <a:off x="741239" y="282600"/>
            <a:ext cx="8607600" cy="1262520"/>
          </a:xfrm>
        </p:spPr>
        <p:txBody>
          <a:bodyPr wrap="square" anchorCtr="0">
            <a:spAutoFit/>
          </a:bodyPr>
          <a:lstStyle/>
          <a:p>
            <a:pPr lvl="0"/>
            <a:r>
              <a:rPr lang="es-VE"/>
              <a:t>Instalación de Xen</a:t>
            </a:r>
          </a:p>
        </p:txBody>
      </p:sp>
      <p:sp>
        <p:nvSpPr>
          <p:cNvPr id="3" name="Textplatzhalter 2">
            <a:extLst>
              <a:ext uri="{FF2B5EF4-FFF2-40B4-BE49-F238E27FC236}">
                <a16:creationId xmlns:a16="http://schemas.microsoft.com/office/drawing/2014/main" id="{A547F7AE-67D8-04F5-24C6-37A7381C60D3}"/>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Ejecutamos apt-get install xen-linux-system</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Copiamos el directorio /lib a la partición / de cada máquina virtual:</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cp -ax /lib /mnt/xen0/raiz</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Reiniciamos e iniciamos con la opción Linux Xen, la cual, debería ser la primera en el gestor de arranque GRUB.</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page5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DD9FCE-917D-8ECF-58FA-95EFDA65684B}"/>
              </a:ext>
            </a:extLst>
          </p:cNvPr>
          <p:cNvSpPr txBox="1">
            <a:spLocks noGrp="1"/>
          </p:cNvSpPr>
          <p:nvPr>
            <p:ph type="title" idx="4294967295"/>
          </p:nvPr>
        </p:nvSpPr>
        <p:spPr>
          <a:xfrm>
            <a:off x="741239" y="282600"/>
            <a:ext cx="8607600" cy="1262520"/>
          </a:xfrm>
        </p:spPr>
        <p:txBody>
          <a:bodyPr wrap="square" anchorCtr="0">
            <a:spAutoFit/>
          </a:bodyPr>
          <a:lstStyle/>
          <a:p>
            <a:pPr lvl="0"/>
            <a:r>
              <a:rPr lang="es-VE"/>
              <a:t>Modificar archivos de dom 0</a:t>
            </a:r>
          </a:p>
        </p:txBody>
      </p:sp>
      <p:sp>
        <p:nvSpPr>
          <p:cNvPr id="3" name="Textplatzhalter 2">
            <a:extLst>
              <a:ext uri="{FF2B5EF4-FFF2-40B4-BE49-F238E27FC236}">
                <a16:creationId xmlns:a16="http://schemas.microsoft.com/office/drawing/2014/main" id="{7E009712-9FA7-0B61-B23A-69ABDD25F5FA}"/>
              </a:ext>
            </a:extLst>
          </p:cNvPr>
          <p:cNvSpPr txBox="1">
            <a:spLocks noGrp="1"/>
          </p:cNvSpPr>
          <p:nvPr>
            <p:ph type="body" idx="4294967295"/>
          </p:nvPr>
        </p:nvSpPr>
        <p:spPr>
          <a:xfrm>
            <a:off x="720719" y="1650960"/>
            <a:ext cx="8772480" cy="500400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En el archivo /etc/xen/xen0 agregar la línea:</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extra="clocksource=jiffies"</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En el /boot/grub/menu.lst colocar en la línea del kernel lo siguiente (Ver sección del manual “Xen Boot Options”):</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kernel noreboot</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Actualizar el gestor de arranque GRUB, con update-grub (o grub-install, ver contenido de /proc/partitions y /boot/grub/device.map)‏</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E6E6E6"/>
                </a:solidFill>
                <a:latin typeface="Times New Roman" pitchFamily="18"/>
              </a:rPr>
              <a:t>Si hay fallo en el booteo y se desean ver los mensajes de depuración, colocar (y actualizar el grub):</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kernel noreboot sync_console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page5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B6A99B-F582-53A9-72D4-07D8841C3A8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Modificar archivos del dom 0</a:t>
            </a:r>
          </a:p>
        </p:txBody>
      </p:sp>
      <p:sp>
        <p:nvSpPr>
          <p:cNvPr id="3" name="Textplatzhalter 2">
            <a:extLst>
              <a:ext uri="{FF2B5EF4-FFF2-40B4-BE49-F238E27FC236}">
                <a16:creationId xmlns:a16="http://schemas.microsoft.com/office/drawing/2014/main" id="{1C7D2476-9738-6F2B-9404-6C357DDF2822}"/>
              </a:ext>
            </a:extLst>
          </p:cNvPr>
          <p:cNvSpPr txBox="1">
            <a:spLocks noGrp="1"/>
          </p:cNvSpPr>
          <p:nvPr>
            <p:ph type="body" idx="4294967295"/>
          </p:nvPr>
        </p:nvSpPr>
        <p:spPr>
          <a:xfrm>
            <a:off x="720719" y="197928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Si se cambia el archivo de configuración del demonio de Xen en el dom0 /etc/xen/xend-config.sxp debe reiniciarse el demonio:</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/etc/init.d/xend restart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page5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C8B469-CCE3-A6F2-99F0-B979F17B9A36}"/>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Creación de archivos de conf. de máquinas virtuales</a:t>
            </a:r>
          </a:p>
        </p:txBody>
      </p:sp>
      <p:sp>
        <p:nvSpPr>
          <p:cNvPr id="3" name="Textplatzhalter 2">
            <a:extLst>
              <a:ext uri="{FF2B5EF4-FFF2-40B4-BE49-F238E27FC236}">
                <a16:creationId xmlns:a16="http://schemas.microsoft.com/office/drawing/2014/main" id="{B947123D-E136-D4B0-D083-21A814F09B20}"/>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Consultar documentación del archivo /etc/xen/xend-config.sxp.</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La interfaz física de red se renombra siempre de eth0 a peth0, siendo eth0 un alias de peth0.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La interfaz virtual que ve la máquina virtual como una como si fuera si propia interfaz física es eth0.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MAC Address: 00:16:3e:*:*:* reservadas para sistemas Xen, cuidado no duplicar MAC entre servidores).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page5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6702D1-799C-FC0F-B7FF-94A6601B5109}"/>
              </a:ext>
            </a:extLst>
          </p:cNvPr>
          <p:cNvSpPr txBox="1">
            <a:spLocks noGrp="1"/>
          </p:cNvSpPr>
          <p:nvPr>
            <p:ph type="title" idx="4294967295"/>
          </p:nvPr>
        </p:nvSpPr>
        <p:spPr>
          <a:xfrm>
            <a:off x="741239" y="282600"/>
            <a:ext cx="8607600" cy="1262520"/>
          </a:xfrm>
        </p:spPr>
        <p:txBody>
          <a:bodyPr wrap="square" anchorCtr="0">
            <a:spAutoFit/>
          </a:bodyPr>
          <a:lstStyle/>
          <a:p>
            <a:pPr lvl="0"/>
            <a:r>
              <a:rPr lang="es-VE"/>
              <a:t>Creación de archivos de conf. de máquinas virtuales</a:t>
            </a:r>
          </a:p>
        </p:txBody>
      </p:sp>
      <p:sp>
        <p:nvSpPr>
          <p:cNvPr id="3" name="Textplatzhalter 2">
            <a:extLst>
              <a:ext uri="{FF2B5EF4-FFF2-40B4-BE49-F238E27FC236}">
                <a16:creationId xmlns:a16="http://schemas.microsoft.com/office/drawing/2014/main" id="{9E68F44B-689B-5C01-DD1F-E985EE20B3FD}"/>
              </a:ext>
            </a:extLst>
          </p:cNvPr>
          <p:cNvSpPr txBox="1">
            <a:spLocks noGrp="1"/>
          </p:cNvSpPr>
          <p:nvPr>
            <p:ph type="body" idx="4294967295"/>
          </p:nvPr>
        </p:nvSpPr>
        <p:spPr>
          <a:xfrm>
            <a:off x="766800" y="181260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400"/>
              <a:t>Tipos de configuración de red (modificar archivo /etc/xen/xend-config.sxp, reiniciar máquinas virtuales, y luego, xend):</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Red Tonta / Dummy (Sin red).</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Bridged / Puente Ethernet (DHCP transparente, VLAN).</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400">
                <a:solidFill>
                  <a:srgbClr val="E6E6E6"/>
                </a:solidFill>
                <a:latin typeface="Times New Roman" pitchFamily="18"/>
              </a:rPr>
              <a:t>Nombre del bridge predeterminado: xenbr0</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NAT (VLAN, NAT).</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400">
                <a:solidFill>
                  <a:srgbClr val="E6E6E6"/>
                </a:solidFill>
                <a:latin typeface="Times New Roman" pitchFamily="18"/>
              </a:rPr>
              <a:t>Red privada: 10.0.0.0</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400">
                <a:solidFill>
                  <a:srgbClr val="E6E6E6"/>
                </a:solidFill>
                <a:latin typeface="Times New Roman" pitchFamily="18"/>
              </a:rPr>
              <a:t>Puerta de Enlace: 10.0.0.254</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ROUTE (Avanzado).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solidFill>
                  <a:srgbClr val="E6E6E6"/>
                </a:solidFill>
                <a:latin typeface="Times New Roman" pitchFamily="18"/>
              </a:rPr>
              <a:t>Personalizada (Modificar script /etc/xen/scripts)‏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page5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929D2C-276D-BA2E-F5AE-C359BFF5277B}"/>
              </a:ext>
            </a:extLst>
          </p:cNvPr>
          <p:cNvSpPr txBox="1">
            <a:spLocks noGrp="1"/>
          </p:cNvSpPr>
          <p:nvPr>
            <p:ph type="title" idx="4294967295"/>
          </p:nvPr>
        </p:nvSpPr>
        <p:spPr>
          <a:xfrm>
            <a:off x="741239" y="282600"/>
            <a:ext cx="8607600" cy="1262520"/>
          </a:xfrm>
        </p:spPr>
        <p:txBody>
          <a:bodyPr wrap="square" anchorCtr="0">
            <a:spAutoFit/>
          </a:bodyPr>
          <a:lstStyle/>
          <a:p>
            <a:pPr lvl="0"/>
            <a:r>
              <a:rPr lang="es-VE"/>
              <a:t>Máquina Virtual Xen0</a:t>
            </a:r>
          </a:p>
        </p:txBody>
      </p:sp>
      <p:sp>
        <p:nvSpPr>
          <p:cNvPr id="3" name="Textplatzhalter 2">
            <a:extLst>
              <a:ext uri="{FF2B5EF4-FFF2-40B4-BE49-F238E27FC236}">
                <a16:creationId xmlns:a16="http://schemas.microsoft.com/office/drawing/2014/main" id="{1CA47464-A746-10AA-DE40-6B149763FC0D}"/>
              </a:ext>
            </a:extLst>
          </p:cNvPr>
          <p:cNvSpPr txBox="1">
            <a:spLocks noGrp="1"/>
          </p:cNvSpPr>
          <p:nvPr>
            <p:ph type="body" idx="4294967295"/>
          </p:nvPr>
        </p:nvSpPr>
        <p:spPr>
          <a:xfrm>
            <a:off x="741239" y="1618920"/>
            <a:ext cx="8772480" cy="5280120"/>
          </a:xfrm>
        </p:spPr>
        <p:txBody>
          <a:bodyPr wrap="square" anchor="ctr"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Archivo de máquina virtual Xen0 en /etc/xen/xen0:</a:t>
            </a:r>
            <a:br>
              <a:rPr lang="es-VE"/>
            </a:br>
            <a:r>
              <a:rPr lang="es-VE" sz="2000"/>
              <a:t> </a:t>
            </a:r>
            <a:br>
              <a:rPr lang="es-VE"/>
            </a:br>
            <a:r>
              <a:rPr lang="es-VE" sz="2200"/>
              <a:t>kernel = "/boot/vmlinuz-2.6.26-2-xen-amd64"</a:t>
            </a:r>
            <a:br>
              <a:rPr lang="es-VE" sz="2200"/>
            </a:br>
            <a:r>
              <a:rPr lang="es-VE" sz="2200"/>
              <a:t>extra = " acpi=off clocksource=jiffies" </a:t>
            </a:r>
            <a:br>
              <a:rPr lang="es-VE" sz="2200"/>
            </a:br>
            <a:r>
              <a:rPr lang="es-VE" sz="2200"/>
              <a:t>ramdisk = "/boot/initrd.img-2.6.26-2-xen-amd64"</a:t>
            </a:r>
            <a:br>
              <a:rPr lang="es-VE" sz="2200"/>
            </a:br>
            <a:r>
              <a:rPr lang="es-VE" sz="2200"/>
              <a:t>memory = 1024</a:t>
            </a:r>
            <a:br>
              <a:rPr lang="es-VE" sz="2200"/>
            </a:br>
            <a:r>
              <a:rPr lang="es-VE" sz="2200"/>
              <a:t>name = "xen0" </a:t>
            </a:r>
            <a:br>
              <a:rPr lang="es-VE" sz="2200"/>
            </a:br>
            <a:r>
              <a:rPr lang="es-VE" sz="2200"/>
              <a:t>vcpus = 2</a:t>
            </a:r>
            <a:br>
              <a:rPr lang="es-VE" sz="2200"/>
            </a:br>
            <a:r>
              <a:rPr lang="es-VE" sz="2200"/>
              <a:t>root = "/dev/xvda1 rw"</a:t>
            </a:r>
            <a:br>
              <a:rPr lang="es-VE" sz="2200"/>
            </a:br>
            <a:r>
              <a:rPr lang="es-VE" sz="2200"/>
              <a:t>disk = ["phy:/dev/vg_interno/lv_xen0_raiz,xvda1,w",</a:t>
            </a:r>
            <a:br>
              <a:rPr lang="es-VE" sz="2200"/>
            </a:br>
            <a:r>
              <a:rPr lang="es-VE" sz="2200"/>
              <a:t>            "phy:/dev/vg_interno/lv_xen0_var,xvda2,w",</a:t>
            </a:r>
            <a:br>
              <a:rPr lang="es-VE" sz="2200"/>
            </a:br>
            <a:r>
              <a:rPr lang="es-VE" sz="2200"/>
              <a:t>            "phy:/dev/vg_interno/lv_xen0_tmp,xvda3,w",</a:t>
            </a:r>
            <a:br>
              <a:rPr lang="es-VE" sz="2200"/>
            </a:br>
            <a:r>
              <a:rPr lang="es-VE" sz="2200"/>
              <a:t>            "phy:/dev/vg_interno/lv_xen0_swap,xvda4,w"]</a:t>
            </a:r>
            <a:br>
              <a:rPr lang="es-VE" sz="2200"/>
            </a:br>
            <a:r>
              <a:rPr lang="es-VE" sz="2200"/>
              <a:t>vif = ["ip=10.0.0.1,mac=00:16:3e:00:00:01"]</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page5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216BB3-CA9E-9D59-9CFD-861D6BA534D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Archivo de Configuración Xen1</a:t>
            </a:r>
          </a:p>
        </p:txBody>
      </p:sp>
      <p:sp>
        <p:nvSpPr>
          <p:cNvPr id="3" name="Textplatzhalter 2">
            <a:extLst>
              <a:ext uri="{FF2B5EF4-FFF2-40B4-BE49-F238E27FC236}">
                <a16:creationId xmlns:a16="http://schemas.microsoft.com/office/drawing/2014/main" id="{7B87E594-187C-7CD9-EF6C-4F1211142645}"/>
              </a:ext>
            </a:extLst>
          </p:cNvPr>
          <p:cNvSpPr txBox="1">
            <a:spLocks noGrp="1"/>
          </p:cNvSpPr>
          <p:nvPr>
            <p:ph type="body" idx="4294967295"/>
          </p:nvPr>
        </p:nvSpPr>
        <p:spPr>
          <a:xfrm>
            <a:off x="502920" y="1768320"/>
            <a:ext cx="8496360" cy="506592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Archivo de máquina virtual Xen1 en /etc/xen/xen1:</a:t>
            </a:r>
            <a:br>
              <a:rPr lang="es-VE"/>
            </a:br>
            <a:br>
              <a:rPr lang="es-VE"/>
            </a:br>
            <a:r>
              <a:rPr lang="es-VE" sz="2200"/>
              <a:t>kernel = "/boot/vmlinuz-2.6.26-2-xen-amd64"</a:t>
            </a:r>
            <a:br>
              <a:rPr lang="es-VE" sz="2200"/>
            </a:br>
            <a:r>
              <a:rPr lang="es-VE" sz="2200"/>
              <a:t>extra = " acpi=off clocksource=jiffies" </a:t>
            </a:r>
            <a:br>
              <a:rPr lang="es-VE" sz="2200"/>
            </a:br>
            <a:r>
              <a:rPr lang="es-VE" sz="2200"/>
              <a:t>ramdisk = "/boot/initrd.img-2.6.26-2-xen-amd64"</a:t>
            </a:r>
            <a:br>
              <a:rPr lang="es-VE" sz="2200"/>
            </a:br>
            <a:r>
              <a:rPr lang="es-VE" sz="2200"/>
              <a:t>memory = 1024</a:t>
            </a:r>
            <a:br>
              <a:rPr lang="es-VE" sz="2200"/>
            </a:br>
            <a:r>
              <a:rPr lang="es-VE" sz="2200"/>
              <a:t>name = "xen1" </a:t>
            </a:r>
            <a:br>
              <a:rPr lang="es-VE" sz="2200"/>
            </a:br>
            <a:r>
              <a:rPr lang="es-VE" sz="2200"/>
              <a:t>vcpus = 2</a:t>
            </a:r>
            <a:br>
              <a:rPr lang="es-VE" sz="2200"/>
            </a:br>
            <a:r>
              <a:rPr lang="es-VE" sz="2200"/>
              <a:t>root = "/dev/xvda1 rw"</a:t>
            </a:r>
            <a:br>
              <a:rPr lang="es-VE" sz="2200"/>
            </a:br>
            <a:r>
              <a:rPr lang="es-VE" sz="2200"/>
              <a:t>disk = ["phy:/dev/vg_interno/lv_xen1_raiz,xvda1,w",</a:t>
            </a:r>
            <a:br>
              <a:rPr lang="es-VE" sz="2200"/>
            </a:br>
            <a:r>
              <a:rPr lang="es-VE" sz="2200"/>
              <a:t>           "phy:/dev/vg_interno/lv_xen1_var,xvda2,w",</a:t>
            </a:r>
            <a:br>
              <a:rPr lang="es-VE" sz="2200"/>
            </a:br>
            <a:r>
              <a:rPr lang="es-VE" sz="2200"/>
              <a:t>           "phy:/dev/vg_interno/lv_xen1_tmp,xvda3,w",</a:t>
            </a:r>
            <a:br>
              <a:rPr lang="es-VE" sz="2200"/>
            </a:br>
            <a:r>
              <a:rPr lang="es-VE" sz="2200"/>
              <a:t>           "phy:/dev/vg_interno/lv_xen1_swap,xvda4,w"]</a:t>
            </a:r>
            <a:br>
              <a:rPr lang="es-VE" sz="2200"/>
            </a:br>
            <a:r>
              <a:rPr lang="es-VE" sz="2200"/>
              <a:t>vif = ["ip=10.0.0.2,mac=00:16:3e:00:00:02"]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page6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7DEF7F-79F8-8460-527B-B076D1471596}"/>
              </a:ext>
            </a:extLst>
          </p:cNvPr>
          <p:cNvSpPr txBox="1">
            <a:spLocks noGrp="1"/>
          </p:cNvSpPr>
          <p:nvPr>
            <p:ph type="title" idx="4294967295"/>
          </p:nvPr>
        </p:nvSpPr>
        <p:spPr>
          <a:xfrm>
            <a:off x="741239" y="282600"/>
            <a:ext cx="8607600" cy="1262520"/>
          </a:xfrm>
        </p:spPr>
        <p:txBody>
          <a:bodyPr wrap="square" anchorCtr="0">
            <a:spAutoFit/>
          </a:bodyPr>
          <a:lstStyle/>
          <a:p>
            <a:pPr lvl="0"/>
            <a:r>
              <a:rPr lang="es-VE"/>
              <a:t>Iniciar las máquinas virtuales</a:t>
            </a:r>
          </a:p>
        </p:txBody>
      </p:sp>
      <p:sp>
        <p:nvSpPr>
          <p:cNvPr id="3" name="Textplatzhalter 2">
            <a:extLst>
              <a:ext uri="{FF2B5EF4-FFF2-40B4-BE49-F238E27FC236}">
                <a16:creationId xmlns:a16="http://schemas.microsoft.com/office/drawing/2014/main" id="{75FE17BF-7D9C-EC92-94D2-62E7C96950FF}"/>
              </a:ext>
            </a:extLst>
          </p:cNvPr>
          <p:cNvSpPr txBox="1">
            <a:spLocks noGrp="1"/>
          </p:cNvSpPr>
          <p:nvPr>
            <p:ph type="body" idx="4294967295"/>
          </p:nvPr>
        </p:nvSpPr>
        <p:spPr>
          <a:xfrm>
            <a:off x="766800" y="17226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xm create/destroy xen0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xm save/restore xen0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xm pause/unpause xen0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xm shutdown xen0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xm list</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xm top</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xm reboot</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 /etc/init.d/xend restart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page6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8E7505-1570-6F32-6506-020A10991A45}"/>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Preámbulo de virtualización completa</a:t>
            </a:r>
          </a:p>
        </p:txBody>
      </p:sp>
      <p:sp>
        <p:nvSpPr>
          <p:cNvPr id="3" name="Textplatzhalter 2">
            <a:extLst>
              <a:ext uri="{FF2B5EF4-FFF2-40B4-BE49-F238E27FC236}">
                <a16:creationId xmlns:a16="http://schemas.microsoft.com/office/drawing/2014/main" id="{D5F1FF2A-9ED0-9AF1-F401-C447BBD59040}"/>
              </a:ext>
            </a:extLst>
          </p:cNvPr>
          <p:cNvSpPr txBox="1">
            <a:spLocks noGrp="1"/>
          </p:cNvSpPr>
          <p:nvPr>
            <p:ph type="body" idx="4294967295"/>
          </p:nvPr>
        </p:nvSpPr>
        <p:spPr>
          <a:xfrm>
            <a:off x="741239" y="1963440"/>
            <a:ext cx="8772480" cy="4846680"/>
          </a:xfrm>
        </p:spPr>
        <p:txBody>
          <a:bodyPr wrap="square" anchor="t" anchorCtr="0"/>
          <a:lstStyle/>
          <a:p>
            <a:pPr lvl="0"/>
            <a:r>
              <a:rPr lang="es-VE" sz="2000"/>
              <a:t>import os, re</a:t>
            </a:r>
          </a:p>
          <a:p>
            <a:pPr lvl="0"/>
            <a:r>
              <a:rPr lang="es-VE" sz="2000"/>
              <a:t>arch = os.uname()[4]</a:t>
            </a:r>
          </a:p>
          <a:p>
            <a:pPr lvl="0"/>
            <a:r>
              <a:rPr lang="es-VE" sz="2000"/>
              <a:t>if re.search('64', arch):</a:t>
            </a:r>
          </a:p>
          <a:p>
            <a:pPr lvl="0"/>
            <a:r>
              <a:rPr lang="es-VE" sz="2000"/>
              <a:t>   arch_libdir = 'lib64'</a:t>
            </a:r>
          </a:p>
          <a:p>
            <a:pPr lvl="0"/>
            <a:r>
              <a:rPr lang="es-VE" sz="2000"/>
              <a:t>else:</a:t>
            </a:r>
          </a:p>
          <a:p>
            <a:pPr lvl="0"/>
            <a:r>
              <a:rPr lang="es-VE" sz="2000"/>
              <a:t>   arch_libdir = 'lib'</a:t>
            </a:r>
          </a:p>
          <a:p>
            <a:pPr lvl="0"/>
            <a:endParaRPr lang="es-VE" sz="2000"/>
          </a:p>
          <a:p>
            <a:pPr lvl="0"/>
            <a:r>
              <a:rPr lang="es-VE" sz="2000"/>
              <a:t>kernel = "/usr/lib/xen/boot/hvmloader"</a:t>
            </a:r>
          </a:p>
          <a:p>
            <a:pPr lvl="0"/>
            <a:r>
              <a:rPr lang="es-VE" sz="2000"/>
              <a:t>builder='hvm'</a:t>
            </a:r>
          </a:p>
          <a:p>
            <a:pPr lvl="0"/>
            <a:endParaRPr lang="es-VE" sz="2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page6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EDD95C-CDC4-6F26-D8B5-F93F43DA70B5}"/>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Parámetros de virtualización completa para memoria</a:t>
            </a:r>
          </a:p>
        </p:txBody>
      </p:sp>
      <p:sp>
        <p:nvSpPr>
          <p:cNvPr id="3" name="Textplatzhalter 2">
            <a:extLst>
              <a:ext uri="{FF2B5EF4-FFF2-40B4-BE49-F238E27FC236}">
                <a16:creationId xmlns:a16="http://schemas.microsoft.com/office/drawing/2014/main" id="{004B89A3-3E93-7594-1C7D-9998205EC163}"/>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Definir la cantidad de memoria sombra (shadow) debe ser igual a 2KB por MB de la memoria asignada al dom U más unos pocos MB por CPU virtual asignado (8 MB debería ser suficiente):</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shadow_memory = 8</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page6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B12F5C-73A3-9205-13A5-00D17A74723A}"/>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Parámetros de virtualización Completa con VNC</a:t>
            </a:r>
          </a:p>
        </p:txBody>
      </p:sp>
      <p:sp>
        <p:nvSpPr>
          <p:cNvPr id="3" name="Textplatzhalter 2">
            <a:extLst>
              <a:ext uri="{FF2B5EF4-FFF2-40B4-BE49-F238E27FC236}">
                <a16:creationId xmlns:a16="http://schemas.microsoft.com/office/drawing/2014/main" id="{97EE5C5E-ECFA-3154-C3E4-46D9FD1301BD}"/>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t>Parámetros para habilitar acceso VNC (especial no el común) en la virtualización completa (ejemplo con VNC sin contraseña):</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solidFill>
                  <a:srgbClr val="E6E6E6"/>
                </a:solidFill>
                <a:latin typeface="Times New Roman" pitchFamily="18"/>
              </a:rPr>
              <a:t>vnc=1</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solidFill>
                  <a:srgbClr val="E6E6E6"/>
                </a:solidFill>
                <a:latin typeface="Times New Roman" pitchFamily="18"/>
              </a:rPr>
              <a:t>sdl=0</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solidFill>
                  <a:srgbClr val="E6E6E6"/>
                </a:solidFill>
                <a:latin typeface="Times New Roman" pitchFamily="18"/>
              </a:rPr>
              <a:t>nographici=0</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solidFill>
                  <a:srgbClr val="E6E6E6"/>
                </a:solidFill>
                <a:latin typeface="Times New Roman" pitchFamily="18"/>
              </a:rPr>
              <a:t>stdvga=0</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solidFill>
                  <a:srgbClr val="E6E6E6"/>
                </a:solidFill>
                <a:latin typeface="Times New Roman" pitchFamily="18"/>
              </a:rPr>
              <a:t>serial='pty' # Opcional</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solidFill>
                  <a:srgbClr val="E6E6E6"/>
                </a:solidFill>
                <a:latin typeface="Times New Roman" pitchFamily="18"/>
              </a:rPr>
              <a:t>(vnc-listen '0.0.0.0')‏</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200">
                <a:solidFill>
                  <a:srgbClr val="E6E6E6"/>
                </a:solidFill>
                <a:latin typeface="Times New Roman" pitchFamily="18"/>
              </a:rPr>
              <a:t>(vncpasswd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page6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5BA311-E5A6-201D-09D5-8C0AD249AAB6}"/>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Parámetros de configuración regional (Opcionales)‏</a:t>
            </a:r>
          </a:p>
        </p:txBody>
      </p:sp>
      <p:sp>
        <p:nvSpPr>
          <p:cNvPr id="3" name="Textplatzhalter 2">
            <a:extLst>
              <a:ext uri="{FF2B5EF4-FFF2-40B4-BE49-F238E27FC236}">
                <a16:creationId xmlns:a16="http://schemas.microsoft.com/office/drawing/2014/main" id="{B17549F9-67E0-2738-BA0B-67BA9796F72E}"/>
              </a:ext>
            </a:extLst>
          </p:cNvPr>
          <p:cNvSpPr txBox="1">
            <a:spLocks noGrp="1"/>
          </p:cNvSpPr>
          <p:nvPr>
            <p:ph type="body" idx="4294967295"/>
          </p:nvPr>
        </p:nvSpPr>
        <p:spPr>
          <a:xfrm>
            <a:off x="741239" y="1963800"/>
            <a:ext cx="8772480" cy="4937039"/>
          </a:xfrm>
        </p:spPr>
        <p:txBody>
          <a:bodyPr wrap="square" anchor="t" anchorCtr="0"/>
          <a:lstStyle/>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localtime=1</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keymap='es'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page6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02388E-DE14-D402-BC9F-11B44F2213F4}"/>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Particiones virtuales distintas a discos o particiones del dom 0</a:t>
            </a:r>
          </a:p>
        </p:txBody>
      </p:sp>
      <p:sp>
        <p:nvSpPr>
          <p:cNvPr id="3" name="Textplatzhalter 2">
            <a:extLst>
              <a:ext uri="{FF2B5EF4-FFF2-40B4-BE49-F238E27FC236}">
                <a16:creationId xmlns:a16="http://schemas.microsoft.com/office/drawing/2014/main" id="{4C89AE4F-E24C-2E90-8451-5EE8A65236D8}"/>
              </a:ext>
            </a:extLst>
          </p:cNvPr>
          <p:cNvSpPr txBox="1">
            <a:spLocks noGrp="1"/>
          </p:cNvSpPr>
          <p:nvPr>
            <p:ph type="body" idx="4294967295"/>
          </p:nvPr>
        </p:nvSpPr>
        <p:spPr>
          <a:xfrm>
            <a:off x="766800" y="1706040"/>
            <a:ext cx="8772480" cy="4954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t>Para montar cd, (mejor) se crea una imagen ISO del mismo: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E6E6E6"/>
                </a:solidFill>
                <a:latin typeface="Times New Roman" pitchFamily="18"/>
              </a:rPr>
              <a:t> dd if=/dev/cdrom of=/var/iso/cd.iso</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t>Se coloca en el archivo de configuración:</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E6E6E6"/>
                </a:solidFill>
                <a:latin typeface="Times New Roman" pitchFamily="18"/>
              </a:rPr>
              <a:t>disk = ["file:/var/iso/cd.iso,hda:cdrom,r"]</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t>Montar archivos de discos virtuales (no recomendado para intensiva E/S a disco) después de crearlos con:</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E6E6E6"/>
                </a:solidFill>
                <a:latin typeface="Times New Roman" pitchFamily="18"/>
              </a:rPr>
              <a:t>dd if=/dev/zero of=vm1disk bs=1k seek=2048k count=1</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E6E6E6"/>
                </a:solidFill>
                <a:latin typeface="Times New Roman" pitchFamily="18"/>
              </a:rPr>
              <a:t>mkfs -t ext3 vm1disk</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t>Se coloca en el archivo de configuración:</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E6E6E6"/>
                </a:solidFill>
                <a:latin typeface="Times New Roman" pitchFamily="18"/>
              </a:rPr>
              <a:t>disk = ['file:/full/path/to/vm1disk,xvda5,w']</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page6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308944-95F3-6691-6BE9-8CA18EDBB55D}"/>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Particiones para inicio de máquina virtual con / en NFS</a:t>
            </a:r>
          </a:p>
        </p:txBody>
      </p:sp>
      <p:sp>
        <p:nvSpPr>
          <p:cNvPr id="3" name="Textplatzhalter 2">
            <a:extLst>
              <a:ext uri="{FF2B5EF4-FFF2-40B4-BE49-F238E27FC236}">
                <a16:creationId xmlns:a16="http://schemas.microsoft.com/office/drawing/2014/main" id="{6891CFDA-FAF7-CB0F-8BAF-23C2F184EA99}"/>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En el servidor NFS se exporta la partición / de la máquina virtual:</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600">
                <a:solidFill>
                  <a:srgbClr val="E6E6E6"/>
                </a:solidFill>
                <a:latin typeface="Times New Roman" pitchFamily="18"/>
              </a:rPr>
              <a:t>/export/vm1root 1.2.3.4/24 (rw,sync,no_root_squash)‏</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En el archivo de configuración de la máquina virtual se debe colocar:</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root  = '/dev/nfs'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nfs_server = '1.2.3.4'</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nfs_root = '/export/vm1root'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page6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A33910-D160-A8E3-D759-9694B4D8427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Parámetros para cambiar el orden de inicio de la máquina virtual</a:t>
            </a:r>
          </a:p>
        </p:txBody>
      </p:sp>
      <p:sp>
        <p:nvSpPr>
          <p:cNvPr id="3" name="Textplatzhalter 2">
            <a:extLst>
              <a:ext uri="{FF2B5EF4-FFF2-40B4-BE49-F238E27FC236}">
                <a16:creationId xmlns:a16="http://schemas.microsoft.com/office/drawing/2014/main" id="{DC625BF4-CF4C-689F-699C-732344C1E190}"/>
              </a:ext>
            </a:extLst>
          </p:cNvPr>
          <p:cNvSpPr txBox="1">
            <a:spLocks noGrp="1"/>
          </p:cNvSpPr>
          <p:nvPr>
            <p:ph type="body" idx="4294967295"/>
          </p:nvPr>
        </p:nvSpPr>
        <p:spPr>
          <a:xfrm>
            <a:off x="720719" y="181260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Prioridad de arranque d (CD) y c (HDD), deben definirse tanto "d" como "c" en la sección de discos del archivo de configuración y adicionalmente esto: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boot = "dc"</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O bien,</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boot = “cd”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page6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63E4E2-77CD-2001-F2D0-2197E47DE198}"/>
              </a:ext>
            </a:extLst>
          </p:cNvPr>
          <p:cNvSpPr txBox="1">
            <a:spLocks noGrp="1"/>
          </p:cNvSpPr>
          <p:nvPr>
            <p:ph type="title" idx="4294967295"/>
          </p:nvPr>
        </p:nvSpPr>
        <p:spPr>
          <a:xfrm>
            <a:off x="741239" y="282600"/>
            <a:ext cx="8607600" cy="1262520"/>
          </a:xfrm>
        </p:spPr>
        <p:txBody>
          <a:bodyPr wrap="square" anchorCtr="0">
            <a:spAutoFit/>
          </a:bodyPr>
          <a:lstStyle/>
          <a:p>
            <a:pPr lvl="0"/>
            <a:r>
              <a:rPr lang="es-VE"/>
              <a:t>Parámetros para controlar acciones en eventos de sistema</a:t>
            </a:r>
          </a:p>
        </p:txBody>
      </p:sp>
      <p:sp>
        <p:nvSpPr>
          <p:cNvPr id="3" name="Textplatzhalter 2">
            <a:extLst>
              <a:ext uri="{FF2B5EF4-FFF2-40B4-BE49-F238E27FC236}">
                <a16:creationId xmlns:a16="http://schemas.microsoft.com/office/drawing/2014/main" id="{9DE7F841-23A9-9287-282B-DD7399720D30}"/>
              </a:ext>
            </a:extLst>
          </p:cNvPr>
          <p:cNvSpPr txBox="1">
            <a:spLocks noGrp="1"/>
          </p:cNvSpPr>
          <p:nvPr>
            <p:ph type="body" idx="4294967295"/>
          </p:nvPr>
        </p:nvSpPr>
        <p:spPr>
          <a:xfrm>
            <a:off x="934559" y="1815839"/>
            <a:ext cx="860436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Medidas tomadas cuando se generen los típicos eventos de apagado, reinicio o fallo, se pueden especificar todos, ninguno o algunos de ellos: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on_poweroff = 'destroy'</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on_reboot = 'restart'</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on_crash = 'shutdown'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page6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71080C-9ACA-7690-4410-CB7B38563720}"/>
              </a:ext>
            </a:extLst>
          </p:cNvPr>
          <p:cNvSpPr txBox="1">
            <a:spLocks noGrp="1"/>
          </p:cNvSpPr>
          <p:nvPr>
            <p:ph type="title" idx="4294967295"/>
          </p:nvPr>
        </p:nvSpPr>
        <p:spPr>
          <a:xfrm>
            <a:off x="741239" y="326520"/>
            <a:ext cx="8607600" cy="1172160"/>
          </a:xfrm>
        </p:spPr>
        <p:txBody>
          <a:bodyPr wrap="square" anchorCtr="0">
            <a:spAutoFit/>
          </a:bodyPr>
          <a:lstStyle/>
          <a:p>
            <a:pPr lvl="0"/>
            <a:r>
              <a:rPr lang="es-VE"/>
              <a:t>Consideraciones de Seguridad</a:t>
            </a:r>
          </a:p>
        </p:txBody>
      </p:sp>
      <p:sp>
        <p:nvSpPr>
          <p:cNvPr id="3" name="Textplatzhalter 2">
            <a:extLst>
              <a:ext uri="{FF2B5EF4-FFF2-40B4-BE49-F238E27FC236}">
                <a16:creationId xmlns:a16="http://schemas.microsoft.com/office/drawing/2014/main" id="{FEA88FED-646F-9DBB-7ED1-2C39E097F069}"/>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Ejecutar el mínimo número de servicios necesarios en el dom0, debido a que los servicios que se ejecutan como root aquí tienen acceso como root a los dom U.</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Utilizar un firewall para restringir el acceso al dominio de administración, es decir, dom 0.</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No permita a los usuarios acceder al dom 0.</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page7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DCB49E-E967-2FF5-A19A-BB59B028EE51}"/>
              </a:ext>
            </a:extLst>
          </p:cNvPr>
          <p:cNvSpPr txBox="1">
            <a:spLocks noGrp="1"/>
          </p:cNvSpPr>
          <p:nvPr>
            <p:ph type="title" idx="4294967295"/>
          </p:nvPr>
        </p:nvSpPr>
        <p:spPr>
          <a:xfrm>
            <a:off x="741239" y="326520"/>
            <a:ext cx="8607600" cy="1172160"/>
          </a:xfrm>
        </p:spPr>
        <p:txBody>
          <a:bodyPr wrap="square" anchorCtr="0">
            <a:spAutoFit/>
          </a:bodyPr>
          <a:lstStyle/>
          <a:p>
            <a:pPr lvl="0"/>
            <a:r>
              <a:rPr lang="es-VE"/>
              <a:t>Migración de Dominios</a:t>
            </a:r>
          </a:p>
        </p:txBody>
      </p:sp>
      <p:sp>
        <p:nvSpPr>
          <p:cNvPr id="3" name="Textplatzhalter 2">
            <a:extLst>
              <a:ext uri="{FF2B5EF4-FFF2-40B4-BE49-F238E27FC236}">
                <a16:creationId xmlns:a16="http://schemas.microsoft.com/office/drawing/2014/main" id="{9F92753A-F2AF-1631-B34D-AE594B167C3B}"/>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La migración consiste en mover dominios U entre servidor físicos distintos.</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Existen dos (2) tipos: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Normal: se pausa el dom U, se copia la memoria a otro servidor físico y se quita la pausa en éste último.</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En Vivo: hace lo mismo que el normal pero sin tener que pausar la máquina.</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El comando para migrar es: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xm migrate --live xen0 servidor.midominio.com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page7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BEC7891-C39A-EF2F-7EE2-D56DBAC317A4}"/>
              </a:ext>
            </a:extLst>
          </p:cNvPr>
          <p:cNvSpPr txBox="1">
            <a:spLocks noGrp="1"/>
          </p:cNvSpPr>
          <p:nvPr>
            <p:ph type="title" idx="4294967295"/>
          </p:nvPr>
        </p:nvSpPr>
        <p:spPr>
          <a:xfrm>
            <a:off x="741239" y="326520"/>
            <a:ext cx="8607600" cy="1172160"/>
          </a:xfrm>
        </p:spPr>
        <p:txBody>
          <a:bodyPr wrap="square" anchorCtr="0">
            <a:spAutoFit/>
          </a:bodyPr>
          <a:lstStyle/>
          <a:p>
            <a:pPr lvl="0"/>
            <a:r>
              <a:rPr lang="es-VE"/>
              <a:t>Migración de Dominio</a:t>
            </a:r>
          </a:p>
        </p:txBody>
      </p:sp>
      <p:sp>
        <p:nvSpPr>
          <p:cNvPr id="3" name="Textplatzhalter 2">
            <a:extLst>
              <a:ext uri="{FF2B5EF4-FFF2-40B4-BE49-F238E27FC236}">
                <a16:creationId xmlns:a16="http://schemas.microsoft.com/office/drawing/2014/main" id="{C4AAD5A2-9B7C-D160-5919-FC7EDC5A58AC}"/>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Sin el flag --live se realiza una migración normal que pausa la máquina y copia la memoria a otro servidor, por lo tanto, hay un tiempo largo de espera mientras la información se transmite.</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Con el flag –live el tiempo fuera de línea es de 60-300ms y la copia se realiza en línea.</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Las consolas abiertas con xm console se pierden pero las conexiones de red no, por lo tanto, las sesiones SSH permanecen abiertas.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page7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0A1C6D-A136-BE93-4B08-36B094EB7F8E}"/>
              </a:ext>
            </a:extLst>
          </p:cNvPr>
          <p:cNvSpPr txBox="1">
            <a:spLocks noGrp="1"/>
          </p:cNvSpPr>
          <p:nvPr>
            <p:ph type="title" idx="4294967295"/>
          </p:nvPr>
        </p:nvSpPr>
        <p:spPr>
          <a:xfrm>
            <a:off x="741239" y="326520"/>
            <a:ext cx="8607600" cy="1172160"/>
          </a:xfrm>
        </p:spPr>
        <p:txBody>
          <a:bodyPr wrap="square" anchorCtr="0">
            <a:spAutoFit/>
          </a:bodyPr>
          <a:lstStyle/>
          <a:p>
            <a:pPr lvl="0"/>
            <a:r>
              <a:rPr lang="es-VE"/>
              <a:t>Migración de Dominios</a:t>
            </a:r>
          </a:p>
        </p:txBody>
      </p:sp>
      <p:sp>
        <p:nvSpPr>
          <p:cNvPr id="3" name="Textplatzhalter 2">
            <a:extLst>
              <a:ext uri="{FF2B5EF4-FFF2-40B4-BE49-F238E27FC236}">
                <a16:creationId xmlns:a16="http://schemas.microsoft.com/office/drawing/2014/main" id="{A6EB3EC1-A303-018C-6CFF-CCB8A9E69B18}"/>
              </a:ext>
            </a:extLst>
          </p:cNvPr>
          <p:cNvSpPr txBox="1">
            <a:spLocks noGrp="1"/>
          </p:cNvSpPr>
          <p:nvPr>
            <p:ph type="body" idx="4294967295"/>
          </p:nvPr>
        </p:nvSpPr>
        <p:spPr>
          <a:xfrm>
            <a:off x="741239" y="1963800"/>
            <a:ext cx="8772480" cy="497664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La migración en vivo requiere suficiente memoria en el servidor de destino que debe estar en la misma subred, porque la MAC se migra, sino debe usar etherip o un tunel IP.</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t>No hay una forma para pasar los datos de las particiones de un servidor a otros, se debe utilizar:</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solidFill>
                  <a:srgbClr val="E6E6E6"/>
                </a:solidFill>
                <a:latin typeface="Times New Roman" pitchFamily="18"/>
              </a:rPr>
              <a:t>SAN, NAS, es más costoso pero permite presentar las unidades a los dos (2) servidores de forma transparente.</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solidFill>
                  <a:srgbClr val="E6E6E6"/>
                </a:solidFill>
                <a:latin typeface="Times New Roman" pitchFamily="18"/>
              </a:rPr>
              <a:t>GNDB permite exportar un volumen entre servidores.</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800">
                <a:solidFill>
                  <a:srgbClr val="E6E6E6"/>
                </a:solidFill>
                <a:latin typeface="Times New Roman" pitchFamily="18"/>
              </a:rPr>
              <a:t>ISCSI es complicado pero hace algo similar a GNDB.</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page7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040995-567E-B4B0-5E4D-77525EFA228D}"/>
              </a:ext>
            </a:extLst>
          </p:cNvPr>
          <p:cNvSpPr txBox="1">
            <a:spLocks noGrp="1"/>
          </p:cNvSpPr>
          <p:nvPr>
            <p:ph type="title" idx="4294967295"/>
          </p:nvPr>
        </p:nvSpPr>
        <p:spPr>
          <a:xfrm>
            <a:off x="741239" y="326520"/>
            <a:ext cx="8607600" cy="1172160"/>
          </a:xfrm>
        </p:spPr>
        <p:txBody>
          <a:bodyPr wrap="square" anchorCtr="0">
            <a:spAutoFit/>
          </a:bodyPr>
          <a:lstStyle/>
          <a:p>
            <a:pPr lvl="0"/>
            <a:r>
              <a:rPr lang="es-VE"/>
              <a:t>Preguntas Interesantes</a:t>
            </a:r>
          </a:p>
        </p:txBody>
      </p:sp>
      <p:sp>
        <p:nvSpPr>
          <p:cNvPr id="3" name="Textplatzhalter 2">
            <a:extLst>
              <a:ext uri="{FF2B5EF4-FFF2-40B4-BE49-F238E27FC236}">
                <a16:creationId xmlns:a16="http://schemas.microsoft.com/office/drawing/2014/main" id="{73585DDF-39BB-51C4-657E-29B59705B8A2}"/>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¿Puede instalarse Xen dentro de Xen? sí, pero sólo una vez y como HVM guest.</a:t>
            </a:r>
          </a:p>
          <a:p>
            <a:pPr marL="0" lvl="0" indent="0">
              <a:buClr>
                <a:srgbClr val="E6E6E6"/>
              </a:buClr>
              <a:buSzPct val="45000"/>
              <a:buFont typeface="Wingdings" pitchFamily="2"/>
              <a:buChar char=""/>
              <a:tabLst>
                <a:tab pos="15840" algn="l"/>
                <a:tab pos="465120" algn="l"/>
                <a:tab pos="914400" algn="l"/>
                <a:tab pos="1363320" algn="l"/>
                <a:tab pos="1812600" algn="l"/>
                <a:tab pos="2261880" algn="l"/>
                <a:tab pos="2711160" algn="l"/>
                <a:tab pos="3160440" algn="l"/>
                <a:tab pos="3609719" algn="l"/>
                <a:tab pos="4059000" algn="l"/>
                <a:tab pos="4508280" algn="l"/>
                <a:tab pos="4957560" algn="l"/>
                <a:tab pos="5406840" algn="l"/>
                <a:tab pos="5856120" algn="l"/>
                <a:tab pos="6305400" algn="l"/>
                <a:tab pos="6754679" algn="l"/>
                <a:tab pos="7203960" algn="l"/>
                <a:tab pos="7653240" algn="l"/>
                <a:tab pos="8102520" algn="l"/>
                <a:tab pos="8551800" algn="l"/>
                <a:tab pos="8554680" algn="l"/>
                <a:tab pos="9003960" algn="l"/>
                <a:tab pos="9453240" algn="l"/>
                <a:tab pos="9902520" algn="l"/>
                <a:tab pos="10351800" algn="l"/>
              </a:tabLst>
            </a:pPr>
            <a:r>
              <a:rPr lang="es-VE"/>
              <a:t>¿Tiene que ser el dom U. el mismo sistema operativo del dom 0? No.	</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¿Cuándo Xen utiliza la virtualización por hardware? Cuando se levanta un HVM Guest.</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¿Existe manera de ejecutar invitados de 64 bits siendo el dom 0 de 32 bits? en este sentido los invitados dependen del Hypervisor no del dom 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page7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991153-091B-A139-3183-59E1B6B0A49F}"/>
              </a:ext>
            </a:extLst>
          </p:cNvPr>
          <p:cNvSpPr txBox="1">
            <a:spLocks noGrp="1"/>
          </p:cNvSpPr>
          <p:nvPr>
            <p:ph type="title" idx="4294967295"/>
          </p:nvPr>
        </p:nvSpPr>
        <p:spPr>
          <a:xfrm>
            <a:off x="741239" y="326520"/>
            <a:ext cx="8607600" cy="1172160"/>
          </a:xfrm>
        </p:spPr>
        <p:txBody>
          <a:bodyPr wrap="square" anchorCtr="0">
            <a:spAutoFit/>
          </a:bodyPr>
          <a:lstStyle/>
          <a:p>
            <a:pPr lvl="0"/>
            <a:r>
              <a:rPr lang="es-VE"/>
              <a:t>Preguntas Interesante</a:t>
            </a:r>
          </a:p>
        </p:txBody>
      </p:sp>
      <p:sp>
        <p:nvSpPr>
          <p:cNvPr id="3" name="Textplatzhalter 2">
            <a:extLst>
              <a:ext uri="{FF2B5EF4-FFF2-40B4-BE49-F238E27FC236}">
                <a16:creationId xmlns:a16="http://schemas.microsoft.com/office/drawing/2014/main" id="{4DD205D3-FF51-F418-25AC-984C02CC25D0}"/>
              </a:ext>
            </a:extLst>
          </p:cNvPr>
          <p:cNvSpPr txBox="1">
            <a:spLocks noGrp="1"/>
          </p:cNvSpPr>
          <p:nvPr>
            <p:ph type="body" idx="4294967295"/>
          </p:nvPr>
        </p:nvSpPr>
        <p:spPr>
          <a:xfrm>
            <a:off x="741239" y="1963440"/>
            <a:ext cx="8772480" cy="4846680"/>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a:t>¿Cómo puedo asignar un CPU específico al dom0?</a:t>
            </a:r>
          </a:p>
          <a:p>
            <a:pPr marL="0" lvl="1" indent="0" hangingPunct="0">
              <a:lnSpc>
                <a:spcPct val="93000"/>
              </a:lnSpc>
              <a:spcBef>
                <a:spcPts val="0"/>
              </a:spcBef>
              <a:spcAft>
                <a:spcPts val="1137"/>
              </a:spcAft>
              <a:buClr>
                <a:srgbClr val="E6E6E6"/>
              </a:buClr>
              <a:buSzPct val="75000"/>
              <a:buFont typeface="Symbol" pitchFamily="2"/>
              <a:buChar char=""/>
              <a:tabLst>
                <a:tab pos="33120" algn="l"/>
                <a:tab pos="482400" algn="l"/>
                <a:tab pos="931680" algn="l"/>
                <a:tab pos="1380959" algn="l"/>
                <a:tab pos="1830239" algn="l"/>
                <a:tab pos="2279520" algn="l"/>
                <a:tab pos="2728800" algn="l"/>
                <a:tab pos="3178080" algn="l"/>
                <a:tab pos="3627360" algn="l"/>
                <a:tab pos="4076640" algn="l"/>
                <a:tab pos="4525920" algn="l"/>
                <a:tab pos="4975200" algn="l"/>
                <a:tab pos="5424480" algn="l"/>
                <a:tab pos="5873400" algn="l"/>
                <a:tab pos="6322680" algn="l"/>
                <a:tab pos="6771960" algn="l"/>
                <a:tab pos="7221240" algn="l"/>
                <a:tab pos="7670520" algn="l"/>
                <a:tab pos="8119800" algn="l"/>
                <a:tab pos="8123040" algn="l"/>
                <a:tab pos="8572320" algn="l"/>
                <a:tab pos="9021600" algn="l"/>
                <a:tab pos="9470880" algn="l"/>
                <a:tab pos="9920160" algn="l"/>
              </a:tabLst>
            </a:pPr>
            <a:r>
              <a:rPr lang="es-VE" sz="3200">
                <a:solidFill>
                  <a:srgbClr val="E6E6E6"/>
                </a:solidFill>
                <a:latin typeface="Times New Roman" pitchFamily="18"/>
              </a:rPr>
              <a:t>Debe añadirse a la línea de inicio del kernel lo siguiente:  </a:t>
            </a:r>
            <a:br>
              <a:rPr lang="es-VE" sz="3200">
                <a:solidFill>
                  <a:srgbClr val="E6E6E6"/>
                </a:solidFill>
                <a:latin typeface="Times New Roman" pitchFamily="18"/>
              </a:rPr>
            </a:br>
            <a:r>
              <a:rPr lang="es-VE" sz="3200">
                <a:solidFill>
                  <a:srgbClr val="E6E6E6"/>
                </a:solidFill>
                <a:latin typeface="Times New Roman" pitchFamily="18"/>
              </a:rPr>
              <a:t>	dom0_max_vcpus=1 &amp; dom0_vcpus_pin</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Editar /etc/xen/xend-config.sxp colocando:</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set “(dom0-cpus 1)”</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Finalmente, reiniciar el dom 0.  </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Otra forma es ejecutar sin reiniciar:</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xm vcpu-set 0 1</a:t>
            </a:r>
          </a:p>
          <a:p>
            <a:pPr marL="0" lvl="2" indent="0" hangingPunct="0">
              <a:lnSpc>
                <a:spcPct val="93000"/>
              </a:lnSpc>
              <a:spcBef>
                <a:spcPts val="0"/>
              </a:spcBef>
              <a:spcAft>
                <a:spcPts val="848"/>
              </a:spcAft>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3200">
                <a:solidFill>
                  <a:srgbClr val="E6E6E6"/>
                </a:solidFill>
                <a:latin typeface="Times New Roman" pitchFamily="18"/>
              </a:rPr>
              <a:t> xm vcpu-pin 0 0 0</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page7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578418-C327-9FFC-CCD2-26D52DACC0B9}"/>
              </a:ext>
            </a:extLst>
          </p:cNvPr>
          <p:cNvSpPr txBox="1">
            <a:spLocks noGrp="1"/>
          </p:cNvSpPr>
          <p:nvPr>
            <p:ph type="title" idx="4294967295"/>
          </p:nvPr>
        </p:nvSpPr>
        <p:spPr>
          <a:xfrm>
            <a:off x="741239" y="282600"/>
            <a:ext cx="8607600" cy="1262520"/>
          </a:xfrm>
        </p:spPr>
        <p:txBody>
          <a:bodyPr wrap="square" anchorCtr="0">
            <a:spAutoFit/>
          </a:bodyPr>
          <a:lstStyle/>
          <a:p>
            <a:pPr lvl="0"/>
            <a:r>
              <a:rPr lang="es-VE"/>
              <a:t>Referencias</a:t>
            </a:r>
          </a:p>
        </p:txBody>
      </p:sp>
      <p:sp>
        <p:nvSpPr>
          <p:cNvPr id="3" name="Textplatzhalter 2">
            <a:extLst>
              <a:ext uri="{FF2B5EF4-FFF2-40B4-BE49-F238E27FC236}">
                <a16:creationId xmlns:a16="http://schemas.microsoft.com/office/drawing/2014/main" id="{0C2BB0C4-9666-0DA7-C92A-0C1C55C53BC6}"/>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t>Documentación de </a:t>
            </a:r>
            <a:r>
              <a:rPr lang="es-VE" sz="2000">
                <a:solidFill>
                  <a:srgbClr val="CCCCFF"/>
                </a:solidFill>
                <a:hlinkClick r:id="rId3">
                  <a:extLst>
                    <a:ext uri="{A12FA001-AC4F-418D-AE19-62706E023703}">
                      <ahyp:hlinkClr xmlns:ahyp="http://schemas.microsoft.com/office/drawing/2018/hyperlinkcolor" val="tx"/>
                    </a:ext>
                  </a:extLst>
                </a:hlinkClick>
              </a:rPr>
              <a:t>http://www.xen.org</a:t>
            </a:r>
            <a:r>
              <a:rPr lang="es-VE" sz="2000"/>
              <a:t> en especial:</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Xen Architecture Overview / 2008 / v1.2ye</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Xen v3.0 User Manual / 2005</a:t>
            </a:r>
          </a:p>
          <a:p>
            <a:pPr marL="0" lvl="1" indent="0" hangingPunct="0">
              <a:lnSpc>
                <a:spcPct val="93000"/>
              </a:lnSpc>
              <a:spcBef>
                <a:spcPts val="0"/>
              </a:spcBef>
              <a:spcAft>
                <a:spcPts val="1137"/>
              </a:spcAft>
              <a:buClr>
                <a:srgbClr val="E6E6E6"/>
              </a:buClr>
              <a:buSzPct val="75000"/>
              <a:buFont typeface="Symbol"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E6E6E6"/>
                </a:solidFill>
                <a:latin typeface="Times New Roman" pitchFamily="18"/>
              </a:rPr>
              <a:t>Xen Commonly Asked Questions, Octubre de 2009.</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t>Virtual Linux. Tim Jones, Emulex. Para IBM: </a:t>
            </a:r>
            <a:r>
              <a:rPr lang="es-VE" sz="2000">
                <a:solidFill>
                  <a:srgbClr val="CCCCFF"/>
                </a:solidFill>
                <a:hlinkClick r:id="rId4">
                  <a:extLst>
                    <a:ext uri="{A12FA001-AC4F-418D-AE19-62706E023703}">
                      <ahyp:hlinkClr xmlns:ahyp="http://schemas.microsoft.com/office/drawing/2018/hyperlinkcolor" val="tx"/>
                    </a:ext>
                  </a:extLst>
                </a:hlinkClick>
              </a:rPr>
              <a:t>http://www.ibm.com/developerworks/library/l-linuxvirt/</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t>Documentación de Virtuozzo, Parallels, Noviembre de 2009: </a:t>
            </a:r>
            <a:r>
              <a:rPr lang="es-VE" sz="2000">
                <a:solidFill>
                  <a:srgbClr val="CCCCFF"/>
                </a:solidFill>
                <a:hlinkClick r:id="rId5">
                  <a:extLst>
                    <a:ext uri="{A12FA001-AC4F-418D-AE19-62706E023703}">
                      <ahyp:hlinkClr xmlns:ahyp="http://schemas.microsoft.com/office/drawing/2018/hyperlinkcolor" val="tx"/>
                    </a:ext>
                  </a:extLst>
                </a:hlinkClick>
              </a:rPr>
              <a:t>http://www.parallels.com/</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t>Documentación de OpenVZ, Noviembre de 2009: </a:t>
            </a:r>
            <a:r>
              <a:rPr lang="es-VE" sz="2000">
                <a:solidFill>
                  <a:srgbClr val="CCCCFF"/>
                </a:solidFill>
                <a:hlinkClick r:id="rId6">
                  <a:extLst>
                    <a:ext uri="{A12FA001-AC4F-418D-AE19-62706E023703}">
                      <ahyp:hlinkClr xmlns:ahyp="http://schemas.microsoft.com/office/drawing/2018/hyperlinkcolor" val="tx"/>
                    </a:ext>
                  </a:extLst>
                </a:hlinkClick>
              </a:rPr>
              <a:t>http://wiki.openvz.org/Main_Page</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t>Biblioteca de z/VM de IBM, Octubre de 2009: </a:t>
            </a:r>
            <a:r>
              <a:rPr lang="es-VE" sz="2000">
                <a:solidFill>
                  <a:srgbClr val="CCCCFF"/>
                </a:solidFill>
                <a:hlinkClick r:id="rId7">
                  <a:extLst>
                    <a:ext uri="{A12FA001-AC4F-418D-AE19-62706E023703}">
                      <ahyp:hlinkClr xmlns:ahyp="http://schemas.microsoft.com/office/drawing/2018/hyperlinkcolor" val="tx"/>
                    </a:ext>
                  </a:extLst>
                </a:hlinkClick>
              </a:rPr>
              <a:t>http://www.vm.ibm.com/</a:t>
            </a:r>
            <a:r>
              <a:rPr lang="es-VE" sz="2000"/>
              <a:t>,</a:t>
            </a:r>
            <a:r>
              <a:rPr lang="es-VE" sz="2000">
                <a:solidFill>
                  <a:srgbClr val="CCCCFF"/>
                </a:solidFill>
                <a:hlinkClick r:id="rId8">
                  <a:extLst>
                    <a:ext uri="{A12FA001-AC4F-418D-AE19-62706E023703}">
                      <ahyp:hlinkClr xmlns:ahyp="http://schemas.microsoft.com/office/drawing/2018/hyperlinkcolor" val="tx"/>
                    </a:ext>
                  </a:extLst>
                </a:hlinkClick>
              </a:rPr>
              <a:t>http://publib.boulder.ibm.com/cgi-bin/bookmgr_OS390/Shelves/hcsh2ab0</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page7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5BFCB1-B995-B137-7189-45CA457B83CC}"/>
              </a:ext>
            </a:extLst>
          </p:cNvPr>
          <p:cNvSpPr txBox="1">
            <a:spLocks noGrp="1"/>
          </p:cNvSpPr>
          <p:nvPr>
            <p:ph type="title" idx="4294967295"/>
          </p:nvPr>
        </p:nvSpPr>
        <p:spPr>
          <a:xfrm>
            <a:off x="741239" y="282600"/>
            <a:ext cx="8607600" cy="1262520"/>
          </a:xfrm>
        </p:spPr>
        <p:txBody>
          <a:bodyPr wrap="square" anchorCtr="0">
            <a:spAutoFit/>
          </a:bodyPr>
          <a:lstStyle/>
          <a:p>
            <a:pPr lvl="0"/>
            <a:r>
              <a:rPr lang="es-VE"/>
              <a:t>Referencias</a:t>
            </a:r>
          </a:p>
        </p:txBody>
      </p:sp>
      <p:sp>
        <p:nvSpPr>
          <p:cNvPr id="3" name="Textplatzhalter 2">
            <a:extLst>
              <a:ext uri="{FF2B5EF4-FFF2-40B4-BE49-F238E27FC236}">
                <a16:creationId xmlns:a16="http://schemas.microsoft.com/office/drawing/2014/main" id="{1E58F84E-F04A-014F-1C27-6507C1785F6B}"/>
              </a:ext>
            </a:extLst>
          </p:cNvPr>
          <p:cNvSpPr txBox="1">
            <a:spLocks noGrp="1"/>
          </p:cNvSpPr>
          <p:nvPr>
            <p:ph type="body" idx="4294967295"/>
          </p:nvPr>
        </p:nvSpPr>
        <p:spPr>
          <a:xfrm>
            <a:off x="741239" y="1963800"/>
            <a:ext cx="8772480" cy="4937039"/>
          </a:xfrm>
        </p:spPr>
        <p:txBody>
          <a:bodyPr wrap="square" anchor="t" anchorCtr="0"/>
          <a:lstStyle/>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r>
              <a:rPr lang="es-VE" sz="2000">
                <a:solidFill>
                  <a:srgbClr val="CCCCFF"/>
                </a:solidFill>
              </a:rPr>
              <a:t>Operating system-level virtualization, Abril 2011: </a:t>
            </a:r>
            <a:r>
              <a:rPr lang="es-VE" sz="2000">
                <a:solidFill>
                  <a:srgbClr val="CCCCFF"/>
                </a:solidFill>
                <a:hlinkClick r:id="rId3">
                  <a:extLst>
                    <a:ext uri="{A12FA001-AC4F-418D-AE19-62706E023703}">
                      <ahyp:hlinkClr xmlns:ahyp="http://schemas.microsoft.com/office/drawing/2018/hyperlinkcolor" val="tx"/>
                    </a:ext>
                  </a:extLst>
                </a:hlinkClick>
              </a:rPr>
              <a:t>http://en.wikipedia.org/wiki/Operating_system-level_virtualization</a:t>
            </a:r>
          </a:p>
          <a:p>
            <a:pPr marL="0" lvl="0" indent="0">
              <a:buClr>
                <a:srgbClr val="E6E6E6"/>
              </a:buClr>
              <a:buSzPct val="45000"/>
              <a:buFont typeface="Wingdings" pitchFamily="2"/>
              <a:buChar char=""/>
              <a:tabLst>
                <a:tab pos="0" algn="l"/>
                <a:tab pos="106200" algn="l"/>
                <a:tab pos="555480" algn="l"/>
                <a:tab pos="1004760" algn="l"/>
                <a:tab pos="1454040" algn="l"/>
                <a:tab pos="1903320" algn="l"/>
                <a:tab pos="2352600" algn="l"/>
                <a:tab pos="2801880" algn="l"/>
                <a:tab pos="3251159" algn="l"/>
                <a:tab pos="3700440" algn="l"/>
                <a:tab pos="4149719" algn="l"/>
                <a:tab pos="4598640" algn="l"/>
                <a:tab pos="5047920" algn="l"/>
                <a:tab pos="5497200" algn="l"/>
                <a:tab pos="5946480" algn="l"/>
                <a:tab pos="6395759" algn="l"/>
                <a:tab pos="6845040" algn="l"/>
                <a:tab pos="7294319" algn="l"/>
                <a:tab pos="7743600" algn="l"/>
                <a:tab pos="8192880" algn="l"/>
                <a:tab pos="8642160" algn="l"/>
              </a:tabLst>
            </a:pPr>
            <a:endParaRPr lang="es-VE" sz="2000">
              <a:solidFill>
                <a:srgbClr val="CCCCFF"/>
              </a:solidFill>
            </a:endParaRPr>
          </a:p>
        </p:txBody>
      </p:sp>
    </p:spTree>
  </p:cSld>
  <p:clrMapOvr>
    <a:masterClrMapping/>
  </p:clrMapOvr>
</p:sld>
</file>

<file path=ppt/theme/theme1.xml><?xml version="1.0" encoding="utf-8"?>
<a:theme xmlns:a="http://schemas.openxmlformats.org/drawingml/2006/main" name="Predetermin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5648</Words>
  <Application>Microsoft Office PowerPoint</Application>
  <PresentationFormat>Breitbild</PresentationFormat>
  <Paragraphs>560</Paragraphs>
  <Slides>76</Slides>
  <Notes>76</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76</vt:i4>
      </vt:variant>
    </vt:vector>
  </HeadingPairs>
  <TitlesOfParts>
    <vt:vector size="82" baseType="lpstr">
      <vt:lpstr>Arial</vt:lpstr>
      <vt:lpstr>Calibri</vt:lpstr>
      <vt:lpstr>Symbol</vt:lpstr>
      <vt:lpstr>Times New Roman</vt:lpstr>
      <vt:lpstr>Wingdings</vt:lpstr>
      <vt:lpstr>Predeterminado</vt:lpstr>
      <vt:lpstr>Virtualización con Xen 3.2  en  GNU /Linux Debian Lenny 5.0 / Squeeze 6.0</vt:lpstr>
      <vt:lpstr>Virtualización</vt:lpstr>
      <vt:lpstr>Virtualización</vt:lpstr>
      <vt:lpstr>Virtualización de Hardware</vt:lpstr>
      <vt:lpstr>Virtualización del Procesador</vt:lpstr>
      <vt:lpstr>Virtualización de Instrucciones</vt:lpstr>
      <vt:lpstr>Virtualización de Instrucciones</vt:lpstr>
      <vt:lpstr>Tipos de Virtualización de Hardware por Software</vt:lpstr>
      <vt:lpstr>Emulación de Hardware</vt:lpstr>
      <vt:lpstr>Emulación de Hardware</vt:lpstr>
      <vt:lpstr>Virtualización Completa</vt:lpstr>
      <vt:lpstr>Virtualización Completa</vt:lpstr>
      <vt:lpstr>Virtualización Completa</vt:lpstr>
      <vt:lpstr>Paravirtualización</vt:lpstr>
      <vt:lpstr>Paravirtualización</vt:lpstr>
      <vt:lpstr>Paravirtualización</vt:lpstr>
      <vt:lpstr>Virtualización a Nivel de Sistema Operativo</vt:lpstr>
      <vt:lpstr>Virtualización a Nivel de Sistema Operativo</vt:lpstr>
      <vt:lpstr>Virtualización a Nivel de Sistema Operativo</vt:lpstr>
      <vt:lpstr>Software vs. Virtualización</vt:lpstr>
      <vt:lpstr>Xen</vt:lpstr>
      <vt:lpstr>Elementos de Xen</vt:lpstr>
      <vt:lpstr>Elementos de Xen</vt:lpstr>
      <vt:lpstr>Xen Hypervisor</vt:lpstr>
      <vt:lpstr>Xen Hypervisor</vt:lpstr>
      <vt:lpstr>Domain 0</vt:lpstr>
      <vt:lpstr>Domain 0 – Drivers</vt:lpstr>
      <vt:lpstr>Domain 0 - Drivers</vt:lpstr>
      <vt:lpstr>Domain U</vt:lpstr>
      <vt:lpstr>Domain U - Tipos</vt:lpstr>
      <vt:lpstr>Domain U – Tipos</vt:lpstr>
      <vt:lpstr>Domain U – Tipos</vt:lpstr>
      <vt:lpstr>Domain 0 – Drivers</vt:lpstr>
      <vt:lpstr>Xen Domain Managment and Control (Xen DM&amp;C)‏</vt:lpstr>
      <vt:lpstr>Xen Domain Managment and Control (Xen DM&amp;C)‏</vt:lpstr>
      <vt:lpstr>Xen Interdomain Communication (PV Guest)‏</vt:lpstr>
      <vt:lpstr>Cómo configurar Xen</vt:lpstr>
      <vt:lpstr>Pasos para Xen en Debian</vt:lpstr>
      <vt:lpstr>Distribución de Máquinas Virtuales</vt:lpstr>
      <vt:lpstr>Distribución de Máquinas Virtuales</vt:lpstr>
      <vt:lpstr>Distribución de Máquinas Virtuales</vt:lpstr>
      <vt:lpstr>Particionamiento – Ejemplo A</vt:lpstr>
      <vt:lpstr>Particionamiento – Ejemplo B</vt:lpstr>
      <vt:lpstr>Configuración de LVM</vt:lpstr>
      <vt:lpstr>Configuración de LVM</vt:lpstr>
      <vt:lpstr>Copiar y modificar archivos de máquinas virtuales</vt:lpstr>
      <vt:lpstr>Copiar y modificar archivos de Máquinas Virtuales</vt:lpstr>
      <vt:lpstr>Copiar y modificar archivos de Máquinas Virtuales</vt:lpstr>
      <vt:lpstr>Copiar y modificar archivos de Máquinas Virtuales</vt:lpstr>
      <vt:lpstr>Copiar y modificar archivos de Máquinas Virtuales</vt:lpstr>
      <vt:lpstr>Copiar y modificar archivos de Máquinas Virtuales</vt:lpstr>
      <vt:lpstr>Copiar y modificar archivos de Máquinas Virtuales</vt:lpstr>
      <vt:lpstr>Instalación de Xen</vt:lpstr>
      <vt:lpstr>Modificar archivos de dom 0</vt:lpstr>
      <vt:lpstr>Modificar archivos del dom 0</vt:lpstr>
      <vt:lpstr>Creación de archivos de conf. de máquinas virtuales</vt:lpstr>
      <vt:lpstr>Creación de archivos de conf. de máquinas virtuales</vt:lpstr>
      <vt:lpstr>Máquina Virtual Xen0</vt:lpstr>
      <vt:lpstr>Archivo de Configuración Xen1</vt:lpstr>
      <vt:lpstr>Iniciar las máquinas virtuales</vt:lpstr>
      <vt:lpstr>Preámbulo de virtualización completa</vt:lpstr>
      <vt:lpstr>Parámetros de virtualización completa para memoria</vt:lpstr>
      <vt:lpstr>Parámetros de virtualización Completa con VNC</vt:lpstr>
      <vt:lpstr>Parámetros de configuración regional (Opcionales)‏</vt:lpstr>
      <vt:lpstr>Particiones virtuales distintas a discos o particiones del dom 0</vt:lpstr>
      <vt:lpstr>Particiones para inicio de máquina virtual con / en NFS</vt:lpstr>
      <vt:lpstr>Parámetros para cambiar el orden de inicio de la máquina virtual</vt:lpstr>
      <vt:lpstr>Parámetros para controlar acciones en eventos de sistema</vt:lpstr>
      <vt:lpstr>Consideraciones de Seguridad</vt:lpstr>
      <vt:lpstr>Migración de Dominios</vt:lpstr>
      <vt:lpstr>Migración de Dominio</vt:lpstr>
      <vt:lpstr>Migración de Dominios</vt:lpstr>
      <vt:lpstr>Preguntas Interesantes</vt:lpstr>
      <vt:lpstr>Preguntas Interesante</vt:lpstr>
      <vt:lpstr>Referencias</vt:lpstr>
      <vt:lpstr>Referencias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Olaf Reitmaier</dc:creator>
  <cp:lastModifiedBy>Olaf Reitmaier</cp:lastModifiedBy>
  <cp:revision>27</cp:revision>
  <dcterms:modified xsi:type="dcterms:W3CDTF">2026-05-18T00:33:09Z</dcterms:modified>
</cp:coreProperties>
</file>