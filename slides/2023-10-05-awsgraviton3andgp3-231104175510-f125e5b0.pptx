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183" autoAdjust="0"/>
  </p:normalViewPr>
  <p:slideViewPr>
    <p:cSldViewPr snapToGrid="0">
      <p:cViewPr varScale="1">
        <p:scale>
          <a:sx n="106" d="100"/>
          <a:sy n="106" d="100"/>
        </p:scale>
        <p:origin x="71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ec2/nitro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aws.amazon.com/machine-learning/inferentia/" TargetMode="External"/><Relationship Id="rId4" Type="http://schemas.openxmlformats.org/officeDocument/2006/relationships/hyperlink" Target="https://aws.amazon.com/ec2/graviton/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ndtech.com/show/15578/cloud-clash-amazon-graviton2-arm-against-intel-and-amd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ndtech.com/show/15578/cloud-clash-amazon-graviton2-arm-against-intel-and-amd" TargetMode="External"/><Relationship Id="rId7" Type="http://schemas.openxmlformats.org/officeDocument/2006/relationships/hyperlink" Target="https://www.elektronik-kompendium.de/sites/com/0309291.htm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Simultaneous_multithreading" TargetMode="External"/><Relationship Id="rId5" Type="http://schemas.openxmlformats.org/officeDocument/2006/relationships/hyperlink" Target="https://en.wikipedia.org/wiki/Non-uniform_memory_access" TargetMode="External"/><Relationship Id="rId4" Type="http://schemas.openxmlformats.org/officeDocument/2006/relationships/hyperlink" Target="https://github.com/aws/aws-graviton-getting-started" TargetMode="Externa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Lysl0QvqXU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ercona.com/blog/comparing-graviton-arm-performance-to-intel-and-amd-for-mysql-part-2/" TargetMode="External"/><Relationship Id="rId3" Type="http://schemas.openxmlformats.org/officeDocument/2006/relationships/hyperlink" Target="https://github.com/aws/aws-graviton-getting-started" TargetMode="External"/><Relationship Id="rId7" Type="http://schemas.openxmlformats.org/officeDocument/2006/relationships/hyperlink" Target="https://www.percona.com/blog/comparing-graviton-performance-to-arm-and-intel-for-mysql/#:~:text=However%2C%20Graviton%20shows%20outstanding%20results,performance%20in%20high%2Dconcurrency%20scenarios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arm.com/-/media/Files/pdf/white-paper/guidelines-for-deploying-nginx-plus-on-aws.pdf" TargetMode="External"/><Relationship Id="rId5" Type="http://schemas.openxmlformats.org/officeDocument/2006/relationships/hyperlink" Target="https://www.youtube.com/watch?v=NLysl0QvqXU" TargetMode="External"/><Relationship Id="rId4" Type="http://schemas.openxmlformats.org/officeDocument/2006/relationships/hyperlink" Target="https://github.com/aws/aws-graviton-getting-started/blob/main/os.md" TargetMode="Externa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ws/aws-graviton-getting-started/blob/main/perfrunbook/graviton_perfrunbook.md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awsgraviton.devpost.com/project-gallery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blogs/storage/migrate-your-amazon-ebs-volumes-from-gp2-to-gp3-and-save-up-to-20-on-costs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ahmedahamid.com/which-is-better/" TargetMode="External"/><Relationship Id="rId4" Type="http://schemas.openxmlformats.org/officeDocument/2006/relationships/hyperlink" Target="https://aws.amazon.com/blogs/containers/migrating-amazon-eks-clusters-from-gp2-to-gp3-ebs-volumes/" TargetMode="Externa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blogs/storage/migrate-your-amazon-ebs-volumes-from-gp2-to-gp3-and-save-up-to-20-on-costs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3cb8cd20a9_0_88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3cb8cd20a9_0_88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cb8cd20a9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cb8cd20a9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https://aws.amazon.com/ec2/nitro/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https://aws.amazon.com/ec2/graviton/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https://aws.amazon.com/machine-learning/inferentia/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3cb8cd20a9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3cb8cd20a9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https://aws.amazon.com/ec2/nitro/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cb8cd20a9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3cb8cd20a9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https://en.wikipedia.org/wiki/Annapurna_Labs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cb8cd20a9_0_76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3cb8cd20a9_0_76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cb8cd20a9_0_4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3cb8cd20a9_0_4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https://www.anandtech.com/show/15578/cloud-clash-amazon-graviton2-arm-against-intel-and-amd</a:t>
            </a:r>
            <a:r>
              <a:rPr lang="en"/>
              <a:t> (Image)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cb8cd20a9_0_10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3cb8cd20a9_0_10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https://docs.google.com/presentation/d/1xgPXFcEusiSUcbw_4pqUJNKIhDyOfdvl3gBE7T1FVjk/edit#slide=id.ge00741205c_1_2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3cb8cd20a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3cb8cd20a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https://www.arm.com/partners/aws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3cb8cd20a9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3cb8cd20a9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https://www.anandtech.com/show/15578/cloud-clash-amazon-graviton2-arm-against-intel-and-amd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https://github.com/aws/aws-graviton-getting-started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https://en.wikipedia.org/wiki/Non-uniform_memory_access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https://en.wikipedia.org/wiki/Simultaneous_multithreading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https://www.elektronik-kompendium.de/sites/com/0309291.htm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3cb8cd20a9_0_3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3cb8cd20a9_0_3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https://www.densify.com/articles/aws-graviton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3cb8cd20a9_0_1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3cb8cd20a9_0_1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AWS re:Invent 2020: Deep dive on AWS Graviton2 processor-powered EC2 instances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https://www.youtube.com/watch?v=NLysl0QvqXU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3cb8cd20a9_0_1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3cb8cd20a9_0_1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https://github.com/aws/aws-graviton-getting-started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https://github.com/aws/aws-graviton-getting-started/blob/main/os.md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AWS re:Invent 2020: Deep dive on AWS Graviton2 processor-powered EC2 instances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https://www.youtube.com/watch?v=NLysl0QvqXU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https://www.arm.com/-/media/Files/pdf/white-paper/guidelines-for-deploying-nginx-plus-on-aws.pdf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https://www.percona.com/blog/comparing-graviton-performance-to-arm-and-intel-for-mysql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8"/>
              </a:rPr>
              <a:t>https://www.percona.com/blog/comparing-graviton-arm-performance-to-intel-and-amd-for-mysql-part-2/</a:t>
            </a:r>
            <a:r>
              <a:rPr lang="en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3cb8cd20a9_0_1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13cb8cd20a9_0_17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https://github.com/aws/aws-graviton-getting-started/blob/main/perfrunbook/graviton_perfrunbook.md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https://awsgraviton.devpost.com/project-gallery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3cb8cd20a9_0_9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13cb8cd20a9_0_9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https://aws.amazon.com/blogs/apn/introducing-the-aws-graviton-ready-program-for-graviton-enabled-software-products/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3cb8cd20a9_0_80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3cb8cd20a9_0_80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3cb8cd20a9_0_8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3cb8cd20a9_0_8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https://docs.aws.amazon.com/AWSEC2/latest/UserGuide/ebs-volume-types.html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3cb8cd20a9_0_4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3cb8cd20a9_0_4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https://aws.amazon.com/blogs/storage/migrate-your-amazon-ebs-volumes-from-gp2-to-gp3-and-save-up-to-20-on-costs/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 dirty="0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https://aws.amazon.com/blogs/containers/migrating-amazon-eks-clusters-from-gp2-to-gp3-ebs-volumes/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 dirty="0">
                <a:solidFill>
                  <a:schemeClr val="hlink"/>
                </a:solidFill>
                <a:hlinkClick r:id="rId5"/>
              </a:rPr>
              <a:t>https://ahmedahamid.com/which-is-better/</a:t>
            </a:r>
            <a:r>
              <a:rPr lang="en" dirty="0">
                <a:solidFill>
                  <a:schemeClr val="dk1"/>
                </a:solidFill>
              </a:rPr>
              <a:t> </a:t>
            </a: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3cb8cd20a9_0_5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13cb8cd20a9_0_5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https://aws.amazon.com/blogs/storage/migrate-your-amazon-ebs-volumes-from-gp2-to-gp3-and-save-up-to-20-on-costs/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ec2/nitro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aws.amazon.com/machine-learning/inferentia/" TargetMode="External"/><Relationship Id="rId4" Type="http://schemas.openxmlformats.org/officeDocument/2006/relationships/hyperlink" Target="https://aws.amazon.com/ec2/graviton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nnapurna_Lab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ws/aws-graviton-getting-started/blob/main/os.md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aws/aws-graviton-getting-started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ws/aws-graviton-getting-started/blob/main/perfrunbook/graviton_perfrunbook.md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blogs/storage/migrate-your-amazon-ebs-volumes-from-gp2-to-gp3-and-save-up-to-20-on-costs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aws.amazon.com/blogs/containers/migrating-amazon-eks-clusters-from-gp2-to-gp3-ebs-volumes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95872" y="1046239"/>
            <a:ext cx="5047951" cy="167129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AWS Graviton3 and GP3</a:t>
            </a:r>
            <a:endParaRPr sz="5000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757187" y="2916629"/>
            <a:ext cx="3925322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/>
              <a:t>Background, Performance and Cost Benefits</a:t>
            </a:r>
            <a:endParaRPr sz="2500" dirty="0"/>
          </a:p>
        </p:txBody>
      </p:sp>
      <p:sp>
        <p:nvSpPr>
          <p:cNvPr id="56" name="Google Shape;56;p13"/>
          <p:cNvSpPr txBox="1"/>
          <p:nvPr/>
        </p:nvSpPr>
        <p:spPr>
          <a:xfrm>
            <a:off x="6038661" y="4439850"/>
            <a:ext cx="258636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Olaf Reitmaier Veracierta</a:t>
            </a:r>
            <a:endParaRPr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397125" y="4439850"/>
            <a:ext cx="1416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/>
              <a:t>July, 2022.</a:t>
            </a:r>
            <a:endParaRPr sz="13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12F82DD-DCC5-A721-281F-2264A4FC9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89" y="733408"/>
            <a:ext cx="2462484" cy="14485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75A91E-4034-94BB-8E18-CC8A9FDF3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89" y="2340850"/>
            <a:ext cx="2462484" cy="1552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4200" y="733425"/>
            <a:ext cx="731520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Compute Architecture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AWS Nitro System</a:t>
            </a:r>
            <a:r>
              <a:rPr lang="en"/>
              <a:t>: Compute (Hypervisor), Network, Storage and Security.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AWS Graviton</a:t>
            </a:r>
            <a:r>
              <a:rPr lang="en"/>
              <a:t>: Silicon Chip for powerful and efficient modern applications.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AWS Inferentia</a:t>
            </a:r>
            <a:r>
              <a:rPr lang="en"/>
              <a:t>: Silicon Chip for Machine Learning at Scale, requires Neuron (SDK) and embedded into AWS Deep Learning AMI (DLAMI).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1855775" y="1439100"/>
            <a:ext cx="5001600" cy="31479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Nitro Architecture (Ecosystem)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5775" y="2536800"/>
            <a:ext cx="1238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3875" y="3163075"/>
            <a:ext cx="1238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3863" y="1684775"/>
            <a:ext cx="1238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91975" y="1684775"/>
            <a:ext cx="1238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68475" y="1017725"/>
            <a:ext cx="12382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1932350" y="3320750"/>
            <a:ext cx="1085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Nitro</a:t>
            </a:r>
            <a:endParaRPr sz="1000">
              <a:solidFill>
                <a:srgbClr val="333E48"/>
              </a:solidFill>
              <a:highlight>
                <a:schemeClr val="lt1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Hypervisor</a:t>
            </a:r>
            <a:endParaRPr sz="1000">
              <a:solidFill>
                <a:srgbClr val="333E48"/>
              </a:solidFill>
              <a:highlight>
                <a:schemeClr val="lt1"/>
              </a:highlight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640275" y="3955300"/>
            <a:ext cx="108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Nitro Cards</a:t>
            </a:r>
            <a:endParaRPr sz="1000">
              <a:solidFill>
                <a:srgbClr val="333E48"/>
              </a:solidFill>
              <a:highlight>
                <a:schemeClr val="lt1"/>
              </a:highlight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600450" y="2516300"/>
            <a:ext cx="108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Nitro CPU</a:t>
            </a:r>
            <a:endParaRPr sz="1000">
              <a:solidFill>
                <a:srgbClr val="333E48"/>
              </a:solidFill>
              <a:highlight>
                <a:schemeClr val="lt1"/>
              </a:highlight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5268550" y="2482900"/>
            <a:ext cx="1085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Nitro TPM</a:t>
            </a:r>
            <a:endParaRPr sz="1000">
              <a:solidFill>
                <a:srgbClr val="333E48"/>
              </a:solidFill>
              <a:highlight>
                <a:schemeClr val="lt1"/>
              </a:highlight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6645050" y="1831425"/>
            <a:ext cx="1085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Nitro</a:t>
            </a:r>
            <a:endParaRPr sz="1000">
              <a:solidFill>
                <a:srgbClr val="333E48"/>
              </a:solidFill>
              <a:highlight>
                <a:schemeClr val="lt1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Enclave</a:t>
            </a:r>
            <a:endParaRPr sz="1000">
              <a:solidFill>
                <a:srgbClr val="333E48"/>
              </a:solidFill>
              <a:highlight>
                <a:schemeClr val="lt1"/>
              </a:highlight>
            </a:endParaRPr>
          </a:p>
        </p:txBody>
      </p:sp>
      <p:cxnSp>
        <p:nvCxnSpPr>
          <p:cNvPr id="85" name="Google Shape;85;p16"/>
          <p:cNvCxnSpPr>
            <a:stCxn id="75" idx="3"/>
            <a:endCxn id="77" idx="1"/>
          </p:cNvCxnSpPr>
          <p:nvPr/>
        </p:nvCxnSpPr>
        <p:spPr>
          <a:xfrm rot="10800000" flipH="1">
            <a:off x="3094025" y="2161050"/>
            <a:ext cx="429900" cy="852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" name="Google Shape;86;p16"/>
          <p:cNvCxnSpPr>
            <a:stCxn id="75" idx="3"/>
            <a:endCxn id="76" idx="1"/>
          </p:cNvCxnSpPr>
          <p:nvPr/>
        </p:nvCxnSpPr>
        <p:spPr>
          <a:xfrm>
            <a:off x="3094025" y="3013050"/>
            <a:ext cx="429900" cy="62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" name="Google Shape;87;p16"/>
          <p:cNvCxnSpPr>
            <a:stCxn id="78" idx="1"/>
            <a:endCxn id="77" idx="3"/>
          </p:cNvCxnSpPr>
          <p:nvPr/>
        </p:nvCxnSpPr>
        <p:spPr>
          <a:xfrm rot="10800000">
            <a:off x="4762075" y="2161025"/>
            <a:ext cx="429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8" name="Google Shape;88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68550" y="3284175"/>
            <a:ext cx="710301" cy="710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6"/>
          <p:cNvCxnSpPr>
            <a:stCxn id="88" idx="1"/>
            <a:endCxn id="76" idx="3"/>
          </p:cNvCxnSpPr>
          <p:nvPr/>
        </p:nvCxnSpPr>
        <p:spPr>
          <a:xfrm rot="10800000">
            <a:off x="4762150" y="3639325"/>
            <a:ext cx="506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6"/>
          <p:cNvSpPr txBox="1"/>
          <p:nvPr/>
        </p:nvSpPr>
        <p:spPr>
          <a:xfrm>
            <a:off x="5081150" y="3882250"/>
            <a:ext cx="1085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Nitro Storage</a:t>
            </a:r>
            <a:endParaRPr sz="1000">
              <a:solidFill>
                <a:srgbClr val="333E48"/>
              </a:solidFill>
              <a:highlight>
                <a:schemeClr val="lt1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(EBS, NVMe, SSD)</a:t>
            </a:r>
            <a:endParaRPr sz="1000">
              <a:solidFill>
                <a:srgbClr val="333E48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Graviton | Architecture</a:t>
            </a:r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Custom chip designed by AWS supported by ARM (v8 Compliant)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Project Drivers: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Intel / AMD TCO and ROI at scale (Support &amp; Licensing).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CISC (Intel/AMD) hard vs. RISC (ARM) easy design-change:</a:t>
            </a:r>
            <a:endParaRPr sz="18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More density of hardware per rack on data centers.</a:t>
            </a:r>
            <a:endParaRPr sz="1800"/>
          </a:p>
          <a:p>
            <a:pPr marL="1371600" lvl="2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Performance, Machine learning and other tweaks.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Security (US Government and Military).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Annapurna Labs</a:t>
            </a:r>
            <a:r>
              <a:rPr lang="en" sz="1800"/>
              <a:t> (Israeli) acquisition (2015).</a:t>
            </a:r>
            <a:endParaRPr sz="1800"/>
          </a:p>
          <a:p>
            <a:pPr marL="9144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0600" y="110675"/>
            <a:ext cx="2983380" cy="10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4822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311700" y="295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Graviton | How to check?</a:t>
            </a: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375" y="901775"/>
            <a:ext cx="8301251" cy="410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>
            <a:off x="4458825" y="1110525"/>
            <a:ext cx="2012400" cy="13350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4450475" y="2340050"/>
            <a:ext cx="2012400" cy="13350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"/>
          <p:cNvSpPr/>
          <p:nvPr/>
        </p:nvSpPr>
        <p:spPr>
          <a:xfrm>
            <a:off x="4450475" y="3068575"/>
            <a:ext cx="2012400" cy="133500"/>
          </a:xfrm>
          <a:prstGeom prst="rect">
            <a:avLst/>
          </a:prstGeom>
          <a:noFill/>
          <a:ln w="952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EC2 Instance Characteristics</a:t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325" y="1382450"/>
            <a:ext cx="6869350" cy="237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3364975" y="3765775"/>
            <a:ext cx="2154300" cy="569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/>
              <a:t>Family =&gt; M</a:t>
            </a:r>
            <a:endParaRPr sz="25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>
            <a:spLocks noGrp="1"/>
          </p:cNvSpPr>
          <p:nvPr>
            <p:ph type="title"/>
          </p:nvPr>
        </p:nvSpPr>
        <p:spPr>
          <a:xfrm>
            <a:off x="311700" y="278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Graviton | EC2 Instance Types</a:t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7975" y="1017725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0950" y="1017725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7175" y="1017725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4225" y="1017725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37875" y="3026575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96275" y="3026575"/>
            <a:ext cx="137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58600" y="3078225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78075" y="2998000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1"/>
          <p:cNvSpPr txBox="1"/>
          <p:nvPr/>
        </p:nvSpPr>
        <p:spPr>
          <a:xfrm>
            <a:off x="3100300" y="2461650"/>
            <a:ext cx="16929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T4g (Burstable </a:t>
            </a:r>
            <a:b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</a:b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General Purpose)</a:t>
            </a:r>
            <a:endParaRPr sz="600">
              <a:highlight>
                <a:schemeClr val="lt1"/>
              </a:highlight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1127325" y="2461650"/>
            <a:ext cx="16929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M6g and M6gd </a:t>
            </a:r>
            <a:b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</a:b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(General Purpose)</a:t>
            </a:r>
            <a:endParaRPr sz="600">
              <a:highlight>
                <a:schemeClr val="lt1"/>
              </a:highlight>
            </a:endParaRPr>
          </a:p>
        </p:txBody>
      </p:sp>
      <p:sp>
        <p:nvSpPr>
          <p:cNvPr id="135" name="Google Shape;135;p21"/>
          <p:cNvSpPr txBox="1"/>
          <p:nvPr/>
        </p:nvSpPr>
        <p:spPr>
          <a:xfrm>
            <a:off x="4926525" y="2461650"/>
            <a:ext cx="16929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C6g and C6gd </a:t>
            </a:r>
            <a:b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</a:b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(Compute Optimized)</a:t>
            </a:r>
            <a:endParaRPr sz="600">
              <a:highlight>
                <a:schemeClr val="lt1"/>
              </a:highlight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6813575" y="2461650"/>
            <a:ext cx="16929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C6gn (C6 with </a:t>
            </a:r>
            <a:b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</a:b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Enhanced Networking)</a:t>
            </a:r>
            <a:endParaRPr sz="600">
              <a:highlight>
                <a:schemeClr val="lt1"/>
              </a:highlight>
            </a:endParaRPr>
          </a:p>
        </p:txBody>
      </p:sp>
      <p:sp>
        <p:nvSpPr>
          <p:cNvPr id="137" name="Google Shape;137;p21"/>
          <p:cNvSpPr txBox="1"/>
          <p:nvPr/>
        </p:nvSpPr>
        <p:spPr>
          <a:xfrm>
            <a:off x="3100300" y="4506975"/>
            <a:ext cx="16929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X2gd (Enhanced Memory)</a:t>
            </a:r>
            <a:endParaRPr sz="600">
              <a:highlight>
                <a:schemeClr val="lt1"/>
              </a:highlight>
            </a:endParaRPr>
          </a:p>
        </p:txBody>
      </p:sp>
      <p:sp>
        <p:nvSpPr>
          <p:cNvPr id="138" name="Google Shape;138;p21"/>
          <p:cNvSpPr txBox="1"/>
          <p:nvPr/>
        </p:nvSpPr>
        <p:spPr>
          <a:xfrm>
            <a:off x="1127325" y="4506975"/>
            <a:ext cx="16929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R6g and R6gd </a:t>
            </a:r>
            <a:b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</a:b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(Memory Optimized)</a:t>
            </a:r>
            <a:endParaRPr sz="600">
              <a:highlight>
                <a:schemeClr val="lt1"/>
              </a:highlight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4926525" y="4506975"/>
            <a:ext cx="16929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Im4gn and Is4gen (Storage Optimized)</a:t>
            </a:r>
            <a:endParaRPr sz="600">
              <a:highlight>
                <a:schemeClr val="lt1"/>
              </a:highlight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6813575" y="4506975"/>
            <a:ext cx="1692900" cy="33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E48"/>
                </a:solidFill>
                <a:highlight>
                  <a:schemeClr val="lt1"/>
                </a:highlight>
              </a:rPr>
              <a:t>G5g (GPU Accelerated)</a:t>
            </a:r>
            <a:endParaRPr sz="600">
              <a:highlight>
                <a:schemeClr val="lt1"/>
              </a:highlight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1002000" y="960225"/>
            <a:ext cx="60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WW</a:t>
            </a:r>
            <a:endParaRPr i="1"/>
          </a:p>
        </p:txBody>
      </p:sp>
      <p:sp>
        <p:nvSpPr>
          <p:cNvPr id="142" name="Google Shape;142;p21"/>
          <p:cNvSpPr txBox="1"/>
          <p:nvPr/>
        </p:nvSpPr>
        <p:spPr>
          <a:xfrm>
            <a:off x="2999700" y="960225"/>
            <a:ext cx="60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WW</a:t>
            </a:r>
            <a:endParaRPr i="1"/>
          </a:p>
        </p:txBody>
      </p:sp>
      <p:sp>
        <p:nvSpPr>
          <p:cNvPr id="143" name="Google Shape;143;p21"/>
          <p:cNvSpPr txBox="1"/>
          <p:nvPr/>
        </p:nvSpPr>
        <p:spPr>
          <a:xfrm>
            <a:off x="1002000" y="2954250"/>
            <a:ext cx="60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WW</a:t>
            </a:r>
            <a:endParaRPr i="1"/>
          </a:p>
        </p:txBody>
      </p:sp>
      <p:sp>
        <p:nvSpPr>
          <p:cNvPr id="144" name="Google Shape;144;p21"/>
          <p:cNvSpPr txBox="1"/>
          <p:nvPr/>
        </p:nvSpPr>
        <p:spPr>
          <a:xfrm>
            <a:off x="4876425" y="926825"/>
            <a:ext cx="601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WW</a:t>
            </a:r>
            <a:endParaRPr i="1"/>
          </a:p>
        </p:txBody>
      </p:sp>
      <p:sp>
        <p:nvSpPr>
          <p:cNvPr id="145" name="Google Shape;145;p21"/>
          <p:cNvSpPr txBox="1"/>
          <p:nvPr/>
        </p:nvSpPr>
        <p:spPr>
          <a:xfrm>
            <a:off x="6276875" y="364275"/>
            <a:ext cx="2390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WW = Popular at Westwing</a:t>
            </a:r>
            <a:endParaRPr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Graviton | Processors</a:t>
            </a:r>
            <a:endParaRPr/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900" y="1017725"/>
            <a:ext cx="3294761" cy="342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200" y="1017725"/>
            <a:ext cx="3713301" cy="34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/>
        </p:nvSpPr>
        <p:spPr>
          <a:xfrm>
            <a:off x="751475" y="4525600"/>
            <a:ext cx="7731900" cy="400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Design Decisions:</a:t>
            </a:r>
            <a:r>
              <a:rPr lang="en">
                <a:solidFill>
                  <a:schemeClr val="lt1"/>
                </a:solidFill>
              </a:rPr>
              <a:t> ARM RISC 64 Bits, 64x Core, 1x NUMA, No SMT, DDR5, 1MB L2 Cache.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Graviton Advantages</a:t>
            </a:r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“Highest performance”</a:t>
            </a:r>
            <a:r>
              <a:rPr lang="en"/>
              <a:t> in their instance families.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20% lower cost vs. same-sized </a:t>
            </a:r>
            <a:r>
              <a:rPr lang="en" b="1"/>
              <a:t>“comparable instances”.</a:t>
            </a:r>
            <a:endParaRPr b="1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 to 40% better price/performance vs. </a:t>
            </a:r>
            <a:r>
              <a:rPr lang="en" b="1"/>
              <a:t>“comparable instances”.</a:t>
            </a:r>
            <a:endParaRPr b="1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</a:t>
            </a:r>
            <a:r>
              <a:rPr lang="en" b="1"/>
              <a:t>“comparable instances”</a:t>
            </a:r>
            <a:r>
              <a:rPr lang="en"/>
              <a:t>?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Char char="○"/>
            </a:pPr>
            <a:r>
              <a:rPr lang="en" b="1">
                <a:solidFill>
                  <a:srgbClr val="38761D"/>
                </a:solidFill>
              </a:rPr>
              <a:t>Same Compute (vCPU / Memory Size)</a:t>
            </a:r>
            <a:endParaRPr b="1">
              <a:solidFill>
                <a:srgbClr val="38761D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Char char="○"/>
            </a:pPr>
            <a:r>
              <a:rPr lang="en" b="1">
                <a:solidFill>
                  <a:srgbClr val="38761D"/>
                </a:solidFill>
              </a:rPr>
              <a:t>Same Network (Type)</a:t>
            </a:r>
            <a:endParaRPr b="1">
              <a:solidFill>
                <a:srgbClr val="38761D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400"/>
              <a:buChar char="○"/>
            </a:pPr>
            <a:r>
              <a:rPr lang="en" b="1">
                <a:solidFill>
                  <a:srgbClr val="38761D"/>
                </a:solidFill>
              </a:rPr>
              <a:t>Same Storage (Type)</a:t>
            </a:r>
            <a:endParaRPr b="1">
              <a:solidFill>
                <a:srgbClr val="38761D"/>
              </a:solidFill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 b="1">
                <a:solidFill>
                  <a:srgbClr val="FF0000"/>
                </a:solidFill>
              </a:rPr>
              <a:t>Same workload 😉 </a:t>
            </a:r>
            <a:r>
              <a:rPr lang="en" sz="700" i="1">
                <a:solidFill>
                  <a:schemeClr val="dk1"/>
                </a:solidFill>
              </a:rPr>
              <a:t>… between the lines … the small letters...</a:t>
            </a:r>
            <a:endParaRPr sz="700" i="1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AWS on majority of AWS Managed Services “without major tweaks”.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AWS Lambda: You can select to run on Graviton.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Graviton Caveats (1 of 2)</a:t>
            </a:r>
            <a:endParaRPr/>
          </a:p>
        </p:txBody>
      </p:sp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5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●"/>
            </a:pPr>
            <a:r>
              <a:rPr lang="en" b="1">
                <a:solidFill>
                  <a:srgbClr val="FF0000"/>
                </a:solidFill>
              </a:rPr>
              <a:t>Portability:</a:t>
            </a:r>
            <a:r>
              <a:rPr lang="en">
                <a:solidFill>
                  <a:srgbClr val="FF0000"/>
                </a:solidFill>
              </a:rPr>
              <a:t> architecture must be arm64 specific (kernel, libraries, binary).</a:t>
            </a:r>
            <a:endParaRPr>
              <a:solidFill>
                <a:srgbClr val="FF0000"/>
              </a:solidFill>
            </a:endParaRPr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CloudFormation: </a:t>
            </a:r>
            <a:r>
              <a:rPr lang="en"/>
              <a:t>Don't hardcode AMI IDs, use AWS Parameter Store.</a:t>
            </a:r>
            <a:endParaRPr/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C/C++: </a:t>
            </a:r>
            <a:r>
              <a:rPr lang="en"/>
              <a:t>Recompiled, ASM / Intrinsics / AVX Ported (sse2neon), Large-System Extension (LSE) for atomic operations, ML ARM dot-product instructions and half-precision floating-point (float16).</a:t>
            </a:r>
            <a:endParaRPr/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Java: </a:t>
            </a:r>
            <a:r>
              <a:rPr lang="en"/>
              <a:t>Use Amazon Coretto (flavor of OpenJDK). Some x86-64 ELF Jar must be replaced.</a:t>
            </a:r>
            <a:endParaRPr/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Python: </a:t>
            </a:r>
            <a:r>
              <a:rPr lang="en"/>
              <a:t>pip pulls packages from PPI some are C/C++ and they are not pre-compiled, so installation (build) can take up to then 10 minutes.</a:t>
            </a:r>
            <a:endParaRPr/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.NET Core: </a:t>
            </a:r>
            <a:r>
              <a:rPr lang="en"/>
              <a:t>Migration from .NET to .NET core needed.</a:t>
            </a:r>
            <a:endParaRPr/>
          </a:p>
          <a:p>
            <a:pPr marL="457200" lvl="0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NodeJS/Ruby: </a:t>
            </a:r>
            <a:r>
              <a:rPr lang="en"/>
              <a:t>ensure arm64 packages.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Graviton Caveats (2 of 2)</a:t>
            </a:r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Go:</a:t>
            </a:r>
            <a:r>
              <a:rPr lang="en"/>
              <a:t> &gt; 1.16, env GOOS=linux and GOARCH=arm64.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PHP: </a:t>
            </a:r>
            <a:r>
              <a:rPr lang="en"/>
              <a:t>&gt;7.4 (good) &gt; 8 (best), ensure arm64 packages.</a:t>
            </a:r>
            <a:endParaRPr b="1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HAProxy:</a:t>
            </a:r>
            <a:r>
              <a:rPr lang="en"/>
              <a:t> compile with CPU=armv81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MySQL: </a:t>
            </a:r>
            <a:r>
              <a:rPr lang="en"/>
              <a:t>prefer 8.0.23+.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zlib: </a:t>
            </a:r>
            <a:r>
              <a:rPr lang="en"/>
              <a:t>use zlib-cloudflare instead.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 u="sng">
                <a:solidFill>
                  <a:schemeClr val="hlink"/>
                </a:solidFill>
                <a:hlinkClick r:id="rId3"/>
              </a:rPr>
              <a:t>Operating Systems</a:t>
            </a:r>
            <a:r>
              <a:rPr lang="en" b="1"/>
              <a:t>: </a:t>
            </a:r>
            <a:r>
              <a:rPr lang="en"/>
              <a:t>Amazon Linux 2.26-35 and others (but…).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Kubernetes / Docker:</a:t>
            </a:r>
            <a:r>
              <a:rPr lang="en"/>
              <a:t> Well, again Kernel, Library, Binaries, …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</a:t>
            </a:r>
            <a:r>
              <a:rPr lang="en" u="sng">
                <a:solidFill>
                  <a:schemeClr val="hlink"/>
                </a:solidFill>
                <a:hlinkClick r:id="rId4"/>
              </a:rPr>
              <a:t>Transition to Graviton</a:t>
            </a:r>
            <a:r>
              <a:rPr lang="en"/>
              <a:t> for more fun (bugs) with (on) AWS.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Graviton Performance</a:t>
            </a:r>
            <a:endParaRPr/>
          </a:p>
        </p:txBody>
      </p:sp>
      <p:sp>
        <p:nvSpPr>
          <p:cNvPr id="177" name="Google Shape;177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Your workload can have worst performance</a:t>
            </a:r>
            <a:r>
              <a:rPr lang="en"/>
              <a:t> on Graviton, due to: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changes you need to make in under to run under Graviton.</a:t>
            </a:r>
            <a:endParaRPr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changes others need to make in under to support you under Graviton.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Trust no one / no online article</a:t>
            </a:r>
            <a:r>
              <a:rPr lang="en"/>
              <a:t>, I found a lot were wrong or too biased.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Test and prove by yourself</a:t>
            </a:r>
            <a:r>
              <a:rPr lang="en"/>
              <a:t> your stuff, there is no other way, if you hit a bug you will be hitting it hard as majority of people is on Intel / AMD not ARM.</a:t>
            </a:r>
            <a:endParaRPr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b="1"/>
              <a:t>Run the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AWS Graviton Performance Runbook</a:t>
            </a:r>
            <a:r>
              <a:rPr lang="en"/>
              <a:t> a kind summary to profiling.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Graviton Ready Program</a:t>
            </a:r>
            <a:endParaRPr/>
          </a:p>
        </p:txBody>
      </p:sp>
      <p:pic>
        <p:nvPicPr>
          <p:cNvPr id="183" name="Google Shape;18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075" y="1017725"/>
            <a:ext cx="7255844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600" y="666750"/>
            <a:ext cx="762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EBS</a:t>
            </a:r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65">
                <a:latin typeface="Calibri"/>
                <a:ea typeface="Calibri"/>
                <a:cs typeface="Calibri"/>
                <a:sym typeface="Calibri"/>
              </a:rPr>
              <a:t>AWS EBS Volumes Types:</a:t>
            </a:r>
            <a:endParaRPr sz="1865">
              <a:latin typeface="Calibri"/>
              <a:ea typeface="Calibri"/>
              <a:cs typeface="Calibri"/>
              <a:sym typeface="Calibri"/>
            </a:endParaRPr>
          </a:p>
          <a:p>
            <a:pPr marL="514350" marR="0" lvl="1" indent="-323532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95"/>
              <a:buFont typeface="Calibri"/>
              <a:buChar char="○"/>
            </a:pPr>
            <a:r>
              <a:rPr lang="en" sz="1495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General Purpose SSD (gp2/gp3):</a:t>
            </a:r>
            <a:r>
              <a:rPr lang="en" sz="1495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495">
                <a:latin typeface="Calibri"/>
                <a:ea typeface="Calibri"/>
                <a:cs typeface="Calibri"/>
                <a:sym typeface="Calibri"/>
              </a:rPr>
              <a:t>most workloads.</a:t>
            </a:r>
            <a:endParaRPr sz="1495">
              <a:latin typeface="Calibri"/>
              <a:ea typeface="Calibri"/>
              <a:cs typeface="Calibri"/>
              <a:sym typeface="Calibri"/>
            </a:endParaRPr>
          </a:p>
          <a:p>
            <a:pPr marL="514350" marR="0" lvl="1" indent="-32353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95"/>
              <a:buFont typeface="Calibri"/>
              <a:buChar char="○"/>
            </a:pPr>
            <a:r>
              <a:rPr lang="en" sz="1495" b="1">
                <a:latin typeface="Calibri"/>
                <a:ea typeface="Calibri"/>
                <a:cs typeface="Calibri"/>
                <a:sym typeface="Calibri"/>
              </a:rPr>
              <a:t>Provisioned IOPS SSD (io2/io3): </a:t>
            </a:r>
            <a:r>
              <a:rPr lang="en" sz="1495">
                <a:latin typeface="Calibri"/>
                <a:ea typeface="Calibri"/>
                <a:cs typeface="Calibri"/>
                <a:sym typeface="Calibri"/>
              </a:rPr>
              <a:t>mission-critical, low-latency, or high-throughput workloads</a:t>
            </a:r>
            <a:endParaRPr sz="1495">
              <a:latin typeface="Calibri"/>
              <a:ea typeface="Calibri"/>
              <a:cs typeface="Calibri"/>
              <a:sym typeface="Calibri"/>
            </a:endParaRPr>
          </a:p>
          <a:p>
            <a:pPr marL="514350" marR="0" lvl="1" indent="-32353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95"/>
              <a:buFont typeface="Calibri"/>
              <a:buChar char="○"/>
            </a:pPr>
            <a:r>
              <a:rPr lang="en" sz="1495" b="1">
                <a:latin typeface="Calibri"/>
                <a:ea typeface="Calibri"/>
                <a:cs typeface="Calibri"/>
                <a:sym typeface="Calibri"/>
              </a:rPr>
              <a:t>Throughput Optimized HDD (st1):</a:t>
            </a:r>
            <a:r>
              <a:rPr lang="en" sz="1495">
                <a:latin typeface="Calibri"/>
                <a:ea typeface="Calibri"/>
                <a:cs typeface="Calibri"/>
                <a:sym typeface="Calibri"/>
              </a:rPr>
              <a:t> low-cost, frequently accessed, throughput-intensive workloads.</a:t>
            </a:r>
            <a:endParaRPr sz="1495">
              <a:latin typeface="Calibri"/>
              <a:ea typeface="Calibri"/>
              <a:cs typeface="Calibri"/>
              <a:sym typeface="Calibri"/>
            </a:endParaRPr>
          </a:p>
          <a:p>
            <a:pPr marL="514350" marR="0" lvl="1" indent="-32353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95"/>
              <a:buFont typeface="Calibri"/>
              <a:buChar char="○"/>
            </a:pPr>
            <a:r>
              <a:rPr lang="en" sz="1495" b="1">
                <a:latin typeface="Calibri"/>
                <a:ea typeface="Calibri"/>
                <a:cs typeface="Calibri"/>
                <a:sym typeface="Calibri"/>
              </a:rPr>
              <a:t>Cold HDD (sc1): </a:t>
            </a:r>
            <a:r>
              <a:rPr lang="en" sz="1495">
                <a:latin typeface="Calibri"/>
                <a:ea typeface="Calibri"/>
                <a:cs typeface="Calibri"/>
                <a:sym typeface="Calibri"/>
              </a:rPr>
              <a:t>lowest-cost, less frequently accessed workloads.</a:t>
            </a:r>
            <a:endParaRPr sz="1865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65">
                <a:latin typeface="Calibri"/>
                <a:ea typeface="Calibri"/>
                <a:cs typeface="Calibri"/>
                <a:sym typeface="Calibri"/>
              </a:rPr>
              <a:t>Remember basic concepts:</a:t>
            </a:r>
            <a:endParaRPr sz="1865">
              <a:latin typeface="Calibri"/>
              <a:ea typeface="Calibri"/>
              <a:cs typeface="Calibri"/>
              <a:sym typeface="Calibri"/>
            </a:endParaRPr>
          </a:p>
          <a:p>
            <a:pPr marL="514350" marR="215900" lvl="1" indent="-329406" algn="l" rtl="0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3C484E"/>
              </a:buClr>
              <a:buSzPts val="1588"/>
              <a:buFont typeface="Georgia"/>
              <a:buChar char="○"/>
            </a:pPr>
            <a:r>
              <a:rPr lang="en" sz="1587" b="1">
                <a:solidFill>
                  <a:srgbClr val="3C484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IOPS: </a:t>
            </a:r>
            <a:r>
              <a:rPr lang="en" sz="1587">
                <a:solidFill>
                  <a:srgbClr val="3C484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maximum number of IO requests the volume can serve per second (read/write).</a:t>
            </a:r>
            <a:endParaRPr sz="1587">
              <a:solidFill>
                <a:srgbClr val="3C484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514350" marR="215900" lvl="1" indent="-329406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C484E"/>
              </a:buClr>
              <a:buSzPts val="1588"/>
              <a:buFont typeface="Georgia"/>
              <a:buChar char="○"/>
            </a:pPr>
            <a:r>
              <a:rPr lang="en" sz="1587" b="1">
                <a:solidFill>
                  <a:srgbClr val="3C484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Throughput: </a:t>
            </a:r>
            <a:r>
              <a:rPr lang="en" sz="1587">
                <a:solidFill>
                  <a:srgbClr val="3C484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maximum amount of data that can be read/written per second (bytes).</a:t>
            </a:r>
            <a:endParaRPr sz="1495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5000"/>
              </a:lnSpc>
              <a:spcBef>
                <a:spcPts val="4800"/>
              </a:spcBef>
              <a:spcAft>
                <a:spcPts val="1200"/>
              </a:spcAft>
              <a:buSzPts val="1018"/>
              <a:buNone/>
            </a:pPr>
            <a:endParaRPr sz="1865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GP2 vs. GP3</a:t>
            </a:r>
            <a:endParaRPr/>
          </a:p>
        </p:txBody>
      </p:sp>
      <p:sp>
        <p:nvSpPr>
          <p:cNvPr id="206" name="Google Shape;206;p31"/>
          <p:cNvSpPr txBox="1">
            <a:spLocks noGrp="1"/>
          </p:cNvSpPr>
          <p:nvPr>
            <p:ph type="body" idx="1"/>
          </p:nvPr>
        </p:nvSpPr>
        <p:spPr>
          <a:xfrm>
            <a:off x="367375" y="2637575"/>
            <a:ext cx="4250100" cy="18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3C484E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GP2 (per Volume):</a:t>
            </a:r>
            <a:endParaRPr sz="1100" b="1">
              <a:solidFill>
                <a:srgbClr val="3C484E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2159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484E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Range of IOPS 100 to 16k IOPS.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2159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84E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Range of Throughput 128-250 MiB/s.</a:t>
            </a:r>
            <a:endParaRPr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2159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84E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control on the IOPS and throughput,</a:t>
            </a:r>
            <a:r>
              <a:rPr lang="en" sz="1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they depend on the volume size. </a:t>
            </a: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get higher performance you have to use a bigger volume size.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4617475" y="2571725"/>
            <a:ext cx="4291800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latin typeface="Calibri"/>
                <a:ea typeface="Calibri"/>
                <a:cs typeface="Calibri"/>
                <a:sym typeface="Calibri"/>
              </a:rPr>
              <a:t>GP3 (per Volume): </a:t>
            </a:r>
            <a:endParaRPr sz="11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Range of IOPS 3k (free of charge) to 16k IOPS.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Range of Throughput 125 MiB - 1000 MiB/s.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 b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Control on the IOPS and throughput independently. </a:t>
            </a: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However, the volume size, IOPS and throughput still impact each other.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○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Max. throughput = (max. IOPs) x (avg. IO size).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○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Max. IOPs = (500) x (provisioned GiB). 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100"/>
              <a:buFont typeface="Calibri"/>
              <a:buChar char="●"/>
            </a:pPr>
            <a:r>
              <a:rPr lang="en" sz="1100" b="1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e.g. &lt;= 32 GiB volumes can't reach the 16K IOPS limit.</a:t>
            </a:r>
            <a:endParaRPr sz="1100" b="1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2546725" y="1168000"/>
            <a:ext cx="3907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 Volume Size: 1 GiB - 16 TiB</a:t>
            </a:r>
            <a:endParaRPr/>
          </a:p>
        </p:txBody>
      </p:sp>
      <p:cxnSp>
        <p:nvCxnSpPr>
          <p:cNvPr id="209" name="Google Shape;209;p31"/>
          <p:cNvCxnSpPr>
            <a:stCxn id="208" idx="2"/>
            <a:endCxn id="206" idx="0"/>
          </p:cNvCxnSpPr>
          <p:nvPr/>
        </p:nvCxnSpPr>
        <p:spPr>
          <a:xfrm flipH="1">
            <a:off x="2492425" y="1568200"/>
            <a:ext cx="2008200" cy="1069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31"/>
          <p:cNvCxnSpPr>
            <a:stCxn id="208" idx="2"/>
            <a:endCxn id="207" idx="0"/>
          </p:cNvCxnSpPr>
          <p:nvPr/>
        </p:nvCxnSpPr>
        <p:spPr>
          <a:xfrm>
            <a:off x="4500625" y="1568200"/>
            <a:ext cx="2262900" cy="100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" name="Google Shape;211;p31"/>
          <p:cNvSpPr txBox="1"/>
          <p:nvPr/>
        </p:nvSpPr>
        <p:spPr>
          <a:xfrm>
            <a:off x="590900" y="4300075"/>
            <a:ext cx="8157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Read: </a:t>
            </a:r>
            <a:br>
              <a:rPr lang="en"/>
            </a:br>
            <a:r>
              <a:rPr lang="en" sz="1100" u="sng">
                <a:solidFill>
                  <a:schemeClr val="hlink"/>
                </a:solidFill>
                <a:hlinkClick r:id="rId3"/>
              </a:rPr>
              <a:t>https://aws.amazon.com/blogs/storage/migrate-your-amazon-ebs-volumes-from-gp2-to-gp3-and-save-up-to-20-on-costs/</a:t>
            </a:r>
            <a:r>
              <a:rPr lang="en" sz="1100"/>
              <a:t> </a:t>
            </a:r>
            <a:endParaRPr sz="11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4"/>
              </a:rPr>
              <a:t>https://aws.amazon.com/blogs/containers/migrating-amazon-eks-clusters-from-gp2-to-gp3-ebs-volumes/</a:t>
            </a:r>
            <a:endParaRPr sz="1100"/>
          </a:p>
        </p:txBody>
      </p:sp>
      <p:sp>
        <p:nvSpPr>
          <p:cNvPr id="212" name="Google Shape;212;p31"/>
          <p:cNvSpPr txBox="1"/>
          <p:nvPr/>
        </p:nvSpPr>
        <p:spPr>
          <a:xfrm>
            <a:off x="1613500" y="1718475"/>
            <a:ext cx="188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👎 Deal Breaker</a:t>
            </a:r>
            <a:endParaRPr/>
          </a:p>
        </p:txBody>
      </p:sp>
      <p:sp>
        <p:nvSpPr>
          <p:cNvPr id="213" name="Google Shape;213;p31"/>
          <p:cNvSpPr txBox="1"/>
          <p:nvPr/>
        </p:nvSpPr>
        <p:spPr>
          <a:xfrm>
            <a:off x="5653600" y="1718475"/>
            <a:ext cx="1886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👍 Game Changer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GP2 vs. GP3 | Cost Savings</a:t>
            </a:r>
            <a:endParaRPr/>
          </a:p>
        </p:txBody>
      </p:sp>
      <p:pic>
        <p:nvPicPr>
          <p:cNvPr id="219" name="Google Shape;21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375" y="1145075"/>
            <a:ext cx="8477250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2"/>
          <p:cNvSpPr/>
          <p:nvPr/>
        </p:nvSpPr>
        <p:spPr>
          <a:xfrm>
            <a:off x="8166150" y="4592400"/>
            <a:ext cx="325500" cy="309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2"/>
          <p:cNvSpPr/>
          <p:nvPr/>
        </p:nvSpPr>
        <p:spPr>
          <a:xfrm>
            <a:off x="5120575" y="4592400"/>
            <a:ext cx="325500" cy="309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0FF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32"/>
          <p:cNvSpPr txBox="1"/>
          <p:nvPr/>
        </p:nvSpPr>
        <p:spPr>
          <a:xfrm>
            <a:off x="6938725" y="4592400"/>
            <a:ext cx="118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Tweaking could mean you save less!</a:t>
            </a:r>
            <a:endParaRPr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1469</Words>
  <Application>Microsoft Office PowerPoint</Application>
  <PresentationFormat>On-screen Show (16:9)</PresentationFormat>
  <Paragraphs>141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Georgia</vt:lpstr>
      <vt:lpstr>Simple Light</vt:lpstr>
      <vt:lpstr>AWS Graviton3 and GP3</vt:lpstr>
      <vt:lpstr>PowerPoint Presentation</vt:lpstr>
      <vt:lpstr>AWS Compute Architecture</vt:lpstr>
      <vt:lpstr>AWS Nitro Architecture (Ecosystem)</vt:lpstr>
      <vt:lpstr>AWS Graviton | Architecture</vt:lpstr>
      <vt:lpstr>PowerPoint Presentation</vt:lpstr>
      <vt:lpstr>AWS Graviton | How to check?</vt:lpstr>
      <vt:lpstr>AWS EC2 Instance Characteristics</vt:lpstr>
      <vt:lpstr>AWS Graviton | EC2 Instance Types</vt:lpstr>
      <vt:lpstr>AWS Graviton | Processors</vt:lpstr>
      <vt:lpstr>AWS Graviton Advantages</vt:lpstr>
      <vt:lpstr>AWS Graviton Caveats (1 of 2)</vt:lpstr>
      <vt:lpstr>AWS Graviton Caveats (2 of 2)</vt:lpstr>
      <vt:lpstr>AWS Graviton Performance</vt:lpstr>
      <vt:lpstr>AWS Graviton Ready Program</vt:lpstr>
      <vt:lpstr>PowerPoint Presentation</vt:lpstr>
      <vt:lpstr>AWS EBS</vt:lpstr>
      <vt:lpstr>AWS GP2 vs. GP3</vt:lpstr>
      <vt:lpstr>AWS GP2 vs. GP3 | Cost Savings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Graviton3 and GP3</dc:title>
  <cp:lastModifiedBy>Olaf Reitmaier</cp:lastModifiedBy>
  <cp:revision>6</cp:revision>
  <dcterms:modified xsi:type="dcterms:W3CDTF">2023-11-04T17:15:21Z</dcterms:modified>
</cp:coreProperties>
</file>