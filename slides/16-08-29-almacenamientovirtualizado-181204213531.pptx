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59" r:id="rId5"/>
    <p:sldId id="261" r:id="rId6"/>
    <p:sldId id="262" r:id="rId7"/>
    <p:sldId id="258" r:id="rId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FF9900"/>
    <a:srgbClr val="FFCC00"/>
    <a:srgbClr val="FFCC66"/>
    <a:srgbClr val="FF3300"/>
    <a:srgbClr val="FF9999"/>
    <a:srgbClr val="FFCC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0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7" tIns="46585" rIns="93167" bIns="4658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7" tIns="46585" rIns="93167" bIns="46585" rtlCol="0"/>
          <a:lstStyle>
            <a:lvl1pPr algn="r">
              <a:defRPr sz="1200"/>
            </a:lvl1pPr>
          </a:lstStyle>
          <a:p>
            <a:fld id="{6AE13181-0ED0-47FD-8D90-DEDFED4E988A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5" rIns="93167" bIns="46585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7" tIns="46585" rIns="93167" bIns="46585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7" tIns="46585" rIns="93167" bIns="4658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7" tIns="46585" rIns="93167" bIns="46585" rtlCol="0" anchor="b"/>
          <a:lstStyle>
            <a:lvl1pPr algn="r">
              <a:defRPr sz="1200"/>
            </a:lvl1pPr>
          </a:lstStyle>
          <a:p>
            <a:fld id="{529DEA83-C552-46C5-A31E-0B8D1FAC4C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51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9DEA83-C552-46C5-A31E-0B8D1FAC4C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6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5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3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3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8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60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3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5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3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6E2C1-6BD8-43DD-BD73-C7F830D6EB86}" type="datetimeFigureOut">
              <a:rPr lang="en-US" smtClean="0"/>
              <a:t>8/29/2016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E6287-C261-4EC8-AF91-D2EAF72FE19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7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"/>
          <p:cNvSpPr/>
          <p:nvPr/>
        </p:nvSpPr>
        <p:spPr>
          <a:xfrm>
            <a:off x="3923928" y="4941167"/>
            <a:ext cx="1152127" cy="3463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VE" sz="1100" b="1" dirty="0" smtClean="0"/>
              <a:t>         Fino / Dinámico</a:t>
            </a:r>
            <a:endParaRPr lang="en-US" sz="1100" b="1" dirty="0"/>
          </a:p>
        </p:txBody>
      </p:sp>
      <p:sp>
        <p:nvSpPr>
          <p:cNvPr id="9" name="8 Rectángulo"/>
          <p:cNvSpPr/>
          <p:nvPr/>
        </p:nvSpPr>
        <p:spPr>
          <a:xfrm>
            <a:off x="3343797" y="3396214"/>
            <a:ext cx="1948283" cy="3600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VE" sz="1100" b="1" dirty="0" smtClean="0"/>
              <a:t>           Fino / </a:t>
            </a:r>
            <a:br>
              <a:rPr lang="es-VE" sz="1100" b="1" dirty="0" smtClean="0"/>
            </a:br>
            <a:r>
              <a:rPr lang="es-VE" sz="1100" b="1" dirty="0" smtClean="0"/>
              <a:t>Dinámico</a:t>
            </a:r>
            <a:endParaRPr lang="en-US" sz="1100" b="1" dirty="0"/>
          </a:p>
        </p:txBody>
      </p:sp>
      <p:sp>
        <p:nvSpPr>
          <p:cNvPr id="4" name="3 Rectángulo"/>
          <p:cNvSpPr/>
          <p:nvPr/>
        </p:nvSpPr>
        <p:spPr>
          <a:xfrm>
            <a:off x="5292080" y="3396214"/>
            <a:ext cx="2448738" cy="3600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VE" sz="1200" b="1" dirty="0" smtClean="0"/>
              <a:t>Grueso / Fijo</a:t>
            </a:r>
            <a:endParaRPr lang="en-US" sz="1200" b="1" dirty="0"/>
          </a:p>
        </p:txBody>
      </p:sp>
      <p:sp>
        <p:nvSpPr>
          <p:cNvPr id="6" name="5 Rectángulo"/>
          <p:cNvSpPr/>
          <p:nvPr/>
        </p:nvSpPr>
        <p:spPr>
          <a:xfrm>
            <a:off x="4317703" y="3756253"/>
            <a:ext cx="3423116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Almacenes Virtuales de Datos </a:t>
            </a:r>
            <a:br>
              <a:rPr lang="es-VE" sz="1600" dirty="0" smtClean="0"/>
            </a:br>
            <a:r>
              <a:rPr lang="es-VE" sz="1600" dirty="0" smtClean="0"/>
              <a:t>(</a:t>
            </a:r>
            <a:r>
              <a:rPr lang="es-VE" sz="1600" dirty="0" err="1" smtClean="0"/>
              <a:t>DataStore</a:t>
            </a:r>
            <a:r>
              <a:rPr lang="es-VE" sz="1600" dirty="0" smtClean="0"/>
              <a:t> =&gt; VMFS/NTFS)</a:t>
            </a:r>
            <a:endParaRPr lang="en-US" sz="1600" dirty="0"/>
          </a:p>
        </p:txBody>
      </p:sp>
      <p:sp>
        <p:nvSpPr>
          <p:cNvPr id="8" name="7 Rectángulo"/>
          <p:cNvSpPr/>
          <p:nvPr/>
        </p:nvSpPr>
        <p:spPr>
          <a:xfrm>
            <a:off x="5076055" y="4927505"/>
            <a:ext cx="2664764" cy="36005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VE" sz="1200" b="1" dirty="0" smtClean="0"/>
              <a:t>Grueso / Fijo</a:t>
            </a:r>
            <a:endParaRPr lang="en-US" sz="1200" b="1" dirty="0"/>
          </a:p>
        </p:txBody>
      </p:sp>
      <p:sp>
        <p:nvSpPr>
          <p:cNvPr id="13" name="12 Rectángulo"/>
          <p:cNvSpPr/>
          <p:nvPr/>
        </p:nvSpPr>
        <p:spPr>
          <a:xfrm>
            <a:off x="5076055" y="5287558"/>
            <a:ext cx="2664763" cy="3434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200" b="1" dirty="0" smtClean="0"/>
              <a:t>Arreglos de Discos </a:t>
            </a:r>
            <a:r>
              <a:rPr lang="es-VE" sz="1050" b="1" dirty="0" smtClean="0"/>
              <a:t>(Estándar / Alta)</a:t>
            </a:r>
            <a:endParaRPr lang="en-US" sz="1200" b="1" dirty="0"/>
          </a:p>
        </p:txBody>
      </p:sp>
      <p:sp>
        <p:nvSpPr>
          <p:cNvPr id="17" name="16 Rectángulo"/>
          <p:cNvSpPr/>
          <p:nvPr/>
        </p:nvSpPr>
        <p:spPr>
          <a:xfrm>
            <a:off x="4499991" y="1812037"/>
            <a:ext cx="3240361" cy="72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400" dirty="0" smtClean="0"/>
              <a:t>Sistemas de Archivo,</a:t>
            </a:r>
          </a:p>
          <a:p>
            <a:pPr algn="ctr"/>
            <a:r>
              <a:rPr lang="es-VE" sz="1400" dirty="0" smtClean="0"/>
              <a:t>Particiones, Volúmenes, Grupos, </a:t>
            </a:r>
            <a:br>
              <a:rPr lang="es-VE" sz="1400" dirty="0" smtClean="0"/>
            </a:br>
            <a:r>
              <a:rPr lang="es-VE" sz="1400" dirty="0" smtClean="0"/>
              <a:t>Arreglos, Discos.</a:t>
            </a:r>
            <a:endParaRPr lang="en-US" sz="1400" dirty="0"/>
          </a:p>
        </p:txBody>
      </p:sp>
      <p:sp>
        <p:nvSpPr>
          <p:cNvPr id="21" name="20 Rectángulo"/>
          <p:cNvSpPr/>
          <p:nvPr/>
        </p:nvSpPr>
        <p:spPr>
          <a:xfrm>
            <a:off x="1363577" y="4443546"/>
            <a:ext cx="1809325" cy="8158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Capa Física</a:t>
            </a:r>
          </a:p>
          <a:p>
            <a:pPr algn="ctr"/>
            <a:r>
              <a:rPr lang="es-VE" sz="1400" b="1" dirty="0" smtClean="0"/>
              <a:t>(SAN)</a:t>
            </a:r>
            <a:endParaRPr lang="en-US" sz="1400" b="1" dirty="0"/>
          </a:p>
        </p:txBody>
      </p:sp>
      <p:sp>
        <p:nvSpPr>
          <p:cNvPr id="22" name="21 Rectángulo"/>
          <p:cNvSpPr/>
          <p:nvPr/>
        </p:nvSpPr>
        <p:spPr>
          <a:xfrm>
            <a:off x="1363575" y="2646641"/>
            <a:ext cx="1809327" cy="12912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Capa de Virtualización</a:t>
            </a:r>
          </a:p>
          <a:p>
            <a:pPr algn="ctr"/>
            <a:r>
              <a:rPr lang="es-VE" sz="1400" b="1" dirty="0" smtClean="0"/>
              <a:t>(VMWare / Hyper-V))</a:t>
            </a:r>
            <a:endParaRPr lang="en-US" sz="1400" b="1" dirty="0"/>
          </a:p>
        </p:txBody>
      </p:sp>
      <p:sp>
        <p:nvSpPr>
          <p:cNvPr id="24" name="23 Rectángulo"/>
          <p:cNvSpPr/>
          <p:nvPr/>
        </p:nvSpPr>
        <p:spPr>
          <a:xfrm>
            <a:off x="1363575" y="1461281"/>
            <a:ext cx="1809327" cy="710796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Capa del Sistema Operativo</a:t>
            </a:r>
          </a:p>
        </p:txBody>
      </p:sp>
      <p:sp>
        <p:nvSpPr>
          <p:cNvPr id="26" name="25 Rectángulo"/>
          <p:cNvSpPr/>
          <p:nvPr/>
        </p:nvSpPr>
        <p:spPr>
          <a:xfrm>
            <a:off x="4735997" y="1461281"/>
            <a:ext cx="3004355" cy="35702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Datos de Usuario 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4317703" y="5287558"/>
            <a:ext cx="758352" cy="34349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61 Rectángulo"/>
          <p:cNvSpPr/>
          <p:nvPr/>
        </p:nvSpPr>
        <p:spPr>
          <a:xfrm>
            <a:off x="4515436" y="1461281"/>
            <a:ext cx="220561" cy="357029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108 CuadroTexto"/>
          <p:cNvSpPr txBox="1"/>
          <p:nvPr/>
        </p:nvSpPr>
        <p:spPr>
          <a:xfrm>
            <a:off x="7776354" y="3435241"/>
            <a:ext cx="126014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600" b="1" dirty="0" smtClean="0">
                <a:solidFill>
                  <a:srgbClr val="00B050"/>
                </a:solidFill>
              </a:rPr>
              <a:t>¿Espacio</a:t>
            </a:r>
          </a:p>
          <a:p>
            <a:pPr algn="ctr"/>
            <a:r>
              <a:rPr lang="es-VE" sz="1600" b="1" dirty="0" smtClean="0">
                <a:solidFill>
                  <a:srgbClr val="00B050"/>
                </a:solidFill>
              </a:rPr>
              <a:t>Requerido?</a:t>
            </a:r>
          </a:p>
          <a:p>
            <a:pPr algn="ctr"/>
            <a:r>
              <a:rPr lang="es-VE" sz="1200" dirty="0" err="1" smtClean="0"/>
              <a:t>vCPU</a:t>
            </a:r>
            <a:r>
              <a:rPr lang="es-VE" sz="1200" dirty="0" smtClean="0"/>
              <a:t>, </a:t>
            </a:r>
            <a:r>
              <a:rPr lang="es-VE" sz="1200" dirty="0" err="1" smtClean="0"/>
              <a:t>vRAM</a:t>
            </a:r>
            <a:r>
              <a:rPr lang="es-VE" sz="1200" dirty="0" smtClean="0"/>
              <a:t>, </a:t>
            </a:r>
            <a:r>
              <a:rPr lang="es-VE" sz="1200" dirty="0" err="1" smtClean="0"/>
              <a:t>vDisk</a:t>
            </a:r>
            <a:r>
              <a:rPr lang="es-VE" sz="1200" dirty="0" smtClean="0"/>
              <a:t>, </a:t>
            </a:r>
            <a:r>
              <a:rPr lang="es-VE" sz="1200" dirty="0" err="1" smtClean="0"/>
              <a:t>vSAN</a:t>
            </a:r>
            <a:endParaRPr lang="es-VE" sz="1200" dirty="0" smtClean="0"/>
          </a:p>
          <a:p>
            <a:pPr algn="ctr"/>
            <a:r>
              <a:rPr lang="es-VE" sz="1200" dirty="0" smtClean="0"/>
              <a:t>Instantáneas de la Máquina / Instancia Virtual</a:t>
            </a:r>
            <a:r>
              <a:rPr lang="es-VE" sz="1400" dirty="0" smtClean="0"/>
              <a:t>.</a:t>
            </a:r>
          </a:p>
        </p:txBody>
      </p:sp>
      <p:sp>
        <p:nvSpPr>
          <p:cNvPr id="110" name="109 Rectángulo"/>
          <p:cNvSpPr/>
          <p:nvPr/>
        </p:nvSpPr>
        <p:spPr>
          <a:xfrm>
            <a:off x="715505" y="2646641"/>
            <a:ext cx="468051" cy="29844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VE" b="1" dirty="0" smtClean="0"/>
              <a:t>Aprovisionamiento</a:t>
            </a:r>
            <a:endParaRPr lang="en-US" b="1" dirty="0"/>
          </a:p>
        </p:txBody>
      </p:sp>
      <p:sp>
        <p:nvSpPr>
          <p:cNvPr id="151" name="150 Rectángulo"/>
          <p:cNvSpPr/>
          <p:nvPr/>
        </p:nvSpPr>
        <p:spPr>
          <a:xfrm>
            <a:off x="4129836" y="3755903"/>
            <a:ext cx="226140" cy="576414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" name="156 Rectángulo"/>
          <p:cNvSpPr/>
          <p:nvPr/>
        </p:nvSpPr>
        <p:spPr>
          <a:xfrm>
            <a:off x="5456861" y="2646642"/>
            <a:ext cx="1347388" cy="7495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SAN)</a:t>
            </a:r>
            <a:endParaRPr lang="en-US" sz="1200" dirty="0"/>
          </a:p>
        </p:txBody>
      </p:sp>
      <p:sp>
        <p:nvSpPr>
          <p:cNvPr id="158" name="157 Rectángulo"/>
          <p:cNvSpPr/>
          <p:nvPr/>
        </p:nvSpPr>
        <p:spPr>
          <a:xfrm>
            <a:off x="6804248" y="2646642"/>
            <a:ext cx="936570" cy="749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400" dirty="0" smtClean="0"/>
              <a:t>Archivos</a:t>
            </a:r>
          </a:p>
          <a:p>
            <a:pPr algn="ctr"/>
            <a:r>
              <a:rPr lang="es-VE" sz="1050" dirty="0" smtClean="0"/>
              <a:t>(Memoria,</a:t>
            </a:r>
          </a:p>
          <a:p>
            <a:pPr algn="ctr"/>
            <a:r>
              <a:rPr lang="es-VE" sz="1050" dirty="0" smtClean="0"/>
              <a:t>Instantánea,</a:t>
            </a:r>
          </a:p>
          <a:p>
            <a:pPr algn="ctr"/>
            <a:r>
              <a:rPr lang="es-VE" sz="1050" dirty="0" smtClean="0"/>
              <a:t>Otros) </a:t>
            </a:r>
            <a:endParaRPr lang="en-US" sz="1050" dirty="0"/>
          </a:p>
        </p:txBody>
      </p:sp>
      <p:sp>
        <p:nvSpPr>
          <p:cNvPr id="7" name="6 Rectángulo"/>
          <p:cNvSpPr/>
          <p:nvPr/>
        </p:nvSpPr>
        <p:spPr>
          <a:xfrm>
            <a:off x="3574005" y="2646642"/>
            <a:ext cx="1882855" cy="749571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Disco Duro)</a:t>
            </a:r>
            <a:endParaRPr lang="en-US" sz="1200" dirty="0"/>
          </a:p>
        </p:txBody>
      </p:sp>
      <p:sp>
        <p:nvSpPr>
          <p:cNvPr id="162" name="161 Rectángulo"/>
          <p:cNvSpPr/>
          <p:nvPr/>
        </p:nvSpPr>
        <p:spPr>
          <a:xfrm>
            <a:off x="3574004" y="1818311"/>
            <a:ext cx="925987" cy="713806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163 Rectángulo"/>
          <p:cNvSpPr/>
          <p:nvPr/>
        </p:nvSpPr>
        <p:spPr>
          <a:xfrm>
            <a:off x="3347864" y="2646642"/>
            <a:ext cx="226140" cy="74957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164 Rectángulo"/>
          <p:cNvSpPr/>
          <p:nvPr/>
        </p:nvSpPr>
        <p:spPr>
          <a:xfrm>
            <a:off x="3923928" y="4476333"/>
            <a:ext cx="205908" cy="464835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165 Flecha derecha"/>
          <p:cNvSpPr/>
          <p:nvPr/>
        </p:nvSpPr>
        <p:spPr>
          <a:xfrm flipV="1">
            <a:off x="2975771" y="4912771"/>
            <a:ext cx="1039249" cy="374785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167 Flecha derecha"/>
          <p:cNvSpPr/>
          <p:nvPr/>
        </p:nvSpPr>
        <p:spPr>
          <a:xfrm flipV="1">
            <a:off x="2987824" y="3414254"/>
            <a:ext cx="473110" cy="37478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170 Flecha derecha"/>
          <p:cNvSpPr/>
          <p:nvPr/>
        </p:nvSpPr>
        <p:spPr>
          <a:xfrm flipV="1">
            <a:off x="1043608" y="3247849"/>
            <a:ext cx="462994" cy="37478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171 Flecha derecha"/>
          <p:cNvSpPr/>
          <p:nvPr/>
        </p:nvSpPr>
        <p:spPr>
          <a:xfrm flipV="1">
            <a:off x="1003957" y="4884614"/>
            <a:ext cx="462994" cy="37478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111 Rectángulo"/>
          <p:cNvSpPr/>
          <p:nvPr/>
        </p:nvSpPr>
        <p:spPr>
          <a:xfrm>
            <a:off x="4125386" y="4476333"/>
            <a:ext cx="3615433" cy="4635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Volúmenes de Almacenamiento (LUN)</a:t>
            </a:r>
            <a:endParaRPr lang="en-US" sz="1600" dirty="0"/>
          </a:p>
        </p:txBody>
      </p:sp>
      <p:sp>
        <p:nvSpPr>
          <p:cNvPr id="39" name="38 Rectángulo"/>
          <p:cNvSpPr/>
          <p:nvPr/>
        </p:nvSpPr>
        <p:spPr>
          <a:xfrm>
            <a:off x="1363577" y="2137721"/>
            <a:ext cx="1809327" cy="3943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Abstracción</a:t>
            </a:r>
            <a:endParaRPr lang="en-US" b="1" dirty="0"/>
          </a:p>
        </p:txBody>
      </p:sp>
      <p:sp>
        <p:nvSpPr>
          <p:cNvPr id="40" name="39 Rectángulo"/>
          <p:cNvSpPr/>
          <p:nvPr/>
        </p:nvSpPr>
        <p:spPr>
          <a:xfrm>
            <a:off x="1363574" y="3937922"/>
            <a:ext cx="1809327" cy="3943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Abstracción</a:t>
            </a:r>
            <a:endParaRPr lang="en-US" b="1" dirty="0"/>
          </a:p>
        </p:txBody>
      </p:sp>
      <p:sp>
        <p:nvSpPr>
          <p:cNvPr id="16" name="15 Forma libre"/>
          <p:cNvSpPr/>
          <p:nvPr/>
        </p:nvSpPr>
        <p:spPr>
          <a:xfrm>
            <a:off x="3416002" y="1480835"/>
            <a:ext cx="1198039" cy="3993931"/>
          </a:xfrm>
          <a:custGeom>
            <a:avLst/>
            <a:gdLst>
              <a:gd name="connsiteX0" fmla="*/ 1198039 w 1198039"/>
              <a:gd name="connsiteY0" fmla="*/ 0 h 3993931"/>
              <a:gd name="connsiteX1" fmla="*/ 262619 w 1198039"/>
              <a:gd name="connsiteY1" fmla="*/ 714703 h 3993931"/>
              <a:gd name="connsiteX2" fmla="*/ 31391 w 1198039"/>
              <a:gd name="connsiteY2" fmla="*/ 1608083 h 3993931"/>
              <a:gd name="connsiteX3" fmla="*/ 830177 w 1198039"/>
              <a:gd name="connsiteY3" fmla="*/ 2575034 h 3993931"/>
              <a:gd name="connsiteX4" fmla="*/ 609460 w 1198039"/>
              <a:gd name="connsiteY4" fmla="*/ 3216165 h 3993931"/>
              <a:gd name="connsiteX5" fmla="*/ 1050895 w 1198039"/>
              <a:gd name="connsiteY5" fmla="*/ 3993931 h 3993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8039" h="3993931">
                <a:moveTo>
                  <a:pt x="1198039" y="0"/>
                </a:moveTo>
                <a:cubicBezTo>
                  <a:pt x="827549" y="223344"/>
                  <a:pt x="457060" y="446689"/>
                  <a:pt x="262619" y="714703"/>
                </a:cubicBezTo>
                <a:cubicBezTo>
                  <a:pt x="68178" y="982717"/>
                  <a:pt x="-63202" y="1298028"/>
                  <a:pt x="31391" y="1608083"/>
                </a:cubicBezTo>
                <a:cubicBezTo>
                  <a:pt x="125984" y="1918138"/>
                  <a:pt x="733832" y="2307021"/>
                  <a:pt x="830177" y="2575034"/>
                </a:cubicBezTo>
                <a:cubicBezTo>
                  <a:pt x="926522" y="2843047"/>
                  <a:pt x="572674" y="2979682"/>
                  <a:pt x="609460" y="3216165"/>
                </a:cubicBezTo>
                <a:cubicBezTo>
                  <a:pt x="646246" y="3452648"/>
                  <a:pt x="1050895" y="3993931"/>
                  <a:pt x="1050895" y="3993931"/>
                </a:cubicBezTo>
              </a:path>
            </a:pathLst>
          </a:cu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44 Flecha derecha"/>
          <p:cNvSpPr/>
          <p:nvPr/>
        </p:nvSpPr>
        <p:spPr>
          <a:xfrm rot="16200000" flipV="1">
            <a:off x="4239864" y="5530390"/>
            <a:ext cx="462994" cy="37478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45 Flecha derecha"/>
          <p:cNvSpPr/>
          <p:nvPr/>
        </p:nvSpPr>
        <p:spPr>
          <a:xfrm rot="5400000" flipV="1">
            <a:off x="4480398" y="1194267"/>
            <a:ext cx="267287" cy="374785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46 Rectángulo"/>
          <p:cNvSpPr/>
          <p:nvPr/>
        </p:nvSpPr>
        <p:spPr>
          <a:xfrm rot="5400000">
            <a:off x="5276841" y="-1195219"/>
            <a:ext cx="360038" cy="45679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VE" b="1" dirty="0" smtClean="0"/>
              <a:t>Espacio Utilizado / Disponible / Requerido</a:t>
            </a:r>
            <a:endParaRPr lang="en-US" b="1" dirty="0"/>
          </a:p>
        </p:txBody>
      </p:sp>
      <p:sp>
        <p:nvSpPr>
          <p:cNvPr id="44" name="43 Rectángulo"/>
          <p:cNvSpPr/>
          <p:nvPr/>
        </p:nvSpPr>
        <p:spPr>
          <a:xfrm rot="5400000">
            <a:off x="5258600" y="3683563"/>
            <a:ext cx="396049" cy="45674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VE" b="1" dirty="0" smtClean="0"/>
              <a:t>Espacio Utilizado / Disponible / Requerido</a:t>
            </a:r>
            <a:endParaRPr lang="en-US" b="1" dirty="0"/>
          </a:p>
        </p:txBody>
      </p:sp>
      <p:sp>
        <p:nvSpPr>
          <p:cNvPr id="18" name="17 Flecha doblada"/>
          <p:cNvSpPr/>
          <p:nvPr/>
        </p:nvSpPr>
        <p:spPr>
          <a:xfrm flipH="1">
            <a:off x="7740350" y="2815390"/>
            <a:ext cx="720082" cy="601207"/>
          </a:xfrm>
          <a:prstGeom prst="bentArrow">
            <a:avLst>
              <a:gd name="adj1" fmla="val 42482"/>
              <a:gd name="adj2" fmla="val 36363"/>
              <a:gd name="adj3" fmla="val 4248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18 Elipse"/>
          <p:cNvSpPr/>
          <p:nvPr/>
        </p:nvSpPr>
        <p:spPr>
          <a:xfrm>
            <a:off x="3243919" y="2893827"/>
            <a:ext cx="319969" cy="319149"/>
          </a:xfrm>
          <a:prstGeom prst="ellipse">
            <a:avLst/>
          </a:prstGeom>
          <a:solidFill>
            <a:schemeClr val="tx2">
              <a:lumMod val="75000"/>
              <a:alpha val="67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50 Rectángulo"/>
          <p:cNvSpPr/>
          <p:nvPr/>
        </p:nvSpPr>
        <p:spPr>
          <a:xfrm>
            <a:off x="1363572" y="5254903"/>
            <a:ext cx="1809327" cy="3943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/>
              <a:t>Abstracción</a:t>
            </a:r>
            <a:endParaRPr lang="en-US" b="1" dirty="0"/>
          </a:p>
        </p:txBody>
      </p:sp>
      <p:sp>
        <p:nvSpPr>
          <p:cNvPr id="2" name="1 Flecha derecha"/>
          <p:cNvSpPr/>
          <p:nvPr/>
        </p:nvSpPr>
        <p:spPr>
          <a:xfrm flipH="1">
            <a:off x="1363575" y="404664"/>
            <a:ext cx="6376773" cy="504056"/>
          </a:xfrm>
          <a:prstGeom prst="rightArrow">
            <a:avLst/>
          </a:prstGeom>
          <a:solidFill>
            <a:srgbClr val="66FF33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>
                <a:solidFill>
                  <a:schemeClr val="tx1"/>
                </a:solidFill>
              </a:rPr>
              <a:t>Ampliación Automatizada / Planificada</a:t>
            </a:r>
            <a:endParaRPr lang="es-VE" b="1" dirty="0">
              <a:solidFill>
                <a:schemeClr val="tx1"/>
              </a:solidFill>
            </a:endParaRPr>
          </a:p>
        </p:txBody>
      </p:sp>
      <p:sp>
        <p:nvSpPr>
          <p:cNvPr id="43" name="42 Flecha derecha"/>
          <p:cNvSpPr/>
          <p:nvPr/>
        </p:nvSpPr>
        <p:spPr>
          <a:xfrm>
            <a:off x="1363572" y="6216959"/>
            <a:ext cx="6358628" cy="504056"/>
          </a:xfrm>
          <a:prstGeom prst="right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>
                <a:solidFill>
                  <a:schemeClr val="bg1"/>
                </a:solidFill>
              </a:rPr>
              <a:t>Reducción Manual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2455660" y="96915"/>
            <a:ext cx="3941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000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ALMACENAMIENTO VIRTUALIZADO</a:t>
            </a:r>
            <a:endParaRPr lang="es-VE" sz="2000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47 Flecha doblada"/>
          <p:cNvSpPr/>
          <p:nvPr/>
        </p:nvSpPr>
        <p:spPr>
          <a:xfrm flipH="1">
            <a:off x="7721020" y="4941168"/>
            <a:ext cx="720082" cy="601207"/>
          </a:xfrm>
          <a:prstGeom prst="bentArrow">
            <a:avLst>
              <a:gd name="adj1" fmla="val 42482"/>
              <a:gd name="adj2" fmla="val 36363"/>
              <a:gd name="adj3" fmla="val 42482"/>
              <a:gd name="adj4" fmla="val 4375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7747404" y="5540655"/>
            <a:ext cx="1260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1600" b="1" dirty="0" smtClean="0">
                <a:solidFill>
                  <a:schemeClr val="accent4">
                    <a:lumMod val="75000"/>
                  </a:schemeClr>
                </a:solidFill>
              </a:rPr>
              <a:t>Mayoría</a:t>
            </a:r>
          </a:p>
          <a:p>
            <a:pPr algn="ctr"/>
            <a:r>
              <a:rPr lang="es-VE" sz="1600" b="1" dirty="0" smtClean="0">
                <a:solidFill>
                  <a:schemeClr val="accent4">
                    <a:lumMod val="75000"/>
                  </a:schemeClr>
                </a:solidFill>
              </a:rPr>
              <a:t>De Clientes</a:t>
            </a:r>
          </a:p>
          <a:p>
            <a:pPr algn="ctr"/>
            <a:r>
              <a:rPr lang="es-VE" sz="1600" b="1" dirty="0" smtClean="0">
                <a:solidFill>
                  <a:schemeClr val="accent4">
                    <a:lumMod val="75000"/>
                  </a:schemeClr>
                </a:solidFill>
              </a:rPr>
              <a:t>(Grueso / Fijo).</a:t>
            </a:r>
            <a:endParaRPr lang="es-VE" sz="1400" dirty="0" smtClean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30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9477" y="260648"/>
            <a:ext cx="8229600" cy="1051861"/>
          </a:xfrm>
        </p:spPr>
        <p:txBody>
          <a:bodyPr/>
          <a:lstStyle/>
          <a:p>
            <a:r>
              <a:rPr lang="es-VE" dirty="0" smtClean="0"/>
              <a:t>Ejemplo Sistema Linux</a:t>
            </a:r>
            <a:endParaRPr lang="es-VE" dirty="0"/>
          </a:p>
        </p:txBody>
      </p:sp>
      <p:sp>
        <p:nvSpPr>
          <p:cNvPr id="4" name="3 Rectángulo"/>
          <p:cNvSpPr/>
          <p:nvPr/>
        </p:nvSpPr>
        <p:spPr>
          <a:xfrm>
            <a:off x="4649130" y="5348760"/>
            <a:ext cx="2875198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1 Volumen </a:t>
            </a:r>
            <a:br>
              <a:rPr lang="es-VE" dirty="0" smtClean="0"/>
            </a:br>
            <a:r>
              <a:rPr lang="es-VE" dirty="0" smtClean="0"/>
              <a:t>SAN (Alta)</a:t>
            </a:r>
          </a:p>
          <a:p>
            <a:pPr algn="ctr"/>
            <a:r>
              <a:rPr lang="es-VE" dirty="0" smtClean="0"/>
              <a:t>3,25 TB</a:t>
            </a:r>
            <a:endParaRPr lang="es-VE" dirty="0"/>
          </a:p>
        </p:txBody>
      </p:sp>
      <p:sp>
        <p:nvSpPr>
          <p:cNvPr id="5" name="4 Rectángulo"/>
          <p:cNvSpPr/>
          <p:nvPr/>
        </p:nvSpPr>
        <p:spPr>
          <a:xfrm>
            <a:off x="1979712" y="5337041"/>
            <a:ext cx="2525402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1 Volumen </a:t>
            </a:r>
          </a:p>
          <a:p>
            <a:pPr algn="ctr"/>
            <a:r>
              <a:rPr lang="es-VE" dirty="0" smtClean="0"/>
              <a:t>SAN (Estándar)</a:t>
            </a:r>
          </a:p>
          <a:p>
            <a:pPr algn="ctr"/>
            <a:r>
              <a:rPr lang="es-VE" dirty="0" smtClean="0"/>
              <a:t>160 GB</a:t>
            </a:r>
            <a:endParaRPr lang="es-VE" dirty="0"/>
          </a:p>
        </p:txBody>
      </p:sp>
      <p:sp>
        <p:nvSpPr>
          <p:cNvPr id="6" name="5 Rectángulo"/>
          <p:cNvSpPr/>
          <p:nvPr/>
        </p:nvSpPr>
        <p:spPr>
          <a:xfrm>
            <a:off x="4645702" y="4263856"/>
            <a:ext cx="2878626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1 </a:t>
            </a:r>
            <a:r>
              <a:rPr lang="es-VE" dirty="0" err="1" smtClean="0"/>
              <a:t>DataStore</a:t>
            </a:r>
            <a:r>
              <a:rPr lang="es-VE" dirty="0" smtClean="0"/>
              <a:t/>
            </a:r>
            <a:br>
              <a:rPr lang="es-VE" dirty="0" smtClean="0"/>
            </a:br>
            <a:r>
              <a:rPr lang="es-VE" dirty="0" smtClean="0"/>
              <a:t>VMWare (Alta)</a:t>
            </a:r>
            <a:br>
              <a:rPr lang="es-VE" dirty="0" smtClean="0"/>
            </a:br>
            <a:r>
              <a:rPr lang="es-VE" dirty="0" smtClean="0"/>
              <a:t>3,25 TB</a:t>
            </a:r>
            <a:endParaRPr lang="es-VE" dirty="0"/>
          </a:p>
        </p:txBody>
      </p:sp>
      <p:sp>
        <p:nvSpPr>
          <p:cNvPr id="7" name="6 Rectángulo"/>
          <p:cNvSpPr/>
          <p:nvPr/>
        </p:nvSpPr>
        <p:spPr>
          <a:xfrm>
            <a:off x="1979712" y="4263856"/>
            <a:ext cx="2525402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1 </a:t>
            </a:r>
            <a:r>
              <a:rPr lang="es-VE" dirty="0" err="1" smtClean="0"/>
              <a:t>DataStore</a:t>
            </a:r>
            <a:r>
              <a:rPr lang="es-VE" dirty="0" smtClean="0"/>
              <a:t/>
            </a:r>
            <a:br>
              <a:rPr lang="es-VE" dirty="0" smtClean="0"/>
            </a:br>
            <a:r>
              <a:rPr lang="es-VE" dirty="0" smtClean="0"/>
              <a:t>VMWare (Estándar)</a:t>
            </a:r>
            <a:br>
              <a:rPr lang="es-VE" dirty="0" smtClean="0"/>
            </a:br>
            <a:r>
              <a:rPr lang="es-VE" dirty="0" smtClean="0"/>
              <a:t>160 GB</a:t>
            </a:r>
            <a:endParaRPr lang="es-VE" dirty="0"/>
          </a:p>
        </p:txBody>
      </p:sp>
      <p:sp>
        <p:nvSpPr>
          <p:cNvPr id="8" name="7 Rectángulo"/>
          <p:cNvSpPr/>
          <p:nvPr/>
        </p:nvSpPr>
        <p:spPr>
          <a:xfrm>
            <a:off x="4649130" y="3190671"/>
            <a:ext cx="2875198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Virtual Disk (VMDK)</a:t>
            </a:r>
            <a:br>
              <a:rPr lang="es-VE" dirty="0" smtClean="0"/>
            </a:br>
            <a:r>
              <a:rPr lang="es-VE" dirty="0" smtClean="0"/>
              <a:t>M Discos</a:t>
            </a:r>
            <a:endParaRPr lang="es-VE" dirty="0"/>
          </a:p>
        </p:txBody>
      </p:sp>
      <p:sp>
        <p:nvSpPr>
          <p:cNvPr id="9" name="8 Rectángulo"/>
          <p:cNvSpPr/>
          <p:nvPr/>
        </p:nvSpPr>
        <p:spPr>
          <a:xfrm>
            <a:off x="1979712" y="3190671"/>
            <a:ext cx="252456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Virtual Disk (VMDK)</a:t>
            </a:r>
            <a:br>
              <a:rPr lang="es-VE" dirty="0" smtClean="0"/>
            </a:br>
            <a:r>
              <a:rPr lang="es-VE" dirty="0" smtClean="0"/>
              <a:t>N Discos</a:t>
            </a:r>
            <a:endParaRPr lang="es-VE" dirty="0"/>
          </a:p>
        </p:txBody>
      </p:sp>
      <p:sp>
        <p:nvSpPr>
          <p:cNvPr id="10" name="9 Rectángulo"/>
          <p:cNvSpPr/>
          <p:nvPr/>
        </p:nvSpPr>
        <p:spPr>
          <a:xfrm>
            <a:off x="2843808" y="2758623"/>
            <a:ext cx="4680520" cy="26632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LVM (</a:t>
            </a:r>
            <a:r>
              <a:rPr lang="es-VE" dirty="0" err="1" smtClean="0"/>
              <a:t>Logical</a:t>
            </a:r>
            <a:r>
              <a:rPr lang="es-VE" dirty="0" smtClean="0"/>
              <a:t> </a:t>
            </a:r>
            <a:r>
              <a:rPr lang="es-VE" dirty="0" err="1" smtClean="0"/>
              <a:t>Volume</a:t>
            </a:r>
            <a:r>
              <a:rPr lang="es-VE" dirty="0" smtClean="0"/>
              <a:t> Manager)</a:t>
            </a:r>
            <a:endParaRPr lang="es-VE" dirty="0"/>
          </a:p>
        </p:txBody>
      </p:sp>
      <p:sp>
        <p:nvSpPr>
          <p:cNvPr id="11" name="10 Rectángulo"/>
          <p:cNvSpPr/>
          <p:nvPr/>
        </p:nvSpPr>
        <p:spPr>
          <a:xfrm>
            <a:off x="2843807" y="2326575"/>
            <a:ext cx="1661307" cy="266328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err="1" smtClean="0"/>
              <a:t>vgroot</a:t>
            </a:r>
            <a:endParaRPr lang="es-VE" dirty="0"/>
          </a:p>
        </p:txBody>
      </p:sp>
      <p:sp>
        <p:nvSpPr>
          <p:cNvPr id="12" name="11 Rectángulo"/>
          <p:cNvSpPr/>
          <p:nvPr/>
        </p:nvSpPr>
        <p:spPr>
          <a:xfrm>
            <a:off x="4645702" y="2326574"/>
            <a:ext cx="2878626" cy="259057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err="1" smtClean="0"/>
              <a:t>vgdata</a:t>
            </a:r>
            <a:endParaRPr lang="es-VE" dirty="0"/>
          </a:p>
        </p:txBody>
      </p:sp>
      <p:sp>
        <p:nvSpPr>
          <p:cNvPr id="13" name="12 Rectángulo"/>
          <p:cNvSpPr/>
          <p:nvPr/>
        </p:nvSpPr>
        <p:spPr>
          <a:xfrm>
            <a:off x="4663938" y="1667651"/>
            <a:ext cx="2860390" cy="51244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err="1" smtClean="0"/>
              <a:t>lv_data</a:t>
            </a:r>
            <a:r>
              <a:rPr lang="es-VE" dirty="0" smtClean="0"/>
              <a:t>, </a:t>
            </a:r>
          </a:p>
          <a:p>
            <a:pPr algn="ctr"/>
            <a:r>
              <a:rPr lang="es-VE" dirty="0" err="1" smtClean="0"/>
              <a:t>lv_mail</a:t>
            </a:r>
            <a:r>
              <a:rPr lang="es-VE" dirty="0" smtClean="0"/>
              <a:t>, etc…</a:t>
            </a:r>
            <a:endParaRPr lang="es-VE" dirty="0"/>
          </a:p>
        </p:txBody>
      </p:sp>
      <p:sp>
        <p:nvSpPr>
          <p:cNvPr id="14" name="13 Rectángulo"/>
          <p:cNvSpPr/>
          <p:nvPr/>
        </p:nvSpPr>
        <p:spPr>
          <a:xfrm>
            <a:off x="2843808" y="1667651"/>
            <a:ext cx="1629258" cy="51244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err="1" smtClean="0"/>
              <a:t>lv_root</a:t>
            </a:r>
            <a:r>
              <a:rPr lang="es-VE" dirty="0" smtClean="0"/>
              <a:t>, </a:t>
            </a:r>
            <a:r>
              <a:rPr lang="es-VE" dirty="0" err="1" smtClean="0"/>
              <a:t>lv_tmp</a:t>
            </a:r>
            <a:r>
              <a:rPr lang="es-VE" dirty="0" smtClean="0"/>
              <a:t>, etc…</a:t>
            </a:r>
            <a:endParaRPr lang="es-VE" dirty="0"/>
          </a:p>
        </p:txBody>
      </p:sp>
      <p:sp>
        <p:nvSpPr>
          <p:cNvPr id="15" name="14 Rectángulo"/>
          <p:cNvSpPr/>
          <p:nvPr/>
        </p:nvSpPr>
        <p:spPr>
          <a:xfrm>
            <a:off x="4669160" y="1312509"/>
            <a:ext cx="2855168" cy="2945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/data, /mail, etc…</a:t>
            </a:r>
            <a:endParaRPr lang="es-VE" dirty="0"/>
          </a:p>
        </p:txBody>
      </p:sp>
      <p:sp>
        <p:nvSpPr>
          <p:cNvPr id="16" name="15 Rectángulo"/>
          <p:cNvSpPr/>
          <p:nvPr/>
        </p:nvSpPr>
        <p:spPr>
          <a:xfrm>
            <a:off x="2843806" y="1312509"/>
            <a:ext cx="1629259" cy="2945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/, /</a:t>
            </a:r>
            <a:r>
              <a:rPr lang="es-VE" dirty="0" err="1" smtClean="0"/>
              <a:t>tmp</a:t>
            </a:r>
            <a:r>
              <a:rPr lang="es-VE" dirty="0" smtClean="0"/>
              <a:t>, etc…</a:t>
            </a:r>
            <a:endParaRPr lang="es-VE" dirty="0"/>
          </a:p>
        </p:txBody>
      </p:sp>
      <p:sp>
        <p:nvSpPr>
          <p:cNvPr id="17" name="16 Rectángulo"/>
          <p:cNvSpPr/>
          <p:nvPr/>
        </p:nvSpPr>
        <p:spPr>
          <a:xfrm>
            <a:off x="1979712" y="1312509"/>
            <a:ext cx="720080" cy="29458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/</a:t>
            </a:r>
            <a:r>
              <a:rPr lang="es-VE" dirty="0" err="1" smtClean="0"/>
              <a:t>boot</a:t>
            </a:r>
            <a:endParaRPr lang="es-VE" dirty="0"/>
          </a:p>
        </p:txBody>
      </p:sp>
      <p:sp>
        <p:nvSpPr>
          <p:cNvPr id="18" name="17 Rectángulo"/>
          <p:cNvSpPr/>
          <p:nvPr/>
        </p:nvSpPr>
        <p:spPr>
          <a:xfrm>
            <a:off x="1979712" y="1690095"/>
            <a:ext cx="720080" cy="133485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No</a:t>
            </a:r>
          </a:p>
          <a:p>
            <a:pPr algn="ctr"/>
            <a:r>
              <a:rPr lang="es-VE" dirty="0" smtClean="0"/>
              <a:t>LVM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23933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/>
          <p:nvPr/>
        </p:nvSpPr>
        <p:spPr>
          <a:xfrm>
            <a:off x="4041152" y="1558790"/>
            <a:ext cx="1347388" cy="7495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SAN)</a:t>
            </a:r>
            <a:endParaRPr lang="en-US" sz="1200" dirty="0"/>
          </a:p>
        </p:txBody>
      </p:sp>
      <p:sp>
        <p:nvSpPr>
          <p:cNvPr id="16" name="15 Rectángulo"/>
          <p:cNvSpPr/>
          <p:nvPr/>
        </p:nvSpPr>
        <p:spPr>
          <a:xfrm>
            <a:off x="5388538" y="1558790"/>
            <a:ext cx="1291965" cy="749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400" dirty="0" smtClean="0"/>
              <a:t>Archivos</a:t>
            </a:r>
          </a:p>
          <a:p>
            <a:pPr algn="ctr"/>
            <a:r>
              <a:rPr lang="es-VE" sz="1050" dirty="0" smtClean="0"/>
              <a:t>(Memoria,</a:t>
            </a:r>
          </a:p>
          <a:p>
            <a:pPr algn="ctr"/>
            <a:r>
              <a:rPr lang="es-VE" sz="1050" dirty="0" smtClean="0"/>
              <a:t>Instantánea,</a:t>
            </a:r>
          </a:p>
          <a:p>
            <a:pPr algn="ctr"/>
            <a:r>
              <a:rPr lang="es-VE" sz="1050" dirty="0" smtClean="0"/>
              <a:t>Otros) </a:t>
            </a:r>
            <a:endParaRPr lang="en-US" sz="1050" dirty="0"/>
          </a:p>
        </p:txBody>
      </p:sp>
      <p:sp>
        <p:nvSpPr>
          <p:cNvPr id="17" name="16 Rectángulo"/>
          <p:cNvSpPr/>
          <p:nvPr/>
        </p:nvSpPr>
        <p:spPr>
          <a:xfrm>
            <a:off x="2158296" y="1558790"/>
            <a:ext cx="1882855" cy="749571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Disco Duro)</a:t>
            </a:r>
            <a:endParaRPr lang="en-US" sz="1200" dirty="0"/>
          </a:p>
        </p:txBody>
      </p:sp>
      <p:sp>
        <p:nvSpPr>
          <p:cNvPr id="18" name="17 Rectángulo"/>
          <p:cNvSpPr/>
          <p:nvPr/>
        </p:nvSpPr>
        <p:spPr>
          <a:xfrm>
            <a:off x="2158295" y="2308361"/>
            <a:ext cx="4522207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Almacenes Virtuales de Datos </a:t>
            </a:r>
            <a:br>
              <a:rPr lang="es-VE" sz="1600" dirty="0" smtClean="0"/>
            </a:br>
            <a:r>
              <a:rPr lang="es-VE" sz="1600" dirty="0" smtClean="0"/>
              <a:t>(</a:t>
            </a:r>
            <a:r>
              <a:rPr lang="es-VE" sz="1600" dirty="0" err="1" smtClean="0"/>
              <a:t>DataStore</a:t>
            </a:r>
            <a:r>
              <a:rPr lang="es-VE" sz="1600" dirty="0" smtClean="0"/>
              <a:t> =&gt; VMFS/NTFS)</a:t>
            </a:r>
            <a:endParaRPr lang="en-US" sz="1600" dirty="0"/>
          </a:p>
        </p:txBody>
      </p:sp>
      <p:sp>
        <p:nvSpPr>
          <p:cNvPr id="19" name="18 Rectángulo"/>
          <p:cNvSpPr/>
          <p:nvPr/>
        </p:nvSpPr>
        <p:spPr>
          <a:xfrm>
            <a:off x="2158296" y="2884425"/>
            <a:ext cx="4522207" cy="4635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Volúmenes de Almacenamiento (LUN)</a:t>
            </a:r>
            <a:endParaRPr lang="en-US" sz="1600" dirty="0"/>
          </a:p>
        </p:txBody>
      </p:sp>
      <p:sp>
        <p:nvSpPr>
          <p:cNvPr id="20" name="19 Rectángulo"/>
          <p:cNvSpPr/>
          <p:nvPr/>
        </p:nvSpPr>
        <p:spPr>
          <a:xfrm>
            <a:off x="4041150" y="4180569"/>
            <a:ext cx="1347388" cy="7495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SAN)</a:t>
            </a:r>
            <a:endParaRPr lang="en-US" sz="1200" dirty="0"/>
          </a:p>
        </p:txBody>
      </p:sp>
      <p:sp>
        <p:nvSpPr>
          <p:cNvPr id="21" name="20 Rectángulo"/>
          <p:cNvSpPr/>
          <p:nvPr/>
        </p:nvSpPr>
        <p:spPr>
          <a:xfrm>
            <a:off x="5388536" y="4180569"/>
            <a:ext cx="1991776" cy="749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400" dirty="0" smtClean="0"/>
              <a:t>Archivos</a:t>
            </a:r>
          </a:p>
          <a:p>
            <a:pPr algn="ctr"/>
            <a:r>
              <a:rPr lang="es-VE" sz="1050" dirty="0" smtClean="0"/>
              <a:t>(Memoria,</a:t>
            </a:r>
          </a:p>
          <a:p>
            <a:pPr algn="ctr"/>
            <a:r>
              <a:rPr lang="es-VE" sz="1050" dirty="0" smtClean="0"/>
              <a:t>Instantánea,</a:t>
            </a:r>
          </a:p>
          <a:p>
            <a:pPr algn="ctr"/>
            <a:r>
              <a:rPr lang="es-VE" sz="1050" dirty="0" smtClean="0"/>
              <a:t>Otros) </a:t>
            </a:r>
            <a:endParaRPr lang="en-US" sz="1050" dirty="0"/>
          </a:p>
        </p:txBody>
      </p:sp>
      <p:sp>
        <p:nvSpPr>
          <p:cNvPr id="22" name="21 Rectángulo"/>
          <p:cNvSpPr/>
          <p:nvPr/>
        </p:nvSpPr>
        <p:spPr>
          <a:xfrm>
            <a:off x="2158294" y="4180569"/>
            <a:ext cx="1882855" cy="749571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Disco Duro)</a:t>
            </a:r>
            <a:endParaRPr lang="en-US" sz="1200" dirty="0"/>
          </a:p>
        </p:txBody>
      </p:sp>
      <p:sp>
        <p:nvSpPr>
          <p:cNvPr id="23" name="22 Rectángulo"/>
          <p:cNvSpPr/>
          <p:nvPr/>
        </p:nvSpPr>
        <p:spPr>
          <a:xfrm>
            <a:off x="2158293" y="4930140"/>
            <a:ext cx="5222019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Almacenes Virtuales de Datos </a:t>
            </a:r>
            <a:br>
              <a:rPr lang="es-VE" sz="1600" dirty="0" smtClean="0"/>
            </a:br>
            <a:r>
              <a:rPr lang="es-VE" sz="1600" dirty="0" smtClean="0"/>
              <a:t>(</a:t>
            </a:r>
            <a:r>
              <a:rPr lang="es-VE" sz="1600" dirty="0" err="1" smtClean="0"/>
              <a:t>DataStore</a:t>
            </a:r>
            <a:r>
              <a:rPr lang="es-VE" sz="1600" dirty="0" smtClean="0"/>
              <a:t> =&gt; VMFS/NTFS)</a:t>
            </a:r>
            <a:endParaRPr lang="en-US" sz="1600" dirty="0"/>
          </a:p>
        </p:txBody>
      </p:sp>
      <p:sp>
        <p:nvSpPr>
          <p:cNvPr id="24" name="23 Rectángulo"/>
          <p:cNvSpPr/>
          <p:nvPr/>
        </p:nvSpPr>
        <p:spPr>
          <a:xfrm>
            <a:off x="2158294" y="5506204"/>
            <a:ext cx="5222018" cy="4635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Volúmenes de Almacenamiento (LUN)</a:t>
            </a:r>
            <a:endParaRPr lang="en-US" sz="1600" dirty="0"/>
          </a:p>
        </p:txBody>
      </p:sp>
      <p:sp>
        <p:nvSpPr>
          <p:cNvPr id="25" name="24 Flecha derecha"/>
          <p:cNvSpPr/>
          <p:nvPr/>
        </p:nvSpPr>
        <p:spPr>
          <a:xfrm>
            <a:off x="2158293" y="3532497"/>
            <a:ext cx="5222019" cy="504056"/>
          </a:xfrm>
          <a:prstGeom prst="rightArrow">
            <a:avLst/>
          </a:prstGeom>
          <a:solidFill>
            <a:srgbClr val="66FF33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>
                <a:solidFill>
                  <a:schemeClr val="tx1"/>
                </a:solidFill>
              </a:rPr>
              <a:t>Ampliación Automatizada / Planificada</a:t>
            </a:r>
            <a:endParaRPr lang="es-VE" b="1" dirty="0">
              <a:solidFill>
                <a:schemeClr val="tx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841509" y="404664"/>
            <a:ext cx="522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00B050"/>
                </a:solidFill>
              </a:rPr>
              <a:t>AMPLICACIÓN DE MÁQUINA VIRTUAL</a:t>
            </a:r>
            <a:endParaRPr lang="es-VE" sz="2400" b="1" dirty="0">
              <a:solidFill>
                <a:srgbClr val="00B050"/>
              </a:solidFill>
            </a:endParaRPr>
          </a:p>
        </p:txBody>
      </p:sp>
      <p:sp>
        <p:nvSpPr>
          <p:cNvPr id="26" name="25 Rectángulo"/>
          <p:cNvSpPr/>
          <p:nvPr/>
        </p:nvSpPr>
        <p:spPr>
          <a:xfrm>
            <a:off x="1617162" y="843625"/>
            <a:ext cx="56707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dirty="0" smtClean="0"/>
              <a:t>(Aumento </a:t>
            </a:r>
            <a:r>
              <a:rPr lang="es-VE" dirty="0"/>
              <a:t>de </a:t>
            </a:r>
            <a:r>
              <a:rPr lang="es-VE" dirty="0" smtClean="0"/>
              <a:t>Espacio en Disco y/o Memoria, Nuevo Disco</a:t>
            </a:r>
            <a:r>
              <a:rPr lang="es-VE" sz="2400" dirty="0" smtClean="0"/>
              <a:t>)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188352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uadroTexto"/>
          <p:cNvSpPr txBox="1"/>
          <p:nvPr/>
        </p:nvSpPr>
        <p:spPr>
          <a:xfrm>
            <a:off x="1841509" y="404664"/>
            <a:ext cx="522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00B050"/>
                </a:solidFill>
              </a:rPr>
              <a:t>AMPLICACIÓN DE MÁQUINA VIRTUAL</a:t>
            </a:r>
            <a:endParaRPr lang="es-VE" sz="2400" b="1" dirty="0">
              <a:solidFill>
                <a:srgbClr val="00B050"/>
              </a:solidFill>
            </a:endParaRPr>
          </a:p>
        </p:txBody>
      </p:sp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95971"/>
              </p:ext>
            </p:extLst>
          </p:nvPr>
        </p:nvGraphicFramePr>
        <p:xfrm>
          <a:off x="1403648" y="1268760"/>
          <a:ext cx="6552728" cy="414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698"/>
                <a:gridCol w="1337291"/>
                <a:gridCol w="1054403"/>
                <a:gridCol w="1100211"/>
                <a:gridCol w="19241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Operación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Elemento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Dinámica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En</a:t>
                      </a:r>
                      <a:r>
                        <a:rPr lang="es-VE" sz="1400" baseline="0" dirty="0" smtClean="0"/>
                        <a:t> Línea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Limitantes</a:t>
                      </a:r>
                      <a:endParaRPr lang="es-VE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Aumento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CPU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Hardware (Tamaño)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Sistema Operativo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Reducción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CPU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Sistema</a:t>
                      </a:r>
                      <a:r>
                        <a:rPr lang="es-VE" sz="1400" baseline="0" dirty="0" smtClean="0"/>
                        <a:t> Operativo</a:t>
                      </a:r>
                      <a:endParaRPr lang="es-VE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Aumento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Memoria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Hardware (Tamaño)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Sistema Operativo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Reducción 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Memoria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Sistema Operativo</a:t>
                      </a:r>
                      <a:endParaRPr lang="es-VE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 smtClean="0"/>
                        <a:t>Aumento</a:t>
                      </a:r>
                      <a:endParaRPr lang="es-V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 smtClean="0"/>
                        <a:t>Espacio</a:t>
                      </a:r>
                      <a:r>
                        <a:rPr lang="es-VE" sz="1400" b="0" baseline="0" dirty="0" smtClean="0"/>
                        <a:t> Disco</a:t>
                      </a:r>
                      <a:endParaRPr lang="es-V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 smtClean="0"/>
                        <a:t>Si</a:t>
                      </a:r>
                      <a:endParaRPr lang="es-V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 smtClean="0"/>
                        <a:t>Depende</a:t>
                      </a:r>
                      <a:endParaRPr lang="es-V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 smtClean="0"/>
                        <a:t>Hardware (Tecnología)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Reducción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Espacio Disco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Si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Hardware (Tecnología)</a:t>
                      </a:r>
                    </a:p>
                    <a:p>
                      <a:pPr algn="ctr"/>
                      <a:r>
                        <a:rPr lang="es-VE" sz="1400" dirty="0" smtClean="0"/>
                        <a:t>Virtualizador</a:t>
                      </a:r>
                    </a:p>
                    <a:p>
                      <a:pPr algn="ctr"/>
                      <a:r>
                        <a:rPr lang="es-VE" sz="1400" dirty="0" smtClean="0"/>
                        <a:t>Sistema</a:t>
                      </a:r>
                      <a:r>
                        <a:rPr lang="es-VE" sz="1400" baseline="0" dirty="0" smtClean="0"/>
                        <a:t> Operativo</a:t>
                      </a:r>
                      <a:endParaRPr lang="es-VE" sz="14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Añadir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Disco </a:t>
                      </a:r>
                    </a:p>
                    <a:p>
                      <a:pPr algn="ctr"/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Virtualizador </a:t>
                      </a:r>
                    </a:p>
                    <a:p>
                      <a:pPr algn="ctr"/>
                      <a:endParaRPr lang="es-VE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Eliminar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Disco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 smtClean="0"/>
                        <a:t>No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400" dirty="0" smtClean="0"/>
                        <a:t>Virtualizador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62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ilindro"/>
          <p:cNvSpPr/>
          <p:nvPr/>
        </p:nvSpPr>
        <p:spPr>
          <a:xfrm>
            <a:off x="1841509" y="2130852"/>
            <a:ext cx="1368152" cy="15121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A</a:t>
            </a:r>
            <a:endParaRPr lang="es-VE" dirty="0"/>
          </a:p>
        </p:txBody>
      </p:sp>
      <p:sp>
        <p:nvSpPr>
          <p:cNvPr id="5" name="4 Cilindro"/>
          <p:cNvSpPr/>
          <p:nvPr/>
        </p:nvSpPr>
        <p:spPr>
          <a:xfrm>
            <a:off x="4452518" y="2119187"/>
            <a:ext cx="1368152" cy="15121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B</a:t>
            </a:r>
            <a:endParaRPr lang="es-VE" dirty="0"/>
          </a:p>
        </p:txBody>
      </p:sp>
      <p:sp>
        <p:nvSpPr>
          <p:cNvPr id="6" name="5 Cilindro"/>
          <p:cNvSpPr/>
          <p:nvPr/>
        </p:nvSpPr>
        <p:spPr>
          <a:xfrm>
            <a:off x="1869228" y="3866516"/>
            <a:ext cx="1368152" cy="15121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A</a:t>
            </a:r>
            <a:endParaRPr lang="es-VE" dirty="0"/>
          </a:p>
        </p:txBody>
      </p:sp>
      <p:sp>
        <p:nvSpPr>
          <p:cNvPr id="7" name="6 Cilindro"/>
          <p:cNvSpPr/>
          <p:nvPr/>
        </p:nvSpPr>
        <p:spPr>
          <a:xfrm>
            <a:off x="3958696" y="3866516"/>
            <a:ext cx="2520280" cy="15121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B</a:t>
            </a:r>
            <a:endParaRPr lang="es-VE" dirty="0"/>
          </a:p>
        </p:txBody>
      </p:sp>
      <p:cxnSp>
        <p:nvCxnSpPr>
          <p:cNvPr id="9" name="8 Conector curvado"/>
          <p:cNvCxnSpPr>
            <a:stCxn id="4" idx="1"/>
            <a:endCxn id="5" idx="2"/>
          </p:cNvCxnSpPr>
          <p:nvPr/>
        </p:nvCxnSpPr>
        <p:spPr>
          <a:xfrm rot="16200000" flipH="1">
            <a:off x="3116841" y="1539595"/>
            <a:ext cx="744419" cy="1926933"/>
          </a:xfrm>
          <a:prstGeom prst="curvedConnector4">
            <a:avLst>
              <a:gd name="adj1" fmla="val -30709"/>
              <a:gd name="adj2" fmla="val 67750"/>
            </a:avLst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6556978" y="2275106"/>
            <a:ext cx="15276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dirty="0" smtClean="0"/>
              <a:t>No Planificada</a:t>
            </a:r>
          </a:p>
          <a:p>
            <a:pPr algn="ctr"/>
            <a:r>
              <a:rPr lang="es-VE" dirty="0" smtClean="0"/>
              <a:t>En Línea</a:t>
            </a:r>
          </a:p>
          <a:p>
            <a:pPr algn="ctr"/>
            <a:r>
              <a:rPr lang="es-VE" b="1" dirty="0" smtClean="0">
                <a:solidFill>
                  <a:srgbClr val="FF0000"/>
                </a:solidFill>
              </a:rPr>
              <a:t>Puede Afectar</a:t>
            </a:r>
          </a:p>
          <a:p>
            <a:pPr algn="ctr"/>
            <a:r>
              <a:rPr lang="es-VE" b="1" dirty="0" smtClean="0">
                <a:solidFill>
                  <a:srgbClr val="FF0000"/>
                </a:solidFill>
              </a:rPr>
              <a:t>Desempeño</a:t>
            </a:r>
            <a:endParaRPr lang="es-VE" b="1" dirty="0">
              <a:solidFill>
                <a:srgbClr val="FF0000"/>
              </a:solidFill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6749488" y="4022435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dirty="0" smtClean="0"/>
              <a:t>Planificada</a:t>
            </a:r>
          </a:p>
          <a:p>
            <a:pPr algn="ctr"/>
            <a:r>
              <a:rPr lang="es-VE" dirty="0" smtClean="0"/>
              <a:t>En Línea</a:t>
            </a:r>
          </a:p>
          <a:p>
            <a:pPr algn="ctr"/>
            <a:r>
              <a:rPr lang="es-VE" b="1" dirty="0" smtClean="0">
                <a:solidFill>
                  <a:srgbClr val="00B050"/>
                </a:solidFill>
              </a:rPr>
              <a:t>No Afecta</a:t>
            </a:r>
          </a:p>
          <a:p>
            <a:pPr algn="ctr"/>
            <a:r>
              <a:rPr lang="es-VE" b="1" dirty="0" smtClean="0">
                <a:solidFill>
                  <a:srgbClr val="00B050"/>
                </a:solidFill>
              </a:rPr>
              <a:t>Desempeño</a:t>
            </a:r>
            <a:endParaRPr lang="es-VE" b="1" dirty="0">
              <a:solidFill>
                <a:srgbClr val="00B050"/>
              </a:solidFill>
            </a:endParaRPr>
          </a:p>
        </p:txBody>
      </p:sp>
      <p:sp>
        <p:nvSpPr>
          <p:cNvPr id="13" name="12 Flecha curvada hacia la derecha"/>
          <p:cNvSpPr/>
          <p:nvPr/>
        </p:nvSpPr>
        <p:spPr>
          <a:xfrm rot="16200000">
            <a:off x="3310887" y="4765116"/>
            <a:ext cx="825094" cy="2340260"/>
          </a:xfrm>
          <a:prstGeom prst="curved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bg1"/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3184620" y="5576414"/>
            <a:ext cx="1119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b="1" dirty="0" smtClean="0">
                <a:solidFill>
                  <a:schemeClr val="accent3">
                    <a:lumMod val="75000"/>
                  </a:schemeClr>
                </a:solidFill>
              </a:rPr>
              <a:t>COPIA</a:t>
            </a:r>
            <a:endParaRPr lang="es-VE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3502698" y="1524119"/>
            <a:ext cx="1104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SALTO</a:t>
            </a:r>
            <a:endParaRPr lang="es-VE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1841509" y="404664"/>
            <a:ext cx="522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00B050"/>
                </a:solidFill>
              </a:rPr>
              <a:t>AMPLICACIÓN DE MÁQUINA VIRTUAL</a:t>
            </a:r>
            <a:endParaRPr lang="es-VE" sz="2400" b="1" dirty="0">
              <a:solidFill>
                <a:srgbClr val="00B050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400037" y="866329"/>
            <a:ext cx="4104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dirty="0" smtClean="0"/>
              <a:t>(Aumento Espacio en Disco y/o Memoria</a:t>
            </a:r>
            <a:r>
              <a:rPr lang="es-VE" sz="2400" dirty="0" smtClean="0"/>
              <a:t>)</a:t>
            </a:r>
            <a:endParaRPr lang="es-VE" sz="2400" dirty="0"/>
          </a:p>
        </p:txBody>
      </p:sp>
      <p:sp>
        <p:nvSpPr>
          <p:cNvPr id="2" name="1 CuadroTexto"/>
          <p:cNvSpPr txBox="1"/>
          <p:nvPr/>
        </p:nvSpPr>
        <p:spPr>
          <a:xfrm>
            <a:off x="519908" y="3308189"/>
            <a:ext cx="1124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b="1" dirty="0" smtClean="0"/>
              <a:t>Hardware</a:t>
            </a:r>
          </a:p>
          <a:p>
            <a:pPr algn="ctr"/>
            <a:r>
              <a:rPr lang="es-VE" b="1" dirty="0" smtClean="0"/>
              <a:t>EMC</a:t>
            </a:r>
            <a:r>
              <a:rPr lang="es-VE" b="1" baseline="30000" dirty="0" smtClean="0"/>
              <a:t>2</a:t>
            </a:r>
          </a:p>
          <a:p>
            <a:pPr algn="ctr"/>
            <a:r>
              <a:rPr lang="es-VE" b="1" dirty="0" smtClean="0"/>
              <a:t>CNX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330682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lindro"/>
          <p:cNvSpPr/>
          <p:nvPr/>
        </p:nvSpPr>
        <p:spPr>
          <a:xfrm>
            <a:off x="3275855" y="2510267"/>
            <a:ext cx="2520281" cy="15121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A =&gt; B</a:t>
            </a:r>
            <a:endParaRPr lang="es-VE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347887" y="2666186"/>
            <a:ext cx="13260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dirty="0" smtClean="0"/>
              <a:t>Planificada</a:t>
            </a:r>
          </a:p>
          <a:p>
            <a:pPr algn="ctr"/>
            <a:r>
              <a:rPr lang="es-VE" dirty="0" smtClean="0"/>
              <a:t>En Línea</a:t>
            </a:r>
          </a:p>
          <a:p>
            <a:pPr algn="ctr"/>
            <a:r>
              <a:rPr lang="es-VE" b="1" dirty="0" smtClean="0">
                <a:solidFill>
                  <a:srgbClr val="00B050"/>
                </a:solidFill>
              </a:rPr>
              <a:t>No Afecta</a:t>
            </a:r>
          </a:p>
          <a:p>
            <a:pPr algn="ctr"/>
            <a:r>
              <a:rPr lang="es-VE" b="1" dirty="0" smtClean="0">
                <a:solidFill>
                  <a:srgbClr val="00B050"/>
                </a:solidFill>
              </a:rPr>
              <a:t>Desempeño</a:t>
            </a:r>
            <a:endParaRPr lang="es-VE" b="1" dirty="0">
              <a:solidFill>
                <a:srgbClr val="00B050"/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3661378" y="4149080"/>
            <a:ext cx="1702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800" b="1" dirty="0" smtClean="0">
                <a:solidFill>
                  <a:srgbClr val="00B050"/>
                </a:solidFill>
              </a:rPr>
              <a:t>Expansión</a:t>
            </a:r>
            <a:endParaRPr lang="es-VE" sz="2800" b="1" dirty="0">
              <a:solidFill>
                <a:srgbClr val="00B050"/>
              </a:solidFill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1841509" y="404664"/>
            <a:ext cx="522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00B050"/>
                </a:solidFill>
              </a:rPr>
              <a:t>AMPLICACIÓN DE MÁQUINA VIRTUAL</a:t>
            </a:r>
            <a:endParaRPr lang="es-VE" sz="2400" b="1" dirty="0">
              <a:solidFill>
                <a:srgbClr val="00B050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400037" y="866329"/>
            <a:ext cx="4104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dirty="0" smtClean="0"/>
              <a:t>(Aumento Espacio en Disco y/o Memoria</a:t>
            </a:r>
            <a:r>
              <a:rPr lang="es-VE" sz="2400" dirty="0" smtClean="0"/>
              <a:t>)</a:t>
            </a:r>
            <a:endParaRPr lang="es-VE" sz="2400" dirty="0"/>
          </a:p>
        </p:txBody>
      </p:sp>
      <p:sp>
        <p:nvSpPr>
          <p:cNvPr id="2" name="1 CuadroTexto"/>
          <p:cNvSpPr txBox="1"/>
          <p:nvPr/>
        </p:nvSpPr>
        <p:spPr>
          <a:xfrm>
            <a:off x="1593583" y="2804685"/>
            <a:ext cx="1124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b="1" dirty="0" smtClean="0"/>
              <a:t>Hardware</a:t>
            </a:r>
          </a:p>
          <a:p>
            <a:pPr algn="ctr"/>
            <a:r>
              <a:rPr lang="es-VE" b="1" dirty="0" smtClean="0"/>
              <a:t>EMC</a:t>
            </a:r>
            <a:r>
              <a:rPr lang="es-VE" b="1" baseline="30000" dirty="0" smtClean="0"/>
              <a:t>2</a:t>
            </a:r>
          </a:p>
          <a:p>
            <a:pPr algn="ctr"/>
            <a:r>
              <a:rPr lang="es-VE" b="1" dirty="0" smtClean="0"/>
              <a:t>VNX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93684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/>
          <p:nvPr/>
        </p:nvSpPr>
        <p:spPr>
          <a:xfrm>
            <a:off x="4463085" y="1898729"/>
            <a:ext cx="1347388" cy="7495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SAN)</a:t>
            </a:r>
            <a:endParaRPr lang="en-US" sz="1200" dirty="0"/>
          </a:p>
        </p:txBody>
      </p:sp>
      <p:sp>
        <p:nvSpPr>
          <p:cNvPr id="16" name="15 Rectángulo"/>
          <p:cNvSpPr/>
          <p:nvPr/>
        </p:nvSpPr>
        <p:spPr>
          <a:xfrm>
            <a:off x="5810471" y="1898729"/>
            <a:ext cx="911653" cy="74957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400" dirty="0" smtClean="0"/>
              <a:t>Archivos</a:t>
            </a:r>
          </a:p>
          <a:p>
            <a:pPr algn="ctr"/>
            <a:r>
              <a:rPr lang="es-VE" sz="1050" dirty="0" smtClean="0"/>
              <a:t>(Memoria,</a:t>
            </a:r>
          </a:p>
          <a:p>
            <a:pPr algn="ctr"/>
            <a:r>
              <a:rPr lang="es-VE" sz="1050" dirty="0" smtClean="0"/>
              <a:t>Instantánea,</a:t>
            </a:r>
          </a:p>
          <a:p>
            <a:pPr algn="ctr"/>
            <a:r>
              <a:rPr lang="es-VE" sz="1050" dirty="0" smtClean="0"/>
              <a:t>Otros) </a:t>
            </a:r>
            <a:endParaRPr lang="en-US" sz="1050" dirty="0"/>
          </a:p>
        </p:txBody>
      </p:sp>
      <p:sp>
        <p:nvSpPr>
          <p:cNvPr id="17" name="16 Rectángulo"/>
          <p:cNvSpPr/>
          <p:nvPr/>
        </p:nvSpPr>
        <p:spPr>
          <a:xfrm>
            <a:off x="2580229" y="1898729"/>
            <a:ext cx="1882855" cy="749571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Discos</a:t>
            </a:r>
          </a:p>
          <a:p>
            <a:pPr algn="ctr"/>
            <a:r>
              <a:rPr lang="es-VE" sz="1200" dirty="0" smtClean="0"/>
              <a:t>(Emulación Disco Duro)</a:t>
            </a:r>
            <a:endParaRPr lang="en-US" sz="1200" dirty="0"/>
          </a:p>
        </p:txBody>
      </p:sp>
      <p:sp>
        <p:nvSpPr>
          <p:cNvPr id="18" name="17 Rectángulo"/>
          <p:cNvSpPr/>
          <p:nvPr/>
        </p:nvSpPr>
        <p:spPr>
          <a:xfrm>
            <a:off x="2580228" y="2648300"/>
            <a:ext cx="4522207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Almacenes Virtuales de Datos </a:t>
            </a:r>
            <a:br>
              <a:rPr lang="es-VE" sz="1600" dirty="0" smtClean="0"/>
            </a:br>
            <a:r>
              <a:rPr lang="es-VE" sz="1600" dirty="0" smtClean="0"/>
              <a:t>(</a:t>
            </a:r>
            <a:r>
              <a:rPr lang="es-VE" sz="1600" dirty="0" err="1" smtClean="0"/>
              <a:t>DataStore</a:t>
            </a:r>
            <a:r>
              <a:rPr lang="es-VE" sz="1600" dirty="0" smtClean="0"/>
              <a:t> =&gt; VMFS/NTFS)</a:t>
            </a:r>
            <a:endParaRPr lang="en-US" sz="1600" dirty="0"/>
          </a:p>
        </p:txBody>
      </p:sp>
      <p:sp>
        <p:nvSpPr>
          <p:cNvPr id="19" name="18 Rectángulo"/>
          <p:cNvSpPr/>
          <p:nvPr/>
        </p:nvSpPr>
        <p:spPr>
          <a:xfrm>
            <a:off x="2580229" y="3224364"/>
            <a:ext cx="4522207" cy="4635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Volúmenes de Almacenamiento (LUN)</a:t>
            </a:r>
            <a:endParaRPr lang="en-U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7102435" y="2631176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200" b="1" dirty="0" smtClean="0">
                <a:solidFill>
                  <a:srgbClr val="FF0000"/>
                </a:solidFill>
              </a:rPr>
              <a:t>x</a:t>
            </a:r>
            <a:endParaRPr lang="es-VE" sz="3200" b="1" dirty="0">
              <a:solidFill>
                <a:srgbClr val="FF000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7105024" y="3163744"/>
            <a:ext cx="221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3200" b="1" dirty="0" smtClean="0">
                <a:solidFill>
                  <a:srgbClr val="FF0000"/>
                </a:solidFill>
              </a:rPr>
              <a:t>x</a:t>
            </a:r>
            <a:endParaRPr lang="es-VE" sz="3200" b="1" dirty="0">
              <a:solidFill>
                <a:srgbClr val="FF0000"/>
              </a:solidFill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7105024" y="189872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200" b="1" dirty="0" smtClean="0">
                <a:solidFill>
                  <a:srgbClr val="00B050"/>
                </a:solidFill>
              </a:rPr>
              <a:t>√</a:t>
            </a:r>
            <a:endParaRPr lang="es-VE" sz="3200" b="1" dirty="0">
              <a:solidFill>
                <a:srgbClr val="00B050"/>
              </a:solidFill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2582817" y="5024564"/>
            <a:ext cx="4139307" cy="5760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Almacenes Virtuales de Datos </a:t>
            </a:r>
            <a:br>
              <a:rPr lang="es-VE" sz="1600" dirty="0" smtClean="0"/>
            </a:br>
            <a:r>
              <a:rPr lang="es-VE" sz="1600" dirty="0" smtClean="0"/>
              <a:t>(</a:t>
            </a:r>
            <a:r>
              <a:rPr lang="es-VE" sz="1600" dirty="0" err="1" smtClean="0"/>
              <a:t>DataStore</a:t>
            </a:r>
            <a:r>
              <a:rPr lang="es-VE" sz="1600" dirty="0" smtClean="0"/>
              <a:t> =&gt; VMFS/NTFS)</a:t>
            </a:r>
            <a:endParaRPr lang="en-US" sz="1600" dirty="0"/>
          </a:p>
        </p:txBody>
      </p:sp>
      <p:sp>
        <p:nvSpPr>
          <p:cNvPr id="34" name="33 Rectángulo"/>
          <p:cNvSpPr/>
          <p:nvPr/>
        </p:nvSpPr>
        <p:spPr>
          <a:xfrm>
            <a:off x="2582818" y="5600628"/>
            <a:ext cx="4139306" cy="4635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/>
              <a:t>Volúmenes de Almacenamiento (LUN)</a:t>
            </a:r>
            <a:endParaRPr lang="en-US" sz="1600" dirty="0"/>
          </a:p>
        </p:txBody>
      </p:sp>
      <p:sp>
        <p:nvSpPr>
          <p:cNvPr id="37" name="36 Flecha derecha"/>
          <p:cNvSpPr/>
          <p:nvPr/>
        </p:nvSpPr>
        <p:spPr>
          <a:xfrm flipH="1">
            <a:off x="2631159" y="4088460"/>
            <a:ext cx="4090965" cy="504056"/>
          </a:xfrm>
          <a:prstGeom prst="rightArrow">
            <a:avLst/>
          </a:prstGeom>
          <a:solidFill>
            <a:srgbClr val="FF0000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b="1" dirty="0" smtClean="0">
                <a:solidFill>
                  <a:schemeClr val="bg1"/>
                </a:solidFill>
              </a:rPr>
              <a:t>Reducción Manual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" name="3 Flecha curvada hacia la derecha"/>
          <p:cNvSpPr/>
          <p:nvPr/>
        </p:nvSpPr>
        <p:spPr>
          <a:xfrm>
            <a:off x="673453" y="2749927"/>
            <a:ext cx="1656184" cy="3266199"/>
          </a:xfrm>
          <a:prstGeom prst="curved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1459971" y="399895"/>
            <a:ext cx="6159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rgbClr val="FF0000"/>
                </a:solidFill>
              </a:rPr>
              <a:t>REDUCCIÓN DE MÁQUINA VIRTUAL</a:t>
            </a:r>
          </a:p>
          <a:p>
            <a:pPr algn="ctr"/>
            <a:r>
              <a:rPr lang="es-VE" dirty="0" smtClean="0"/>
              <a:t>(Reducción de Memoria, Partición de Disco</a:t>
            </a:r>
            <a:r>
              <a:rPr lang="es-VE" sz="2400" dirty="0" smtClean="0"/>
              <a:t>)</a:t>
            </a:r>
            <a:endParaRPr lang="es-VE" sz="2400" dirty="0"/>
          </a:p>
        </p:txBody>
      </p:sp>
      <p:sp>
        <p:nvSpPr>
          <p:cNvPr id="5" name="4 CuadroTexto"/>
          <p:cNvSpPr txBox="1"/>
          <p:nvPr/>
        </p:nvSpPr>
        <p:spPr>
          <a:xfrm>
            <a:off x="7502238" y="2721014"/>
            <a:ext cx="1641762" cy="122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b="1" dirty="0" smtClean="0">
                <a:solidFill>
                  <a:srgbClr val="FF0000"/>
                </a:solidFill>
              </a:rPr>
              <a:t>Reducción</a:t>
            </a:r>
          </a:p>
          <a:p>
            <a:r>
              <a:rPr lang="es-VE" b="1" dirty="0" smtClean="0">
                <a:solidFill>
                  <a:srgbClr val="FF0000"/>
                </a:solidFill>
              </a:rPr>
              <a:t>No Soportada</a:t>
            </a:r>
          </a:p>
          <a:p>
            <a:r>
              <a:rPr lang="es-VE" b="1" dirty="0" smtClean="0">
                <a:solidFill>
                  <a:srgbClr val="FF0000"/>
                </a:solidFill>
              </a:rPr>
              <a:t>Virtual/Físico</a:t>
            </a:r>
            <a:endParaRPr lang="es-VE" b="1" dirty="0">
              <a:solidFill>
                <a:srgbClr val="FF000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941761" y="4064438"/>
            <a:ext cx="985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>
                <a:solidFill>
                  <a:schemeClr val="accent3">
                    <a:lumMod val="75000"/>
                  </a:schemeClr>
                </a:solidFill>
              </a:rPr>
              <a:t>COPIA</a:t>
            </a:r>
            <a:endParaRPr lang="es-VE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38 CuadroTexto"/>
          <p:cNvSpPr txBox="1"/>
          <p:nvPr/>
        </p:nvSpPr>
        <p:spPr>
          <a:xfrm>
            <a:off x="6833681" y="5185129"/>
            <a:ext cx="1694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/>
              <a:t>Contenedor</a:t>
            </a:r>
          </a:p>
          <a:p>
            <a:r>
              <a:rPr lang="es-VE" sz="2400" b="1" dirty="0" smtClean="0"/>
              <a:t>Nuevo</a:t>
            </a:r>
            <a:endParaRPr lang="es-VE" b="1" dirty="0"/>
          </a:p>
        </p:txBody>
      </p:sp>
      <p:sp>
        <p:nvSpPr>
          <p:cNvPr id="40" name="39 CuadroTexto"/>
          <p:cNvSpPr txBox="1"/>
          <p:nvPr/>
        </p:nvSpPr>
        <p:spPr>
          <a:xfrm>
            <a:off x="612752" y="1890017"/>
            <a:ext cx="1694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/>
              <a:t>Contenedor</a:t>
            </a:r>
          </a:p>
          <a:p>
            <a:r>
              <a:rPr lang="es-VE" sz="2400" b="1" dirty="0" smtClean="0"/>
              <a:t>Original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322464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473</Words>
  <Application>Microsoft Office PowerPoint</Application>
  <PresentationFormat>Presentación en pantalla (4:3)</PresentationFormat>
  <Paragraphs>190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Ejemplo Sistema Linux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olafrv</dc:creator>
  <cp:lastModifiedBy>Olaf Reitmaier</cp:lastModifiedBy>
  <cp:revision>139</cp:revision>
  <cp:lastPrinted>2014-11-11T19:25:02Z</cp:lastPrinted>
  <dcterms:created xsi:type="dcterms:W3CDTF">2014-04-19T00:54:12Z</dcterms:created>
  <dcterms:modified xsi:type="dcterms:W3CDTF">2016-08-29T09:11:00Z</dcterms:modified>
</cp:coreProperties>
</file>