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69" r:id="rId3"/>
    <p:sldId id="260" r:id="rId4"/>
    <p:sldId id="271" r:id="rId5"/>
    <p:sldId id="270" r:id="rId6"/>
    <p:sldId id="261" r:id="rId7"/>
    <p:sldId id="268" r:id="rId8"/>
    <p:sldId id="262" r:id="rId9"/>
    <p:sldId id="263" r:id="rId10"/>
    <p:sldId id="265" r:id="rId11"/>
    <p:sldId id="256" r:id="rId12"/>
    <p:sldId id="266" r:id="rId13"/>
    <p:sldId id="257" r:id="rId14"/>
    <p:sldId id="267" r:id="rId15"/>
    <p:sldId id="258" r:id="rId16"/>
  </p:sldIdLst>
  <p:sldSz cx="9144000" cy="6858000" type="screen4x3"/>
  <p:notesSz cx="7315200" cy="96012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70" d="100"/>
          <a:sy n="70" d="100"/>
        </p:scale>
        <p:origin x="-109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6C3B592-6CB0-4FA6-A020-3B73950ABA5A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1E03CB0-5CA8-408C-AD76-DC87183778E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9709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http://linoxide.com/how-tos/configure-mariadb-replication-centos-linux/</a:t>
            </a:r>
          </a:p>
          <a:p>
            <a:r>
              <a:rPr lang="es-VE" dirty="0" smtClean="0"/>
              <a:t>https://avisheksharma.wordpress.com/2015/01/07/step-wise-guide-to-setup-mysql-replication/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http://linoxide.com/how-tos/configure-mariadb-replication-centos-linux/</a:t>
            </a:r>
          </a:p>
          <a:p>
            <a:r>
              <a:rPr lang="es-VE" dirty="0" smtClean="0"/>
              <a:t>https://avisheksharma.wordpress.com/2015/01/07/step-wise-guide-to-setup-mysql-replication/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http://linoxide.com/how-tos/configure-mariadb-replication-centos-linux/</a:t>
            </a:r>
          </a:p>
          <a:p>
            <a:r>
              <a:rPr lang="es-VE" dirty="0" smtClean="0"/>
              <a:t>https://avisheksharma.wordpress.com/2015/01/07/step-wise-guide-to-setup-mysql-replication/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http://www.netexpertise.eu/en/mysql/mysql-replication.html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 11)</a:t>
            </a:r>
          </a:p>
          <a:p>
            <a:r>
              <a:rPr lang="es-VE" dirty="0" smtClean="0"/>
              <a:t>https://www.digitalocean.com/community/tutorials/how-to-set-up-mysql-master-master-replication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7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 10)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 11)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9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 13)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10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</a:t>
            </a:r>
            <a:r>
              <a:rPr lang="es-VE" baseline="0" dirty="0" smtClean="0"/>
              <a:t> 17)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11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87142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</a:t>
            </a:r>
            <a:r>
              <a:rPr lang="es-VE" baseline="0" dirty="0" smtClean="0"/>
              <a:t> 18)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12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87142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http://es.slideshare.net/Wagnerbianchi/mysql-cluster-basics (Pág. 58)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13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11686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http://es.slideshare.net/shinguz/ad-presentation-11465655?related=1 (Pág.</a:t>
            </a:r>
            <a:r>
              <a:rPr lang="es-VE" baseline="0" dirty="0" smtClean="0"/>
              <a:t> </a:t>
            </a:r>
            <a:r>
              <a:rPr lang="es-VE" baseline="0" smtClean="0"/>
              <a:t>18)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14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87142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http://es.slideshare.net/Wagnerbianchi/mysql-cluster-basics (Pág. 25)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03CB0-5CA8-408C-AD76-DC87183778EF}" type="slidenum">
              <a:rPr lang="es-VE" smtClean="0"/>
              <a:t>15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953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656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8863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9841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5523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764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1550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0508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1494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1478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3085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2938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7C4EA-EF3F-425B-8CA9-FA1E88126084}" type="datetimeFigureOut">
              <a:rPr lang="es-VE" smtClean="0"/>
              <a:t>25/11/2016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F098A-4DBF-405B-85AF-9A16AAFA561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9911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6 CuadroTexto"/>
          <p:cNvSpPr txBox="1"/>
          <p:nvPr/>
        </p:nvSpPr>
        <p:spPr>
          <a:xfrm>
            <a:off x="2339752" y="2924944"/>
            <a:ext cx="453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4000" b="1" dirty="0" smtClean="0"/>
              <a:t>MySQL HA Solutions</a:t>
            </a:r>
          </a:p>
        </p:txBody>
      </p:sp>
    </p:spTree>
    <p:extLst>
      <p:ext uri="{BB962C8B-B14F-4D97-AF65-F5344CB8AC3E}">
        <p14:creationId xmlns:p14="http://schemas.microsoft.com/office/powerpoint/2010/main" val="248944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6 CuadroTexto"/>
          <p:cNvSpPr txBox="1"/>
          <p:nvPr/>
        </p:nvSpPr>
        <p:spPr>
          <a:xfrm>
            <a:off x="899592" y="2387258"/>
            <a:ext cx="736368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VE" sz="4000" b="1" dirty="0" smtClean="0"/>
              <a:t>MySQL Replication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VE" sz="4000" b="1" dirty="0" smtClean="0"/>
              <a:t>MySQL Replication w/Linux HA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VE" sz="4000" b="1" dirty="0" smtClean="0"/>
              <a:t>MySQL </a:t>
            </a:r>
            <a:r>
              <a:rPr lang="es-VE" sz="4000" b="1" dirty="0"/>
              <a:t>Replication </a:t>
            </a:r>
            <a:r>
              <a:rPr lang="es-VE" sz="4000" b="1" dirty="0" smtClean="0"/>
              <a:t>w/Galera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VE" sz="4000" b="1" dirty="0"/>
              <a:t>MySQL </a:t>
            </a:r>
            <a:r>
              <a:rPr lang="es-VE" sz="4000" b="1" dirty="0" smtClean="0"/>
              <a:t>Cluster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val="23534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4656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M-S</a:t>
            </a:r>
          </a:p>
        </p:txBody>
      </p:sp>
      <p:sp>
        <p:nvSpPr>
          <p:cNvPr id="2" name="AutoShape 5" descr="https://avisheksharma.files.wordpress.com/2015/01/mysql_replicatio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556792"/>
            <a:ext cx="6624736" cy="4628822"/>
          </a:xfrm>
          <a:prstGeom prst="rect">
            <a:avLst/>
          </a:prstGeom>
        </p:spPr>
      </p:pic>
      <p:sp>
        <p:nvSpPr>
          <p:cNvPr id="10" name="9 CuadroTexto"/>
          <p:cNvSpPr txBox="1"/>
          <p:nvPr/>
        </p:nvSpPr>
        <p:spPr>
          <a:xfrm>
            <a:off x="3118108" y="6021287"/>
            <a:ext cx="2907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err="1" smtClean="0"/>
              <a:t>Unidirectional</a:t>
            </a:r>
            <a:endParaRPr lang="es-VE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89447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4842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M-M</a:t>
            </a:r>
          </a:p>
        </p:txBody>
      </p:sp>
      <p:sp>
        <p:nvSpPr>
          <p:cNvPr id="2" name="AutoShape 5" descr="https://avisheksharma.files.wordpress.com/2015/01/mysql_replicatio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556792"/>
            <a:ext cx="5904656" cy="412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7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4842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</a:t>
            </a:r>
            <a:r>
              <a:rPr lang="es-VE" sz="3600" b="1" dirty="0"/>
              <a:t>M-M</a:t>
            </a:r>
          </a:p>
        </p:txBody>
      </p:sp>
      <p:sp>
        <p:nvSpPr>
          <p:cNvPr id="2" name="AutoShape 5" descr="https://avisheksharma.files.wordpress.com/2015/01/mysql_replicatio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556792"/>
            <a:ext cx="5904656" cy="4125689"/>
          </a:xfrm>
          <a:prstGeom prst="rect">
            <a:avLst/>
          </a:prstGeom>
        </p:spPr>
      </p:pic>
      <p:sp>
        <p:nvSpPr>
          <p:cNvPr id="10" name="9 CuadroTexto"/>
          <p:cNvSpPr txBox="1"/>
          <p:nvPr/>
        </p:nvSpPr>
        <p:spPr>
          <a:xfrm>
            <a:off x="1101785" y="5675867"/>
            <a:ext cx="7055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err="1" smtClean="0"/>
              <a:t>It</a:t>
            </a:r>
            <a:r>
              <a:rPr lang="es-VE" sz="3600" b="1" dirty="0" smtClean="0"/>
              <a:t> </a:t>
            </a:r>
            <a:r>
              <a:rPr lang="es-VE" sz="3600" b="1" dirty="0" err="1" smtClean="0"/>
              <a:t>is</a:t>
            </a:r>
            <a:r>
              <a:rPr lang="es-VE" sz="3600" b="1" dirty="0" smtClean="0"/>
              <a:t> </a:t>
            </a:r>
            <a:r>
              <a:rPr lang="es-VE" sz="3600" b="1" dirty="0" err="1" smtClean="0"/>
              <a:t>not</a:t>
            </a:r>
            <a:r>
              <a:rPr lang="es-VE" sz="3600" b="1" dirty="0" smtClean="0"/>
              <a:t> a </a:t>
            </a:r>
            <a:r>
              <a:rPr lang="es-VE" sz="3600" b="1" dirty="0" err="1" smtClean="0"/>
              <a:t>cluster</a:t>
            </a:r>
            <a:r>
              <a:rPr lang="es-VE" sz="3600" b="1" dirty="0" smtClean="0"/>
              <a:t> </a:t>
            </a:r>
            <a:r>
              <a:rPr lang="es-VE" sz="3600" b="1" dirty="0" err="1" smtClean="0"/>
              <a:t>is</a:t>
            </a:r>
            <a:r>
              <a:rPr lang="es-VE" sz="3600" b="1" dirty="0" smtClean="0"/>
              <a:t> </a:t>
            </a:r>
            <a:r>
              <a:rPr lang="es-VE" sz="3600" b="1" dirty="0" err="1" smtClean="0"/>
              <a:t>just</a:t>
            </a:r>
            <a:r>
              <a:rPr lang="es-VE" sz="3600" b="1" dirty="0" smtClean="0"/>
              <a:t> a </a:t>
            </a:r>
            <a:r>
              <a:rPr lang="es-VE" sz="3600" b="1" dirty="0" err="1" smtClean="0"/>
              <a:t>replication</a:t>
            </a:r>
            <a:endParaRPr lang="es-VE" sz="3600" b="1" dirty="0" smtClean="0"/>
          </a:p>
        </p:txBody>
      </p:sp>
      <p:sp>
        <p:nvSpPr>
          <p:cNvPr id="4" name="3 Rectángulo"/>
          <p:cNvSpPr/>
          <p:nvPr/>
        </p:nvSpPr>
        <p:spPr>
          <a:xfrm>
            <a:off x="3203848" y="6304002"/>
            <a:ext cx="2358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b="1" dirty="0"/>
              <a:t> (e.g. INSERT / DELETE)</a:t>
            </a:r>
          </a:p>
        </p:txBody>
      </p:sp>
    </p:spTree>
    <p:extLst>
      <p:ext uri="{BB962C8B-B14F-4D97-AF65-F5344CB8AC3E}">
        <p14:creationId xmlns:p14="http://schemas.microsoft.com/office/powerpoint/2010/main" val="320793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4656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M-S</a:t>
            </a:r>
          </a:p>
        </p:txBody>
      </p:sp>
      <p:pic>
        <p:nvPicPr>
          <p:cNvPr id="5125" name="Picture 5" descr="http://www.netexpertise.eu/images/Replicati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799"/>
            <a:ext cx="7200800" cy="423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17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4842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M-M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73" y="1844824"/>
            <a:ext cx="7407573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702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6017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&amp; Linux HA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44824"/>
            <a:ext cx="6480720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740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6017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&amp; Linux HA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19" y="1751678"/>
            <a:ext cx="7237727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233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6017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Replication &amp; Linux HA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7416824" cy="462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21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7 CuadroTexto"/>
          <p:cNvSpPr txBox="1"/>
          <p:nvPr/>
        </p:nvSpPr>
        <p:spPr>
          <a:xfrm>
            <a:off x="2195736" y="682271"/>
            <a:ext cx="2977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Cluster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95463"/>
            <a:ext cx="7147174" cy="4369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030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7 CuadroTexto"/>
          <p:cNvSpPr txBox="1"/>
          <p:nvPr/>
        </p:nvSpPr>
        <p:spPr>
          <a:xfrm>
            <a:off x="2195736" y="682271"/>
            <a:ext cx="2977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Cluster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53" y="1556792"/>
            <a:ext cx="6840760" cy="4403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114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91" y="1844824"/>
            <a:ext cx="7344816" cy="389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8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" name="11 CuadroTexto"/>
          <p:cNvSpPr txBox="1"/>
          <p:nvPr/>
        </p:nvSpPr>
        <p:spPr>
          <a:xfrm>
            <a:off x="2195736" y="682271"/>
            <a:ext cx="2977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Cluster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419559" y="5924021"/>
            <a:ext cx="4448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sz="3600" b="1" dirty="0" smtClean="0"/>
              <a:t>Replication of </a:t>
            </a:r>
            <a:r>
              <a:rPr lang="es-VE" sz="3600" b="1" dirty="0" err="1" smtClean="0"/>
              <a:t>Clusters</a:t>
            </a:r>
            <a:endParaRPr lang="es-VE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173437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7 CuadroTexto"/>
          <p:cNvSpPr txBox="1"/>
          <p:nvPr/>
        </p:nvSpPr>
        <p:spPr>
          <a:xfrm>
            <a:off x="2195736" y="682271"/>
            <a:ext cx="2977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Cluster</a:t>
            </a:r>
          </a:p>
        </p:txBody>
      </p:sp>
      <p:pic>
        <p:nvPicPr>
          <p:cNvPr id="11268" name="Picture 4" descr="MySQL Cluster circular replication scheme in which all master SQL nodes are also slaves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61523"/>
            <a:ext cx="3747502" cy="440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MySQL Cluster circular replication scheme in which all master SQL nodes are not also necessarily slaves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547668"/>
            <a:ext cx="3880980" cy="438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82271"/>
            <a:ext cx="2854624" cy="542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636556" y="5924021"/>
            <a:ext cx="6014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sz="3600" b="1" dirty="0" smtClean="0"/>
              <a:t>Circular Replication of </a:t>
            </a:r>
            <a:r>
              <a:rPr lang="es-VE" sz="3600" b="1" dirty="0" err="1" smtClean="0"/>
              <a:t>Clusters</a:t>
            </a:r>
            <a:endParaRPr lang="es-VE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367425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10" y="1804752"/>
            <a:ext cx="7159753" cy="407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5 Grupo"/>
          <p:cNvGrpSpPr/>
          <p:nvPr/>
        </p:nvGrpSpPr>
        <p:grpSpPr>
          <a:xfrm>
            <a:off x="323528" y="332656"/>
            <a:ext cx="1466850" cy="1006930"/>
            <a:chOff x="323528" y="332656"/>
            <a:chExt cx="1466850" cy="100693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606161"/>
              <a:ext cx="1466850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61" y="332656"/>
              <a:ext cx="1460917" cy="273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8 CuadroTexto"/>
          <p:cNvSpPr txBox="1"/>
          <p:nvPr/>
        </p:nvSpPr>
        <p:spPr>
          <a:xfrm>
            <a:off x="2195736" y="682271"/>
            <a:ext cx="2977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b="1" dirty="0" smtClean="0"/>
              <a:t>MySQL Cluster</a:t>
            </a:r>
          </a:p>
        </p:txBody>
      </p:sp>
    </p:spTree>
    <p:extLst>
      <p:ext uri="{BB962C8B-B14F-4D97-AF65-F5344CB8AC3E}">
        <p14:creationId xmlns:p14="http://schemas.microsoft.com/office/powerpoint/2010/main" val="113414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194</Words>
  <Application>Microsoft Office PowerPoint</Application>
  <PresentationFormat>Presentación en pantalla (4:3)</PresentationFormat>
  <Paragraphs>53</Paragraphs>
  <Slides>15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Olaf Reitmaier</dc:creator>
  <cp:lastModifiedBy>Olaf Reitmaier</cp:lastModifiedBy>
  <cp:revision>14</cp:revision>
  <dcterms:created xsi:type="dcterms:W3CDTF">2015-11-25T11:59:45Z</dcterms:created>
  <dcterms:modified xsi:type="dcterms:W3CDTF">2016-11-25T14:32:41Z</dcterms:modified>
</cp:coreProperties>
</file>