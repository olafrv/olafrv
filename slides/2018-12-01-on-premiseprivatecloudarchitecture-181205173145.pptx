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2" r:id="rId6"/>
    <p:sldId id="263" r:id="rId7"/>
    <p:sldId id="265" r:id="rId8"/>
    <p:sldId id="264" r:id="rId9"/>
    <p:sldId id="272" r:id="rId10"/>
    <p:sldId id="268" r:id="rId11"/>
    <p:sldId id="273" r:id="rId12"/>
    <p:sldId id="270" r:id="rId13"/>
    <p:sldId id="274" r:id="rId14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7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0187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053761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94658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615266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266690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4070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0534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541998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3628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58668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99551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V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628DC-A24A-42A0-8863-DB1775D09F87}" type="datetimeFigureOut">
              <a:rPr lang="es-VE" smtClean="0"/>
              <a:t>05/12/2018</a:t>
            </a:fld>
            <a:endParaRPr lang="es-V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9527E-AAD5-43C8-947A-A73F77DF2A59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4099697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jpg"/><Relationship Id="rId9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10" Type="http://schemas.openxmlformats.org/officeDocument/2006/relationships/image" Target="../media/image2.png"/><Relationship Id="rId4" Type="http://schemas.openxmlformats.org/officeDocument/2006/relationships/image" Target="../media/image17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4.jp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.emf"/><Relationship Id="rId7" Type="http://schemas.openxmlformats.org/officeDocument/2006/relationships/image" Target="../media/image28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image" Target="../media/image30.png"/><Relationship Id="rId5" Type="http://schemas.openxmlformats.org/officeDocument/2006/relationships/image" Target="../media/image26.emf"/><Relationship Id="rId10" Type="http://schemas.openxmlformats.org/officeDocument/2006/relationships/image" Target="../media/image29.png"/><Relationship Id="rId4" Type="http://schemas.openxmlformats.org/officeDocument/2006/relationships/image" Target="../media/image25.emf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28.emf"/><Relationship Id="rId3" Type="http://schemas.openxmlformats.org/officeDocument/2006/relationships/image" Target="../media/image15.png"/><Relationship Id="rId7" Type="http://schemas.openxmlformats.org/officeDocument/2006/relationships/image" Target="../media/image35.png"/><Relationship Id="rId12" Type="http://schemas.openxmlformats.org/officeDocument/2006/relationships/image" Target="../media/image27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26.emf"/><Relationship Id="rId5" Type="http://schemas.openxmlformats.org/officeDocument/2006/relationships/image" Target="../media/image12.png"/><Relationship Id="rId15" Type="http://schemas.openxmlformats.org/officeDocument/2006/relationships/image" Target="../media/image30.png"/><Relationship Id="rId10" Type="http://schemas.openxmlformats.org/officeDocument/2006/relationships/image" Target="../media/image25.emf"/><Relationship Id="rId4" Type="http://schemas.openxmlformats.org/officeDocument/2006/relationships/image" Target="../media/image34.png"/><Relationship Id="rId9" Type="http://schemas.openxmlformats.org/officeDocument/2006/relationships/image" Target="../media/image24.emf"/><Relationship Id="rId1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image" Target="../media/image27.emf"/><Relationship Id="rId7" Type="http://schemas.openxmlformats.org/officeDocument/2006/relationships/image" Target="../media/image28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10.png"/><Relationship Id="rId5" Type="http://schemas.openxmlformats.org/officeDocument/2006/relationships/image" Target="../media/image37.emf"/><Relationship Id="rId10" Type="http://schemas.openxmlformats.org/officeDocument/2006/relationships/image" Target="../media/image9.jpeg"/><Relationship Id="rId4" Type="http://schemas.openxmlformats.org/officeDocument/2006/relationships/image" Target="../media/image29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2324099"/>
            <a:ext cx="12192000" cy="1409701"/>
          </a:xfrm>
          <a:solidFill>
            <a:srgbClr val="7030A0"/>
          </a:solidFill>
        </p:spPr>
        <p:txBody>
          <a:bodyPr anchor="ctr" anchorCtr="0">
            <a:normAutofit/>
          </a:bodyPr>
          <a:lstStyle/>
          <a:p>
            <a:r>
              <a:rPr lang="es-419" sz="5400" b="1" dirty="0" smtClean="0">
                <a:solidFill>
                  <a:schemeClr val="bg1"/>
                </a:solidFill>
              </a:rPr>
              <a:t>On-Premise </a:t>
            </a:r>
            <a:r>
              <a:rPr lang="es-419" sz="5400" b="1" dirty="0" smtClean="0">
                <a:solidFill>
                  <a:schemeClr val="bg1"/>
                </a:solidFill>
              </a:rPr>
              <a:t>Private Cloud </a:t>
            </a:r>
            <a:r>
              <a:rPr lang="es-419" sz="5400" b="1" dirty="0" err="1" smtClean="0">
                <a:solidFill>
                  <a:schemeClr val="bg1"/>
                </a:solidFill>
              </a:rPr>
              <a:t>Archicture</a:t>
            </a:r>
            <a:endParaRPr lang="es-VE" sz="5400" b="1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330700"/>
            <a:ext cx="9144000" cy="1714500"/>
          </a:xfrm>
        </p:spPr>
        <p:txBody>
          <a:bodyPr>
            <a:noAutofit/>
          </a:bodyPr>
          <a:lstStyle/>
          <a:p>
            <a:r>
              <a:rPr lang="es-419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Olaf Reitmaier</a:t>
            </a:r>
            <a:endParaRPr lang="es-419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s-419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November</a:t>
            </a:r>
            <a:r>
              <a:rPr lang="es-419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419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2018</a:t>
            </a:r>
          </a:p>
          <a:p>
            <a:r>
              <a:rPr lang="es-419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olafr@gmail.com</a:t>
            </a:r>
            <a:endParaRPr lang="es-419" sz="2800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s-VE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346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Agenda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419" sz="3200" dirty="0" smtClean="0"/>
              <a:t>Portafolio &amp; Services</a:t>
            </a:r>
          </a:p>
          <a:p>
            <a:pPr marL="514350" indent="-514350">
              <a:buFont typeface="+mj-lt"/>
              <a:buAutoNum type="arabicPeriod"/>
            </a:pPr>
            <a:r>
              <a:rPr lang="es-419" sz="3200" dirty="0" err="1" smtClean="0"/>
              <a:t>Architecture</a:t>
            </a:r>
            <a:r>
              <a:rPr lang="es-419" sz="3200" dirty="0" smtClean="0"/>
              <a:t> </a:t>
            </a:r>
            <a:r>
              <a:rPr lang="es-419" sz="3200" dirty="0" err="1" smtClean="0"/>
              <a:t>Integration</a:t>
            </a:r>
            <a:endParaRPr lang="es-419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es-419" sz="3200" dirty="0" err="1" smtClean="0"/>
              <a:t>Solutions</a:t>
            </a:r>
            <a:r>
              <a:rPr lang="es-419" sz="3200" dirty="0" smtClean="0"/>
              <a:t> Delivery </a:t>
            </a:r>
            <a:r>
              <a:rPr lang="es-419" sz="3200" dirty="0" err="1" smtClean="0"/>
              <a:t>Approach</a:t>
            </a:r>
            <a:endParaRPr lang="es-419" sz="3200" dirty="0" smtClean="0"/>
          </a:p>
        </p:txBody>
      </p:sp>
      <p:pic>
        <p:nvPicPr>
          <p:cNvPr id="4" name="Imagen 3" descr="&lt;strong&gt;Clock&lt;/strong&gt; PNG imag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702" y="2257425"/>
            <a:ext cx="3233697" cy="318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8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Agenda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419" sz="3600" b="1" dirty="0" smtClean="0"/>
              <a:t>Portafolio &amp; Services</a:t>
            </a:r>
          </a:p>
          <a:p>
            <a:pPr marL="514350" indent="-514350">
              <a:buFont typeface="+mj-lt"/>
              <a:buAutoNum type="arabicPeriod"/>
            </a:pPr>
            <a:r>
              <a:rPr lang="es-419" sz="3200" dirty="0" err="1" smtClean="0">
                <a:solidFill>
                  <a:schemeClr val="bg2">
                    <a:lumMod val="90000"/>
                  </a:schemeClr>
                </a:solidFill>
              </a:rPr>
              <a:t>Architecture</a:t>
            </a:r>
            <a:r>
              <a:rPr lang="es-419" sz="3200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s-419" sz="3200" dirty="0" err="1" smtClean="0">
                <a:solidFill>
                  <a:schemeClr val="bg2">
                    <a:lumMod val="90000"/>
                  </a:schemeClr>
                </a:solidFill>
              </a:rPr>
              <a:t>Integration</a:t>
            </a:r>
            <a:endParaRPr lang="es-419" sz="3200" dirty="0" smtClean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419" sz="3200" dirty="0" err="1" smtClean="0">
                <a:solidFill>
                  <a:schemeClr val="bg2">
                    <a:lumMod val="90000"/>
                  </a:schemeClr>
                </a:solidFill>
              </a:rPr>
              <a:t>Solutions</a:t>
            </a:r>
            <a:r>
              <a:rPr lang="es-419" sz="3200" dirty="0" smtClean="0">
                <a:solidFill>
                  <a:schemeClr val="bg2">
                    <a:lumMod val="90000"/>
                  </a:schemeClr>
                </a:solidFill>
              </a:rPr>
              <a:t> Delivery </a:t>
            </a:r>
            <a:r>
              <a:rPr lang="es-419" sz="3200" dirty="0" err="1" smtClean="0">
                <a:solidFill>
                  <a:schemeClr val="bg2">
                    <a:lumMod val="90000"/>
                  </a:schemeClr>
                </a:solidFill>
              </a:rPr>
              <a:t>Approach</a:t>
            </a:r>
            <a:endParaRPr lang="es-419" sz="3200" dirty="0" smtClean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64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Portfolio &amp; Services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09892"/>
          </a:xfrm>
        </p:spPr>
        <p:txBody>
          <a:bodyPr>
            <a:normAutofit fontScale="92500" lnSpcReduction="10000"/>
          </a:bodyPr>
          <a:lstStyle/>
          <a:p>
            <a:r>
              <a:rPr lang="es-419" sz="3200" b="1" dirty="0" smtClean="0"/>
              <a:t>HW/SW </a:t>
            </a:r>
            <a:r>
              <a:rPr lang="es-419" sz="3200" b="1" dirty="0" err="1" smtClean="0"/>
              <a:t>Infrastructure</a:t>
            </a:r>
            <a:r>
              <a:rPr lang="es-419" sz="3200" b="1" dirty="0" smtClean="0"/>
              <a:t> </a:t>
            </a:r>
            <a:r>
              <a:rPr lang="es-419" sz="3200" b="1" dirty="0" err="1" smtClean="0"/>
              <a:t>Provisioning</a:t>
            </a:r>
            <a:r>
              <a:rPr lang="es-419" sz="3200" b="1" dirty="0" smtClean="0"/>
              <a:t> </a:t>
            </a:r>
            <a:r>
              <a:rPr lang="es-419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s-419" sz="32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Boxed</a:t>
            </a:r>
            <a:r>
              <a:rPr lang="es-419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lvl="1"/>
            <a:r>
              <a:rPr lang="es-419" sz="2800" dirty="0" smtClean="0"/>
              <a:t>Compute </a:t>
            </a:r>
          </a:p>
          <a:p>
            <a:pPr lvl="1"/>
            <a:r>
              <a:rPr lang="es-419" sz="2800" dirty="0" smtClean="0"/>
              <a:t>Network </a:t>
            </a:r>
            <a:r>
              <a:rPr lang="es-419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s-419" sz="2800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Implicit</a:t>
            </a:r>
            <a:r>
              <a:rPr lang="es-419" sz="28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  <a:p>
            <a:pPr lvl="1"/>
            <a:r>
              <a:rPr lang="es-419" sz="2800" dirty="0" smtClean="0"/>
              <a:t>Storage</a:t>
            </a:r>
          </a:p>
          <a:p>
            <a:pPr lvl="1"/>
            <a:r>
              <a:rPr lang="es-419" sz="2800" dirty="0" smtClean="0"/>
              <a:t>Backup / </a:t>
            </a:r>
            <a:r>
              <a:rPr lang="es-419" sz="2800" dirty="0" err="1" smtClean="0"/>
              <a:t>Disaster</a:t>
            </a:r>
            <a:r>
              <a:rPr lang="es-419" sz="2800" dirty="0" smtClean="0"/>
              <a:t> Recovery</a:t>
            </a:r>
          </a:p>
          <a:p>
            <a:r>
              <a:rPr lang="es-419" sz="3200" b="1" dirty="0" err="1" smtClean="0"/>
              <a:t>Brandend</a:t>
            </a:r>
            <a:r>
              <a:rPr lang="es-419" sz="3200" b="1" dirty="0" smtClean="0"/>
              <a:t> / </a:t>
            </a:r>
            <a:r>
              <a:rPr lang="es-419" sz="3200" b="1" dirty="0" err="1" smtClean="0"/>
              <a:t>Certified</a:t>
            </a:r>
            <a:r>
              <a:rPr lang="es-419" sz="3200" b="1" dirty="0" smtClean="0"/>
              <a:t> </a:t>
            </a:r>
            <a:r>
              <a:rPr lang="es-419" sz="3200" b="1" dirty="0" err="1" smtClean="0"/>
              <a:t>Solutions</a:t>
            </a:r>
            <a:r>
              <a:rPr lang="es-419" sz="3200" b="1" dirty="0" smtClean="0"/>
              <a:t> </a:t>
            </a:r>
            <a:r>
              <a:rPr lang="es-419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es-419" sz="32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Only</a:t>
            </a:r>
            <a:r>
              <a:rPr lang="es-419" sz="3200" b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72" y="4039467"/>
            <a:ext cx="2199946" cy="2199946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642" y="5943363"/>
            <a:ext cx="3289409" cy="57903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243" y="4482648"/>
            <a:ext cx="2758366" cy="1103346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064" y="5675782"/>
            <a:ext cx="1448457" cy="1114198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6313" y="5133066"/>
            <a:ext cx="1638529" cy="514422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0090" y="4381474"/>
            <a:ext cx="1859428" cy="844818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4762" y="4381474"/>
            <a:ext cx="2066990" cy="1007413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520" y="5434844"/>
            <a:ext cx="1931385" cy="108755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6466" y="5388888"/>
            <a:ext cx="1805518" cy="896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522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err="1" smtClean="0">
                <a:solidFill>
                  <a:schemeClr val="bg1"/>
                </a:solidFill>
              </a:rPr>
              <a:t>Hard</a:t>
            </a:r>
            <a:r>
              <a:rPr lang="es-419" b="1" dirty="0" smtClean="0">
                <a:solidFill>
                  <a:schemeClr val="bg1"/>
                </a:solidFill>
              </a:rPr>
              <a:t>/Software </a:t>
            </a:r>
            <a:r>
              <a:rPr lang="es-419" b="1" dirty="0" smtClean="0">
                <a:solidFill>
                  <a:schemeClr val="bg1"/>
                </a:solidFill>
              </a:rPr>
              <a:t>Defined </a:t>
            </a:r>
            <a:r>
              <a:rPr lang="es-419" b="1" dirty="0" smtClean="0">
                <a:solidFill>
                  <a:schemeClr val="bg1"/>
                </a:solidFill>
              </a:rPr>
              <a:t>Data Center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15" name="6 Rectángulo"/>
          <p:cNvSpPr/>
          <p:nvPr/>
        </p:nvSpPr>
        <p:spPr>
          <a:xfrm>
            <a:off x="6855785" y="4628302"/>
            <a:ext cx="2952328" cy="73924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000" b="1" dirty="0" smtClean="0"/>
              <a:t>Hardware </a:t>
            </a:r>
            <a:r>
              <a:rPr lang="es-VE" sz="2000" b="1" dirty="0" err="1" smtClean="0"/>
              <a:t>Layer</a:t>
            </a:r>
            <a:endParaRPr lang="es-VE" sz="2000" b="1" dirty="0" smtClean="0"/>
          </a:p>
          <a:p>
            <a:pPr algn="ctr"/>
            <a:r>
              <a:rPr lang="es-VE" sz="2000" b="1" dirty="0" smtClean="0"/>
              <a:t>(</a:t>
            </a:r>
            <a:r>
              <a:rPr lang="es-VE" sz="2000" b="1" dirty="0" err="1" smtClean="0"/>
              <a:t>Commodity</a:t>
            </a:r>
            <a:r>
              <a:rPr lang="es-VE" sz="2000" b="1" dirty="0" smtClean="0"/>
              <a:t>)</a:t>
            </a:r>
            <a:endParaRPr lang="es-VE" sz="2000" b="1" dirty="0"/>
          </a:p>
        </p:txBody>
      </p:sp>
      <p:sp>
        <p:nvSpPr>
          <p:cNvPr id="16" name="90 Rectángulo"/>
          <p:cNvSpPr/>
          <p:nvPr/>
        </p:nvSpPr>
        <p:spPr>
          <a:xfrm>
            <a:off x="6855785" y="3764206"/>
            <a:ext cx="2952328" cy="73924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VE" sz="2000" b="1" dirty="0" err="1" smtClean="0"/>
              <a:t>Virtualization</a:t>
            </a:r>
            <a:r>
              <a:rPr lang="es-VE" sz="2000" b="1" dirty="0" smtClean="0"/>
              <a:t> </a:t>
            </a:r>
            <a:r>
              <a:rPr lang="es-VE" sz="2000" b="1" dirty="0" err="1" smtClean="0"/>
              <a:t>Layer</a:t>
            </a:r>
            <a:endParaRPr lang="es-VE" sz="2000" b="1" dirty="0" smtClean="0"/>
          </a:p>
          <a:p>
            <a:pPr algn="ctr"/>
            <a:r>
              <a:rPr lang="es-VE" sz="2000" b="1" dirty="0" smtClean="0"/>
              <a:t>(</a:t>
            </a:r>
            <a:r>
              <a:rPr lang="es-VE" sz="2000" b="1" dirty="0" err="1" smtClean="0"/>
              <a:t>Super-Farm</a:t>
            </a:r>
            <a:r>
              <a:rPr lang="es-VE" sz="2000" b="1" dirty="0" smtClean="0"/>
              <a:t>)</a:t>
            </a:r>
            <a:endParaRPr lang="es-VE" sz="2000" b="1" dirty="0"/>
          </a:p>
        </p:txBody>
      </p:sp>
      <p:sp>
        <p:nvSpPr>
          <p:cNvPr id="20" name="111 Rectángulo redondeado"/>
          <p:cNvSpPr/>
          <p:nvPr/>
        </p:nvSpPr>
        <p:spPr>
          <a:xfrm>
            <a:off x="2051653" y="4860058"/>
            <a:ext cx="1624811" cy="555934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s-VE" sz="2800" b="1" dirty="0">
              <a:solidFill>
                <a:schemeClr val="bg1"/>
              </a:solidFill>
            </a:endParaRPr>
          </a:p>
        </p:txBody>
      </p:sp>
      <p:sp>
        <p:nvSpPr>
          <p:cNvPr id="21" name="3 Rectángulo redondeado"/>
          <p:cNvSpPr/>
          <p:nvPr/>
        </p:nvSpPr>
        <p:spPr>
          <a:xfrm>
            <a:off x="3705064" y="4872918"/>
            <a:ext cx="2300036" cy="543073"/>
          </a:xfrm>
          <a:prstGeom prst="round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400" b="1" dirty="0" smtClean="0">
                <a:solidFill>
                  <a:schemeClr val="bg1"/>
                </a:solidFill>
              </a:rPr>
              <a:t>Network HW</a:t>
            </a:r>
            <a:endParaRPr lang="es-VE" sz="2400" b="1" dirty="0">
              <a:solidFill>
                <a:schemeClr val="bg1"/>
              </a:solidFill>
            </a:endParaRPr>
          </a:p>
        </p:txBody>
      </p:sp>
      <p:pic>
        <p:nvPicPr>
          <p:cNvPr id="22" name="Picture 11" descr="C:\Users\ecoffey\AppData\Local\Temp\Rar$DRa0.200\30050_Device_nexus5000_default_64.png">
            <a:extLst>
              <a:ext uri="{FF2B5EF4-FFF2-40B4-BE49-F238E27FC236}">
                <a16:creationId xmlns:a16="http://schemas.microsoft.com/office/drawing/2014/main" id="{E249E6E7-AD8B-425D-B3D9-842C2163DB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384" y="489418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6BA39B60-FF63-4287-AF53-EF1DEF460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748" y="4845310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67 Rectángulo"/>
          <p:cNvSpPr/>
          <p:nvPr/>
        </p:nvSpPr>
        <p:spPr>
          <a:xfrm>
            <a:off x="6870914" y="5346382"/>
            <a:ext cx="2923551" cy="714045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V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VE"/>
          </a:p>
        </p:txBody>
      </p:sp>
      <p:pic>
        <p:nvPicPr>
          <p:cNvPr id="25" name="Picture 14" descr="C:\Users\ecoffey\AppData\Local\Temp\Rar$DRa0.796\30036_Device_ibm_tower_major_64.png">
            <a:extLst>
              <a:ext uri="{FF2B5EF4-FFF2-40B4-BE49-F238E27FC236}">
                <a16:creationId xmlns:a16="http://schemas.microsoft.com/office/drawing/2014/main" id="{7C435078-20C8-4FE5-9436-E70D8886C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689" y="546585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4" descr="C:\Users\ecoffey\AppData\Local\Temp\Rar$DRa0.796\30036_Device_ibm_tower_major_64.png">
            <a:extLst>
              <a:ext uri="{FF2B5EF4-FFF2-40B4-BE49-F238E27FC236}">
                <a16:creationId xmlns:a16="http://schemas.microsoft.com/office/drawing/2014/main" id="{46A9173D-7E23-480E-B6DF-C0B9EA91E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0923" y="5472739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4" descr="C:\Users\ecoffey\AppData\Local\Temp\Rar$DRa0.796\30036_Device_ibm_tower_major_64.png">
            <a:extLst>
              <a:ext uri="{FF2B5EF4-FFF2-40B4-BE49-F238E27FC236}">
                <a16:creationId xmlns:a16="http://schemas.microsoft.com/office/drawing/2014/main" id="{FBA3AC8A-ADC1-4BCE-AF41-D91F9DC4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8161" y="548040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C:\Users\ecoffey\AppData\Local\Temp\Rar$DRa0.796\30036_Device_ibm_tower_major_64.png">
            <a:extLst>
              <a:ext uri="{FF2B5EF4-FFF2-40B4-BE49-F238E27FC236}">
                <a16:creationId xmlns:a16="http://schemas.microsoft.com/office/drawing/2014/main" id="{7C435078-20C8-4FE5-9436-E70D8886C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550" y="5462691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4" descr="C:\Users\ecoffey\AppData\Local\Temp\Rar$DRa0.796\30036_Device_ibm_tower_major_64.png">
            <a:extLst>
              <a:ext uri="{FF2B5EF4-FFF2-40B4-BE49-F238E27FC236}">
                <a16:creationId xmlns:a16="http://schemas.microsoft.com/office/drawing/2014/main" id="{46A9173D-7E23-480E-B6DF-C0B9EA91E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784" y="546957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4" descr="C:\Users\ecoffey\AppData\Local\Temp\Rar$DRa0.796\30036_Device_ibm_tower_major_64.png">
            <a:extLst>
              <a:ext uri="{FF2B5EF4-FFF2-40B4-BE49-F238E27FC236}">
                <a16:creationId xmlns:a16="http://schemas.microsoft.com/office/drawing/2014/main" id="{FBA3AC8A-ADC1-4BCE-AF41-D91F9DC4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9022" y="5477242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59 Rectángulo redondeado"/>
          <p:cNvSpPr/>
          <p:nvPr/>
        </p:nvSpPr>
        <p:spPr>
          <a:xfrm>
            <a:off x="2080253" y="2859335"/>
            <a:ext cx="1624811" cy="55593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s-VE" sz="2800" b="1" dirty="0">
              <a:solidFill>
                <a:schemeClr val="bg1"/>
              </a:solidFill>
            </a:endParaRPr>
          </a:p>
        </p:txBody>
      </p:sp>
      <p:sp>
        <p:nvSpPr>
          <p:cNvPr id="32" name="60 Rectángulo redondeado"/>
          <p:cNvSpPr/>
          <p:nvPr/>
        </p:nvSpPr>
        <p:spPr>
          <a:xfrm>
            <a:off x="3772868" y="2862292"/>
            <a:ext cx="2300036" cy="555934"/>
          </a:xfrm>
          <a:prstGeom prst="roundRect">
            <a:avLst/>
          </a:prstGeom>
          <a:solidFill>
            <a:srgbClr val="FF0066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000" b="1" dirty="0" smtClean="0">
                <a:solidFill>
                  <a:schemeClr val="bg1"/>
                </a:solidFill>
              </a:rPr>
              <a:t>Security HW</a:t>
            </a:r>
            <a:endParaRPr lang="es-VE" sz="2000" b="1" dirty="0">
              <a:solidFill>
                <a:schemeClr val="bg1"/>
              </a:solidFill>
            </a:endParaRPr>
          </a:p>
        </p:txBody>
      </p:sp>
      <p:pic>
        <p:nvPicPr>
          <p:cNvPr id="33" name="Picture 14" descr="C:\Users\ecoffey\AppData\Local\Temp\Rar$DRa0.295\30029_Device_firewall_major_64.png">
            <a:extLst>
              <a:ext uri="{FF2B5EF4-FFF2-40B4-BE49-F238E27FC236}">
                <a16:creationId xmlns:a16="http://schemas.microsoft.com/office/drawing/2014/main" id="{E4D34D15-7918-424E-BC99-69A2A26A9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631" y="2892275"/>
            <a:ext cx="611167" cy="469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7" descr="C:\Users\ecoffey\AppData\Local\Temp\Rar$DRa0.061\30068_Device_router_with_firewall_critical_64.png">
            <a:extLst>
              <a:ext uri="{FF2B5EF4-FFF2-40B4-BE49-F238E27FC236}">
                <a16:creationId xmlns:a16="http://schemas.microsoft.com/office/drawing/2014/main" id="{3018119A-E914-48C9-A410-346E510A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2659" y="2805519"/>
            <a:ext cx="649346" cy="64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61 Rectángulo redondeado"/>
          <p:cNvSpPr/>
          <p:nvPr/>
        </p:nvSpPr>
        <p:spPr>
          <a:xfrm>
            <a:off x="2080253" y="3549919"/>
            <a:ext cx="1624811" cy="5559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s-VE" sz="2800" b="1" dirty="0">
              <a:solidFill>
                <a:schemeClr val="bg1"/>
              </a:solidFill>
            </a:endParaRPr>
          </a:p>
        </p:txBody>
      </p:sp>
      <p:sp>
        <p:nvSpPr>
          <p:cNvPr id="36" name="62 Rectángulo redondeado"/>
          <p:cNvSpPr/>
          <p:nvPr/>
        </p:nvSpPr>
        <p:spPr>
          <a:xfrm>
            <a:off x="3772868" y="3552876"/>
            <a:ext cx="2300036" cy="55593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000" b="1" dirty="0" smtClean="0">
                <a:solidFill>
                  <a:schemeClr val="bg1"/>
                </a:solidFill>
              </a:rPr>
              <a:t>Compute HW</a:t>
            </a:r>
            <a:endParaRPr lang="es-VE" sz="2000" b="1" dirty="0">
              <a:solidFill>
                <a:schemeClr val="bg1"/>
              </a:solidFill>
            </a:endParaRPr>
          </a:p>
        </p:txBody>
      </p:sp>
      <p:pic>
        <p:nvPicPr>
          <p:cNvPr id="37" name="Picture 14" descr="C:\Users\ecoffey\AppData\Local\Temp\Rar$DRa0.796\30036_Device_ibm_tower_major_64.png">
            <a:extLst>
              <a:ext uri="{FF2B5EF4-FFF2-40B4-BE49-F238E27FC236}">
                <a16:creationId xmlns:a16="http://schemas.microsoft.com/office/drawing/2014/main" id="{FBA3AC8A-ADC1-4BCE-AF41-D91F9DC4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374" y="3572255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C:\Users\ecoffey\AppData\Local\Temp\Rar$DRa0.920\30034_Device_hub_major_64.png">
            <a:extLst>
              <a:ext uri="{FF2B5EF4-FFF2-40B4-BE49-F238E27FC236}">
                <a16:creationId xmlns:a16="http://schemas.microsoft.com/office/drawing/2014/main" id="{4D443D7B-8DC7-4CB8-B12C-11223D349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928" y="357225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71 Rectángulo redondeado"/>
          <p:cNvSpPr/>
          <p:nvPr/>
        </p:nvSpPr>
        <p:spPr>
          <a:xfrm>
            <a:off x="2051653" y="4217915"/>
            <a:ext cx="1624811" cy="5559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s-VE" sz="2800" b="1" dirty="0">
              <a:solidFill>
                <a:schemeClr val="bg1"/>
              </a:solidFill>
            </a:endParaRPr>
          </a:p>
        </p:txBody>
      </p:sp>
      <p:sp>
        <p:nvSpPr>
          <p:cNvPr id="40" name="73 Rectángulo redondeado"/>
          <p:cNvSpPr/>
          <p:nvPr/>
        </p:nvSpPr>
        <p:spPr>
          <a:xfrm>
            <a:off x="3744268" y="4220872"/>
            <a:ext cx="2300036" cy="555934"/>
          </a:xfrm>
          <a:prstGeom prst="round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400" b="1" dirty="0" smtClean="0">
                <a:solidFill>
                  <a:schemeClr val="bg1"/>
                </a:solidFill>
              </a:rPr>
              <a:t>Storage HW</a:t>
            </a:r>
            <a:endParaRPr lang="es-VE" sz="2400" b="1" dirty="0">
              <a:solidFill>
                <a:schemeClr val="bg1"/>
              </a:solidFill>
            </a:endParaRPr>
          </a:p>
        </p:txBody>
      </p:sp>
      <p:pic>
        <p:nvPicPr>
          <p:cNvPr id="41" name="Picture 14" descr="C:\Users\ecoffey\AppData\Local\Temp\Rar$DRa0.410\30025_Device_fibre_channel_disk_subsystem_unknown_64.png">
            <a:extLst>
              <a:ext uri="{FF2B5EF4-FFF2-40B4-BE49-F238E27FC236}">
                <a16:creationId xmlns:a16="http://schemas.microsoft.com/office/drawing/2014/main" id="{5514066B-C1E7-4990-8C62-7317781D3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3702" y="4256386"/>
            <a:ext cx="484906" cy="4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0" descr="C:\Users\ecoffey\AppData\Local\Temp\Rar$DRa0.823\30026_Device_fibre_channel_fabric_switch_unknown_64.png">
            <a:extLst>
              <a:ext uri="{FF2B5EF4-FFF2-40B4-BE49-F238E27FC236}">
                <a16:creationId xmlns:a16="http://schemas.microsoft.com/office/drawing/2014/main" id="{0B356334-FA55-413F-816B-1E2557E10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1827" y="4318452"/>
            <a:ext cx="360774" cy="36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4 Trapecio"/>
          <p:cNvSpPr/>
          <p:nvPr/>
        </p:nvSpPr>
        <p:spPr>
          <a:xfrm rot="5400000">
            <a:off x="5380444" y="3600291"/>
            <a:ext cx="2556656" cy="1074743"/>
          </a:xfrm>
          <a:prstGeom prst="trapezoid">
            <a:avLst>
              <a:gd name="adj" fmla="val 152362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44" name="85 Rectángulo redondeado"/>
          <p:cNvSpPr/>
          <p:nvPr/>
        </p:nvSpPr>
        <p:spPr>
          <a:xfrm>
            <a:off x="6846448" y="2892275"/>
            <a:ext cx="699393" cy="809528"/>
          </a:xfrm>
          <a:prstGeom prst="roundRect">
            <a:avLst/>
          </a:prstGeom>
          <a:solidFill>
            <a:srgbClr val="FF0066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b="1" dirty="0" err="1" smtClean="0">
                <a:solidFill>
                  <a:schemeClr val="bg1"/>
                </a:solidFill>
              </a:rPr>
              <a:t>Sec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45" name="86 Rectángulo redondeado"/>
          <p:cNvSpPr/>
          <p:nvPr/>
        </p:nvSpPr>
        <p:spPr>
          <a:xfrm>
            <a:off x="8342972" y="2892275"/>
            <a:ext cx="688812" cy="80391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b="1" dirty="0" err="1" smtClean="0">
                <a:solidFill>
                  <a:schemeClr val="bg1"/>
                </a:solidFill>
              </a:rPr>
              <a:t>Com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46" name="88 Rectángulo redondeado"/>
          <p:cNvSpPr/>
          <p:nvPr/>
        </p:nvSpPr>
        <p:spPr>
          <a:xfrm>
            <a:off x="9136230" y="2892275"/>
            <a:ext cx="678799" cy="790782"/>
          </a:xfrm>
          <a:prstGeom prst="round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b="1" dirty="0" err="1" smtClean="0">
                <a:solidFill>
                  <a:schemeClr val="bg1"/>
                </a:solidFill>
              </a:rPr>
              <a:t>Sto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47" name="89 Rectángulo redondeado"/>
          <p:cNvSpPr/>
          <p:nvPr/>
        </p:nvSpPr>
        <p:spPr>
          <a:xfrm>
            <a:off x="7590253" y="2892275"/>
            <a:ext cx="697115" cy="803097"/>
          </a:xfrm>
          <a:prstGeom prst="round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b="1" dirty="0" smtClean="0">
                <a:solidFill>
                  <a:schemeClr val="bg1"/>
                </a:solidFill>
              </a:rPr>
              <a:t>Net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48" name="1 Título"/>
          <p:cNvSpPr txBox="1">
            <a:spLocks/>
          </p:cNvSpPr>
          <p:nvPr/>
        </p:nvSpPr>
        <p:spPr>
          <a:xfrm>
            <a:off x="2006600" y="2142211"/>
            <a:ext cx="4066304" cy="66330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b="1" dirty="0" smtClean="0">
                <a:solidFill>
                  <a:schemeClr val="bg1"/>
                </a:solidFill>
              </a:rPr>
              <a:t>HDDC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49" name="1 Título"/>
          <p:cNvSpPr txBox="1">
            <a:spLocks/>
          </p:cNvSpPr>
          <p:nvPr/>
        </p:nvSpPr>
        <p:spPr>
          <a:xfrm>
            <a:off x="6870914" y="2142210"/>
            <a:ext cx="2944116" cy="663307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b="1" dirty="0" smtClean="0">
                <a:solidFill>
                  <a:schemeClr val="bg1"/>
                </a:solidFill>
              </a:rPr>
              <a:t>SDDC</a:t>
            </a:r>
            <a:endParaRPr lang="es-V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57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ángulo 44"/>
          <p:cNvSpPr/>
          <p:nvPr/>
        </p:nvSpPr>
        <p:spPr>
          <a:xfrm>
            <a:off x="1002047" y="2606133"/>
            <a:ext cx="5612509" cy="17505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ángulo 45"/>
          <p:cNvSpPr/>
          <p:nvPr/>
        </p:nvSpPr>
        <p:spPr>
          <a:xfrm>
            <a:off x="973447" y="4443575"/>
            <a:ext cx="5641110" cy="169596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Hardware Defined </a:t>
            </a:r>
            <a:r>
              <a:rPr lang="es-419" b="1" dirty="0" err="1" smtClean="0">
                <a:solidFill>
                  <a:schemeClr val="bg1"/>
                </a:solidFill>
              </a:rPr>
              <a:t>Anything</a:t>
            </a:r>
            <a:r>
              <a:rPr lang="es-419" b="1" dirty="0" smtClean="0">
                <a:solidFill>
                  <a:schemeClr val="bg1"/>
                </a:solidFill>
              </a:rPr>
              <a:t> (</a:t>
            </a:r>
            <a:r>
              <a:rPr lang="es-419" b="1" dirty="0" err="1" smtClean="0">
                <a:solidFill>
                  <a:schemeClr val="bg1"/>
                </a:solidFill>
              </a:rPr>
              <a:t>HDx</a:t>
            </a:r>
            <a:r>
              <a:rPr lang="es-419" b="1" dirty="0" smtClean="0">
                <a:solidFill>
                  <a:schemeClr val="bg1"/>
                </a:solidFill>
              </a:rPr>
              <a:t>)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5" name="61 Rectángulo redondeado"/>
          <p:cNvSpPr/>
          <p:nvPr/>
        </p:nvSpPr>
        <p:spPr>
          <a:xfrm>
            <a:off x="1780685" y="3130970"/>
            <a:ext cx="1624811" cy="55593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s-VE" sz="2800" b="1" dirty="0">
              <a:solidFill>
                <a:schemeClr val="bg1"/>
              </a:solidFill>
            </a:endParaRPr>
          </a:p>
        </p:txBody>
      </p:sp>
      <p:sp>
        <p:nvSpPr>
          <p:cNvPr id="36" name="62 Rectángulo redondeado"/>
          <p:cNvSpPr/>
          <p:nvPr/>
        </p:nvSpPr>
        <p:spPr>
          <a:xfrm>
            <a:off x="3473300" y="3133927"/>
            <a:ext cx="2300036" cy="55593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000" b="1" dirty="0" smtClean="0">
                <a:solidFill>
                  <a:schemeClr val="bg1"/>
                </a:solidFill>
              </a:rPr>
              <a:t>Compute HW</a:t>
            </a:r>
            <a:endParaRPr lang="es-VE" sz="2000" b="1" dirty="0">
              <a:solidFill>
                <a:schemeClr val="bg1"/>
              </a:solidFill>
            </a:endParaRPr>
          </a:p>
        </p:txBody>
      </p:sp>
      <p:pic>
        <p:nvPicPr>
          <p:cNvPr id="37" name="Picture 14" descr="C:\Users\ecoffey\AppData\Local\Temp\Rar$DRa0.796\30036_Device_ibm_tower_major_64.png">
            <a:extLst>
              <a:ext uri="{FF2B5EF4-FFF2-40B4-BE49-F238E27FC236}">
                <a16:creationId xmlns:a16="http://schemas.microsoft.com/office/drawing/2014/main" id="{FBA3AC8A-ADC1-4BCE-AF41-D91F9DC4F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06" y="3153306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14" descr="C:\Users\ecoffey\AppData\Local\Temp\Rar$DRa0.920\30034_Device_hub_major_64.png">
            <a:extLst>
              <a:ext uri="{FF2B5EF4-FFF2-40B4-BE49-F238E27FC236}">
                <a16:creationId xmlns:a16="http://schemas.microsoft.com/office/drawing/2014/main" id="{4D443D7B-8DC7-4CB8-B12C-11223D3492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360" y="3153307"/>
            <a:ext cx="487680" cy="48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71 Rectángulo redondeado"/>
          <p:cNvSpPr/>
          <p:nvPr/>
        </p:nvSpPr>
        <p:spPr>
          <a:xfrm>
            <a:off x="1712881" y="4878543"/>
            <a:ext cx="1624811" cy="55593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endParaRPr lang="es-VE" sz="2800" b="1" dirty="0">
              <a:solidFill>
                <a:schemeClr val="bg1"/>
              </a:solidFill>
            </a:endParaRPr>
          </a:p>
        </p:txBody>
      </p:sp>
      <p:sp>
        <p:nvSpPr>
          <p:cNvPr id="40" name="73 Rectángulo redondeado"/>
          <p:cNvSpPr/>
          <p:nvPr/>
        </p:nvSpPr>
        <p:spPr>
          <a:xfrm>
            <a:off x="3405496" y="4881500"/>
            <a:ext cx="2300036" cy="555934"/>
          </a:xfrm>
          <a:prstGeom prst="round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400" b="1" dirty="0" smtClean="0">
                <a:solidFill>
                  <a:schemeClr val="bg1"/>
                </a:solidFill>
              </a:rPr>
              <a:t>Storage HW</a:t>
            </a:r>
            <a:endParaRPr lang="es-VE" sz="2400" b="1" dirty="0">
              <a:solidFill>
                <a:schemeClr val="bg1"/>
              </a:solidFill>
            </a:endParaRPr>
          </a:p>
        </p:txBody>
      </p:sp>
      <p:pic>
        <p:nvPicPr>
          <p:cNvPr id="41" name="Picture 14" descr="C:\Users\ecoffey\AppData\Local\Temp\Rar$DRa0.410\30025_Device_fibre_channel_disk_subsystem_unknown_64.png">
            <a:extLst>
              <a:ext uri="{FF2B5EF4-FFF2-40B4-BE49-F238E27FC236}">
                <a16:creationId xmlns:a16="http://schemas.microsoft.com/office/drawing/2014/main" id="{5514066B-C1E7-4990-8C62-7317781D39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930" y="4917014"/>
            <a:ext cx="484906" cy="4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Picture 20" descr="C:\Users\ecoffey\AppData\Local\Temp\Rar$DRa0.823\30026_Device_fibre_channel_fabric_switch_unknown_64.png">
            <a:extLst>
              <a:ext uri="{FF2B5EF4-FFF2-40B4-BE49-F238E27FC236}">
                <a16:creationId xmlns:a16="http://schemas.microsoft.com/office/drawing/2014/main" id="{0B356334-FA55-413F-816B-1E2557E10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055" y="4979080"/>
            <a:ext cx="360774" cy="360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1 Título"/>
          <p:cNvSpPr txBox="1">
            <a:spLocks/>
          </p:cNvSpPr>
          <p:nvPr/>
        </p:nvSpPr>
        <p:spPr>
          <a:xfrm>
            <a:off x="1002046" y="1859038"/>
            <a:ext cx="5612509" cy="66330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b="1" dirty="0" smtClean="0">
                <a:solidFill>
                  <a:schemeClr val="bg1"/>
                </a:solidFill>
              </a:rPr>
              <a:t>HDDC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24" name="Imagen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6606" y="4901637"/>
            <a:ext cx="3289409" cy="579035"/>
          </a:xfrm>
          <a:prstGeom prst="rect">
            <a:avLst/>
          </a:prstGeom>
        </p:spPr>
      </p:pic>
      <p:pic>
        <p:nvPicPr>
          <p:cNvPr id="29" name="Imagen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6901" y="3515351"/>
            <a:ext cx="1583055" cy="771552"/>
          </a:xfrm>
          <a:prstGeom prst="rect">
            <a:avLst/>
          </a:prstGeom>
        </p:spPr>
      </p:pic>
      <p:pic>
        <p:nvPicPr>
          <p:cNvPr id="30" name="Imagen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966" y="3022368"/>
            <a:ext cx="1371974" cy="772552"/>
          </a:xfrm>
          <a:prstGeom prst="rect">
            <a:avLst/>
          </a:prstGeom>
        </p:spPr>
      </p:pic>
      <p:pic>
        <p:nvPicPr>
          <p:cNvPr id="43" name="Imagen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339" y="2717916"/>
            <a:ext cx="1154220" cy="573055"/>
          </a:xfrm>
          <a:prstGeom prst="rect">
            <a:avLst/>
          </a:prstGeom>
        </p:spPr>
      </p:pic>
      <p:pic>
        <p:nvPicPr>
          <p:cNvPr id="44" name="Imagen 4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432" y="2594193"/>
            <a:ext cx="1793329" cy="1793329"/>
          </a:xfrm>
          <a:prstGeom prst="rect">
            <a:avLst/>
          </a:prstGeom>
          <a:ln w="12700">
            <a:noFill/>
          </a:ln>
        </p:spPr>
      </p:pic>
      <p:sp>
        <p:nvSpPr>
          <p:cNvPr id="52" name="Redondear rectángulo de esquina diagonal 51"/>
          <p:cNvSpPr/>
          <p:nvPr/>
        </p:nvSpPr>
        <p:spPr>
          <a:xfrm>
            <a:off x="6819273" y="4423577"/>
            <a:ext cx="4603312" cy="1715966"/>
          </a:xfrm>
          <a:prstGeom prst="round2Diag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dondear rectángulo de esquina diagonal 52"/>
          <p:cNvSpPr/>
          <p:nvPr/>
        </p:nvSpPr>
        <p:spPr>
          <a:xfrm>
            <a:off x="6773839" y="2550661"/>
            <a:ext cx="4603312" cy="1715966"/>
          </a:xfrm>
          <a:prstGeom prst="round2Diag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1 Título"/>
          <p:cNvSpPr txBox="1">
            <a:spLocks/>
          </p:cNvSpPr>
          <p:nvPr/>
        </p:nvSpPr>
        <p:spPr>
          <a:xfrm>
            <a:off x="6773839" y="1852017"/>
            <a:ext cx="4579961" cy="663307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VE" b="1" dirty="0" err="1" smtClean="0">
                <a:solidFill>
                  <a:schemeClr val="bg1"/>
                </a:solidFill>
              </a:rPr>
              <a:t>Vendors</a:t>
            </a:r>
            <a:endParaRPr lang="es-V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12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err="1" smtClean="0">
                <a:solidFill>
                  <a:schemeClr val="bg1"/>
                </a:solidFill>
              </a:rPr>
              <a:t>Certified</a:t>
            </a:r>
            <a:r>
              <a:rPr lang="es-419" b="1" dirty="0" smtClean="0">
                <a:solidFill>
                  <a:schemeClr val="bg1"/>
                </a:solidFill>
              </a:rPr>
              <a:t> SAP S4/HANA Hardware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627" y="4756690"/>
            <a:ext cx="6277851" cy="1714739"/>
          </a:xfrm>
          <a:prstGeom prst="rect">
            <a:avLst/>
          </a:prstGeom>
        </p:spPr>
      </p:pic>
      <p:pic>
        <p:nvPicPr>
          <p:cNvPr id="43" name="Imagen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693" y="5355772"/>
            <a:ext cx="3384233" cy="595728"/>
          </a:xfrm>
          <a:prstGeom prst="rect">
            <a:avLst/>
          </a:prstGeom>
        </p:spPr>
      </p:pic>
      <p:pic>
        <p:nvPicPr>
          <p:cNvPr id="44" name="Imagen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255" y="2311744"/>
            <a:ext cx="2897984" cy="2897984"/>
          </a:xfrm>
          <a:prstGeom prst="rect">
            <a:avLst/>
          </a:prstGeom>
          <a:ln w="12700">
            <a:noFill/>
          </a:ln>
        </p:spPr>
      </p:pic>
      <p:pic>
        <p:nvPicPr>
          <p:cNvPr id="45" name="Imagen 4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693" y="1790330"/>
            <a:ext cx="2756065" cy="815287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4627" y="2630404"/>
            <a:ext cx="6218502" cy="2028285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4120738" y="2028697"/>
            <a:ext cx="92083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https://www.sap.com/dmc/exp/2014-09-02-hana-hardware/enEN/appliances.html#</a:t>
            </a:r>
          </a:p>
        </p:txBody>
      </p:sp>
    </p:spTree>
    <p:extLst>
      <p:ext uri="{BB962C8B-B14F-4D97-AF65-F5344CB8AC3E}">
        <p14:creationId xmlns:p14="http://schemas.microsoft.com/office/powerpoint/2010/main" val="359074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Imagen 9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19" y="4303998"/>
            <a:ext cx="1647095" cy="828097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Hardware </a:t>
            </a:r>
            <a:r>
              <a:rPr lang="es-419" b="1" dirty="0" err="1" smtClean="0">
                <a:solidFill>
                  <a:schemeClr val="bg1"/>
                </a:solidFill>
              </a:rPr>
              <a:t>Architecture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639" y="3668784"/>
            <a:ext cx="1820288" cy="36517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412" y="4597785"/>
            <a:ext cx="1928743" cy="268705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5072" y="5476322"/>
            <a:ext cx="2453517" cy="678453"/>
          </a:xfrm>
          <a:prstGeom prst="rect">
            <a:avLst/>
          </a:pr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562" y="4596082"/>
            <a:ext cx="1928743" cy="268705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562" y="3680794"/>
            <a:ext cx="1820288" cy="365177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3188" y="2241172"/>
            <a:ext cx="1677189" cy="945750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1196" y="2256109"/>
            <a:ext cx="1677189" cy="945750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2297" y="3240999"/>
            <a:ext cx="398899" cy="381938"/>
          </a:xfrm>
          <a:prstGeom prst="rect">
            <a:avLst/>
          </a:prstGeom>
        </p:spPr>
      </p:pic>
      <p:pic>
        <p:nvPicPr>
          <p:cNvPr id="47" name="Imagen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2382" y="4113029"/>
            <a:ext cx="398899" cy="381938"/>
          </a:xfrm>
          <a:prstGeom prst="rect">
            <a:avLst/>
          </a:prstGeom>
        </p:spPr>
      </p:pic>
      <p:pic>
        <p:nvPicPr>
          <p:cNvPr id="49" name="Imagen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2382" y="4943236"/>
            <a:ext cx="398899" cy="381938"/>
          </a:xfrm>
          <a:prstGeom prst="rect">
            <a:avLst/>
          </a:prstGeom>
        </p:spPr>
      </p:pic>
      <p:cxnSp>
        <p:nvCxnSpPr>
          <p:cNvPr id="15" name="Conector recto 14"/>
          <p:cNvCxnSpPr>
            <a:stCxn id="12" idx="2"/>
            <a:endCxn id="13" idx="1"/>
          </p:cNvCxnSpPr>
          <p:nvPr/>
        </p:nvCxnSpPr>
        <p:spPr>
          <a:xfrm>
            <a:off x="5621783" y="3186922"/>
            <a:ext cx="780514" cy="245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49"/>
          <p:cNvCxnSpPr>
            <a:stCxn id="13" idx="3"/>
            <a:endCxn id="34" idx="2"/>
          </p:cNvCxnSpPr>
          <p:nvPr/>
        </p:nvCxnSpPr>
        <p:spPr>
          <a:xfrm flipV="1">
            <a:off x="6801196" y="3201859"/>
            <a:ext cx="838595" cy="2301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50"/>
          <p:cNvCxnSpPr>
            <a:stCxn id="47" idx="3"/>
            <a:endCxn id="32" idx="2"/>
          </p:cNvCxnSpPr>
          <p:nvPr/>
        </p:nvCxnSpPr>
        <p:spPr>
          <a:xfrm flipV="1">
            <a:off x="6821281" y="4045971"/>
            <a:ext cx="798425" cy="25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/>
          <p:cNvCxnSpPr>
            <a:stCxn id="47" idx="1"/>
            <a:endCxn id="4" idx="2"/>
          </p:cNvCxnSpPr>
          <p:nvPr/>
        </p:nvCxnSpPr>
        <p:spPr>
          <a:xfrm flipH="1" flipV="1">
            <a:off x="5621783" y="4033961"/>
            <a:ext cx="800599" cy="270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cto 54"/>
          <p:cNvCxnSpPr>
            <a:stCxn id="49" idx="1"/>
            <a:endCxn id="5" idx="2"/>
          </p:cNvCxnSpPr>
          <p:nvPr/>
        </p:nvCxnSpPr>
        <p:spPr>
          <a:xfrm flipH="1" flipV="1">
            <a:off x="5621784" y="4866490"/>
            <a:ext cx="800598" cy="2677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/>
          <p:cNvCxnSpPr>
            <a:stCxn id="31" idx="2"/>
            <a:endCxn id="49" idx="3"/>
          </p:cNvCxnSpPr>
          <p:nvPr/>
        </p:nvCxnSpPr>
        <p:spPr>
          <a:xfrm flipH="1">
            <a:off x="6821281" y="4864787"/>
            <a:ext cx="852653" cy="26941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cto 56"/>
          <p:cNvCxnSpPr>
            <a:stCxn id="49" idx="2"/>
            <a:endCxn id="11" idx="0"/>
          </p:cNvCxnSpPr>
          <p:nvPr/>
        </p:nvCxnSpPr>
        <p:spPr>
          <a:xfrm flipH="1">
            <a:off x="6621831" y="5325174"/>
            <a:ext cx="1" cy="1511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60"/>
          <p:cNvCxnSpPr>
            <a:stCxn id="31" idx="0"/>
            <a:endCxn id="47" idx="3"/>
          </p:cNvCxnSpPr>
          <p:nvPr/>
        </p:nvCxnSpPr>
        <p:spPr>
          <a:xfrm flipH="1" flipV="1">
            <a:off x="6821281" y="4303998"/>
            <a:ext cx="852653" cy="29208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63"/>
          <p:cNvCxnSpPr>
            <a:stCxn id="47" idx="1"/>
            <a:endCxn id="5" idx="0"/>
          </p:cNvCxnSpPr>
          <p:nvPr/>
        </p:nvCxnSpPr>
        <p:spPr>
          <a:xfrm flipH="1">
            <a:off x="5621784" y="4303998"/>
            <a:ext cx="800598" cy="2937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cto 66"/>
          <p:cNvCxnSpPr>
            <a:stCxn id="32" idx="0"/>
            <a:endCxn id="13" idx="3"/>
          </p:cNvCxnSpPr>
          <p:nvPr/>
        </p:nvCxnSpPr>
        <p:spPr>
          <a:xfrm flipH="1" flipV="1">
            <a:off x="6801196" y="3431968"/>
            <a:ext cx="818510" cy="2488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/>
          <p:cNvCxnSpPr>
            <a:stCxn id="4" idx="0"/>
            <a:endCxn id="13" idx="1"/>
          </p:cNvCxnSpPr>
          <p:nvPr/>
        </p:nvCxnSpPr>
        <p:spPr>
          <a:xfrm flipV="1">
            <a:off x="5621783" y="3431968"/>
            <a:ext cx="780514" cy="236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3 Rectángulo redondeado"/>
          <p:cNvSpPr/>
          <p:nvPr/>
        </p:nvSpPr>
        <p:spPr>
          <a:xfrm>
            <a:off x="8818882" y="3288498"/>
            <a:ext cx="2300036" cy="1017343"/>
          </a:xfrm>
          <a:prstGeom prst="roundRect">
            <a:avLst/>
          </a:prstGeom>
          <a:solidFill>
            <a:srgbClr val="00B05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400" b="1" dirty="0" smtClean="0">
                <a:solidFill>
                  <a:schemeClr val="bg1"/>
                </a:solidFill>
              </a:rPr>
              <a:t>Network HW</a:t>
            </a:r>
            <a:endParaRPr lang="es-VE" sz="2400" b="1" dirty="0">
              <a:solidFill>
                <a:schemeClr val="bg1"/>
              </a:solidFill>
            </a:endParaRPr>
          </a:p>
        </p:txBody>
      </p:sp>
      <p:sp>
        <p:nvSpPr>
          <p:cNvPr id="77" name="62 Rectángulo redondeado"/>
          <p:cNvSpPr/>
          <p:nvPr/>
        </p:nvSpPr>
        <p:spPr>
          <a:xfrm>
            <a:off x="8808988" y="1824874"/>
            <a:ext cx="2300036" cy="1416124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000" b="1" dirty="0" smtClean="0">
                <a:solidFill>
                  <a:schemeClr val="bg1"/>
                </a:solidFill>
              </a:rPr>
              <a:t>Compute HW</a:t>
            </a:r>
            <a:endParaRPr lang="es-VE" sz="2000" b="1" dirty="0">
              <a:solidFill>
                <a:schemeClr val="bg1"/>
              </a:solidFill>
            </a:endParaRPr>
          </a:p>
        </p:txBody>
      </p:sp>
      <p:sp>
        <p:nvSpPr>
          <p:cNvPr id="78" name="73 Rectángulo redondeado"/>
          <p:cNvSpPr/>
          <p:nvPr/>
        </p:nvSpPr>
        <p:spPr>
          <a:xfrm>
            <a:off x="8815814" y="4350211"/>
            <a:ext cx="2309930" cy="2101074"/>
          </a:xfrm>
          <a:prstGeom prst="round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VE" sz="2400" b="1" dirty="0" smtClean="0">
                <a:solidFill>
                  <a:schemeClr val="bg1"/>
                </a:solidFill>
              </a:rPr>
              <a:t>Storage HW</a:t>
            </a:r>
            <a:endParaRPr lang="es-VE" sz="2400" b="1" dirty="0">
              <a:solidFill>
                <a:schemeClr val="bg1"/>
              </a:solidFill>
            </a:endParaRPr>
          </a:p>
        </p:txBody>
      </p:sp>
      <p:sp>
        <p:nvSpPr>
          <p:cNvPr id="80" name="Rectángulo 79"/>
          <p:cNvSpPr/>
          <p:nvPr/>
        </p:nvSpPr>
        <p:spPr>
          <a:xfrm>
            <a:off x="3147976" y="2419030"/>
            <a:ext cx="14171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UCS </a:t>
            </a:r>
            <a:r>
              <a:rPr lang="es-VE" sz="1400" b="1" dirty="0" err="1"/>
              <a:t>Chassis</a:t>
            </a:r>
            <a:endParaRPr lang="es-VE" sz="1400" b="1" dirty="0"/>
          </a:p>
          <a:p>
            <a:pPr algn="ctr"/>
            <a:r>
              <a:rPr lang="es-VE" sz="1400" b="1" dirty="0"/>
              <a:t>5108</a:t>
            </a:r>
            <a:endParaRPr lang="en-US" sz="1100" dirty="0"/>
          </a:p>
        </p:txBody>
      </p:sp>
      <p:sp>
        <p:nvSpPr>
          <p:cNvPr id="81" name="Rectángulo 80"/>
          <p:cNvSpPr/>
          <p:nvPr/>
        </p:nvSpPr>
        <p:spPr>
          <a:xfrm>
            <a:off x="3105004" y="3437600"/>
            <a:ext cx="153587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UCS </a:t>
            </a:r>
            <a:r>
              <a:rPr lang="es-VE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Fabric InterConnect</a:t>
            </a:r>
            <a: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/>
            </a:r>
            <a:br>
              <a:rPr lang="en-US" sz="1400" b="1" dirty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s-VE" sz="1400" b="1" dirty="0">
                <a:solidFill>
                  <a:srgbClr val="000000"/>
                </a:solidFill>
                <a:latin typeface="Calibri" panose="020F0502020204030204" pitchFamily="34" charset="0"/>
              </a:rPr>
              <a:t>6296UP</a:t>
            </a:r>
            <a:endParaRPr lang="en-US" sz="1400" dirty="0"/>
          </a:p>
        </p:txBody>
      </p:sp>
      <p:sp>
        <p:nvSpPr>
          <p:cNvPr id="83" name="Rectángulo 82"/>
          <p:cNvSpPr/>
          <p:nvPr/>
        </p:nvSpPr>
        <p:spPr>
          <a:xfrm>
            <a:off x="3179566" y="4407268"/>
            <a:ext cx="14641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Calibri" panose="020F0502020204030204" pitchFamily="34" charset="0"/>
              </a:rPr>
              <a:t>FC SAN Switch</a:t>
            </a:r>
            <a:endParaRPr lang="es-VE" sz="12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s-VE" sz="1200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MCData</a:t>
            </a:r>
            <a:r>
              <a:rPr lang="es-VE" sz="12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 / </a:t>
            </a:r>
            <a:r>
              <a:rPr lang="es-VE" sz="1200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Brocade</a:t>
            </a:r>
            <a:r>
              <a:rPr lang="es-VE" sz="12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/>
            </a:r>
            <a:br>
              <a:rPr lang="es-VE" sz="1200" b="1" dirty="0" smtClean="0">
                <a:solidFill>
                  <a:srgbClr val="000000"/>
                </a:solidFill>
                <a:latin typeface="Calibri" panose="020F0502020204030204" pitchFamily="34" charset="0"/>
              </a:rPr>
            </a:br>
            <a:r>
              <a:rPr lang="es-VE" sz="1200" b="1" dirty="0" smtClean="0">
                <a:solidFill>
                  <a:srgbClr val="000000"/>
                </a:solidFill>
                <a:latin typeface="Calibri" panose="020F0502020204030204" pitchFamily="34" charset="0"/>
              </a:rPr>
              <a:t>/ Cisco / EMC</a:t>
            </a:r>
            <a:endParaRPr lang="en-US" sz="1200" dirty="0"/>
          </a:p>
        </p:txBody>
      </p:sp>
      <p:sp>
        <p:nvSpPr>
          <p:cNvPr id="85" name="Rectángulo 84"/>
          <p:cNvSpPr/>
          <p:nvPr/>
        </p:nvSpPr>
        <p:spPr>
          <a:xfrm>
            <a:off x="3202775" y="5584715"/>
            <a:ext cx="146413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419" sz="1200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PureStorage</a:t>
            </a:r>
            <a:endParaRPr lang="es-419" sz="1200" b="1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ctr"/>
            <a:r>
              <a:rPr lang="es-419" sz="1200" b="1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FlashArray</a:t>
            </a:r>
            <a:endParaRPr lang="en-US" sz="1200" dirty="0"/>
          </a:p>
        </p:txBody>
      </p:sp>
      <p:pic>
        <p:nvPicPr>
          <p:cNvPr id="86" name="Imagen 8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260" y="5704640"/>
            <a:ext cx="1529923" cy="269313"/>
          </a:xfrm>
          <a:prstGeom prst="rect">
            <a:avLst/>
          </a:prstGeom>
        </p:spPr>
      </p:pic>
      <p:pic>
        <p:nvPicPr>
          <p:cNvPr id="87" name="Imagen 8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6576" y="2243937"/>
            <a:ext cx="1436857" cy="1436857"/>
          </a:xfrm>
          <a:prstGeom prst="rect">
            <a:avLst/>
          </a:prstGeom>
          <a:ln w="12700">
            <a:noFill/>
          </a:ln>
        </p:spPr>
      </p:pic>
      <p:sp>
        <p:nvSpPr>
          <p:cNvPr id="88" name="Abrir llave 87"/>
          <p:cNvSpPr/>
          <p:nvPr/>
        </p:nvSpPr>
        <p:spPr>
          <a:xfrm>
            <a:off x="2660076" y="1771471"/>
            <a:ext cx="519490" cy="2341558"/>
          </a:xfrm>
          <a:prstGeom prst="leftBrace">
            <a:avLst>
              <a:gd name="adj1" fmla="val 65482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Abrir llave 88"/>
          <p:cNvSpPr/>
          <p:nvPr/>
        </p:nvSpPr>
        <p:spPr>
          <a:xfrm>
            <a:off x="2646366" y="4258342"/>
            <a:ext cx="519490" cy="924629"/>
          </a:xfrm>
          <a:prstGeom prst="leftBrace">
            <a:avLst>
              <a:gd name="adj1" fmla="val 65482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brir llave 89"/>
          <p:cNvSpPr/>
          <p:nvPr/>
        </p:nvSpPr>
        <p:spPr>
          <a:xfrm>
            <a:off x="2660076" y="5365209"/>
            <a:ext cx="519490" cy="924629"/>
          </a:xfrm>
          <a:prstGeom prst="leftBrace">
            <a:avLst>
              <a:gd name="adj1" fmla="val 65482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" name="Imagen 9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750" y="1690688"/>
            <a:ext cx="1062583" cy="684588"/>
          </a:xfrm>
          <a:prstGeom prst="rect">
            <a:avLst/>
          </a:prstGeom>
        </p:spPr>
      </p:pic>
      <p:pic>
        <p:nvPicPr>
          <p:cNvPr id="93" name="Imagen 92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3985" y="1705998"/>
            <a:ext cx="1062583" cy="665861"/>
          </a:xfrm>
          <a:prstGeom prst="rect">
            <a:avLst/>
          </a:prstGeom>
        </p:spPr>
      </p:pic>
      <p:sp>
        <p:nvSpPr>
          <p:cNvPr id="94" name="Rectángulo 93"/>
          <p:cNvSpPr/>
          <p:nvPr/>
        </p:nvSpPr>
        <p:spPr>
          <a:xfrm>
            <a:off x="3226560" y="1844401"/>
            <a:ext cx="141712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UCS </a:t>
            </a:r>
            <a:r>
              <a:rPr lang="es-VE" sz="1400" b="1" dirty="0" err="1" smtClean="0"/>
              <a:t>Blade</a:t>
            </a:r>
            <a:endParaRPr lang="es-VE" sz="1400" b="1" dirty="0" smtClean="0"/>
          </a:p>
          <a:p>
            <a:pPr algn="ctr"/>
            <a:r>
              <a:rPr lang="es-VE" sz="1400" b="1" dirty="0" smtClean="0"/>
              <a:t>M5/M4 Series</a:t>
            </a:r>
            <a:endParaRPr lang="en-US" sz="1100" dirty="0"/>
          </a:p>
        </p:txBody>
      </p:sp>
      <p:sp>
        <p:nvSpPr>
          <p:cNvPr id="95" name="CuadroTexto 94"/>
          <p:cNvSpPr txBox="1"/>
          <p:nvPr/>
        </p:nvSpPr>
        <p:spPr>
          <a:xfrm>
            <a:off x="5873834" y="1872941"/>
            <a:ext cx="548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 smtClean="0"/>
              <a:t>x8/x4</a:t>
            </a:r>
            <a:endParaRPr lang="en-US" sz="1200" b="1" dirty="0"/>
          </a:p>
        </p:txBody>
      </p:sp>
      <p:sp>
        <p:nvSpPr>
          <p:cNvPr id="96" name="CuadroTexto 95"/>
          <p:cNvSpPr txBox="1"/>
          <p:nvPr/>
        </p:nvSpPr>
        <p:spPr>
          <a:xfrm>
            <a:off x="7876496" y="1915711"/>
            <a:ext cx="548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 smtClean="0"/>
              <a:t>x8/x4</a:t>
            </a:r>
            <a:endParaRPr lang="en-US" sz="1200" b="1" dirty="0"/>
          </a:p>
        </p:txBody>
      </p:sp>
      <p:sp>
        <p:nvSpPr>
          <p:cNvPr id="42" name="Redondear rectángulo de esquina diagonal 41"/>
          <p:cNvSpPr/>
          <p:nvPr/>
        </p:nvSpPr>
        <p:spPr>
          <a:xfrm>
            <a:off x="4612093" y="1809143"/>
            <a:ext cx="4092002" cy="4590360"/>
          </a:xfrm>
          <a:prstGeom prst="round2Diag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2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ángulo 33"/>
          <p:cNvSpPr/>
          <p:nvPr/>
        </p:nvSpPr>
        <p:spPr>
          <a:xfrm>
            <a:off x="5927849" y="4282182"/>
            <a:ext cx="5419931" cy="229686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ángulo 65"/>
          <p:cNvSpPr/>
          <p:nvPr/>
        </p:nvSpPr>
        <p:spPr>
          <a:xfrm>
            <a:off x="845747" y="1888176"/>
            <a:ext cx="4771573" cy="47976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ángulo 67"/>
          <p:cNvSpPr/>
          <p:nvPr/>
        </p:nvSpPr>
        <p:spPr>
          <a:xfrm>
            <a:off x="5933869" y="1888178"/>
            <a:ext cx="5419931" cy="229686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Conector recto 68"/>
          <p:cNvCxnSpPr/>
          <p:nvPr/>
        </p:nvCxnSpPr>
        <p:spPr>
          <a:xfrm flipH="1">
            <a:off x="5795974" y="1946831"/>
            <a:ext cx="23751" cy="4680320"/>
          </a:xfrm>
          <a:prstGeom prst="line">
            <a:avLst/>
          </a:prstGeom>
          <a:ln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err="1" smtClean="0">
                <a:solidFill>
                  <a:schemeClr val="bg1"/>
                </a:solidFill>
              </a:rPr>
              <a:t>Bare</a:t>
            </a:r>
            <a:r>
              <a:rPr lang="es-419" b="1" dirty="0" smtClean="0">
                <a:solidFill>
                  <a:schemeClr val="bg1"/>
                </a:solidFill>
              </a:rPr>
              <a:t> Metal </a:t>
            </a:r>
            <a:r>
              <a:rPr lang="es-419" b="1" dirty="0" err="1" smtClean="0">
                <a:solidFill>
                  <a:schemeClr val="bg1"/>
                </a:solidFill>
              </a:rPr>
              <a:t>Disaster</a:t>
            </a:r>
            <a:r>
              <a:rPr lang="es-419" b="1" dirty="0" smtClean="0">
                <a:solidFill>
                  <a:schemeClr val="bg1"/>
                </a:solidFill>
              </a:rPr>
              <a:t> Recovery</a:t>
            </a:r>
            <a:endParaRPr lang="es-VE" b="1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847" y="3791322"/>
            <a:ext cx="2453517" cy="678453"/>
          </a:xfrm>
          <a:prstGeom prst="rect">
            <a:avLst/>
          </a:prstGeom>
        </p:spPr>
      </p:pic>
      <p:pic>
        <p:nvPicPr>
          <p:cNvPr id="42" name="Imagen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377" y="2542434"/>
            <a:ext cx="2453517" cy="678453"/>
          </a:xfrm>
          <a:prstGeom prst="rect">
            <a:avLst/>
          </a:prstGeom>
        </p:spPr>
      </p:pic>
      <p:pic>
        <p:nvPicPr>
          <p:cNvPr id="44" name="Imagen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377" y="4972578"/>
            <a:ext cx="2453517" cy="678453"/>
          </a:xfrm>
          <a:prstGeom prst="rect">
            <a:avLst/>
          </a:prstGeom>
        </p:spPr>
      </p:pic>
      <p:cxnSp>
        <p:nvCxnSpPr>
          <p:cNvPr id="10" name="Conector recto 9"/>
          <p:cNvCxnSpPr>
            <a:stCxn id="52" idx="1"/>
            <a:endCxn id="11" idx="3"/>
          </p:cNvCxnSpPr>
          <p:nvPr/>
        </p:nvCxnSpPr>
        <p:spPr>
          <a:xfrm flipH="1">
            <a:off x="4593364" y="4126136"/>
            <a:ext cx="1008601" cy="44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lecha derecha 57"/>
          <p:cNvSpPr/>
          <p:nvPr/>
        </p:nvSpPr>
        <p:spPr>
          <a:xfrm>
            <a:off x="4819975" y="3640603"/>
            <a:ext cx="517469" cy="43970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lecha derecha 58"/>
          <p:cNvSpPr/>
          <p:nvPr/>
        </p:nvSpPr>
        <p:spPr>
          <a:xfrm rot="3104833">
            <a:off x="6233033" y="4446914"/>
            <a:ext cx="517469" cy="43970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echa derecha 59"/>
          <p:cNvSpPr/>
          <p:nvPr/>
        </p:nvSpPr>
        <p:spPr>
          <a:xfrm rot="19574313">
            <a:off x="6084218" y="2862623"/>
            <a:ext cx="517469" cy="43970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adroTexto 13"/>
          <p:cNvSpPr txBox="1"/>
          <p:nvPr/>
        </p:nvSpPr>
        <p:spPr>
          <a:xfrm>
            <a:off x="3103552" y="2697755"/>
            <a:ext cx="5261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400" b="1" dirty="0" smtClean="0"/>
              <a:t>A</a:t>
            </a:r>
            <a:endParaRPr lang="en-US" sz="4400" b="1" dirty="0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513" y="2157977"/>
            <a:ext cx="1251064" cy="1251064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8020" y="4447852"/>
            <a:ext cx="817698" cy="430654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281309" y="4606417"/>
            <a:ext cx="2254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 smtClean="0"/>
              <a:t>On-Premise</a:t>
            </a:r>
            <a:endParaRPr lang="en-US" sz="3200" b="1" dirty="0"/>
          </a:p>
        </p:txBody>
      </p:sp>
      <p:sp>
        <p:nvSpPr>
          <p:cNvPr id="27" name="CuadroTexto 26"/>
          <p:cNvSpPr txBox="1"/>
          <p:nvPr/>
        </p:nvSpPr>
        <p:spPr>
          <a:xfrm>
            <a:off x="6893900" y="5864588"/>
            <a:ext cx="2254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 smtClean="0"/>
              <a:t>Off-Premise</a:t>
            </a:r>
            <a:endParaRPr lang="en-US" sz="3200" b="1" dirty="0"/>
          </a:p>
        </p:txBody>
      </p:sp>
      <p:cxnSp>
        <p:nvCxnSpPr>
          <p:cNvPr id="5" name="Conector curvado 4"/>
          <p:cNvCxnSpPr>
            <a:stCxn id="42" idx="2"/>
            <a:endCxn id="48" idx="3"/>
          </p:cNvCxnSpPr>
          <p:nvPr/>
        </p:nvCxnSpPr>
        <p:spPr>
          <a:xfrm rot="5400000">
            <a:off x="6776542" y="2814703"/>
            <a:ext cx="838410" cy="1650778"/>
          </a:xfrm>
          <a:prstGeom prst="curved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lecha derecha 29"/>
          <p:cNvSpPr/>
          <p:nvPr/>
        </p:nvSpPr>
        <p:spPr>
          <a:xfrm rot="9230598">
            <a:off x="6909109" y="3437552"/>
            <a:ext cx="517469" cy="43970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ector curvado 8"/>
          <p:cNvCxnSpPr>
            <a:endCxn id="52" idx="0"/>
          </p:cNvCxnSpPr>
          <p:nvPr/>
        </p:nvCxnSpPr>
        <p:spPr>
          <a:xfrm rot="5400000">
            <a:off x="5815146" y="2977627"/>
            <a:ext cx="1075200" cy="883265"/>
          </a:xfrm>
          <a:prstGeom prst="curvedConnector3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curvado 14"/>
          <p:cNvCxnSpPr>
            <a:stCxn id="52" idx="2"/>
            <a:endCxn id="44" idx="1"/>
          </p:cNvCxnSpPr>
          <p:nvPr/>
        </p:nvCxnSpPr>
        <p:spPr>
          <a:xfrm rot="16200000" flipH="1">
            <a:off x="5844549" y="4361977"/>
            <a:ext cx="1016392" cy="883264"/>
          </a:xfrm>
          <a:prstGeom prst="curvedConnector2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Grupo 45">
            <a:extLst>
              <a:ext uri="{FF2B5EF4-FFF2-40B4-BE49-F238E27FC236}">
                <a16:creationId xmlns:a16="http://schemas.microsoft.com/office/drawing/2014/main" id="{DFB67596-C2DC-45C2-94A6-C0456576D323}"/>
              </a:ext>
            </a:extLst>
          </p:cNvPr>
          <p:cNvGrpSpPr/>
          <p:nvPr/>
        </p:nvGrpSpPr>
        <p:grpSpPr>
          <a:xfrm>
            <a:off x="5419661" y="3550946"/>
            <a:ext cx="950697" cy="1016701"/>
            <a:chOff x="3978704" y="3432031"/>
            <a:chExt cx="1110624" cy="1110624"/>
          </a:xfrm>
        </p:grpSpPr>
        <p:pic>
          <p:nvPicPr>
            <p:cNvPr id="48" name="Picture 4" descr="C:\Users\ecoffey\AppData\Local\Temp\Rar$DRa0.400\30009_Device_cloud_white_default_256.png">
              <a:extLst>
                <a:ext uri="{FF2B5EF4-FFF2-40B4-BE49-F238E27FC236}">
                  <a16:creationId xmlns:a16="http://schemas.microsoft.com/office/drawing/2014/main" id="{20374F60-E575-4095-BA9C-34C442DA98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8704" y="3432031"/>
              <a:ext cx="1110624" cy="111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480F4115-8323-4951-9FC6-FA7F8A633055}"/>
                </a:ext>
              </a:extLst>
            </p:cNvPr>
            <p:cNvSpPr txBox="1"/>
            <p:nvPr/>
          </p:nvSpPr>
          <p:spPr>
            <a:xfrm>
              <a:off x="4191675" y="3875442"/>
              <a:ext cx="722306" cy="3698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b="1" dirty="0" smtClean="0"/>
                <a:t>WAN</a:t>
              </a:r>
              <a:endParaRPr lang="es-ES" b="1" dirty="0"/>
            </a:p>
          </p:txBody>
        </p:sp>
      </p:grpSp>
      <p:sp>
        <p:nvSpPr>
          <p:cNvPr id="37" name="CuadroTexto 36"/>
          <p:cNvSpPr txBox="1"/>
          <p:nvPr/>
        </p:nvSpPr>
        <p:spPr>
          <a:xfrm>
            <a:off x="2433348" y="6251926"/>
            <a:ext cx="1814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1600" i="1" dirty="0" smtClean="0"/>
              <a:t>WAN </a:t>
            </a:r>
            <a:r>
              <a:rPr lang="es-419" sz="1600" i="1" dirty="0" err="1" smtClean="0"/>
              <a:t>or</a:t>
            </a:r>
            <a:r>
              <a:rPr lang="es-419" sz="1600" i="1" dirty="0" smtClean="0"/>
              <a:t> Internet</a:t>
            </a:r>
            <a:endParaRPr lang="en-US" sz="1600" i="1" dirty="0"/>
          </a:p>
        </p:txBody>
      </p:sp>
      <p:sp>
        <p:nvSpPr>
          <p:cNvPr id="38" name="CuadroTexto 37"/>
          <p:cNvSpPr txBox="1"/>
          <p:nvPr/>
        </p:nvSpPr>
        <p:spPr>
          <a:xfrm>
            <a:off x="7936764" y="3541361"/>
            <a:ext cx="2254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3200" b="1" dirty="0" smtClean="0"/>
              <a:t>Off-Premise</a:t>
            </a:r>
            <a:endParaRPr lang="en-US" sz="3200" b="1" dirty="0"/>
          </a:p>
        </p:txBody>
      </p:sp>
      <p:sp>
        <p:nvSpPr>
          <p:cNvPr id="33" name="CuadroTexto 32"/>
          <p:cNvSpPr txBox="1"/>
          <p:nvPr/>
        </p:nvSpPr>
        <p:spPr>
          <a:xfrm>
            <a:off x="9858173" y="2157713"/>
            <a:ext cx="5004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400" b="1" dirty="0" smtClean="0"/>
              <a:t>B</a:t>
            </a:r>
            <a:endParaRPr lang="en-US" sz="4400" b="1" dirty="0"/>
          </a:p>
        </p:txBody>
      </p:sp>
      <p:sp>
        <p:nvSpPr>
          <p:cNvPr id="35" name="CuadroTexto 34"/>
          <p:cNvSpPr txBox="1"/>
          <p:nvPr/>
        </p:nvSpPr>
        <p:spPr>
          <a:xfrm>
            <a:off x="9883343" y="4564384"/>
            <a:ext cx="5004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400" b="1" dirty="0" smtClean="0"/>
              <a:t>C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406031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Agenda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419" sz="3200" dirty="0" smtClean="0">
                <a:solidFill>
                  <a:schemeClr val="bg2">
                    <a:lumMod val="90000"/>
                  </a:schemeClr>
                </a:solidFill>
              </a:rPr>
              <a:t>Portafolio &amp; services</a:t>
            </a:r>
          </a:p>
          <a:p>
            <a:pPr marL="514350" indent="-514350">
              <a:buFont typeface="+mj-lt"/>
              <a:buAutoNum type="arabicPeriod"/>
            </a:pPr>
            <a:r>
              <a:rPr lang="es-419" sz="4000" b="1" dirty="0" err="1" smtClean="0"/>
              <a:t>Architecture</a:t>
            </a:r>
            <a:r>
              <a:rPr lang="es-419" sz="4000" b="1" dirty="0" smtClean="0"/>
              <a:t> </a:t>
            </a:r>
            <a:r>
              <a:rPr lang="es-419" sz="4000" b="1" dirty="0" err="1" smtClean="0"/>
              <a:t>Integration</a:t>
            </a:r>
            <a:endParaRPr lang="es-419" sz="4000" b="1" dirty="0" smtClean="0"/>
          </a:p>
          <a:p>
            <a:pPr marL="514350" indent="-514350">
              <a:buFont typeface="+mj-lt"/>
              <a:buAutoNum type="arabicPeriod"/>
            </a:pPr>
            <a:r>
              <a:rPr lang="es-419" sz="3200" dirty="0" err="1" smtClean="0">
                <a:solidFill>
                  <a:schemeClr val="bg2">
                    <a:lumMod val="90000"/>
                  </a:schemeClr>
                </a:solidFill>
              </a:rPr>
              <a:t>Solutions</a:t>
            </a:r>
            <a:r>
              <a:rPr lang="es-419" sz="3200" dirty="0" smtClean="0">
                <a:solidFill>
                  <a:schemeClr val="bg2">
                    <a:lumMod val="90000"/>
                  </a:schemeClr>
                </a:solidFill>
              </a:rPr>
              <a:t> Delivery </a:t>
            </a:r>
            <a:r>
              <a:rPr lang="es-419" sz="3200" dirty="0" err="1" smtClean="0">
                <a:solidFill>
                  <a:schemeClr val="bg2">
                    <a:lumMod val="90000"/>
                  </a:schemeClr>
                </a:solidFill>
              </a:rPr>
              <a:t>Approach</a:t>
            </a:r>
            <a:endParaRPr lang="es-419" sz="3200" dirty="0" smtClean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987404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ángulo 67"/>
          <p:cNvSpPr/>
          <p:nvPr/>
        </p:nvSpPr>
        <p:spPr>
          <a:xfrm>
            <a:off x="985652" y="1425752"/>
            <a:ext cx="10219754" cy="51669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D72434E-5EC9-4811-9A7B-AECD5075E95D}"/>
              </a:ext>
            </a:extLst>
          </p:cNvPr>
          <p:cNvCxnSpPr/>
          <p:nvPr/>
        </p:nvCxnSpPr>
        <p:spPr>
          <a:xfrm flipV="1">
            <a:off x="6784769" y="4697187"/>
            <a:ext cx="4152366" cy="38531"/>
          </a:xfrm>
          <a:prstGeom prst="line">
            <a:avLst/>
          </a:prstGeom>
          <a:ln w="28575">
            <a:solidFill>
              <a:srgbClr val="FF0066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8A7DD0C-0549-44D7-BF98-DBBEC83CA09F}"/>
              </a:ext>
            </a:extLst>
          </p:cNvPr>
          <p:cNvCxnSpPr/>
          <p:nvPr/>
        </p:nvCxnSpPr>
        <p:spPr>
          <a:xfrm flipV="1">
            <a:off x="6784769" y="3545059"/>
            <a:ext cx="4114800" cy="26545"/>
          </a:xfrm>
          <a:prstGeom prst="line">
            <a:avLst/>
          </a:prstGeom>
          <a:ln w="28575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4" descr="C:\Users\ecoffey\AppData\Local\Temp\Rar$DRa0.295\30029_Device_firewall_major_64.png">
            <a:extLst>
              <a:ext uri="{FF2B5EF4-FFF2-40B4-BE49-F238E27FC236}">
                <a16:creationId xmlns:a16="http://schemas.microsoft.com/office/drawing/2014/main" id="{9EDD2DBD-C918-44A5-A017-1A73F1420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800" y="3237318"/>
            <a:ext cx="611167" cy="61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7" descr="C:\Users\ecoffey\AppData\Local\Temp\Rar$DRa0.061\30068_Device_router_with_firewall_critical_64.png">
            <a:extLst>
              <a:ext uri="{FF2B5EF4-FFF2-40B4-BE49-F238E27FC236}">
                <a16:creationId xmlns:a16="http://schemas.microsoft.com/office/drawing/2014/main" id="{E032D73B-FF3B-4A85-94DF-A99B261F0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6799" y="4396858"/>
            <a:ext cx="649346" cy="649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259FD548-114F-4286-90AF-A84EB40CA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774" y="2777649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30034452-A03C-4EC7-8633-7C044DA82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3880" y="3853460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11" descr="C:\Users\ecoffey\AppData\Local\Temp\Rar$DRa0.653\30052_Device_nexus7000_default_64.png">
            <a:extLst>
              <a:ext uri="{FF2B5EF4-FFF2-40B4-BE49-F238E27FC236}">
                <a16:creationId xmlns:a16="http://schemas.microsoft.com/office/drawing/2014/main" id="{44782244-D447-4EC6-9C1C-23C0E6495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415" y="5078215"/>
            <a:ext cx="661239" cy="661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7E1682D9-437A-4C59-A19B-021089493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461" y="4121124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6D7BE02-E28A-4F21-B504-7DC1F2B16966}"/>
              </a:ext>
            </a:extLst>
          </p:cNvPr>
          <p:cNvCxnSpPr>
            <a:cxnSpLocks/>
            <a:stCxn id="19" idx="0"/>
            <a:endCxn id="17" idx="1"/>
          </p:cNvCxnSpPr>
          <p:nvPr/>
        </p:nvCxnSpPr>
        <p:spPr>
          <a:xfrm flipH="1" flipV="1">
            <a:off x="7818525" y="2310568"/>
            <a:ext cx="817869" cy="4670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8872D99-02F0-415A-BC40-D337FAC829BC}"/>
              </a:ext>
            </a:extLst>
          </p:cNvPr>
          <p:cNvCxnSpPr>
            <a:cxnSpLocks/>
            <a:stCxn id="19" idx="3"/>
            <a:endCxn id="16" idx="0"/>
          </p:cNvCxnSpPr>
          <p:nvPr/>
        </p:nvCxnSpPr>
        <p:spPr>
          <a:xfrm>
            <a:off x="8967013" y="3108269"/>
            <a:ext cx="485371" cy="1290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60922D40-9E04-455E-9320-1645C2CDCEE7}"/>
              </a:ext>
            </a:extLst>
          </p:cNvPr>
          <p:cNvCxnSpPr>
            <a:cxnSpLocks/>
            <a:stCxn id="20" idx="3"/>
            <a:endCxn id="16" idx="2"/>
          </p:cNvCxnSpPr>
          <p:nvPr/>
        </p:nvCxnSpPr>
        <p:spPr>
          <a:xfrm flipV="1">
            <a:off x="8955119" y="3848485"/>
            <a:ext cx="497265" cy="3355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13B1812A-6F29-46AE-932A-5AAD368050DF}"/>
              </a:ext>
            </a:extLst>
          </p:cNvPr>
          <p:cNvCxnSpPr>
            <a:cxnSpLocks/>
            <a:stCxn id="20" idx="3"/>
            <a:endCxn id="18" idx="0"/>
          </p:cNvCxnSpPr>
          <p:nvPr/>
        </p:nvCxnSpPr>
        <p:spPr>
          <a:xfrm>
            <a:off x="8955118" y="4184080"/>
            <a:ext cx="516354" cy="212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ADDE218E-B14A-4F1D-92DE-41966DA4D4DD}"/>
              </a:ext>
            </a:extLst>
          </p:cNvPr>
          <p:cNvCxnSpPr>
            <a:cxnSpLocks/>
            <a:stCxn id="21" idx="3"/>
            <a:endCxn id="18" idx="2"/>
          </p:cNvCxnSpPr>
          <p:nvPr/>
        </p:nvCxnSpPr>
        <p:spPr>
          <a:xfrm flipV="1">
            <a:off x="8965654" y="5046204"/>
            <a:ext cx="505819" cy="3626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85C49C9B-8639-427A-980B-2E8497336B27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flipH="1">
            <a:off x="8080913" y="4184080"/>
            <a:ext cx="212966" cy="25577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B4F4AA2D-E980-410A-9049-38006C68F32F}"/>
              </a:ext>
            </a:extLst>
          </p:cNvPr>
          <p:cNvCxnSpPr>
            <a:cxnSpLocks/>
            <a:stCxn id="40" idx="3"/>
            <a:endCxn id="22" idx="1"/>
          </p:cNvCxnSpPr>
          <p:nvPr/>
        </p:nvCxnSpPr>
        <p:spPr>
          <a:xfrm>
            <a:off x="6917314" y="3999762"/>
            <a:ext cx="526147" cy="4400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o 37">
            <a:extLst>
              <a:ext uri="{FF2B5EF4-FFF2-40B4-BE49-F238E27FC236}">
                <a16:creationId xmlns:a16="http://schemas.microsoft.com/office/drawing/2014/main" id="{3B34226E-34A1-401C-B7F8-C44FD9CC0787}"/>
              </a:ext>
            </a:extLst>
          </p:cNvPr>
          <p:cNvGrpSpPr/>
          <p:nvPr/>
        </p:nvGrpSpPr>
        <p:grpSpPr>
          <a:xfrm>
            <a:off x="6280714" y="3438887"/>
            <a:ext cx="950697" cy="1016701"/>
            <a:chOff x="3978704" y="3432031"/>
            <a:chExt cx="1110624" cy="1110624"/>
          </a:xfrm>
        </p:grpSpPr>
        <p:pic>
          <p:nvPicPr>
            <p:cNvPr id="39" name="Picture 4" descr="C:\Users\ecoffey\AppData\Local\Temp\Rar$DRa0.400\30009_Device_cloud_white_default_256.png">
              <a:extLst>
                <a:ext uri="{FF2B5EF4-FFF2-40B4-BE49-F238E27FC236}">
                  <a16:creationId xmlns:a16="http://schemas.microsoft.com/office/drawing/2014/main" id="{B7ED25BA-4B5E-48CD-9F49-DC58247BF8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78704" y="3432031"/>
              <a:ext cx="1110624" cy="111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61A578F9-B4E1-4FC7-B3E2-9219E5F45412}"/>
                </a:ext>
              </a:extLst>
            </p:cNvPr>
            <p:cNvSpPr txBox="1"/>
            <p:nvPr/>
          </p:nvSpPr>
          <p:spPr>
            <a:xfrm>
              <a:off x="4244377" y="3875442"/>
              <a:ext cx="558428" cy="369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sz="1600" b="1" dirty="0"/>
                <a:t>DCI</a:t>
              </a:r>
              <a:endParaRPr lang="es-ES" b="1" dirty="0"/>
            </a:p>
          </p:txBody>
        </p:sp>
      </p:grp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15EDAF15-A763-4FDE-96D3-0056831CDBF4}"/>
              </a:ext>
            </a:extLst>
          </p:cNvPr>
          <p:cNvCxnSpPr>
            <a:cxnSpLocks/>
            <a:stCxn id="17" idx="1"/>
            <a:endCxn id="44" idx="3"/>
          </p:cNvCxnSpPr>
          <p:nvPr/>
        </p:nvCxnSpPr>
        <p:spPr>
          <a:xfrm flipH="1" flipV="1">
            <a:off x="7166708" y="2113230"/>
            <a:ext cx="651816" cy="1973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1C300B-367F-4F27-850D-643BC0FB131A}"/>
              </a:ext>
            </a:extLst>
          </p:cNvPr>
          <p:cNvSpPr txBox="1"/>
          <p:nvPr/>
        </p:nvSpPr>
        <p:spPr>
          <a:xfrm>
            <a:off x="9837908" y="3075158"/>
            <a:ext cx="8526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smtClean="0">
                <a:solidFill>
                  <a:schemeClr val="accent6">
                    <a:lumMod val="75000"/>
                  </a:schemeClr>
                </a:solidFill>
              </a:rPr>
              <a:t>Perimetral</a:t>
            </a:r>
            <a:endParaRPr lang="es-ES" sz="12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s-ES" sz="1200" b="1" dirty="0" smtClean="0">
                <a:solidFill>
                  <a:schemeClr val="accent6">
                    <a:lumMod val="75000"/>
                  </a:schemeClr>
                </a:solidFill>
              </a:rPr>
              <a:t>Security</a:t>
            </a:r>
            <a:endParaRPr lang="es-ES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BDCE68D2-9FB3-412A-A81E-217F70A1CB4E}"/>
              </a:ext>
            </a:extLst>
          </p:cNvPr>
          <p:cNvSpPr txBox="1"/>
          <p:nvPr/>
        </p:nvSpPr>
        <p:spPr>
          <a:xfrm>
            <a:off x="9837908" y="4699207"/>
            <a:ext cx="699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 smtClean="0">
                <a:solidFill>
                  <a:srgbClr val="FF0066"/>
                </a:solidFill>
              </a:rPr>
              <a:t>Specific</a:t>
            </a:r>
            <a:endParaRPr lang="es-ES" sz="1200" b="1" dirty="0">
              <a:solidFill>
                <a:srgbClr val="FF0066"/>
              </a:solidFill>
            </a:endParaRPr>
          </a:p>
          <a:p>
            <a:r>
              <a:rPr lang="es-ES" sz="1200" b="1" dirty="0" smtClean="0">
                <a:solidFill>
                  <a:srgbClr val="FF0066"/>
                </a:solidFill>
              </a:rPr>
              <a:t>Security</a:t>
            </a:r>
            <a:endParaRPr lang="es-ES" sz="1200" b="1" dirty="0">
              <a:solidFill>
                <a:srgbClr val="FF0066"/>
              </a:solidFill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A69EE20D-3323-406C-AD22-AFD0FBFD3500}"/>
              </a:ext>
            </a:extLst>
          </p:cNvPr>
          <p:cNvSpPr txBox="1"/>
          <p:nvPr/>
        </p:nvSpPr>
        <p:spPr>
          <a:xfrm>
            <a:off x="7497251" y="2657895"/>
            <a:ext cx="5391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err="1" smtClean="0">
                <a:solidFill>
                  <a:srgbClr val="002060"/>
                </a:solidFill>
              </a:rPr>
              <a:t>Edge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88B813AA-21A8-4602-8311-39A00E9C4E65}"/>
              </a:ext>
            </a:extLst>
          </p:cNvPr>
          <p:cNvSpPr txBox="1"/>
          <p:nvPr/>
        </p:nvSpPr>
        <p:spPr>
          <a:xfrm>
            <a:off x="8212157" y="5754004"/>
            <a:ext cx="867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smtClean="0">
                <a:solidFill>
                  <a:srgbClr val="002060"/>
                </a:solidFill>
              </a:rPr>
              <a:t>Nexus 7K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0F059D1-0C7F-44E8-8D12-98EEEDA1203C}"/>
              </a:ext>
            </a:extLst>
          </p:cNvPr>
          <p:cNvSpPr txBox="1"/>
          <p:nvPr/>
        </p:nvSpPr>
        <p:spPr>
          <a:xfrm>
            <a:off x="7333467" y="3812646"/>
            <a:ext cx="8914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</a:rPr>
              <a:t>Agr./Dist.</a:t>
            </a:r>
          </a:p>
        </p:txBody>
      </p:sp>
      <p:grpSp>
        <p:nvGrpSpPr>
          <p:cNvPr id="63" name="Grupo 62">
            <a:extLst>
              <a:ext uri="{FF2B5EF4-FFF2-40B4-BE49-F238E27FC236}">
                <a16:creationId xmlns:a16="http://schemas.microsoft.com/office/drawing/2014/main" id="{DB0B41B2-99CB-409D-BA3D-96FDF86308B1}"/>
              </a:ext>
            </a:extLst>
          </p:cNvPr>
          <p:cNvGrpSpPr/>
          <p:nvPr/>
        </p:nvGrpSpPr>
        <p:grpSpPr>
          <a:xfrm>
            <a:off x="9292182" y="5633863"/>
            <a:ext cx="652728" cy="757984"/>
            <a:chOff x="1674781" y="5492281"/>
            <a:chExt cx="652728" cy="757984"/>
          </a:xfrm>
        </p:grpSpPr>
        <p:pic>
          <p:nvPicPr>
            <p:cNvPr id="64" name="Picture 26" descr="C:\Users\ecoffey\AppData\Local\Temp\Rar$DRa0.059\Source\Png 64,24,16\Normal\Cisco-CSR-Router_64_normal.png">
              <a:extLst>
                <a:ext uri="{FF2B5EF4-FFF2-40B4-BE49-F238E27FC236}">
                  <a16:creationId xmlns:a16="http://schemas.microsoft.com/office/drawing/2014/main" id="{4CCB8814-A1D8-493F-A9C0-3CA826CC2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4781" y="5492281"/>
              <a:ext cx="625958" cy="625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5" name="CuadroTexto 64">
              <a:extLst>
                <a:ext uri="{FF2B5EF4-FFF2-40B4-BE49-F238E27FC236}">
                  <a16:creationId xmlns:a16="http://schemas.microsoft.com/office/drawing/2014/main" id="{440C4209-8507-4055-AFF8-F3FB44134295}"/>
                </a:ext>
              </a:extLst>
            </p:cNvPr>
            <p:cNvSpPr txBox="1"/>
            <p:nvPr/>
          </p:nvSpPr>
          <p:spPr>
            <a:xfrm>
              <a:off x="1676177" y="5973266"/>
              <a:ext cx="6513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200" b="1" dirty="0" err="1" smtClean="0">
                  <a:solidFill>
                    <a:srgbClr val="00B050"/>
                  </a:solidFill>
                </a:rPr>
                <a:t>Clients</a:t>
              </a:r>
              <a:r>
                <a:rPr lang="es-ES" sz="1200" b="1" dirty="0" smtClean="0">
                  <a:solidFill>
                    <a:srgbClr val="00B050"/>
                  </a:solidFill>
                </a:rPr>
                <a:t> </a:t>
              </a:r>
              <a:endParaRPr lang="es-ES" sz="1200" b="1" dirty="0">
                <a:solidFill>
                  <a:srgbClr val="00B050"/>
                </a:solidFill>
              </a:endParaRPr>
            </a:p>
          </p:txBody>
        </p:sp>
      </p:grpSp>
      <p:cxnSp>
        <p:nvCxnSpPr>
          <p:cNvPr id="66" name="Conector recto 65">
            <a:extLst>
              <a:ext uri="{FF2B5EF4-FFF2-40B4-BE49-F238E27FC236}">
                <a16:creationId xmlns:a16="http://schemas.microsoft.com/office/drawing/2014/main" id="{A9C5BFA6-B018-4BAB-8AD5-A1005609CCBE}"/>
              </a:ext>
            </a:extLst>
          </p:cNvPr>
          <p:cNvCxnSpPr>
            <a:cxnSpLocks/>
            <a:stCxn id="21" idx="3"/>
            <a:endCxn id="64" idx="0"/>
          </p:cNvCxnSpPr>
          <p:nvPr/>
        </p:nvCxnSpPr>
        <p:spPr>
          <a:xfrm>
            <a:off x="8965654" y="5408835"/>
            <a:ext cx="639507" cy="2250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Grupo 41">
            <a:extLst>
              <a:ext uri="{FF2B5EF4-FFF2-40B4-BE49-F238E27FC236}">
                <a16:creationId xmlns:a16="http://schemas.microsoft.com/office/drawing/2014/main" id="{54A9BDCA-BA1C-4705-A23A-40B52BF4A959}"/>
              </a:ext>
            </a:extLst>
          </p:cNvPr>
          <p:cNvGrpSpPr/>
          <p:nvPr/>
        </p:nvGrpSpPr>
        <p:grpSpPr>
          <a:xfrm>
            <a:off x="6180414" y="1425752"/>
            <a:ext cx="1110624" cy="1110624"/>
            <a:chOff x="1641490" y="1389398"/>
            <a:chExt cx="1110624" cy="1110624"/>
          </a:xfrm>
        </p:grpSpPr>
        <p:pic>
          <p:nvPicPr>
            <p:cNvPr id="43" name="Picture 4" descr="C:\Users\ecoffey\AppData\Local\Temp\Rar$DRa0.400\30009_Device_cloud_white_default_256.png">
              <a:extLst>
                <a:ext uri="{FF2B5EF4-FFF2-40B4-BE49-F238E27FC236}">
                  <a16:creationId xmlns:a16="http://schemas.microsoft.com/office/drawing/2014/main" id="{28AF0E59-B7FF-4E04-B5E3-27F794CBF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41490" y="1389398"/>
              <a:ext cx="1110624" cy="11106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B50C93CC-00C9-4776-AEAB-86D9BE5BC65E}"/>
                </a:ext>
              </a:extLst>
            </p:cNvPr>
            <p:cNvSpPr txBox="1"/>
            <p:nvPr/>
          </p:nvSpPr>
          <p:spPr>
            <a:xfrm>
              <a:off x="1753249" y="1907599"/>
              <a:ext cx="8745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ES" sz="1600" b="1" dirty="0"/>
                <a:t>Internet</a:t>
              </a:r>
              <a:endParaRPr lang="es-ES" b="1" dirty="0"/>
            </a:p>
          </p:txBody>
        </p:sp>
      </p:grpSp>
      <p:pic>
        <p:nvPicPr>
          <p:cNvPr id="17" name="Picture 11" descr="C:\Users\ecoffey\AppData\Local\Temp\Rar$DRa0.386\30067_Device_router_default_64.png">
            <a:extLst>
              <a:ext uri="{FF2B5EF4-FFF2-40B4-BE49-F238E27FC236}">
                <a16:creationId xmlns:a16="http://schemas.microsoft.com/office/drawing/2014/main" id="{B69E28BA-4B05-440D-AAD6-8CB371044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525" y="1991842"/>
            <a:ext cx="637453" cy="637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Imagen 7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0766" y="3808420"/>
            <a:ext cx="1820288" cy="365177"/>
          </a:xfrm>
          <a:prstGeom prst="rect">
            <a:avLst/>
          </a:prstGeom>
        </p:spPr>
      </p:pic>
      <p:pic>
        <p:nvPicPr>
          <p:cNvPr id="79" name="Imagen 7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58887" y="4713360"/>
            <a:ext cx="1928743" cy="268705"/>
          </a:xfrm>
          <a:prstGeom prst="rect">
            <a:avLst/>
          </a:prstGeom>
        </p:spPr>
      </p:pic>
      <p:pic>
        <p:nvPicPr>
          <p:cNvPr id="80" name="Imagen 7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4199" y="5615958"/>
            <a:ext cx="2453517" cy="678453"/>
          </a:xfrm>
          <a:prstGeom prst="rect">
            <a:avLst/>
          </a:prstGeom>
        </p:spPr>
      </p:pic>
      <p:pic>
        <p:nvPicPr>
          <p:cNvPr id="81" name="Imagen 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72454" y="4735410"/>
            <a:ext cx="1928743" cy="268705"/>
          </a:xfrm>
          <a:prstGeom prst="rect">
            <a:avLst/>
          </a:prstGeom>
        </p:spPr>
      </p:pic>
      <p:pic>
        <p:nvPicPr>
          <p:cNvPr id="82" name="Imagen 8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8689" y="3820430"/>
            <a:ext cx="1820288" cy="365177"/>
          </a:xfrm>
          <a:prstGeom prst="rect">
            <a:avLst/>
          </a:prstGeom>
        </p:spPr>
      </p:pic>
      <p:pic>
        <p:nvPicPr>
          <p:cNvPr id="83" name="Imagen 8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2315" y="2380808"/>
            <a:ext cx="1677189" cy="945750"/>
          </a:xfrm>
          <a:prstGeom prst="rect">
            <a:avLst/>
          </a:prstGeom>
        </p:spPr>
      </p:pic>
      <p:pic>
        <p:nvPicPr>
          <p:cNvPr id="84" name="Imagen 8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0323" y="2395745"/>
            <a:ext cx="1677189" cy="945750"/>
          </a:xfrm>
          <a:prstGeom prst="rect">
            <a:avLst/>
          </a:prstGeom>
        </p:spPr>
      </p:pic>
      <p:pic>
        <p:nvPicPr>
          <p:cNvPr id="85" name="Imagen 8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01424" y="3380635"/>
            <a:ext cx="398899" cy="381938"/>
          </a:xfrm>
          <a:prstGeom prst="rect">
            <a:avLst/>
          </a:prstGeom>
        </p:spPr>
      </p:pic>
      <p:pic>
        <p:nvPicPr>
          <p:cNvPr id="86" name="Imagen 8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21509" y="4252665"/>
            <a:ext cx="398899" cy="381938"/>
          </a:xfrm>
          <a:prstGeom prst="rect">
            <a:avLst/>
          </a:prstGeom>
        </p:spPr>
      </p:pic>
      <p:pic>
        <p:nvPicPr>
          <p:cNvPr id="87" name="Imagen 8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21509" y="5082872"/>
            <a:ext cx="398899" cy="381938"/>
          </a:xfrm>
          <a:prstGeom prst="rect">
            <a:avLst/>
          </a:prstGeom>
        </p:spPr>
      </p:pic>
      <p:cxnSp>
        <p:nvCxnSpPr>
          <p:cNvPr id="88" name="Conector recto 87"/>
          <p:cNvCxnSpPr>
            <a:stCxn id="83" idx="2"/>
            <a:endCxn id="85" idx="1"/>
          </p:cNvCxnSpPr>
          <p:nvPr/>
        </p:nvCxnSpPr>
        <p:spPr>
          <a:xfrm>
            <a:off x="2520910" y="3326558"/>
            <a:ext cx="780514" cy="245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>
            <a:stCxn id="85" idx="3"/>
            <a:endCxn id="84" idx="2"/>
          </p:cNvCxnSpPr>
          <p:nvPr/>
        </p:nvCxnSpPr>
        <p:spPr>
          <a:xfrm flipV="1">
            <a:off x="3700323" y="3341495"/>
            <a:ext cx="838595" cy="2301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/>
          <p:cNvCxnSpPr>
            <a:stCxn id="86" idx="3"/>
            <a:endCxn id="82" idx="2"/>
          </p:cNvCxnSpPr>
          <p:nvPr/>
        </p:nvCxnSpPr>
        <p:spPr>
          <a:xfrm flipV="1">
            <a:off x="3720408" y="4185607"/>
            <a:ext cx="798425" cy="2580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/>
          <p:cNvCxnSpPr>
            <a:stCxn id="86" idx="1"/>
            <a:endCxn id="78" idx="2"/>
          </p:cNvCxnSpPr>
          <p:nvPr/>
        </p:nvCxnSpPr>
        <p:spPr>
          <a:xfrm flipH="1" flipV="1">
            <a:off x="2520910" y="4173597"/>
            <a:ext cx="800599" cy="2700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/>
          <p:cNvCxnSpPr>
            <a:stCxn id="87" idx="1"/>
            <a:endCxn id="79" idx="2"/>
          </p:cNvCxnSpPr>
          <p:nvPr/>
        </p:nvCxnSpPr>
        <p:spPr>
          <a:xfrm flipH="1" flipV="1">
            <a:off x="2423259" y="4982065"/>
            <a:ext cx="898250" cy="291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/>
          <p:cNvCxnSpPr>
            <a:stCxn id="81" idx="2"/>
            <a:endCxn id="87" idx="3"/>
          </p:cNvCxnSpPr>
          <p:nvPr/>
        </p:nvCxnSpPr>
        <p:spPr>
          <a:xfrm flipH="1">
            <a:off x="3720408" y="5004115"/>
            <a:ext cx="916418" cy="2697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/>
          <p:cNvCxnSpPr>
            <a:stCxn id="87" idx="2"/>
            <a:endCxn id="80" idx="0"/>
          </p:cNvCxnSpPr>
          <p:nvPr/>
        </p:nvCxnSpPr>
        <p:spPr>
          <a:xfrm flipH="1">
            <a:off x="3520958" y="5464810"/>
            <a:ext cx="1" cy="1511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/>
          <p:cNvCxnSpPr>
            <a:stCxn id="81" idx="0"/>
            <a:endCxn id="86" idx="3"/>
          </p:cNvCxnSpPr>
          <p:nvPr/>
        </p:nvCxnSpPr>
        <p:spPr>
          <a:xfrm flipH="1" flipV="1">
            <a:off x="3720408" y="4443634"/>
            <a:ext cx="916418" cy="2917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/>
          <p:cNvCxnSpPr>
            <a:stCxn id="86" idx="1"/>
            <a:endCxn id="79" idx="0"/>
          </p:cNvCxnSpPr>
          <p:nvPr/>
        </p:nvCxnSpPr>
        <p:spPr>
          <a:xfrm flipH="1">
            <a:off x="2423259" y="4443634"/>
            <a:ext cx="898250" cy="2697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/>
          <p:cNvCxnSpPr>
            <a:stCxn id="82" idx="0"/>
            <a:endCxn id="85" idx="3"/>
          </p:cNvCxnSpPr>
          <p:nvPr/>
        </p:nvCxnSpPr>
        <p:spPr>
          <a:xfrm flipH="1" flipV="1">
            <a:off x="3700323" y="3571604"/>
            <a:ext cx="818510" cy="2488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nector recto 97"/>
          <p:cNvCxnSpPr>
            <a:stCxn id="78" idx="0"/>
            <a:endCxn id="85" idx="1"/>
          </p:cNvCxnSpPr>
          <p:nvPr/>
        </p:nvCxnSpPr>
        <p:spPr>
          <a:xfrm flipV="1">
            <a:off x="2520910" y="3571604"/>
            <a:ext cx="780514" cy="23681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Imagen 98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6877" y="1830324"/>
            <a:ext cx="1062583" cy="684588"/>
          </a:xfrm>
          <a:prstGeom prst="rect">
            <a:avLst/>
          </a:prstGeom>
        </p:spPr>
      </p:pic>
      <p:pic>
        <p:nvPicPr>
          <p:cNvPr id="100" name="Imagen 99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112" y="1845634"/>
            <a:ext cx="1062583" cy="665861"/>
          </a:xfrm>
          <a:prstGeom prst="rect">
            <a:avLst/>
          </a:prstGeom>
        </p:spPr>
      </p:pic>
      <p:sp>
        <p:nvSpPr>
          <p:cNvPr id="101" name="CuadroTexto 100"/>
          <p:cNvSpPr txBox="1"/>
          <p:nvPr/>
        </p:nvSpPr>
        <p:spPr>
          <a:xfrm>
            <a:off x="2772961" y="2012577"/>
            <a:ext cx="548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 smtClean="0"/>
              <a:t>x8/x4</a:t>
            </a:r>
            <a:endParaRPr lang="en-US" sz="1200" b="1" dirty="0"/>
          </a:p>
        </p:txBody>
      </p:sp>
      <p:sp>
        <p:nvSpPr>
          <p:cNvPr id="102" name="CuadroTexto 101"/>
          <p:cNvSpPr txBox="1"/>
          <p:nvPr/>
        </p:nvSpPr>
        <p:spPr>
          <a:xfrm>
            <a:off x="4775623" y="2055347"/>
            <a:ext cx="5485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1200" b="1" dirty="0" smtClean="0"/>
              <a:t>x8/x4</a:t>
            </a:r>
            <a:endParaRPr lang="en-US" sz="1200" b="1" dirty="0"/>
          </a:p>
        </p:txBody>
      </p:sp>
      <p:cxnSp>
        <p:nvCxnSpPr>
          <p:cNvPr id="117" name="Conector recto 116"/>
          <p:cNvCxnSpPr>
            <a:stCxn id="126" idx="1"/>
            <a:endCxn id="81" idx="3"/>
          </p:cNvCxnSpPr>
          <p:nvPr/>
        </p:nvCxnSpPr>
        <p:spPr>
          <a:xfrm flipH="1" flipV="1">
            <a:off x="5601197" y="4869763"/>
            <a:ext cx="960463" cy="9550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ector recto 120"/>
          <p:cNvCxnSpPr>
            <a:stCxn id="124" idx="1"/>
            <a:endCxn id="82" idx="3"/>
          </p:cNvCxnSpPr>
          <p:nvPr/>
        </p:nvCxnSpPr>
        <p:spPr>
          <a:xfrm flipH="1" flipV="1">
            <a:off x="5428977" y="4003019"/>
            <a:ext cx="1133795" cy="1205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Imagen 1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2772" y="5017403"/>
            <a:ext cx="398899" cy="381938"/>
          </a:xfrm>
          <a:prstGeom prst="rect">
            <a:avLst/>
          </a:prstGeom>
        </p:spPr>
      </p:pic>
      <p:pic>
        <p:nvPicPr>
          <p:cNvPr id="126" name="Imagen 12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1660" y="5633863"/>
            <a:ext cx="398899" cy="381938"/>
          </a:xfrm>
          <a:prstGeom prst="rect">
            <a:avLst/>
          </a:prstGeom>
        </p:spPr>
      </p:pic>
      <p:cxnSp>
        <p:nvCxnSpPr>
          <p:cNvPr id="128" name="Conector recto 127"/>
          <p:cNvCxnSpPr>
            <a:stCxn id="21" idx="1"/>
            <a:endCxn id="124" idx="3"/>
          </p:cNvCxnSpPr>
          <p:nvPr/>
        </p:nvCxnSpPr>
        <p:spPr>
          <a:xfrm flipH="1" flipV="1">
            <a:off x="6961671" y="5208372"/>
            <a:ext cx="1342744" cy="2004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ector recto 130"/>
          <p:cNvCxnSpPr>
            <a:stCxn id="21" idx="1"/>
            <a:endCxn id="126" idx="3"/>
          </p:cNvCxnSpPr>
          <p:nvPr/>
        </p:nvCxnSpPr>
        <p:spPr>
          <a:xfrm flipH="1">
            <a:off x="6960559" y="5408835"/>
            <a:ext cx="1343856" cy="41599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CuadroTexto 133">
            <a:extLst>
              <a:ext uri="{FF2B5EF4-FFF2-40B4-BE49-F238E27FC236}">
                <a16:creationId xmlns:a16="http://schemas.microsoft.com/office/drawing/2014/main" id="{88B813AA-21A8-4602-8311-39A00E9C4E65}"/>
              </a:ext>
            </a:extLst>
          </p:cNvPr>
          <p:cNvSpPr txBox="1"/>
          <p:nvPr/>
        </p:nvSpPr>
        <p:spPr>
          <a:xfrm>
            <a:off x="7415141" y="4835516"/>
            <a:ext cx="6783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b="1" dirty="0" smtClean="0">
                <a:solidFill>
                  <a:srgbClr val="002060"/>
                </a:solidFill>
              </a:rPr>
              <a:t>Access</a:t>
            </a:r>
            <a:endParaRPr lang="es-ES" sz="1400" b="1" dirty="0">
              <a:solidFill>
                <a:srgbClr val="002060"/>
              </a:solidFill>
            </a:endParaRPr>
          </a:p>
        </p:txBody>
      </p:sp>
      <p:sp>
        <p:nvSpPr>
          <p:cNvPr id="135" name="Título 1"/>
          <p:cNvSpPr txBox="1">
            <a:spLocks/>
          </p:cNvSpPr>
          <p:nvPr/>
        </p:nvSpPr>
        <p:spPr>
          <a:xfrm>
            <a:off x="901624" y="399135"/>
            <a:ext cx="10515600" cy="894460"/>
          </a:xfrm>
          <a:prstGeom prst="rect">
            <a:avLst/>
          </a:prstGeom>
          <a:solidFill>
            <a:srgbClr val="7030A0"/>
          </a:solidFill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419" b="1" dirty="0">
                <a:solidFill>
                  <a:schemeClr val="bg1"/>
                </a:solidFill>
              </a:rPr>
              <a:t>SOS/DH </a:t>
            </a:r>
            <a:r>
              <a:rPr lang="es-419" b="1" dirty="0" err="1">
                <a:solidFill>
                  <a:schemeClr val="bg1"/>
                </a:solidFill>
              </a:rPr>
              <a:t>Architecture</a:t>
            </a:r>
            <a:r>
              <a:rPr lang="es-419" b="1" dirty="0">
                <a:solidFill>
                  <a:schemeClr val="bg1"/>
                </a:solidFill>
              </a:rPr>
              <a:t> </a:t>
            </a:r>
            <a:r>
              <a:rPr lang="es-419" b="1" dirty="0" err="1">
                <a:solidFill>
                  <a:schemeClr val="bg1"/>
                </a:solidFill>
              </a:rPr>
              <a:t>Integration</a:t>
            </a:r>
            <a:endParaRPr lang="es-419" b="1" dirty="0">
              <a:solidFill>
                <a:schemeClr val="bg1"/>
              </a:solidFill>
            </a:endParaRPr>
          </a:p>
        </p:txBody>
      </p:sp>
      <p:sp>
        <p:nvSpPr>
          <p:cNvPr id="139" name="Redondear rectángulo de esquina diagonal 138"/>
          <p:cNvSpPr/>
          <p:nvPr/>
        </p:nvSpPr>
        <p:spPr>
          <a:xfrm>
            <a:off x="1385565" y="1801487"/>
            <a:ext cx="4409325" cy="4590360"/>
          </a:xfrm>
          <a:prstGeom prst="round2Diag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5 CuadroTexto"/>
          <p:cNvSpPr txBox="1"/>
          <p:nvPr/>
        </p:nvSpPr>
        <p:spPr>
          <a:xfrm>
            <a:off x="2467715" y="1358453"/>
            <a:ext cx="238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err="1" smtClean="0"/>
              <a:t>Colocation</a:t>
            </a:r>
            <a:endParaRPr lang="es-VE" sz="2400" b="1" dirty="0"/>
          </a:p>
        </p:txBody>
      </p:sp>
      <p:sp>
        <p:nvSpPr>
          <p:cNvPr id="72" name="5 CuadroTexto"/>
          <p:cNvSpPr txBox="1"/>
          <p:nvPr/>
        </p:nvSpPr>
        <p:spPr>
          <a:xfrm>
            <a:off x="9052174" y="1572672"/>
            <a:ext cx="2183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400" b="1" dirty="0" err="1" smtClean="0">
                <a:solidFill>
                  <a:srgbClr val="002060"/>
                </a:solidFill>
              </a:rPr>
              <a:t>Existing</a:t>
            </a:r>
            <a:endParaRPr lang="es-VE" sz="2400" b="1" dirty="0" smtClean="0">
              <a:solidFill>
                <a:srgbClr val="002060"/>
              </a:solidFill>
            </a:endParaRPr>
          </a:p>
          <a:p>
            <a:pPr algn="ctr"/>
            <a:r>
              <a:rPr lang="es-VE" sz="2400" b="1" dirty="0" err="1" smtClean="0">
                <a:solidFill>
                  <a:srgbClr val="002060"/>
                </a:solidFill>
              </a:rPr>
              <a:t>Infrastructure</a:t>
            </a:r>
            <a:endParaRPr lang="es-VE" sz="2400" b="1" dirty="0" smtClean="0">
              <a:solidFill>
                <a:srgbClr val="002060"/>
              </a:solidFill>
            </a:endParaRPr>
          </a:p>
          <a:p>
            <a:pPr algn="ctr"/>
            <a:r>
              <a:rPr lang="es-VE" sz="2400" b="1" dirty="0" smtClean="0">
                <a:solidFill>
                  <a:srgbClr val="002060"/>
                </a:solidFill>
              </a:rPr>
              <a:t>On-Premise</a:t>
            </a:r>
            <a:endParaRPr lang="es-VE" sz="2400" b="1" dirty="0">
              <a:solidFill>
                <a:srgbClr val="002060"/>
              </a:solidFill>
            </a:endParaRPr>
          </a:p>
        </p:txBody>
      </p:sp>
      <p:sp>
        <p:nvSpPr>
          <p:cNvPr id="73" name="CuadroTexto 72"/>
          <p:cNvSpPr txBox="1"/>
          <p:nvPr/>
        </p:nvSpPr>
        <p:spPr>
          <a:xfrm>
            <a:off x="5783597" y="6186386"/>
            <a:ext cx="2473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b="1" dirty="0" smtClean="0"/>
              <a:t>Network &amp; Storage </a:t>
            </a:r>
            <a:r>
              <a:rPr lang="es-419" b="1" dirty="0" err="1" smtClean="0"/>
              <a:t>Connections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028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solidFill>
            <a:srgbClr val="7030A0"/>
          </a:solidFill>
        </p:spPr>
        <p:txBody>
          <a:bodyPr anchor="ctr" anchorCtr="0"/>
          <a:lstStyle/>
          <a:p>
            <a:pPr algn="ctr"/>
            <a:r>
              <a:rPr lang="es-419" b="1" dirty="0" smtClean="0">
                <a:solidFill>
                  <a:schemeClr val="bg1"/>
                </a:solidFill>
              </a:rPr>
              <a:t>Agenda</a:t>
            </a:r>
            <a:endParaRPr lang="es-VE" b="1" dirty="0">
              <a:solidFill>
                <a:schemeClr val="bg1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419" sz="3200" dirty="0" smtClean="0">
                <a:solidFill>
                  <a:schemeClr val="bg2">
                    <a:lumMod val="90000"/>
                  </a:schemeClr>
                </a:solidFill>
              </a:rPr>
              <a:t>Portafolio &amp; services</a:t>
            </a:r>
          </a:p>
          <a:p>
            <a:pPr marL="514350" indent="-514350">
              <a:buFont typeface="+mj-lt"/>
              <a:buAutoNum type="arabicPeriod"/>
            </a:pPr>
            <a:r>
              <a:rPr lang="es-419" sz="3200" dirty="0" err="1" smtClean="0">
                <a:solidFill>
                  <a:schemeClr val="bg2">
                    <a:lumMod val="90000"/>
                  </a:schemeClr>
                </a:solidFill>
              </a:rPr>
              <a:t>Architecture</a:t>
            </a:r>
            <a:r>
              <a:rPr lang="es-419" sz="3200" dirty="0" smtClean="0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s-419" sz="3200" dirty="0" err="1" smtClean="0">
                <a:solidFill>
                  <a:schemeClr val="bg2">
                    <a:lumMod val="90000"/>
                  </a:schemeClr>
                </a:solidFill>
              </a:rPr>
              <a:t>Integration</a:t>
            </a:r>
            <a:endParaRPr lang="es-419" sz="3200" dirty="0" smtClean="0">
              <a:solidFill>
                <a:schemeClr val="bg2">
                  <a:lumMod val="9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s-419" sz="4000" b="1" dirty="0" err="1" smtClean="0"/>
              <a:t>Solutions</a:t>
            </a:r>
            <a:r>
              <a:rPr lang="es-419" sz="4000" b="1" dirty="0" smtClean="0"/>
              <a:t> Delivery </a:t>
            </a:r>
            <a:r>
              <a:rPr lang="es-419" sz="4000" b="1" dirty="0" err="1" smtClean="0"/>
              <a:t>Approach</a:t>
            </a:r>
            <a:endParaRPr lang="es-419" sz="4000" b="1" dirty="0"/>
          </a:p>
        </p:txBody>
      </p:sp>
    </p:spTree>
    <p:extLst>
      <p:ext uri="{BB962C8B-B14F-4D97-AF65-F5344CB8AC3E}">
        <p14:creationId xmlns:p14="http://schemas.microsoft.com/office/powerpoint/2010/main" val="238377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Imagen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566" y="4324367"/>
            <a:ext cx="2020730" cy="558778"/>
          </a:xfrm>
          <a:prstGeom prst="rect">
            <a:avLst/>
          </a:prstGeom>
        </p:spPr>
      </p:pic>
      <p:pic>
        <p:nvPicPr>
          <p:cNvPr id="83" name="Imagen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063" y="2024548"/>
            <a:ext cx="1677189" cy="945750"/>
          </a:xfrm>
          <a:prstGeom prst="rect">
            <a:avLst/>
          </a:prstGeom>
        </p:spPr>
      </p:pic>
      <p:pic>
        <p:nvPicPr>
          <p:cNvPr id="84" name="Imagen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71" y="2039485"/>
            <a:ext cx="1677189" cy="945750"/>
          </a:xfrm>
          <a:prstGeom prst="rect">
            <a:avLst/>
          </a:prstGeom>
        </p:spPr>
      </p:pic>
      <p:cxnSp>
        <p:nvCxnSpPr>
          <p:cNvPr id="88" name="Conector recto 87"/>
          <p:cNvCxnSpPr>
            <a:stCxn id="83" idx="2"/>
            <a:endCxn id="85" idx="1"/>
          </p:cNvCxnSpPr>
          <p:nvPr/>
        </p:nvCxnSpPr>
        <p:spPr>
          <a:xfrm>
            <a:off x="2449658" y="2970298"/>
            <a:ext cx="780514" cy="24504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/>
          <p:cNvCxnSpPr>
            <a:stCxn id="85" idx="3"/>
            <a:endCxn id="84" idx="2"/>
          </p:cNvCxnSpPr>
          <p:nvPr/>
        </p:nvCxnSpPr>
        <p:spPr>
          <a:xfrm flipV="1">
            <a:off x="3629071" y="2985235"/>
            <a:ext cx="838595" cy="2301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/>
          <p:cNvCxnSpPr>
            <a:stCxn id="85" idx="2"/>
            <a:endCxn id="80" idx="0"/>
          </p:cNvCxnSpPr>
          <p:nvPr/>
        </p:nvCxnSpPr>
        <p:spPr>
          <a:xfrm flipH="1">
            <a:off x="3365931" y="3863486"/>
            <a:ext cx="8289" cy="4608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9" name="Imagen 9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750" y="1474064"/>
            <a:ext cx="1062583" cy="684588"/>
          </a:xfrm>
          <a:prstGeom prst="rect">
            <a:avLst/>
          </a:prstGeom>
        </p:spPr>
      </p:pic>
      <p:sp>
        <p:nvSpPr>
          <p:cNvPr id="135" name="Título 1"/>
          <p:cNvSpPr txBox="1">
            <a:spLocks/>
          </p:cNvSpPr>
          <p:nvPr/>
        </p:nvSpPr>
        <p:spPr>
          <a:xfrm>
            <a:off x="901624" y="399135"/>
            <a:ext cx="10515600" cy="894460"/>
          </a:xfrm>
          <a:prstGeom prst="rect">
            <a:avLst/>
          </a:prstGeom>
          <a:solidFill>
            <a:srgbClr val="7030A0"/>
          </a:solidFill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419" b="1" dirty="0" err="1" smtClean="0">
                <a:solidFill>
                  <a:schemeClr val="bg1"/>
                </a:solidFill>
              </a:rPr>
              <a:t>Solution</a:t>
            </a:r>
            <a:r>
              <a:rPr lang="es-419" b="1" dirty="0" smtClean="0">
                <a:solidFill>
                  <a:schemeClr val="bg1"/>
                </a:solidFill>
              </a:rPr>
              <a:t> Delivery </a:t>
            </a:r>
            <a:r>
              <a:rPr lang="es-419" b="1" dirty="0" err="1" smtClean="0">
                <a:solidFill>
                  <a:schemeClr val="bg1"/>
                </a:solidFill>
              </a:rPr>
              <a:t>Approach</a:t>
            </a:r>
            <a:endParaRPr lang="es-419" b="1" dirty="0">
              <a:solidFill>
                <a:schemeClr val="bg1"/>
              </a:solidFill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916" y="4899797"/>
            <a:ext cx="675117" cy="817299"/>
          </a:xfrm>
          <a:prstGeom prst="rect">
            <a:avLst/>
          </a:prstGeom>
        </p:spPr>
      </p:pic>
      <p:pic>
        <p:nvPicPr>
          <p:cNvPr id="104" name="Picture 4" descr="C:\Users\ecoffey\AppData\Local\Temp\Rar$DRa0.400\30009_Device_cloud_white_default_256.png">
            <a:extLst>
              <a:ext uri="{FF2B5EF4-FFF2-40B4-BE49-F238E27FC236}">
                <a16:creationId xmlns:a16="http://schemas.microsoft.com/office/drawing/2014/main" id="{20374F60-E575-4095-BA9C-34C442DA9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699" y="2497423"/>
            <a:ext cx="1998310" cy="1944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5" name="Imagen 8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1020" y="3225421"/>
            <a:ext cx="666400" cy="638065"/>
          </a:xfrm>
          <a:prstGeom prst="rect">
            <a:avLst/>
          </a:prstGeom>
        </p:spPr>
      </p:pic>
      <p:sp>
        <p:nvSpPr>
          <p:cNvPr id="14" name="Rectángulo 13"/>
          <p:cNvSpPr/>
          <p:nvPr/>
        </p:nvSpPr>
        <p:spPr>
          <a:xfrm>
            <a:off x="1495704" y="1590191"/>
            <a:ext cx="1133587" cy="4248774"/>
          </a:xfrm>
          <a:prstGeom prst="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adroTexto 14"/>
          <p:cNvSpPr txBox="1"/>
          <p:nvPr/>
        </p:nvSpPr>
        <p:spPr>
          <a:xfrm>
            <a:off x="2665327" y="1268535"/>
            <a:ext cx="1537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400" b="1" dirty="0" smtClean="0"/>
              <a:t>…….…</a:t>
            </a:r>
            <a:endParaRPr lang="en-US" sz="4400" b="1" dirty="0"/>
          </a:p>
        </p:txBody>
      </p:sp>
      <p:sp>
        <p:nvSpPr>
          <p:cNvPr id="106" name="CuadroTexto 105"/>
          <p:cNvSpPr txBox="1"/>
          <p:nvPr/>
        </p:nvSpPr>
        <p:spPr>
          <a:xfrm>
            <a:off x="2697614" y="4883145"/>
            <a:ext cx="15376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400" b="1" dirty="0" smtClean="0"/>
              <a:t>…….…</a:t>
            </a:r>
            <a:endParaRPr lang="en-US" sz="4400" b="1" dirty="0"/>
          </a:p>
        </p:txBody>
      </p:sp>
      <p:pic>
        <p:nvPicPr>
          <p:cNvPr id="107" name="Imagen 10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8829" y="1474064"/>
            <a:ext cx="1062583" cy="684588"/>
          </a:xfrm>
          <a:prstGeom prst="rect">
            <a:avLst/>
          </a:prstGeom>
        </p:spPr>
      </p:pic>
      <p:pic>
        <p:nvPicPr>
          <p:cNvPr id="108" name="Imagen 10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3229" y="4899797"/>
            <a:ext cx="675117" cy="817299"/>
          </a:xfrm>
          <a:prstGeom prst="rect">
            <a:avLst/>
          </a:prstGeom>
        </p:spPr>
      </p:pic>
      <p:sp>
        <p:nvSpPr>
          <p:cNvPr id="109" name="Rectángulo 108"/>
          <p:cNvSpPr/>
          <p:nvPr/>
        </p:nvSpPr>
        <p:spPr>
          <a:xfrm>
            <a:off x="4155376" y="1590191"/>
            <a:ext cx="1133587" cy="4248774"/>
          </a:xfrm>
          <a:prstGeom prst="rect">
            <a:avLst/>
          </a:prstGeom>
          <a:solidFill>
            <a:schemeClr val="accent4">
              <a:lumMod val="60000"/>
              <a:lumOff val="40000"/>
              <a:alpha val="4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adroTexto 22"/>
          <p:cNvSpPr txBox="1"/>
          <p:nvPr/>
        </p:nvSpPr>
        <p:spPr>
          <a:xfrm>
            <a:off x="2431462" y="5850194"/>
            <a:ext cx="1885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419" sz="2400" b="1" dirty="0" smtClean="0"/>
              <a:t>Private Cloud</a:t>
            </a:r>
            <a:br>
              <a:rPr lang="es-419" sz="2400" b="1" dirty="0" smtClean="0"/>
            </a:br>
            <a:r>
              <a:rPr lang="es-419" sz="2400" b="1" dirty="0" err="1" smtClean="0"/>
              <a:t>Deployments</a:t>
            </a:r>
            <a:endParaRPr lang="es-419" sz="2400" b="1" dirty="0" smtClean="0"/>
          </a:p>
        </p:txBody>
      </p:sp>
      <p:sp>
        <p:nvSpPr>
          <p:cNvPr id="24" name="Abrir llave 23"/>
          <p:cNvSpPr/>
          <p:nvPr/>
        </p:nvSpPr>
        <p:spPr>
          <a:xfrm>
            <a:off x="5653356" y="1703274"/>
            <a:ext cx="655624" cy="4697526"/>
          </a:xfrm>
          <a:prstGeom prst="leftBrace">
            <a:avLst>
              <a:gd name="adj1" fmla="val 52152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Abrir llave 109"/>
          <p:cNvSpPr/>
          <p:nvPr/>
        </p:nvSpPr>
        <p:spPr>
          <a:xfrm>
            <a:off x="7948848" y="1703570"/>
            <a:ext cx="655624" cy="2011008"/>
          </a:xfrm>
          <a:prstGeom prst="leftBrace">
            <a:avLst>
              <a:gd name="adj1" fmla="val 52152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Abrir llave 110"/>
          <p:cNvSpPr/>
          <p:nvPr/>
        </p:nvSpPr>
        <p:spPr>
          <a:xfrm>
            <a:off x="7948848" y="4124552"/>
            <a:ext cx="655624" cy="2150123"/>
          </a:xfrm>
          <a:prstGeom prst="leftBrace">
            <a:avLst>
              <a:gd name="adj1" fmla="val 52152"/>
              <a:gd name="adj2" fmla="val 5000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uadroTexto 29"/>
          <p:cNvSpPr txBox="1"/>
          <p:nvPr/>
        </p:nvSpPr>
        <p:spPr>
          <a:xfrm flipH="1">
            <a:off x="6180712" y="2384014"/>
            <a:ext cx="1530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800" b="1" dirty="0" err="1" smtClean="0"/>
              <a:t>Physical</a:t>
            </a:r>
            <a:endParaRPr lang="en-US" sz="2800" b="1" dirty="0"/>
          </a:p>
        </p:txBody>
      </p:sp>
      <p:sp>
        <p:nvSpPr>
          <p:cNvPr id="112" name="CuadroTexto 111"/>
          <p:cNvSpPr txBox="1"/>
          <p:nvPr/>
        </p:nvSpPr>
        <p:spPr>
          <a:xfrm flipH="1">
            <a:off x="6244846" y="4883145"/>
            <a:ext cx="1530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2800" b="1" dirty="0" smtClean="0"/>
              <a:t>Virtual</a:t>
            </a:r>
            <a:endParaRPr lang="en-US" sz="2800" b="1" dirty="0"/>
          </a:p>
        </p:txBody>
      </p:sp>
      <p:pic>
        <p:nvPicPr>
          <p:cNvPr id="115" name="Imagen 1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8806" y="1703275"/>
            <a:ext cx="2154896" cy="861958"/>
          </a:xfrm>
          <a:prstGeom prst="rect">
            <a:avLst/>
          </a:prstGeom>
        </p:spPr>
      </p:pic>
      <p:pic>
        <p:nvPicPr>
          <p:cNvPr id="120" name="Imagen 1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4308" y="4052037"/>
            <a:ext cx="2066990" cy="1007413"/>
          </a:xfrm>
          <a:prstGeom prst="rect">
            <a:avLst/>
          </a:prstGeom>
        </p:spPr>
      </p:pic>
      <p:pic>
        <p:nvPicPr>
          <p:cNvPr id="122" name="Imagen 12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1873" y="5059450"/>
            <a:ext cx="1931385" cy="1087554"/>
          </a:xfrm>
          <a:prstGeom prst="rect">
            <a:avLst/>
          </a:prstGeom>
        </p:spPr>
      </p:pic>
      <p:pic>
        <p:nvPicPr>
          <p:cNvPr id="123" name="Imagen 1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1776" y="2612342"/>
            <a:ext cx="1726731" cy="85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34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1083</TotalTime>
  <Words>198</Words>
  <Application>Microsoft Office PowerPoint</Application>
  <PresentationFormat>Panorámica</PresentationFormat>
  <Paragraphs>98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On-Premise Private Cloud Archicture</vt:lpstr>
      <vt:lpstr>Agenda</vt:lpstr>
      <vt:lpstr>Agenda</vt:lpstr>
      <vt:lpstr>Portfolio &amp; Services</vt:lpstr>
      <vt:lpstr>Hard/Software Defined Data Center</vt:lpstr>
      <vt:lpstr>Hardware Defined Anything (HDx)</vt:lpstr>
      <vt:lpstr>Certified SAP S4/HANA Hardware</vt:lpstr>
      <vt:lpstr>Hardware Architecture</vt:lpstr>
      <vt:lpstr>Bare Metal Disaster Recovery</vt:lpstr>
      <vt:lpstr>Agenda</vt:lpstr>
      <vt:lpstr>Presentación de PowerPoint</vt:lpstr>
      <vt:lpstr>Agenda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Oportunidad Dayco/SOS</dc:title>
  <dc:creator>Olaf Reitmaier</dc:creator>
  <cp:lastModifiedBy>Olaf Reitmaier</cp:lastModifiedBy>
  <cp:revision>61</cp:revision>
  <dcterms:created xsi:type="dcterms:W3CDTF">2018-12-03T17:57:53Z</dcterms:created>
  <dcterms:modified xsi:type="dcterms:W3CDTF">2018-12-05T17:28:47Z</dcterms:modified>
</cp:coreProperties>
</file>