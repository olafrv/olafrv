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8"/>
  </p:notesMasterIdLst>
  <p:handoutMasterIdLst>
    <p:handoutMasterId r:id="rId19"/>
  </p:handoutMasterIdLst>
  <p:sldIdLst>
    <p:sldId id="271" r:id="rId4"/>
    <p:sldId id="257" r:id="rId5"/>
    <p:sldId id="258" r:id="rId6"/>
    <p:sldId id="259" r:id="rId7"/>
    <p:sldId id="262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10080625" cy="7559675"/>
  <p:notesSz cx="7772400" cy="100584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80" y="72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E921F-9DB3-4376-A515-23F1D192AA65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56BC3-3852-46B4-9D84-697C3CC4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302914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D8BAF-2D22-480A-96EF-90CD61AC69B2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77875" y="4778375"/>
            <a:ext cx="6216650" cy="4525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D437C-D689-4E8A-B719-2855DAE25B5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01169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06532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1258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2760"/>
            <a:ext cx="9071640" cy="584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37004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37004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7" name="36 Imagen"/>
          <p:cNvPicPr/>
          <p:nvPr/>
        </p:nvPicPr>
        <p:blipFill>
          <a:blip r:embed="rId2"/>
          <a:stretch/>
        </p:blipFill>
        <p:spPr>
          <a:xfrm>
            <a:off x="1913400" y="1764000"/>
            <a:ext cx="6252480" cy="4988880"/>
          </a:xfrm>
          <a:prstGeom prst="rect">
            <a:avLst/>
          </a:prstGeom>
          <a:ln>
            <a:noFill/>
          </a:ln>
        </p:spPr>
      </p:pic>
      <p:pic>
        <p:nvPicPr>
          <p:cNvPr id="38" name="37 Imagen"/>
          <p:cNvPicPr/>
          <p:nvPr/>
        </p:nvPicPr>
        <p:blipFill>
          <a:blip r:embed="rId2"/>
          <a:stretch/>
        </p:blipFill>
        <p:spPr>
          <a:xfrm>
            <a:off x="1913400" y="1764000"/>
            <a:ext cx="6252480" cy="4988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504000" y="302760"/>
            <a:ext cx="9071640" cy="584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0400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15268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504000" y="437004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04000" y="437004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15268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50400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75 Imagen"/>
          <p:cNvPicPr/>
          <p:nvPr/>
        </p:nvPicPr>
        <p:blipFill>
          <a:blip r:embed="rId2"/>
          <a:stretch/>
        </p:blipFill>
        <p:spPr>
          <a:xfrm>
            <a:off x="1913400" y="1764000"/>
            <a:ext cx="6252480" cy="4988880"/>
          </a:xfrm>
          <a:prstGeom prst="rect">
            <a:avLst/>
          </a:prstGeom>
          <a:ln>
            <a:noFill/>
          </a:ln>
        </p:spPr>
      </p:pic>
      <p:pic>
        <p:nvPicPr>
          <p:cNvPr id="77" name="76 Imagen"/>
          <p:cNvPicPr/>
          <p:nvPr/>
        </p:nvPicPr>
        <p:blipFill>
          <a:blip r:embed="rId2"/>
          <a:stretch/>
        </p:blipFill>
        <p:spPr>
          <a:xfrm>
            <a:off x="1913400" y="1764000"/>
            <a:ext cx="6252480" cy="4988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504000" y="302760"/>
            <a:ext cx="9071640" cy="584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0400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15268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4000" y="437004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04000" y="4370040"/>
            <a:ext cx="907164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5152680" y="176400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515268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4370040"/>
            <a:ext cx="4426920" cy="237960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15" name="114 Imagen"/>
          <p:cNvPicPr/>
          <p:nvPr/>
        </p:nvPicPr>
        <p:blipFill>
          <a:blip r:embed="rId2"/>
          <a:stretch/>
        </p:blipFill>
        <p:spPr>
          <a:xfrm>
            <a:off x="1913400" y="1764000"/>
            <a:ext cx="6252480" cy="4988880"/>
          </a:xfrm>
          <a:prstGeom prst="rect">
            <a:avLst/>
          </a:prstGeom>
          <a:ln>
            <a:noFill/>
          </a:ln>
        </p:spPr>
      </p:pic>
      <p:pic>
        <p:nvPicPr>
          <p:cNvPr id="116" name="115 Imagen"/>
          <p:cNvPicPr/>
          <p:nvPr/>
        </p:nvPicPr>
        <p:blipFill>
          <a:blip r:embed="rId2"/>
          <a:stretch/>
        </p:blipFill>
        <p:spPr>
          <a:xfrm>
            <a:off x="1913400" y="1764000"/>
            <a:ext cx="6252480" cy="4988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s-VE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endParaRPr lang="es-VE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endParaRPr lang="es-VE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81C3420A-A5D1-492B-94CA-9D2DADB85533}" type="slidenum">
              <a:rPr lang="es-VE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es-VE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s-VE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Haga clic para modificar el estilo de título del patrón</a:t>
            </a:r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  <a:endParaRPr lang="es-VE" sz="353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  <a:endParaRPr lang="es-VE" sz="26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LevelHaga clic para modificar el estilo de texto del patrón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56000" lvl="7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Segundo nivel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888000" lvl="8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Tercer nivel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320000" lvl="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Cuarto nivel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320000" lvl="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Quinto nivel</a:t>
            </a:r>
            <a:endParaRPr lang="es-VE" sz="221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504000" y="7007040"/>
            <a:ext cx="2351880" cy="40212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endParaRPr lang="es-VE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443760" y="7007040"/>
            <a:ext cx="3191400" cy="402120"/>
          </a:xfrm>
          <a:prstGeom prst="rect">
            <a:avLst/>
          </a:prstGeom>
        </p:spPr>
        <p:txBody>
          <a:bodyPr anchor="ctr"/>
          <a:lstStyle/>
          <a:p>
            <a:endParaRPr lang="es-VE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7223760" y="7007040"/>
            <a:ext cx="2351880" cy="40212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EAC5FC35-6687-450B-B369-EACD44464430}" type="slidenum">
              <a:rPr lang="es-VE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es-VE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s-VE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Haga clic para modificar el estilo de título del patrón</a:t>
            </a:r>
            <a:endParaRPr lang="es-VE" sz="219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04000" y="1764000"/>
            <a:ext cx="9071640" cy="498888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VE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LevelHaga clic para modificar el estilo de texto del patrón</a:t>
            </a: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s-VE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Segundo nivel</a:t>
            </a:r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143000" lvl="2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VE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Tercer nivel</a:t>
            </a:r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600200" lvl="3" indent="-22824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Cuarto nivel</a:t>
            </a:r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057400" lvl="4" indent="-22824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s-VE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Quinto nivel</a:t>
            </a:r>
            <a:endParaRPr lang="es-V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/>
          </p:nvPr>
        </p:nvSpPr>
        <p:spPr>
          <a:xfrm>
            <a:off x="504000" y="7007040"/>
            <a:ext cx="2351880" cy="40212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endParaRPr lang="es-VE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/>
          </p:nvPr>
        </p:nvSpPr>
        <p:spPr>
          <a:xfrm>
            <a:off x="3443760" y="7007040"/>
            <a:ext cx="3191400" cy="402120"/>
          </a:xfrm>
          <a:prstGeom prst="rect">
            <a:avLst/>
          </a:prstGeom>
        </p:spPr>
        <p:txBody>
          <a:bodyPr anchor="ctr"/>
          <a:lstStyle/>
          <a:p>
            <a:endParaRPr lang="es-VE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/>
          </p:nvPr>
        </p:nvSpPr>
        <p:spPr>
          <a:xfrm>
            <a:off x="7223760" y="7007040"/>
            <a:ext cx="2351880" cy="40212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2387470F-CEFE-41C5-A399-578E0790BC00}" type="slidenum">
              <a:rPr lang="es-VE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es-VE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t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419040" y="4228920"/>
            <a:ext cx="9143640" cy="99107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>
                <a:solidFill>
                  <a:srgbClr val="FFC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Ciberseguridad en la nube</a:t>
            </a:r>
            <a:endParaRPr lang="es-VE" sz="3200" b="1" strike="noStrike" spc="-1" dirty="0">
              <a:solidFill>
                <a:srgbClr val="FFC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18" name="117 Imagen"/>
          <p:cNvPicPr/>
          <p:nvPr/>
        </p:nvPicPr>
        <p:blipFill>
          <a:blip r:embed="rId3"/>
          <a:stretch/>
        </p:blipFill>
        <p:spPr>
          <a:xfrm>
            <a:off x="419040" y="1371600"/>
            <a:ext cx="9143640" cy="2857320"/>
          </a:xfrm>
          <a:prstGeom prst="rect">
            <a:avLst/>
          </a:prstGeom>
          <a:ln>
            <a:noFill/>
          </a:ln>
        </p:spPr>
      </p:pic>
      <p:sp>
        <p:nvSpPr>
          <p:cNvPr id="119" name="TextShape 2"/>
          <p:cNvSpPr txBox="1"/>
          <p:nvPr/>
        </p:nvSpPr>
        <p:spPr>
          <a:xfrm>
            <a:off x="4824288" y="6089949"/>
            <a:ext cx="4685472" cy="8582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/>
            <a:r>
              <a:rPr lang="es-VE" sz="20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Olaf Reitmaier Veracierta</a:t>
            </a:r>
          </a:p>
          <a:p>
            <a:pPr algn="r"/>
            <a:r>
              <a:rPr lang="es-VE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Gerente de Arquitectura de Soluciones</a:t>
            </a:r>
          </a:p>
          <a:p>
            <a:pPr algn="r"/>
            <a:r>
              <a:rPr lang="es-VE" sz="20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Noviembre de 2017</a:t>
            </a:r>
          </a:p>
        </p:txBody>
      </p:sp>
      <p:pic>
        <p:nvPicPr>
          <p:cNvPr id="120" name="5 Imagen"/>
          <p:cNvPicPr/>
          <p:nvPr/>
        </p:nvPicPr>
        <p:blipFill>
          <a:blip r:embed="rId4"/>
          <a:stretch/>
        </p:blipFill>
        <p:spPr>
          <a:xfrm>
            <a:off x="461160" y="6126480"/>
            <a:ext cx="1001880" cy="809280"/>
          </a:xfrm>
          <a:prstGeom prst="rect">
            <a:avLst/>
          </a:prstGeom>
          <a:ln>
            <a:noFill/>
          </a:ln>
        </p:spPr>
      </p:pic>
      <p:pic>
        <p:nvPicPr>
          <p:cNvPr id="121" name="1 Imagen"/>
          <p:cNvPicPr/>
          <p:nvPr/>
        </p:nvPicPr>
        <p:blipFill>
          <a:blip r:embed="rId5"/>
          <a:stretch/>
        </p:blipFill>
        <p:spPr>
          <a:xfrm>
            <a:off x="1620000" y="6207480"/>
            <a:ext cx="666000" cy="6505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138839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504000" y="395461"/>
            <a:ext cx="9071640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Ciberseguridad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3" name="TextShape 2"/>
          <p:cNvSpPr txBox="1"/>
          <p:nvPr/>
        </p:nvSpPr>
        <p:spPr>
          <a:xfrm>
            <a:off x="504000" y="1371600"/>
            <a:ext cx="9071640" cy="5760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 algn="just">
              <a:buClr>
                <a:srgbClr val="000000"/>
              </a:buClr>
              <a:buSzPct val="45000"/>
            </a:pPr>
            <a:r>
              <a:rPr lang="es-VE" sz="2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seguridad</a:t>
            </a:r>
            <a:endParaRPr lang="es-VE" sz="24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Del lat. </a:t>
            </a:r>
            <a:r>
              <a:rPr lang="es-VE" sz="2400" b="1" i="1" strike="noStrike" spc="-1" dirty="0" err="1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securĭtas</a:t>
            </a: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-</a:t>
            </a:r>
            <a:r>
              <a:rPr lang="es-VE" sz="2400" b="1" i="1" strike="noStrike" spc="-1" dirty="0" err="1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ātis</a:t>
            </a: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 f. Cualidad de 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seguro 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(...)</a:t>
            </a:r>
          </a:p>
          <a:p>
            <a:pPr marL="108000" algn="just">
              <a:buClr>
                <a:srgbClr val="000000"/>
              </a:buClr>
              <a:buSzPct val="45000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</a:p>
          <a:p>
            <a:pPr marL="108000" algn="just">
              <a:buClr>
                <a:srgbClr val="000000"/>
              </a:buClr>
              <a:buSzPct val="45000"/>
            </a:pPr>
            <a:r>
              <a:rPr lang="es-VE" sz="2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seguro, </a:t>
            </a:r>
            <a:r>
              <a:rPr lang="es-VE" sz="2400" b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</a:t>
            </a:r>
            <a:endParaRPr lang="es-VE" sz="24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Del lat. </a:t>
            </a:r>
            <a:r>
              <a:rPr lang="es-VE" sz="2400" b="1" i="1" strike="noStrike" spc="-1" dirty="0" err="1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secūrus</a:t>
            </a: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adj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Libre y exento de 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riesgo. 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(…)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7. m. Lugar o sitio libre de todo 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peligro. 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(…)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10. m. 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Contrato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por el que alguien se obliga (…) a indemnizar</a:t>
            </a:r>
            <a:r>
              <a:rPr lang="es-VE" sz="2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 algn="just">
              <a:buClr>
                <a:srgbClr val="000000"/>
              </a:buClr>
              <a:buSzPct val="45000"/>
            </a:pPr>
            <a:r>
              <a:rPr lang="es-VE" sz="2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ciber-</a:t>
            </a:r>
            <a:endParaRPr lang="es-VE" sz="24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Del </a:t>
            </a:r>
            <a:r>
              <a:rPr lang="es-VE" sz="2400" b="1" i="1" strike="noStrike" spc="-1" dirty="0" err="1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ingl</a:t>
            </a: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</a:t>
            </a:r>
            <a:r>
              <a:rPr lang="es-VE" sz="2400" b="1" i="1" strike="noStrike" spc="-1" dirty="0" err="1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cyber</a:t>
            </a: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-, </a:t>
            </a:r>
            <a:r>
              <a:rPr lang="es-VE" sz="2400" b="1" i="1" strike="noStrike" spc="-1" dirty="0" err="1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acort</a:t>
            </a: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de </a:t>
            </a:r>
            <a:r>
              <a:rPr lang="es-VE" sz="2400" b="1" i="1" strike="noStrike" spc="-1" dirty="0" err="1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cybernetic</a:t>
            </a:r>
            <a:r>
              <a:rPr lang="es-VE" sz="2400" b="1" i="1" strike="noStrike" spc="-1" dirty="0">
                <a:solidFill>
                  <a:srgbClr val="0099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'cibernético'.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elem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compos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Indica 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relación con redes informáticas</a:t>
            </a:r>
            <a:r>
              <a:rPr lang="es-VE" sz="2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381" y="1371600"/>
            <a:ext cx="3815248" cy="1653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2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504000" y="467469"/>
            <a:ext cx="9071640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Ciberseguridad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529560" y="1563480"/>
            <a:ext cx="9071640" cy="547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Activos de información: </a:t>
            </a:r>
            <a:r>
              <a:rPr lang="es-VE" sz="24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datos o </a:t>
            </a:r>
            <a: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/>
            </a:r>
            <a:b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</a:br>
            <a: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conocimientos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que tienen </a:t>
            </a:r>
            <a: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valor</a:t>
            </a:r>
            <a:r>
              <a:rPr lang="es-VE" sz="2400" b="0" i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s-VE" sz="2400" b="1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Sistemas 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información: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componentes, aplicaciones, servicios</a:t>
            </a:r>
            <a:r>
              <a:rPr lang="es-VE" sz="2400" b="0" i="1" strike="noStrike" spc="-1" dirty="0">
                <a:solidFill>
                  <a:srgbClr val="6666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i="1" strike="noStrike" spc="-1" dirty="0">
                <a:uFill>
                  <a:solidFill>
                    <a:srgbClr val="FFFFFF"/>
                  </a:solidFill>
                </a:uFill>
                <a:latin typeface="Arial"/>
              </a:rPr>
              <a:t>u otros activos de tecnología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que permiten el manejo de la información.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s-VE" sz="2400" b="1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Seguridad 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la información (SI):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protección de </a:t>
            </a:r>
            <a:r>
              <a:rPr lang="es-VE" sz="24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activos de información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(...) de amenazas que ponen en riesgo información procesada (…)</a:t>
            </a:r>
            <a:r>
              <a:rPr lang="es-VE" sz="2400" b="0" i="1" strike="noStrike" spc="-1" dirty="0">
                <a:solidFill>
                  <a:srgbClr val="6666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por </a:t>
            </a:r>
            <a:r>
              <a:rPr lang="es-VE" sz="24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sistemas de </a:t>
            </a:r>
            <a: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información</a:t>
            </a:r>
            <a:r>
              <a:rPr lang="es-VE" sz="2400" b="0" i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(...) interconectados.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s-VE" sz="24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Ciberseguridad</a:t>
            </a:r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protección de </a:t>
            </a:r>
            <a:r>
              <a:rPr lang="es-VE" sz="24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activos y sistemas </a:t>
            </a:r>
            <a: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/>
            </a:r>
            <a:b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</a:br>
            <a:r>
              <a:rPr lang="es-VE" sz="2400" b="1" i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</a:t>
            </a:r>
            <a:r>
              <a:rPr lang="es-VE" sz="24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información conectados en redes digitales.</a:t>
            </a:r>
            <a:endParaRPr lang="es-VE" sz="2400" b="1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CustomShape 2"/>
          <p:cNvSpPr/>
          <p:nvPr/>
        </p:nvSpPr>
        <p:spPr>
          <a:xfrm>
            <a:off x="529560" y="5796061"/>
            <a:ext cx="9191272" cy="1080120"/>
          </a:xfrm>
          <a:prstGeom prst="flowChartAlternateProcess">
            <a:avLst/>
          </a:prstGeom>
          <a:noFill/>
          <a:ln w="57240"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440" y="1475581"/>
            <a:ext cx="1028760" cy="849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560" y="1581869"/>
            <a:ext cx="18478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3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504000" y="539477"/>
            <a:ext cx="9071640" cy="792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Nube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7" name="TextShape 2"/>
          <p:cNvSpPr txBox="1"/>
          <p:nvPr/>
        </p:nvSpPr>
        <p:spPr>
          <a:xfrm>
            <a:off x="504000" y="1567887"/>
            <a:ext cx="9071640" cy="52362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Estilo de computación </a:t>
            </a:r>
            <a:r>
              <a:rPr lang="es-VE" sz="2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escalable, elástica y ágil.</a:t>
            </a:r>
            <a:endParaRPr lang="es-VE" sz="26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s-VE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Consumo </a:t>
            </a:r>
            <a:r>
              <a:rPr lang="es-VE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</a:t>
            </a:r>
            <a:r>
              <a:rPr lang="es-VE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tecnología como servicio (TaaS</a:t>
            </a:r>
            <a:r>
              <a:rPr lang="es-VE" sz="2600" b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):</a:t>
            </a:r>
            <a:endParaRPr lang="es-VE" sz="26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Infraestructura</a:t>
            </a: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como servicio </a:t>
            </a:r>
            <a:r>
              <a:rPr lang="es-VE" sz="2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IaaS.</a:t>
            </a:r>
            <a:endParaRPr lang="es-VE" sz="26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Plataforma</a:t>
            </a: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como servicio </a:t>
            </a:r>
            <a:r>
              <a:rPr lang="es-VE" sz="2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PaaS.</a:t>
            </a:r>
            <a:endParaRPr lang="es-VE" sz="26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Software</a:t>
            </a: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como servicio </a:t>
            </a:r>
            <a:r>
              <a:rPr lang="es-VE" sz="2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SaaS.</a:t>
            </a:r>
            <a:endParaRPr lang="es-VE" sz="26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s-VE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Provee </a:t>
            </a:r>
            <a:r>
              <a:rPr lang="es-VE" sz="2600" b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bloques de construcción </a:t>
            </a:r>
            <a:r>
              <a:rPr lang="es-VE" sz="2600" strike="noStrike" spc="-1" dirty="0" smtClean="0">
                <a:uFill>
                  <a:solidFill>
                    <a:srgbClr val="FFFFFF"/>
                  </a:solidFill>
                </a:uFill>
                <a:latin typeface="Arial"/>
              </a:rPr>
              <a:t>(LEGO) </a:t>
            </a:r>
            <a:r>
              <a:rPr lang="es-VE" sz="26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mediante </a:t>
            </a:r>
            <a:br>
              <a:rPr lang="es-VE" sz="26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</a:br>
            <a:r>
              <a:rPr lang="es-VE" sz="26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 esquema de</a:t>
            </a: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costos operativos</a:t>
            </a:r>
            <a:r>
              <a:rPr lang="es-VE" sz="26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(OPEX</a:t>
            </a:r>
            <a:r>
              <a:rPr lang="es-VE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).</a:t>
            </a: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s-VE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 </a:t>
            </a:r>
            <a:r>
              <a:rPr lang="es-VE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 mayoría </a:t>
            </a:r>
            <a:r>
              <a:rPr lang="es-VE" sz="2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virtualizada</a:t>
            </a:r>
            <a:r>
              <a:rPr lang="es-VE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y </a:t>
            </a:r>
            <a:r>
              <a:rPr lang="es-VE" sz="2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geo-distribuida</a:t>
            </a:r>
            <a:r>
              <a:rPr lang="es-VE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  <a:endParaRPr lang="es-VE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6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Pública</a:t>
            </a:r>
            <a:r>
              <a:rPr lang="es-VE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(e.g. Amazon, </a:t>
            </a:r>
            <a:r>
              <a:rPr lang="es-VE" sz="2400" b="0" i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Azure).</a:t>
            </a:r>
            <a:endParaRPr lang="es-VE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6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Privada</a:t>
            </a:r>
            <a:r>
              <a:rPr lang="es-VE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física o lógica </a:t>
            </a:r>
            <a:r>
              <a:rPr lang="es-VE" sz="2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(e.g. DC </a:t>
            </a:r>
            <a:r>
              <a:rPr lang="es-VE" sz="2400" b="0" i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propio/3ero, DaycoCloud).</a:t>
            </a:r>
            <a:endParaRPr lang="es-VE" sz="2400" b="0" i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6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Híbrida: </a:t>
            </a:r>
            <a:r>
              <a:rPr lang="es-VE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privada</a:t>
            </a:r>
            <a:r>
              <a:rPr lang="es-VE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interconectada con </a:t>
            </a:r>
            <a:r>
              <a:rPr lang="es-VE" sz="26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pública</a:t>
            </a:r>
            <a:r>
              <a:rPr lang="es-VE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4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504000" y="323453"/>
            <a:ext cx="9071640" cy="93610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Evolución de la Inf. Digital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504000" y="2175120"/>
            <a:ext cx="207000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Tercerización</a:t>
            </a:r>
            <a:endParaRPr lang="es-VE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VE" sz="2000" b="1" strike="noStrike" spc="-1" dirty="0">
                <a:solidFill>
                  <a:srgbClr val="FF33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(Delegar)</a:t>
            </a:r>
            <a:endParaRPr lang="es-VE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TextShape 3"/>
          <p:cNvSpPr txBox="1"/>
          <p:nvPr/>
        </p:nvSpPr>
        <p:spPr>
          <a:xfrm>
            <a:off x="504000" y="4184640"/>
            <a:ext cx="215964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Virtualización</a:t>
            </a:r>
            <a:endParaRPr lang="es-VE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VE" sz="2000" b="1" strike="noStrike" spc="-1" dirty="0">
                <a:solidFill>
                  <a:srgbClr val="FF3333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(Compartir)</a:t>
            </a:r>
            <a:endParaRPr lang="es-VE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9" name="Line 4"/>
          <p:cNvSpPr/>
          <p:nvPr/>
        </p:nvSpPr>
        <p:spPr>
          <a:xfrm flipH="1" flipV="1">
            <a:off x="2737440" y="1665360"/>
            <a:ext cx="10800" cy="1708920"/>
          </a:xfrm>
          <a:prstGeom prst="line">
            <a:avLst/>
          </a:prstGeom>
          <a:ln w="57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5"/>
          <p:cNvSpPr/>
          <p:nvPr/>
        </p:nvSpPr>
        <p:spPr>
          <a:xfrm>
            <a:off x="2900880" y="1728360"/>
            <a:ext cx="731520" cy="1620720"/>
          </a:xfrm>
          <a:prstGeom prst="flowChartProcess">
            <a:avLst/>
          </a:prstGeom>
          <a:solidFill>
            <a:srgbClr val="FF66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CustomShape 6"/>
          <p:cNvSpPr/>
          <p:nvPr/>
        </p:nvSpPr>
        <p:spPr>
          <a:xfrm>
            <a:off x="3815280" y="2119320"/>
            <a:ext cx="731520" cy="1254960"/>
          </a:xfrm>
          <a:prstGeom prst="flowChartProcess">
            <a:avLst/>
          </a:prstGeom>
          <a:solidFill>
            <a:srgbClr val="FF66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2" name="CustomShape 7"/>
          <p:cNvSpPr/>
          <p:nvPr/>
        </p:nvSpPr>
        <p:spPr>
          <a:xfrm>
            <a:off x="4729680" y="2759400"/>
            <a:ext cx="731520" cy="614880"/>
          </a:xfrm>
          <a:prstGeom prst="flowChartProcess">
            <a:avLst/>
          </a:prstGeom>
          <a:solidFill>
            <a:srgbClr val="FF66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CustomShape 8"/>
          <p:cNvSpPr/>
          <p:nvPr/>
        </p:nvSpPr>
        <p:spPr>
          <a:xfrm>
            <a:off x="5644080" y="3099960"/>
            <a:ext cx="731520" cy="274320"/>
          </a:xfrm>
          <a:prstGeom prst="flowChartProcess">
            <a:avLst/>
          </a:prstGeom>
          <a:solidFill>
            <a:srgbClr val="FF66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9"/>
          <p:cNvSpPr/>
          <p:nvPr/>
        </p:nvSpPr>
        <p:spPr>
          <a:xfrm>
            <a:off x="6558480" y="2762640"/>
            <a:ext cx="731520" cy="611640"/>
          </a:xfrm>
          <a:prstGeom prst="flowChartProcess">
            <a:avLst/>
          </a:prstGeom>
          <a:solidFill>
            <a:srgbClr val="FF66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10"/>
          <p:cNvSpPr/>
          <p:nvPr/>
        </p:nvSpPr>
        <p:spPr>
          <a:xfrm>
            <a:off x="7564320" y="2122560"/>
            <a:ext cx="731520" cy="1251720"/>
          </a:xfrm>
          <a:prstGeom prst="flowChartProcess">
            <a:avLst/>
          </a:prstGeom>
          <a:solidFill>
            <a:srgbClr val="FF66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Line 11"/>
          <p:cNvSpPr/>
          <p:nvPr/>
        </p:nvSpPr>
        <p:spPr>
          <a:xfrm>
            <a:off x="2748240" y="3374280"/>
            <a:ext cx="6115680" cy="0"/>
          </a:xfrm>
          <a:prstGeom prst="line">
            <a:avLst/>
          </a:prstGeom>
          <a:ln w="57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Line 12"/>
          <p:cNvSpPr/>
          <p:nvPr/>
        </p:nvSpPr>
        <p:spPr>
          <a:xfrm flipH="1" flipV="1">
            <a:off x="2737440" y="3544560"/>
            <a:ext cx="10800" cy="1848240"/>
          </a:xfrm>
          <a:prstGeom prst="line">
            <a:avLst/>
          </a:prstGeom>
          <a:ln w="57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CustomShape 13"/>
          <p:cNvSpPr/>
          <p:nvPr/>
        </p:nvSpPr>
        <p:spPr>
          <a:xfrm>
            <a:off x="2900880" y="5281920"/>
            <a:ext cx="731520" cy="85680"/>
          </a:xfrm>
          <a:prstGeom prst="flowChartProcess">
            <a:avLst/>
          </a:prstGeom>
          <a:solidFill>
            <a:srgbClr val="666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TextShape 14"/>
          <p:cNvSpPr txBox="1"/>
          <p:nvPr/>
        </p:nvSpPr>
        <p:spPr>
          <a:xfrm>
            <a:off x="2850480" y="5484240"/>
            <a:ext cx="82296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1970</a:t>
            </a:r>
          </a:p>
        </p:txBody>
      </p:sp>
      <p:sp>
        <p:nvSpPr>
          <p:cNvPr id="150" name="TextShape 15"/>
          <p:cNvSpPr txBox="1"/>
          <p:nvPr/>
        </p:nvSpPr>
        <p:spPr>
          <a:xfrm>
            <a:off x="3715200" y="5484240"/>
            <a:ext cx="82296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1980</a:t>
            </a:r>
          </a:p>
        </p:txBody>
      </p:sp>
      <p:sp>
        <p:nvSpPr>
          <p:cNvPr id="151" name="TextShape 16"/>
          <p:cNvSpPr txBox="1"/>
          <p:nvPr/>
        </p:nvSpPr>
        <p:spPr>
          <a:xfrm>
            <a:off x="4671360" y="5484240"/>
            <a:ext cx="82296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1990</a:t>
            </a:r>
          </a:p>
        </p:txBody>
      </p:sp>
      <p:sp>
        <p:nvSpPr>
          <p:cNvPr id="152" name="TextShape 17"/>
          <p:cNvSpPr txBox="1"/>
          <p:nvPr/>
        </p:nvSpPr>
        <p:spPr>
          <a:xfrm>
            <a:off x="5572080" y="5484240"/>
            <a:ext cx="82296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2000</a:t>
            </a:r>
          </a:p>
        </p:txBody>
      </p:sp>
      <p:sp>
        <p:nvSpPr>
          <p:cNvPr id="153" name="TextShape 18"/>
          <p:cNvSpPr txBox="1"/>
          <p:nvPr/>
        </p:nvSpPr>
        <p:spPr>
          <a:xfrm>
            <a:off x="6505920" y="5484240"/>
            <a:ext cx="82296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2010</a:t>
            </a:r>
          </a:p>
        </p:txBody>
      </p:sp>
      <p:sp>
        <p:nvSpPr>
          <p:cNvPr id="154" name="TextShape 19"/>
          <p:cNvSpPr txBox="1"/>
          <p:nvPr/>
        </p:nvSpPr>
        <p:spPr>
          <a:xfrm>
            <a:off x="7511760" y="5484240"/>
            <a:ext cx="82296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8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2020</a:t>
            </a:r>
            <a:endParaRPr lang="es-VE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CustomShape 20"/>
          <p:cNvSpPr/>
          <p:nvPr/>
        </p:nvSpPr>
        <p:spPr>
          <a:xfrm>
            <a:off x="3815280" y="5190480"/>
            <a:ext cx="731520" cy="202320"/>
          </a:xfrm>
          <a:prstGeom prst="flowChartProcess">
            <a:avLst/>
          </a:prstGeom>
          <a:solidFill>
            <a:srgbClr val="666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CustomShape 21"/>
          <p:cNvSpPr/>
          <p:nvPr/>
        </p:nvSpPr>
        <p:spPr>
          <a:xfrm>
            <a:off x="4729680" y="5007600"/>
            <a:ext cx="731520" cy="385200"/>
          </a:xfrm>
          <a:prstGeom prst="flowChartProcess">
            <a:avLst/>
          </a:prstGeom>
          <a:solidFill>
            <a:srgbClr val="666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22"/>
          <p:cNvSpPr/>
          <p:nvPr/>
        </p:nvSpPr>
        <p:spPr>
          <a:xfrm>
            <a:off x="5644080" y="4824720"/>
            <a:ext cx="731520" cy="568080"/>
          </a:xfrm>
          <a:prstGeom prst="flowChartProcess">
            <a:avLst/>
          </a:prstGeom>
          <a:solidFill>
            <a:srgbClr val="666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23"/>
          <p:cNvSpPr/>
          <p:nvPr/>
        </p:nvSpPr>
        <p:spPr>
          <a:xfrm>
            <a:off x="6558480" y="4001760"/>
            <a:ext cx="731520" cy="1391040"/>
          </a:xfrm>
          <a:prstGeom prst="flowChartProcess">
            <a:avLst/>
          </a:prstGeom>
          <a:solidFill>
            <a:srgbClr val="666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CustomShape 24"/>
          <p:cNvSpPr/>
          <p:nvPr/>
        </p:nvSpPr>
        <p:spPr>
          <a:xfrm>
            <a:off x="7564320" y="3746880"/>
            <a:ext cx="731520" cy="1645920"/>
          </a:xfrm>
          <a:prstGeom prst="flowChartProcess">
            <a:avLst/>
          </a:prstGeom>
          <a:solidFill>
            <a:srgbClr val="6666F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Line 25"/>
          <p:cNvSpPr/>
          <p:nvPr/>
        </p:nvSpPr>
        <p:spPr>
          <a:xfrm>
            <a:off x="2748240" y="5392800"/>
            <a:ext cx="6115680" cy="0"/>
          </a:xfrm>
          <a:prstGeom prst="line">
            <a:avLst/>
          </a:prstGeom>
          <a:ln w="5724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CustomShape 26"/>
          <p:cNvSpPr/>
          <p:nvPr/>
        </p:nvSpPr>
        <p:spPr>
          <a:xfrm>
            <a:off x="2756880" y="5985360"/>
            <a:ext cx="36576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Centro de Datos</a:t>
            </a:r>
            <a:endParaRPr lang="es-VE" sz="1800" b="1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CustomShape 27"/>
          <p:cNvSpPr/>
          <p:nvPr/>
        </p:nvSpPr>
        <p:spPr>
          <a:xfrm>
            <a:off x="4951440" y="6315120"/>
            <a:ext cx="1463040" cy="274320"/>
          </a:xfrm>
          <a:prstGeom prst="rect">
            <a:avLst/>
          </a:prstGeom>
          <a:solidFill>
            <a:srgbClr val="0099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Propio</a:t>
            </a:r>
            <a:endParaRPr lang="es-VE" sz="1800" b="1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28"/>
          <p:cNvSpPr/>
          <p:nvPr/>
        </p:nvSpPr>
        <p:spPr>
          <a:xfrm>
            <a:off x="6505920" y="5985360"/>
            <a:ext cx="1737360" cy="2743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Nube</a:t>
            </a:r>
          </a:p>
        </p:txBody>
      </p:sp>
      <p:sp>
        <p:nvSpPr>
          <p:cNvPr id="164" name="CustomShape 29"/>
          <p:cNvSpPr/>
          <p:nvPr/>
        </p:nvSpPr>
        <p:spPr>
          <a:xfrm>
            <a:off x="2767680" y="6315120"/>
            <a:ext cx="2092320" cy="2743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Tercero</a:t>
            </a:r>
            <a:endParaRPr lang="es-VE" sz="1800" b="1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30"/>
          <p:cNvSpPr/>
          <p:nvPr/>
        </p:nvSpPr>
        <p:spPr>
          <a:xfrm>
            <a:off x="6505920" y="6328800"/>
            <a:ext cx="1726560" cy="2743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Tercero</a:t>
            </a:r>
            <a:endParaRPr lang="es-VE" sz="1800" b="1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TextShape 31"/>
          <p:cNvSpPr txBox="1"/>
          <p:nvPr/>
        </p:nvSpPr>
        <p:spPr>
          <a:xfrm>
            <a:off x="4937760" y="1665360"/>
            <a:ext cx="182880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Ubicación</a:t>
            </a:r>
          </a:p>
        </p:txBody>
      </p:sp>
      <p:sp>
        <p:nvSpPr>
          <p:cNvPr id="167" name="TextShape 32"/>
          <p:cNvSpPr txBox="1"/>
          <p:nvPr/>
        </p:nvSpPr>
        <p:spPr>
          <a:xfrm>
            <a:off x="4898880" y="3655440"/>
            <a:ext cx="182880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Control</a:t>
            </a:r>
          </a:p>
        </p:txBody>
      </p:sp>
      <p:sp>
        <p:nvSpPr>
          <p:cNvPr id="34" name="CustomShape 29"/>
          <p:cNvSpPr/>
          <p:nvPr/>
        </p:nvSpPr>
        <p:spPr>
          <a:xfrm>
            <a:off x="2769120" y="6673869"/>
            <a:ext cx="2802960" cy="274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IaaS</a:t>
            </a:r>
            <a:endParaRPr lang="es-VE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CustomShape 29"/>
          <p:cNvSpPr/>
          <p:nvPr/>
        </p:nvSpPr>
        <p:spPr>
          <a:xfrm>
            <a:off x="5682960" y="6675024"/>
            <a:ext cx="1310014" cy="27316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PaaS</a:t>
            </a:r>
            <a:endParaRPr lang="es-VE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CustomShape 29"/>
          <p:cNvSpPr/>
          <p:nvPr/>
        </p:nvSpPr>
        <p:spPr>
          <a:xfrm>
            <a:off x="7056536" y="6675024"/>
            <a:ext cx="1175944" cy="27316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s-VE" sz="1800" b="1" strike="noStrike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SaaS</a:t>
            </a:r>
            <a:endParaRPr lang="es-VE" sz="1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5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504000" y="395461"/>
            <a:ext cx="9071640" cy="89044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Transformación Digital</a:t>
            </a:r>
          </a:p>
        </p:txBody>
      </p:sp>
      <p:pic>
        <p:nvPicPr>
          <p:cNvPr id="129" name="128 Imagen"/>
          <p:cNvPicPr/>
          <p:nvPr/>
        </p:nvPicPr>
        <p:blipFill>
          <a:blip r:embed="rId2"/>
          <a:stretch/>
        </p:blipFill>
        <p:spPr>
          <a:xfrm>
            <a:off x="503999" y="1357912"/>
            <a:ext cx="9088595" cy="5230237"/>
          </a:xfrm>
          <a:prstGeom prst="rect">
            <a:avLst/>
          </a:prstGeom>
          <a:ln>
            <a:noFill/>
          </a:ln>
        </p:spPr>
      </p:pic>
      <p:sp>
        <p:nvSpPr>
          <p:cNvPr id="130" name="CustomShape 2"/>
          <p:cNvSpPr/>
          <p:nvPr/>
        </p:nvSpPr>
        <p:spPr>
          <a:xfrm>
            <a:off x="6928562" y="2067687"/>
            <a:ext cx="2103120" cy="1296144"/>
          </a:xfrm>
          <a:prstGeom prst="flowChartAlternateProcess">
            <a:avLst/>
          </a:prstGeom>
          <a:noFill/>
          <a:ln w="57240">
            <a:solidFill>
              <a:srgbClr val="FF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4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6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504000" y="395461"/>
            <a:ext cx="9071640" cy="792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Ecosistema Digital </a:t>
            </a:r>
            <a:r>
              <a:rPr lang="es-VE" sz="4400" b="0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(Complejo)</a:t>
            </a:r>
          </a:p>
        </p:txBody>
      </p:sp>
      <p:pic>
        <p:nvPicPr>
          <p:cNvPr id="132" name="131 Imagen"/>
          <p:cNvPicPr/>
          <p:nvPr/>
        </p:nvPicPr>
        <p:blipFill>
          <a:blip r:embed="rId2"/>
          <a:stretch/>
        </p:blipFill>
        <p:spPr>
          <a:xfrm>
            <a:off x="290880" y="1386720"/>
            <a:ext cx="9601200" cy="5562720"/>
          </a:xfrm>
          <a:prstGeom prst="rect">
            <a:avLst/>
          </a:prstGeom>
          <a:ln>
            <a:noFill/>
          </a:ln>
        </p:spPr>
      </p:pic>
      <p:sp>
        <p:nvSpPr>
          <p:cNvPr id="133" name="CustomShape 2"/>
          <p:cNvSpPr/>
          <p:nvPr/>
        </p:nvSpPr>
        <p:spPr>
          <a:xfrm>
            <a:off x="3108960" y="2560320"/>
            <a:ext cx="91440" cy="91440"/>
          </a:xfrm>
          <a:prstGeom prst="ellipse">
            <a:avLst/>
          </a:prstGeom>
          <a:noFill/>
          <a:ln>
            <a:solidFill>
              <a:srgbClr val="FF333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CustomShape 3"/>
          <p:cNvSpPr/>
          <p:nvPr/>
        </p:nvSpPr>
        <p:spPr>
          <a:xfrm>
            <a:off x="548640" y="1428998"/>
            <a:ext cx="5212080" cy="968400"/>
          </a:xfrm>
          <a:prstGeom prst="flowChartAlternateProcess">
            <a:avLst/>
          </a:prstGeom>
          <a:noFill/>
          <a:ln w="57240">
            <a:solidFill>
              <a:srgbClr val="FF0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TextShape 4"/>
          <p:cNvSpPr txBox="1"/>
          <p:nvPr/>
        </p:nvSpPr>
        <p:spPr>
          <a:xfrm>
            <a:off x="290880" y="6585273"/>
            <a:ext cx="9326880" cy="402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2000" b="1" strike="noStrike" spc="-1" dirty="0" smtClean="0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Ciberseguridad</a:t>
            </a:r>
            <a:r>
              <a:rPr lang="es-VE" sz="2000" b="1" spc="-1" dirty="0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000" b="1" spc="-1" dirty="0" smtClean="0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 </a:t>
            </a:r>
            <a:r>
              <a:rPr lang="es-VE" sz="2000" b="1" strike="noStrike" spc="-1" dirty="0" smtClean="0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Computación </a:t>
            </a:r>
            <a:r>
              <a:rPr lang="es-VE" sz="2000" b="1" strike="noStrike" spc="-1" dirty="0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 la </a:t>
            </a:r>
            <a:r>
              <a:rPr lang="es-VE" sz="2000" b="1" strike="noStrike" spc="-1" dirty="0" smtClean="0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nube - </a:t>
            </a:r>
            <a:r>
              <a:rPr lang="es-VE" sz="2000" b="1" strike="noStrike" spc="-1" dirty="0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Internet de las Cosas</a:t>
            </a:r>
            <a:endParaRPr lang="es-VE" b="1" strike="noStrike" spc="-1" dirty="0">
              <a:solidFill>
                <a:srgbClr val="FF0066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7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504000" y="467469"/>
            <a:ext cx="9071640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Estándares de Seg. Inf. (SI)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9" name="TextShape 2"/>
          <p:cNvSpPr txBox="1"/>
          <p:nvPr/>
        </p:nvSpPr>
        <p:spPr>
          <a:xfrm>
            <a:off x="539402" y="1595432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ISO/IEC 27001 / 27002. </a:t>
            </a:r>
            <a:endParaRPr lang="es-VE" sz="32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 algn="just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800" b="0" i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Information</a:t>
            </a:r>
            <a:r>
              <a:rPr lang="es-VE" sz="2800" b="0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Security </a:t>
            </a:r>
            <a:r>
              <a:rPr lang="es-VE" sz="2800" b="0" i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Managment</a:t>
            </a:r>
            <a:r>
              <a:rPr lang="es-VE" sz="2800" b="0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System.</a:t>
            </a:r>
            <a:endParaRPr lang="es-VE" sz="28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COBIT v4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British </a:t>
            </a:r>
            <a:r>
              <a:rPr lang="es-VE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Standart</a:t>
            </a: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7799 </a:t>
            </a:r>
            <a:r>
              <a:rPr lang="es-VE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</a:t>
            </a: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3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ITIL v3 (ISO/IEC 20000)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“</a:t>
            </a:r>
            <a:r>
              <a:rPr lang="es-VE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Common</a:t>
            </a: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Criteria</a:t>
            </a: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” (ISO/IEC 14508)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NIST </a:t>
            </a:r>
            <a:r>
              <a:rPr lang="es-VE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Standards</a:t>
            </a: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and </a:t>
            </a:r>
            <a:r>
              <a:rPr lang="es-VE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Publications</a:t>
            </a:r>
            <a:endParaRPr lang="es-VE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SANS Institute Policy </a:t>
            </a:r>
            <a:r>
              <a:rPr lang="es-VE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Resource</a:t>
            </a:r>
            <a:endParaRPr lang="es-VE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8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1"/>
          <p:cNvSpPr txBox="1"/>
          <p:nvPr/>
        </p:nvSpPr>
        <p:spPr>
          <a:xfrm>
            <a:off x="504000" y="467469"/>
            <a:ext cx="9071640" cy="93610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Estándares de Ciberseguridad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TextShape 2"/>
          <p:cNvSpPr txBox="1"/>
          <p:nvPr/>
        </p:nvSpPr>
        <p:spPr>
          <a:xfrm>
            <a:off x="647247" y="1563479"/>
            <a:ext cx="9071640" cy="54567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NIST Cybersecurity Framework.</a:t>
            </a:r>
            <a:endParaRPr lang="es-VE" sz="24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Standard of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Good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Practice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for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Information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Security.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Common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Weakness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Enumeration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(Community): </a:t>
            </a:r>
          </a:p>
          <a:p>
            <a:pPr marL="864000" lvl="1" indent="-324000" algn="just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SANS Institute Top 25.</a:t>
            </a:r>
          </a:p>
          <a:p>
            <a:pPr marL="864000" lvl="1" indent="-324000" algn="just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Open Web Application Security Project Top 10.</a:t>
            </a:r>
            <a:endParaRPr lang="es-VE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NERC CSS/CIP for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Cyber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Assets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of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Bulk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Power System. 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ISA/IEC-62443 (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formerly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ISA-99)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Secure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Industrial 
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Automation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and Control Systems.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IASME seguridad de la información en PYMES (UK).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PCI/DSS 3.0:</a:t>
            </a:r>
            <a:r>
              <a:rPr lang="es-VE" sz="2400" b="1" strike="noStrike" spc="-1" dirty="0">
                <a:solidFill>
                  <a:srgbClr val="6666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Payment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Card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Industry</a:t>
            </a:r>
            <a:r>
              <a:rPr lang="es-VE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Data Security Standard.</a:t>
            </a: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AWS Security </a:t>
            </a:r>
            <a:r>
              <a:rPr lang="es-VE" sz="2800" b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Best</a:t>
            </a:r>
            <a:r>
              <a:rPr lang="es-VE" sz="2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800" b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Practices</a:t>
            </a:r>
            <a:r>
              <a:rPr lang="es-VE" sz="2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  <a:endParaRPr lang="es-VE" sz="20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Microsoft Azure </a:t>
            </a:r>
            <a:r>
              <a:rPr lang="es-VE" sz="2800" b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Best</a:t>
            </a:r>
            <a:r>
              <a:rPr lang="es-VE" sz="2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800" b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Practices</a:t>
            </a:r>
            <a:r>
              <a:rPr lang="es-VE" sz="2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  <a:r>
              <a:rPr lang="es-VE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endParaRPr lang="es-VE" sz="20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9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171 Imagen"/>
          <p:cNvPicPr/>
          <p:nvPr/>
        </p:nvPicPr>
        <p:blipFill>
          <a:blip r:embed="rId2"/>
          <a:srcRect t="19261"/>
          <a:stretch/>
        </p:blipFill>
        <p:spPr>
          <a:xfrm>
            <a:off x="731520" y="1771920"/>
            <a:ext cx="8759160" cy="4446000"/>
          </a:xfrm>
          <a:prstGeom prst="rect">
            <a:avLst/>
          </a:prstGeom>
          <a:ln>
            <a:noFill/>
          </a:ln>
        </p:spPr>
      </p:pic>
      <p:sp>
        <p:nvSpPr>
          <p:cNvPr id="173" name="TextShape 1"/>
          <p:cNvSpPr txBox="1"/>
          <p:nvPr/>
        </p:nvSpPr>
        <p:spPr>
          <a:xfrm>
            <a:off x="504360" y="467469"/>
            <a:ext cx="9071640" cy="93610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36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Marco de </a:t>
            </a:r>
            <a:r>
              <a:rPr lang="es-VE" sz="36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Trabajo para Ciberseguridad</a:t>
            </a:r>
            <a:endParaRPr lang="es-VE" sz="36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TextShape 2"/>
          <p:cNvSpPr txBox="1"/>
          <p:nvPr/>
        </p:nvSpPr>
        <p:spPr>
          <a:xfrm>
            <a:off x="914400" y="6255720"/>
            <a:ext cx="8412480" cy="971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3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Personas – Procesos – Tecnologías</a:t>
            </a:r>
            <a:endParaRPr lang="es-VE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VE" sz="2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NIST </a:t>
            </a:r>
            <a:r>
              <a:rPr lang="es-VE" sz="2600" b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Cyber</a:t>
            </a:r>
            <a:r>
              <a:rPr lang="es-VE" sz="2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Security Framework</a:t>
            </a:r>
            <a:endParaRPr lang="es-VE" sz="18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640080" y="1771920"/>
            <a:ext cx="1828800" cy="4080240"/>
          </a:xfrm>
          <a:prstGeom prst="flowChartAlternateProcess">
            <a:avLst/>
          </a:prstGeom>
          <a:noFill/>
          <a:ln w="57240">
            <a:solidFill>
              <a:srgbClr val="333300"/>
            </a:solidFill>
            <a:custDash>
              <a:ds d="100000" sp="1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4"/>
          <p:cNvSpPr/>
          <p:nvPr/>
        </p:nvSpPr>
        <p:spPr>
          <a:xfrm>
            <a:off x="5979600" y="1771920"/>
            <a:ext cx="3547080" cy="1794240"/>
          </a:xfrm>
          <a:prstGeom prst="flowChartAlternateProcess">
            <a:avLst/>
          </a:prstGeom>
          <a:noFill/>
          <a:ln w="57240">
            <a:solidFill>
              <a:srgbClr val="333300"/>
            </a:solidFill>
            <a:custDash>
              <a:ds d="100000" sp="1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504000" y="467469"/>
            <a:ext cx="9071640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Amenazas y riesgos en la nube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8" name="TextShape 2"/>
          <p:cNvSpPr txBox="1"/>
          <p:nvPr/>
        </p:nvSpPr>
        <p:spPr>
          <a:xfrm>
            <a:off x="504000" y="1549996"/>
            <a:ext cx="9071640" cy="5499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Ataques de (Distribuidos) </a:t>
            </a:r>
            <a:r>
              <a:rPr lang="es-VE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Denegación de Servicio </a:t>
            </a:r>
            <a:r>
              <a:rPr lang="es-VE" sz="2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(D)DoS.</a:t>
            </a:r>
            <a:endParaRPr lang="es-VE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TCP/UDP, NTP, DNS, HTTP(S), Botnets</a:t>
            </a:r>
            <a:r>
              <a:rPr lang="es-VE" sz="2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endParaRPr lang="es-VE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Explotación de vulnerabilidades</a:t>
            </a:r>
            <a:r>
              <a:rPr lang="es-VE" sz="2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desde</a:t>
            </a:r>
            <a:r>
              <a:rPr lang="es-VE" sz="2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</a:t>
            </a:r>
            <a:endParaRPr lang="es-VE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Web / Internet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(OWASP Top 10, Ingeniería Social).</a:t>
            </a: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Redes privadas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locales hacia la nube (VPN, Troyanos</a:t>
            </a:r>
            <a:r>
              <a:rPr lang="es-VE" sz="2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).</a:t>
            </a: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endParaRPr lang="es-VE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Insuficiencia </a:t>
            </a:r>
            <a:r>
              <a:rPr lang="es-VE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personal</a:t>
            </a:r>
            <a:r>
              <a:rPr lang="es-VE" sz="2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adiestrado en seguridad</a:t>
            </a:r>
            <a:r>
              <a:rPr lang="es-VE" sz="2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endParaRPr lang="es-VE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Ausencia de respaldos 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locales y alternos (e.g. Ransomware</a:t>
            </a:r>
            <a:r>
              <a:rPr lang="es-VE" sz="2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).</a:t>
            </a: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endParaRPr lang="es-VE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Ausencia de </a:t>
            </a:r>
            <a:r>
              <a:rPr lang="es-VE" sz="2200" b="1" strike="noStrike" spc="-1" dirty="0" smtClean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visibilidad </a:t>
            </a:r>
            <a:r>
              <a:rPr lang="es-VE" sz="2200" b="1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 través de un </a:t>
            </a:r>
            <a:r>
              <a:rPr lang="es-VE" sz="2200" b="1" strike="noStrike" spc="-1" dirty="0" smtClean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SIEM</a:t>
            </a:r>
            <a:r>
              <a:rPr lang="es-VE" sz="2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endParaRPr lang="es-VE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Caída de los servicios </a:t>
            </a:r>
            <a:r>
              <a:rPr lang="es-VE" sz="2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la nube: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Error de diseño 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arquitectura (e.g. tolerancia, redundancia).</a:t>
            </a: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Error humano o robotizado 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(i.e. falso positivo de IA).</a:t>
            </a:r>
          </a:p>
          <a:p>
            <a:pPr marL="864000" lvl="1" indent="-324000" algn="just">
              <a:buClr>
                <a:srgbClr val="000000"/>
              </a:buClr>
              <a:buFont typeface="StarSymbol"/>
              <a:buAutoNum type="arabicPeriod"/>
            </a:pPr>
            <a:r>
              <a:rPr lang="es-VE" sz="22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Desastres naturales </a:t>
            </a:r>
            <a:r>
              <a:rPr lang="es-VE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 otros eventos fortuitos.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11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1"/>
          <p:cNvSpPr txBox="1"/>
          <p:nvPr/>
        </p:nvSpPr>
        <p:spPr>
          <a:xfrm>
            <a:off x="1577880" y="6949440"/>
            <a:ext cx="6834600" cy="346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https://www.dragonjar.org/owasp-top-ten-project-en-espanol.xhtml</a:t>
            </a:r>
          </a:p>
        </p:txBody>
      </p:sp>
      <p:sp>
        <p:nvSpPr>
          <p:cNvPr id="180" name="TextShape 2"/>
          <p:cNvSpPr txBox="1"/>
          <p:nvPr/>
        </p:nvSpPr>
        <p:spPr>
          <a:xfrm>
            <a:off x="504360" y="301320"/>
            <a:ext cx="9071640" cy="8862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Vulnerabilidades en </a:t>
            </a:r>
            <a:r>
              <a:rPr lang="es-VE" sz="4400" b="1" strike="noStrike" spc="-1" dirty="0" err="1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Aplic</a:t>
            </a:r>
            <a:r>
              <a:rPr lang="es-VE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Web</a:t>
            </a:r>
            <a:endParaRPr lang="es-VE" sz="44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81" name="180 Imagen"/>
          <p:cNvPicPr/>
          <p:nvPr/>
        </p:nvPicPr>
        <p:blipFill>
          <a:blip r:embed="rId2"/>
          <a:stretch/>
        </p:blipFill>
        <p:spPr>
          <a:xfrm>
            <a:off x="1139040" y="1463040"/>
            <a:ext cx="3209400" cy="5285880"/>
          </a:xfrm>
          <a:prstGeom prst="rect">
            <a:avLst/>
          </a:prstGeom>
          <a:ln>
            <a:noFill/>
          </a:ln>
        </p:spPr>
      </p:pic>
      <p:sp>
        <p:nvSpPr>
          <p:cNvPr id="182" name="CustomShape 3"/>
          <p:cNvSpPr/>
          <p:nvPr/>
        </p:nvSpPr>
        <p:spPr>
          <a:xfrm>
            <a:off x="1139040" y="1956240"/>
            <a:ext cx="3165120" cy="1463040"/>
          </a:xfrm>
          <a:prstGeom prst="flowChartAlternateProcess">
            <a:avLst/>
          </a:prstGeom>
          <a:noFill/>
          <a:ln w="57240">
            <a:solidFill>
              <a:srgbClr val="FF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83" name="182 Imagen"/>
          <p:cNvPicPr/>
          <p:nvPr/>
        </p:nvPicPr>
        <p:blipFill>
          <a:blip r:embed="rId3"/>
          <a:stretch/>
        </p:blipFill>
        <p:spPr>
          <a:xfrm>
            <a:off x="4555080" y="1463040"/>
            <a:ext cx="4699800" cy="3108960"/>
          </a:xfrm>
          <a:prstGeom prst="rect">
            <a:avLst/>
          </a:prstGeom>
          <a:ln>
            <a:noFill/>
          </a:ln>
        </p:spPr>
      </p:pic>
      <p:pic>
        <p:nvPicPr>
          <p:cNvPr id="184" name="183 Imagen"/>
          <p:cNvPicPr/>
          <p:nvPr/>
        </p:nvPicPr>
        <p:blipFill>
          <a:blip r:embed="rId4"/>
          <a:stretch/>
        </p:blipFill>
        <p:spPr>
          <a:xfrm>
            <a:off x="4555080" y="4069440"/>
            <a:ext cx="4699800" cy="2605680"/>
          </a:xfrm>
          <a:prstGeom prst="rect">
            <a:avLst/>
          </a:prstGeom>
          <a:ln>
            <a:noFill/>
          </a:ln>
        </p:spPr>
      </p:pic>
      <p:sp>
        <p:nvSpPr>
          <p:cNvPr id="8" name="7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12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Line 1"/>
          <p:cNvSpPr/>
          <p:nvPr/>
        </p:nvSpPr>
        <p:spPr>
          <a:xfrm>
            <a:off x="4931640" y="1260157"/>
            <a:ext cx="0" cy="4835880"/>
          </a:xfrm>
          <a:prstGeom prst="line">
            <a:avLst/>
          </a:prstGeom>
          <a:ln w="9360">
            <a:solidFill>
              <a:srgbClr val="808080"/>
            </a:solidFill>
            <a:custDash>
              <a:ds d="1000000" sp="400000"/>
              <a:ds d="100000" sp="400000"/>
              <a:ds d="100000" sp="4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Line 2"/>
          <p:cNvSpPr/>
          <p:nvPr/>
        </p:nvSpPr>
        <p:spPr>
          <a:xfrm>
            <a:off x="527760" y="4711117"/>
            <a:ext cx="8981280" cy="360"/>
          </a:xfrm>
          <a:prstGeom prst="line">
            <a:avLst/>
          </a:prstGeom>
          <a:ln w="28440">
            <a:solidFill>
              <a:srgbClr val="FF0066"/>
            </a:solidFill>
            <a:custDash>
              <a:ds d="8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3" name="Line 3"/>
          <p:cNvSpPr/>
          <p:nvPr/>
        </p:nvSpPr>
        <p:spPr>
          <a:xfrm>
            <a:off x="486360" y="3441037"/>
            <a:ext cx="8981640" cy="360"/>
          </a:xfrm>
          <a:prstGeom prst="line">
            <a:avLst/>
          </a:prstGeom>
          <a:ln w="28440">
            <a:solidFill>
              <a:srgbClr val="E46C0A"/>
            </a:solidFill>
            <a:custDash>
              <a:ds d="800000" sp="300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94" name="Picture 14"/>
          <p:cNvPicPr/>
          <p:nvPr/>
        </p:nvPicPr>
        <p:blipFill>
          <a:blip r:embed="rId2"/>
          <a:stretch/>
        </p:blipFill>
        <p:spPr>
          <a:xfrm>
            <a:off x="1818000" y="3121717"/>
            <a:ext cx="673560" cy="673560"/>
          </a:xfrm>
          <a:prstGeom prst="rect">
            <a:avLst/>
          </a:prstGeom>
          <a:ln>
            <a:noFill/>
          </a:ln>
        </p:spPr>
      </p:pic>
      <p:pic>
        <p:nvPicPr>
          <p:cNvPr id="195" name="Picture 7"/>
          <p:cNvPicPr/>
          <p:nvPr/>
        </p:nvPicPr>
        <p:blipFill>
          <a:blip r:embed="rId3"/>
          <a:stretch/>
        </p:blipFill>
        <p:spPr>
          <a:xfrm>
            <a:off x="1834560" y="4380637"/>
            <a:ext cx="715680" cy="715680"/>
          </a:xfrm>
          <a:prstGeom prst="rect">
            <a:avLst/>
          </a:prstGeom>
          <a:ln>
            <a:noFill/>
          </a:ln>
        </p:spPr>
      </p:pic>
      <p:pic>
        <p:nvPicPr>
          <p:cNvPr id="196" name="Picture 11"/>
          <p:cNvPicPr/>
          <p:nvPr/>
        </p:nvPicPr>
        <p:blipFill>
          <a:blip r:embed="rId4"/>
          <a:stretch/>
        </p:blipFill>
        <p:spPr>
          <a:xfrm>
            <a:off x="2592360" y="2595397"/>
            <a:ext cx="728640" cy="728640"/>
          </a:xfrm>
          <a:prstGeom prst="rect">
            <a:avLst/>
          </a:prstGeom>
          <a:ln>
            <a:noFill/>
          </a:ln>
        </p:spPr>
      </p:pic>
      <p:pic>
        <p:nvPicPr>
          <p:cNvPr id="197" name="Picture 11"/>
          <p:cNvPicPr/>
          <p:nvPr/>
        </p:nvPicPr>
        <p:blipFill>
          <a:blip r:embed="rId4"/>
          <a:stretch/>
        </p:blipFill>
        <p:spPr>
          <a:xfrm>
            <a:off x="2579400" y="3781237"/>
            <a:ext cx="728640" cy="728640"/>
          </a:xfrm>
          <a:prstGeom prst="rect">
            <a:avLst/>
          </a:prstGeom>
          <a:ln>
            <a:noFill/>
          </a:ln>
        </p:spPr>
      </p:pic>
      <p:pic>
        <p:nvPicPr>
          <p:cNvPr id="198" name="Picture 11"/>
          <p:cNvPicPr/>
          <p:nvPr/>
        </p:nvPicPr>
        <p:blipFill>
          <a:blip r:embed="rId4"/>
          <a:stretch/>
        </p:blipFill>
        <p:spPr>
          <a:xfrm>
            <a:off x="2575800" y="5131237"/>
            <a:ext cx="728640" cy="728640"/>
          </a:xfrm>
          <a:prstGeom prst="rect">
            <a:avLst/>
          </a:prstGeom>
          <a:ln>
            <a:noFill/>
          </a:ln>
        </p:spPr>
      </p:pic>
      <p:pic>
        <p:nvPicPr>
          <p:cNvPr id="199" name="Picture 11"/>
          <p:cNvPicPr/>
          <p:nvPr/>
        </p:nvPicPr>
        <p:blipFill>
          <a:blip r:embed="rId5"/>
          <a:stretch/>
        </p:blipFill>
        <p:spPr>
          <a:xfrm>
            <a:off x="3514680" y="4087957"/>
            <a:ext cx="702360" cy="702360"/>
          </a:xfrm>
          <a:prstGeom prst="rect">
            <a:avLst/>
          </a:prstGeom>
          <a:ln>
            <a:noFill/>
          </a:ln>
        </p:spPr>
      </p:pic>
      <p:pic>
        <p:nvPicPr>
          <p:cNvPr id="200" name="Picture 14"/>
          <p:cNvPicPr/>
          <p:nvPr/>
        </p:nvPicPr>
        <p:blipFill>
          <a:blip r:embed="rId2"/>
          <a:stretch/>
        </p:blipFill>
        <p:spPr>
          <a:xfrm>
            <a:off x="7535520" y="3102277"/>
            <a:ext cx="673560" cy="673560"/>
          </a:xfrm>
          <a:prstGeom prst="rect">
            <a:avLst/>
          </a:prstGeom>
          <a:ln>
            <a:noFill/>
          </a:ln>
        </p:spPr>
      </p:pic>
      <p:pic>
        <p:nvPicPr>
          <p:cNvPr id="201" name="Picture 11"/>
          <p:cNvPicPr/>
          <p:nvPr/>
        </p:nvPicPr>
        <p:blipFill>
          <a:blip r:embed="rId5"/>
          <a:stretch/>
        </p:blipFill>
        <p:spPr>
          <a:xfrm>
            <a:off x="7247160" y="1727797"/>
            <a:ext cx="702360" cy="702360"/>
          </a:xfrm>
          <a:prstGeom prst="rect">
            <a:avLst/>
          </a:prstGeom>
          <a:ln>
            <a:noFill/>
          </a:ln>
        </p:spPr>
      </p:pic>
      <p:pic>
        <p:nvPicPr>
          <p:cNvPr id="202" name="Picture 7"/>
          <p:cNvPicPr/>
          <p:nvPr/>
        </p:nvPicPr>
        <p:blipFill>
          <a:blip r:embed="rId3"/>
          <a:stretch/>
        </p:blipFill>
        <p:spPr>
          <a:xfrm>
            <a:off x="7535520" y="4380637"/>
            <a:ext cx="715680" cy="715680"/>
          </a:xfrm>
          <a:prstGeom prst="rect">
            <a:avLst/>
          </a:prstGeom>
          <a:ln>
            <a:noFill/>
          </a:ln>
        </p:spPr>
      </p:pic>
      <p:pic>
        <p:nvPicPr>
          <p:cNvPr id="203" name="Picture 11"/>
          <p:cNvPicPr/>
          <p:nvPr/>
        </p:nvPicPr>
        <p:blipFill>
          <a:blip r:embed="rId4"/>
          <a:stretch/>
        </p:blipFill>
        <p:spPr>
          <a:xfrm>
            <a:off x="6608520" y="2595397"/>
            <a:ext cx="728640" cy="728640"/>
          </a:xfrm>
          <a:prstGeom prst="rect">
            <a:avLst/>
          </a:prstGeom>
          <a:ln>
            <a:noFill/>
          </a:ln>
        </p:spPr>
      </p:pic>
      <p:pic>
        <p:nvPicPr>
          <p:cNvPr id="204" name="Picture 11"/>
          <p:cNvPicPr/>
          <p:nvPr/>
        </p:nvPicPr>
        <p:blipFill>
          <a:blip r:embed="rId4"/>
          <a:stretch/>
        </p:blipFill>
        <p:spPr>
          <a:xfrm>
            <a:off x="6595560" y="3781237"/>
            <a:ext cx="728640" cy="728640"/>
          </a:xfrm>
          <a:prstGeom prst="rect">
            <a:avLst/>
          </a:prstGeom>
          <a:ln>
            <a:noFill/>
          </a:ln>
        </p:spPr>
      </p:pic>
      <p:pic>
        <p:nvPicPr>
          <p:cNvPr id="205" name="Picture 11"/>
          <p:cNvPicPr/>
          <p:nvPr/>
        </p:nvPicPr>
        <p:blipFill>
          <a:blip r:embed="rId4"/>
          <a:stretch/>
        </p:blipFill>
        <p:spPr>
          <a:xfrm>
            <a:off x="6607080" y="5131237"/>
            <a:ext cx="728640" cy="728640"/>
          </a:xfrm>
          <a:prstGeom prst="rect">
            <a:avLst/>
          </a:prstGeom>
          <a:ln>
            <a:noFill/>
          </a:ln>
        </p:spPr>
      </p:pic>
      <p:pic>
        <p:nvPicPr>
          <p:cNvPr id="206" name="Picture 11"/>
          <p:cNvPicPr/>
          <p:nvPr/>
        </p:nvPicPr>
        <p:blipFill>
          <a:blip r:embed="rId5"/>
          <a:stretch/>
        </p:blipFill>
        <p:spPr>
          <a:xfrm>
            <a:off x="5658120" y="4076437"/>
            <a:ext cx="702360" cy="702360"/>
          </a:xfrm>
          <a:prstGeom prst="rect">
            <a:avLst/>
          </a:prstGeom>
          <a:ln>
            <a:noFill/>
          </a:ln>
        </p:spPr>
      </p:pic>
      <p:pic>
        <p:nvPicPr>
          <p:cNvPr id="207" name="Picture 11"/>
          <p:cNvPicPr/>
          <p:nvPr/>
        </p:nvPicPr>
        <p:blipFill>
          <a:blip r:embed="rId5"/>
          <a:stretch/>
        </p:blipFill>
        <p:spPr>
          <a:xfrm>
            <a:off x="2022840" y="1799437"/>
            <a:ext cx="702360" cy="702360"/>
          </a:xfrm>
          <a:prstGeom prst="rect">
            <a:avLst/>
          </a:prstGeom>
          <a:ln>
            <a:noFill/>
          </a:ln>
        </p:spPr>
      </p:pic>
      <p:sp>
        <p:nvSpPr>
          <p:cNvPr id="208" name="Line 4"/>
          <p:cNvSpPr/>
          <p:nvPr/>
        </p:nvSpPr>
        <p:spPr>
          <a:xfrm>
            <a:off x="2725200" y="2150437"/>
            <a:ext cx="231480" cy="44460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Line 5"/>
          <p:cNvSpPr/>
          <p:nvPr/>
        </p:nvSpPr>
        <p:spPr>
          <a:xfrm flipV="1">
            <a:off x="6972840" y="2079157"/>
            <a:ext cx="274320" cy="51588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Line 6"/>
          <p:cNvSpPr/>
          <p:nvPr/>
        </p:nvSpPr>
        <p:spPr>
          <a:xfrm>
            <a:off x="7337160" y="2959717"/>
            <a:ext cx="535320" cy="14220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Line 7"/>
          <p:cNvSpPr/>
          <p:nvPr/>
        </p:nvSpPr>
        <p:spPr>
          <a:xfrm flipV="1">
            <a:off x="7323840" y="3775477"/>
            <a:ext cx="548280" cy="36972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Line 8"/>
          <p:cNvSpPr/>
          <p:nvPr/>
        </p:nvSpPr>
        <p:spPr>
          <a:xfrm>
            <a:off x="7323840" y="4145557"/>
            <a:ext cx="569520" cy="234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Line 9"/>
          <p:cNvSpPr/>
          <p:nvPr/>
        </p:nvSpPr>
        <p:spPr>
          <a:xfrm flipV="1">
            <a:off x="7335720" y="5095957"/>
            <a:ext cx="557640" cy="39960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Line 10"/>
          <p:cNvSpPr/>
          <p:nvPr/>
        </p:nvSpPr>
        <p:spPr>
          <a:xfrm flipH="1" flipV="1">
            <a:off x="2138400" y="5016037"/>
            <a:ext cx="437400" cy="47952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Line 11"/>
          <p:cNvSpPr/>
          <p:nvPr/>
        </p:nvSpPr>
        <p:spPr>
          <a:xfrm flipH="1">
            <a:off x="2191680" y="4145557"/>
            <a:ext cx="387360" cy="2343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Line 12"/>
          <p:cNvSpPr/>
          <p:nvPr/>
        </p:nvSpPr>
        <p:spPr>
          <a:xfrm flipH="1" flipV="1">
            <a:off x="2154600" y="3795277"/>
            <a:ext cx="424800" cy="34992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Line 13"/>
          <p:cNvSpPr/>
          <p:nvPr/>
        </p:nvSpPr>
        <p:spPr>
          <a:xfrm flipH="1">
            <a:off x="2154600" y="2959717"/>
            <a:ext cx="437760" cy="16200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8" name="Line 14"/>
          <p:cNvSpPr/>
          <p:nvPr/>
        </p:nvSpPr>
        <p:spPr>
          <a:xfrm flipH="1">
            <a:off x="6360480" y="4145557"/>
            <a:ext cx="234360" cy="28188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9" name="Line 15"/>
          <p:cNvSpPr/>
          <p:nvPr/>
        </p:nvSpPr>
        <p:spPr>
          <a:xfrm>
            <a:off x="3307680" y="4145557"/>
            <a:ext cx="206640" cy="2937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Line 16"/>
          <p:cNvSpPr/>
          <p:nvPr/>
        </p:nvSpPr>
        <p:spPr>
          <a:xfrm flipV="1">
            <a:off x="4265280" y="3942157"/>
            <a:ext cx="361080" cy="41400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1" name="Line 17"/>
          <p:cNvSpPr/>
          <p:nvPr/>
        </p:nvSpPr>
        <p:spPr>
          <a:xfrm>
            <a:off x="5077800" y="3942157"/>
            <a:ext cx="579960" cy="48492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2" name="Picture 4"/>
          <p:cNvPicPr/>
          <p:nvPr/>
        </p:nvPicPr>
        <p:blipFill>
          <a:blip r:embed="rId6"/>
          <a:stretch/>
        </p:blipFill>
        <p:spPr>
          <a:xfrm>
            <a:off x="4376160" y="3324037"/>
            <a:ext cx="1047600" cy="1120320"/>
          </a:xfrm>
          <a:prstGeom prst="rect">
            <a:avLst/>
          </a:prstGeom>
          <a:ln>
            <a:noFill/>
          </a:ln>
        </p:spPr>
      </p:pic>
      <p:sp>
        <p:nvSpPr>
          <p:cNvPr id="223" name="CustomShape 18"/>
          <p:cNvSpPr/>
          <p:nvPr/>
        </p:nvSpPr>
        <p:spPr>
          <a:xfrm>
            <a:off x="4566240" y="3771517"/>
            <a:ext cx="5727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DCI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4" name="Line 19"/>
          <p:cNvSpPr/>
          <p:nvPr/>
        </p:nvSpPr>
        <p:spPr>
          <a:xfrm flipV="1">
            <a:off x="2725200" y="1766677"/>
            <a:ext cx="654120" cy="38376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5" name="Picture 4"/>
          <p:cNvPicPr/>
          <p:nvPr/>
        </p:nvPicPr>
        <p:blipFill>
          <a:blip r:embed="rId7"/>
          <a:stretch/>
        </p:blipFill>
        <p:spPr>
          <a:xfrm>
            <a:off x="3103920" y="1152877"/>
            <a:ext cx="1224000" cy="1224000"/>
          </a:xfrm>
          <a:prstGeom prst="rect">
            <a:avLst/>
          </a:prstGeom>
          <a:ln>
            <a:noFill/>
          </a:ln>
        </p:spPr>
      </p:pic>
      <p:sp>
        <p:nvSpPr>
          <p:cNvPr id="226" name="CustomShape 20"/>
          <p:cNvSpPr/>
          <p:nvPr/>
        </p:nvSpPr>
        <p:spPr>
          <a:xfrm>
            <a:off x="3151080" y="1724197"/>
            <a:ext cx="111528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s-VE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Internet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7" name="Line 21"/>
          <p:cNvSpPr/>
          <p:nvPr/>
        </p:nvSpPr>
        <p:spPr>
          <a:xfrm flipH="1" flipV="1">
            <a:off x="6667200" y="1897717"/>
            <a:ext cx="579960" cy="1814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8" name="CustomShape 22"/>
          <p:cNvSpPr/>
          <p:nvPr/>
        </p:nvSpPr>
        <p:spPr>
          <a:xfrm>
            <a:off x="839160" y="2923357"/>
            <a:ext cx="1060560" cy="45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200" b="1" strike="noStrike" spc="-1">
                <a:solidFill>
                  <a:srgbClr val="E46C0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Seguridad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VE" sz="1200" b="1" strike="noStrike" spc="-1">
                <a:solidFill>
                  <a:srgbClr val="E46C0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Global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9" name="CustomShape 23"/>
          <p:cNvSpPr/>
          <p:nvPr/>
        </p:nvSpPr>
        <p:spPr>
          <a:xfrm>
            <a:off x="869400" y="4716157"/>
            <a:ext cx="1060560" cy="45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200" b="1" strike="noStrike" spc="-1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Seguridad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VE" sz="1200" b="1" strike="noStrike" spc="-1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Específica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0" name="CustomShape 24"/>
          <p:cNvSpPr/>
          <p:nvPr/>
        </p:nvSpPr>
        <p:spPr>
          <a:xfrm>
            <a:off x="8236800" y="2923357"/>
            <a:ext cx="1060560" cy="45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200" b="1" strike="noStrike" spc="-1">
                <a:solidFill>
                  <a:srgbClr val="E46C0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Seguridad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s-VE" sz="1200" b="1" strike="noStrike" spc="-1">
                <a:solidFill>
                  <a:srgbClr val="E46C0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Global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1" name="CustomShape 25"/>
          <p:cNvSpPr/>
          <p:nvPr/>
        </p:nvSpPr>
        <p:spPr>
          <a:xfrm>
            <a:off x="8236800" y="4713277"/>
            <a:ext cx="1060560" cy="455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200" b="1" strike="noStrike" spc="-1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Seguridad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VE" sz="1200" b="1" strike="noStrike" spc="-1">
                <a:solidFill>
                  <a:srgbClr val="FF0066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Específica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2" name="CustomShape 26"/>
          <p:cNvSpPr/>
          <p:nvPr/>
        </p:nvSpPr>
        <p:spPr>
          <a:xfrm>
            <a:off x="5640120" y="2621677"/>
            <a:ext cx="77544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400" b="1" strike="noStrike" spc="-1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Borde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3" name="CustomShape 27"/>
          <p:cNvSpPr/>
          <p:nvPr/>
        </p:nvSpPr>
        <p:spPr>
          <a:xfrm>
            <a:off x="3345840" y="2699797"/>
            <a:ext cx="77544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400" b="1" strike="noStrike" spc="-1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Borde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4" name="CustomShape 28"/>
          <p:cNvSpPr/>
          <p:nvPr/>
        </p:nvSpPr>
        <p:spPr>
          <a:xfrm>
            <a:off x="5588280" y="5292517"/>
            <a:ext cx="879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400" b="1" strike="noStrike" spc="-1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Acceso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5" name="CustomShape 29"/>
          <p:cNvSpPr/>
          <p:nvPr/>
        </p:nvSpPr>
        <p:spPr>
          <a:xfrm>
            <a:off x="3294360" y="5338597"/>
            <a:ext cx="879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400" b="1" strike="noStrike" spc="-1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Acceso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6" name="Picture 4"/>
          <p:cNvPicPr/>
          <p:nvPr/>
        </p:nvPicPr>
        <p:blipFill>
          <a:blip r:embed="rId7"/>
          <a:stretch/>
        </p:blipFill>
        <p:spPr>
          <a:xfrm>
            <a:off x="5563080" y="1139917"/>
            <a:ext cx="1224000" cy="1224000"/>
          </a:xfrm>
          <a:prstGeom prst="rect">
            <a:avLst/>
          </a:prstGeom>
          <a:ln>
            <a:noFill/>
          </a:ln>
        </p:spPr>
      </p:pic>
      <p:sp>
        <p:nvSpPr>
          <p:cNvPr id="237" name="CustomShape 30"/>
          <p:cNvSpPr/>
          <p:nvPr/>
        </p:nvSpPr>
        <p:spPr>
          <a:xfrm>
            <a:off x="5627160" y="1711237"/>
            <a:ext cx="111528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Internet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8" name="CustomShape 31"/>
          <p:cNvSpPr/>
          <p:nvPr/>
        </p:nvSpPr>
        <p:spPr>
          <a:xfrm>
            <a:off x="3178080" y="3729397"/>
            <a:ext cx="111060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400" b="1" strike="noStrike" spc="-1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Agr./Dist.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9" name="CustomShape 32"/>
          <p:cNvSpPr/>
          <p:nvPr/>
        </p:nvSpPr>
        <p:spPr>
          <a:xfrm>
            <a:off x="5472000" y="3736237"/>
            <a:ext cx="111060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1400" b="1" strike="noStrike" spc="-1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Agr./Dist.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40" name="Picture 26"/>
          <p:cNvPicPr/>
          <p:nvPr/>
        </p:nvPicPr>
        <p:blipFill>
          <a:blip r:embed="rId8"/>
          <a:stretch/>
        </p:blipFill>
        <p:spPr>
          <a:xfrm>
            <a:off x="1595880" y="5800837"/>
            <a:ext cx="689760" cy="689760"/>
          </a:xfrm>
          <a:prstGeom prst="rect">
            <a:avLst/>
          </a:prstGeom>
          <a:ln>
            <a:noFill/>
          </a:ln>
        </p:spPr>
      </p:pic>
      <p:sp>
        <p:nvSpPr>
          <p:cNvPr id="241" name="CustomShape 33"/>
          <p:cNvSpPr/>
          <p:nvPr/>
        </p:nvSpPr>
        <p:spPr>
          <a:xfrm>
            <a:off x="1518120" y="6331117"/>
            <a:ext cx="87588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s-VE" sz="1200" b="1" strike="noStrike" spc="-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Clientes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2" name="Line 34"/>
          <p:cNvSpPr/>
          <p:nvPr/>
        </p:nvSpPr>
        <p:spPr>
          <a:xfrm flipH="1">
            <a:off x="1940760" y="5495557"/>
            <a:ext cx="635040" cy="30528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43" name="Picture 26"/>
          <p:cNvPicPr/>
          <p:nvPr/>
        </p:nvPicPr>
        <p:blipFill>
          <a:blip r:embed="rId8"/>
          <a:stretch/>
        </p:blipFill>
        <p:spPr>
          <a:xfrm>
            <a:off x="7695720" y="5743957"/>
            <a:ext cx="689760" cy="689760"/>
          </a:xfrm>
          <a:prstGeom prst="rect">
            <a:avLst/>
          </a:prstGeom>
          <a:ln>
            <a:noFill/>
          </a:ln>
        </p:spPr>
      </p:pic>
      <p:sp>
        <p:nvSpPr>
          <p:cNvPr id="244" name="CustomShape 35"/>
          <p:cNvSpPr/>
          <p:nvPr/>
        </p:nvSpPr>
        <p:spPr>
          <a:xfrm>
            <a:off x="7617240" y="6274237"/>
            <a:ext cx="87588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s-VE" sz="1200" b="1" strike="noStrike" spc="-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Clientes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5" name="Line 36"/>
          <p:cNvSpPr/>
          <p:nvPr/>
        </p:nvSpPr>
        <p:spPr>
          <a:xfrm>
            <a:off x="7335720" y="5495557"/>
            <a:ext cx="704880" cy="2480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TextShape 37"/>
          <p:cNvSpPr txBox="1"/>
          <p:nvPr/>
        </p:nvSpPr>
        <p:spPr>
          <a:xfrm>
            <a:off x="504360" y="323453"/>
            <a:ext cx="9071640" cy="8294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Seguridad en la nube</a:t>
            </a:r>
            <a:endParaRPr lang="es-VE" sz="2190" b="0" strike="noStrike" spc="-1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7" name="TextShape 38"/>
          <p:cNvSpPr txBox="1"/>
          <p:nvPr/>
        </p:nvSpPr>
        <p:spPr>
          <a:xfrm>
            <a:off x="626400" y="1507477"/>
            <a:ext cx="1453320" cy="546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VE" sz="32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Sitio A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8" name="TextShape 39"/>
          <p:cNvSpPr txBox="1"/>
          <p:nvPr/>
        </p:nvSpPr>
        <p:spPr>
          <a:xfrm>
            <a:off x="-1806480" y="-2113920"/>
            <a:ext cx="826920" cy="346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V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Sitio A</a:t>
            </a:r>
          </a:p>
        </p:txBody>
      </p:sp>
      <p:sp>
        <p:nvSpPr>
          <p:cNvPr id="249" name="TextShape 40"/>
          <p:cNvSpPr txBox="1"/>
          <p:nvPr/>
        </p:nvSpPr>
        <p:spPr>
          <a:xfrm>
            <a:off x="7906680" y="1429717"/>
            <a:ext cx="1468440" cy="546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VE" sz="32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Sitio B</a:t>
            </a:r>
            <a:endParaRPr lang="es-VE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0" name="TextShape 41"/>
          <p:cNvSpPr txBox="1"/>
          <p:nvPr/>
        </p:nvSpPr>
        <p:spPr>
          <a:xfrm>
            <a:off x="526320" y="5297197"/>
            <a:ext cx="1737360" cy="489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Aislamiento</a:t>
            </a:r>
            <a:endParaRPr lang="es-VE" sz="18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VE" sz="1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(Virtual)</a:t>
            </a:r>
            <a:endParaRPr lang="es-VE" sz="18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1" name="TextShape 42"/>
          <p:cNvSpPr txBox="1"/>
          <p:nvPr/>
        </p:nvSpPr>
        <p:spPr>
          <a:xfrm>
            <a:off x="7860600" y="5253997"/>
            <a:ext cx="1737360" cy="489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Aislamiento</a:t>
            </a:r>
            <a:endParaRPr lang="es-VE" sz="18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s-VE" sz="1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(Virtual)</a:t>
            </a:r>
            <a:endParaRPr lang="es-VE" sz="1800" b="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2" name="TextShape 43"/>
          <p:cNvSpPr txBox="1"/>
          <p:nvPr/>
        </p:nvSpPr>
        <p:spPr>
          <a:xfrm>
            <a:off x="839160" y="2577037"/>
            <a:ext cx="99468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VE" sz="1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IDS/IPS</a:t>
            </a:r>
          </a:p>
        </p:txBody>
      </p:sp>
      <p:sp>
        <p:nvSpPr>
          <p:cNvPr id="253" name="TextShape 44"/>
          <p:cNvSpPr txBox="1"/>
          <p:nvPr/>
        </p:nvSpPr>
        <p:spPr>
          <a:xfrm>
            <a:off x="8240760" y="2588197"/>
            <a:ext cx="994680" cy="346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VE" sz="1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IDS/IPS</a:t>
            </a:r>
          </a:p>
        </p:txBody>
      </p:sp>
      <p:sp>
        <p:nvSpPr>
          <p:cNvPr id="254" name="TextShape 45"/>
          <p:cNvSpPr txBox="1"/>
          <p:nvPr/>
        </p:nvSpPr>
        <p:spPr>
          <a:xfrm>
            <a:off x="3383280" y="6456240"/>
            <a:ext cx="3200400" cy="8582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700" b="1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Análisis de grandes datos</a:t>
            </a:r>
          </a:p>
          <a:p>
            <a:pPr algn="ctr"/>
            <a:r>
              <a:rPr lang="es-VE" sz="17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Inteligencia artificial</a:t>
            </a:r>
          </a:p>
          <a:p>
            <a:pPr algn="ctr"/>
            <a:r>
              <a:rPr lang="es-VE" sz="1700" b="1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Identificación biométrica </a:t>
            </a:r>
          </a:p>
          <a:p>
            <a:pPr algn="ctr"/>
            <a:endParaRPr lang="es-VE" sz="1700" b="1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5" name="TextShape 46"/>
          <p:cNvSpPr txBox="1"/>
          <p:nvPr/>
        </p:nvSpPr>
        <p:spPr>
          <a:xfrm>
            <a:off x="3383280" y="6097813"/>
            <a:ext cx="3200400" cy="3463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VE" sz="1800" b="1" strike="noStrike" spc="-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Arial"/>
              </a:rPr>
              <a:t>Tendencias</a:t>
            </a:r>
          </a:p>
        </p:txBody>
      </p:sp>
      <p:sp>
        <p:nvSpPr>
          <p:cNvPr id="67" name="66 CuadroTexto"/>
          <p:cNvSpPr txBox="1"/>
          <p:nvPr/>
        </p:nvSpPr>
        <p:spPr>
          <a:xfrm>
            <a:off x="7703432" y="68952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B6E4C0-D29B-4440-AE34-F63847D5B14D}" type="slidenum">
              <a:rPr lang="es-VE" smtClean="0"/>
              <a:pPr algn="r"/>
              <a:t>13</a:t>
            </a:fld>
            <a:endParaRPr lang="es-V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2"/>
          <p:cNvSpPr/>
          <p:nvPr/>
        </p:nvSpPr>
        <p:spPr>
          <a:xfrm>
            <a:off x="3233904" y="3988581"/>
            <a:ext cx="5694840" cy="252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3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www.daycohost.com</a:t>
            </a:r>
            <a:endParaRPr lang="es-VE" sz="199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s-VE" sz="3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VE" sz="3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@</a:t>
            </a:r>
            <a:r>
              <a:rPr lang="es-VE" sz="32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daycohost</a:t>
            </a:r>
            <a:endParaRPr lang="es-VE" sz="199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s-VE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VE" sz="3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@</a:t>
            </a:r>
            <a:r>
              <a:rPr lang="es-VE" sz="32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tecnológicagente</a:t>
            </a:r>
            <a:endParaRPr lang="es-VE" sz="199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58" name="Picture 2"/>
          <p:cNvPicPr/>
          <p:nvPr/>
        </p:nvPicPr>
        <p:blipFill>
          <a:blip r:embed="rId2"/>
          <a:stretch/>
        </p:blipFill>
        <p:spPr>
          <a:xfrm>
            <a:off x="2414904" y="4973760"/>
            <a:ext cx="783000" cy="731520"/>
          </a:xfrm>
          <a:prstGeom prst="rect">
            <a:avLst/>
          </a:prstGeom>
          <a:ln>
            <a:noFill/>
          </a:ln>
        </p:spPr>
      </p:pic>
      <p:sp>
        <p:nvSpPr>
          <p:cNvPr id="259" name="CustomShape 3"/>
          <p:cNvSpPr/>
          <p:nvPr/>
        </p:nvSpPr>
        <p:spPr>
          <a:xfrm>
            <a:off x="171360" y="-2049120"/>
            <a:ext cx="4314960" cy="428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CustomShape 4"/>
          <p:cNvSpPr/>
          <p:nvPr/>
        </p:nvSpPr>
        <p:spPr>
          <a:xfrm>
            <a:off x="339120" y="-1881000"/>
            <a:ext cx="4314960" cy="428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1" name="CustomShape 5"/>
          <p:cNvSpPr/>
          <p:nvPr/>
        </p:nvSpPr>
        <p:spPr>
          <a:xfrm>
            <a:off x="171360" y="-1284480"/>
            <a:ext cx="2687400" cy="268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2" name="CustomShape 6"/>
          <p:cNvSpPr/>
          <p:nvPr/>
        </p:nvSpPr>
        <p:spPr>
          <a:xfrm>
            <a:off x="171360" y="-2049120"/>
            <a:ext cx="4283640" cy="428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63" name="15 Imagen"/>
          <p:cNvPicPr/>
          <p:nvPr/>
        </p:nvPicPr>
        <p:blipFill>
          <a:blip r:embed="rId3"/>
          <a:stretch/>
        </p:blipFill>
        <p:spPr>
          <a:xfrm>
            <a:off x="2348664" y="3851845"/>
            <a:ext cx="884520" cy="884520"/>
          </a:xfrm>
          <a:prstGeom prst="rect">
            <a:avLst/>
          </a:prstGeom>
          <a:ln>
            <a:noFill/>
          </a:ln>
        </p:spPr>
      </p:pic>
      <p:pic>
        <p:nvPicPr>
          <p:cNvPr id="264" name="Picture 2"/>
          <p:cNvPicPr/>
          <p:nvPr/>
        </p:nvPicPr>
        <p:blipFill>
          <a:blip r:embed="rId4"/>
          <a:stretch/>
        </p:blipFill>
        <p:spPr>
          <a:xfrm>
            <a:off x="2365944" y="5834880"/>
            <a:ext cx="939240" cy="931680"/>
          </a:xfrm>
          <a:prstGeom prst="rect">
            <a:avLst/>
          </a:prstGeom>
          <a:ln>
            <a:noFill/>
          </a:ln>
        </p:spPr>
      </p:pic>
      <p:pic>
        <p:nvPicPr>
          <p:cNvPr id="265" name="1 Imagen"/>
          <p:cNvPicPr/>
          <p:nvPr/>
        </p:nvPicPr>
        <p:blipFill>
          <a:blip r:embed="rId5"/>
          <a:stretch/>
        </p:blipFill>
        <p:spPr>
          <a:xfrm>
            <a:off x="2584496" y="1403640"/>
            <a:ext cx="3829680" cy="1661760"/>
          </a:xfrm>
          <a:prstGeom prst="rect">
            <a:avLst/>
          </a:prstGeom>
          <a:ln>
            <a:noFill/>
          </a:ln>
        </p:spPr>
      </p:pic>
      <p:sp>
        <p:nvSpPr>
          <p:cNvPr id="266" name="CustomShape 7"/>
          <p:cNvSpPr/>
          <p:nvPr/>
        </p:nvSpPr>
        <p:spPr>
          <a:xfrm>
            <a:off x="3092096" y="2908800"/>
            <a:ext cx="4396488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s-VE" sz="3600" b="1" i="1" strike="noStrike" spc="-1" dirty="0">
                <a:solidFill>
                  <a:srgbClr val="E46C0A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 nube más cercana</a:t>
            </a:r>
            <a:endParaRPr lang="es-VE" sz="199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TextShape 37"/>
          <p:cNvSpPr txBox="1"/>
          <p:nvPr/>
        </p:nvSpPr>
        <p:spPr>
          <a:xfrm>
            <a:off x="504360" y="323453"/>
            <a:ext cx="9071640" cy="8294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VE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¿Preguntas?</a:t>
            </a:r>
            <a:endParaRPr lang="es-VE" sz="219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523</Words>
  <Application>Microsoft Office PowerPoint</Application>
  <PresentationFormat>Personalizado</PresentationFormat>
  <Paragraphs>159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Arial</vt:lpstr>
      <vt:lpstr>Calibri</vt:lpstr>
      <vt:lpstr>DejaVu Sans</vt:lpstr>
      <vt:lpstr>StarSymbol</vt:lpstr>
      <vt:lpstr>Symbol</vt:lpstr>
      <vt:lpstr>Times New Roman</vt:lpstr>
      <vt:lpstr>Wingdings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Olaf Reitmaier</dc:creator>
  <cp:lastModifiedBy>Olaf Reitmaier</cp:lastModifiedBy>
  <cp:revision>192</cp:revision>
  <dcterms:created xsi:type="dcterms:W3CDTF">2017-11-19T08:42:41Z</dcterms:created>
  <dcterms:modified xsi:type="dcterms:W3CDTF">2018-12-05T11:32:58Z</dcterms:modified>
  <dc:language>en-US</dc:language>
</cp:coreProperties>
</file>