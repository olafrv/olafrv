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60"/>
  </p:notesMasterIdLst>
  <p:sldIdLst>
    <p:sldId id="256" r:id="rId3"/>
    <p:sldId id="257" r:id="rId4"/>
    <p:sldId id="258" r:id="rId5"/>
    <p:sldId id="259" r:id="rId6"/>
    <p:sldId id="260" r:id="rId7"/>
    <p:sldId id="316"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9" r:id="rId53"/>
    <p:sldId id="310" r:id="rId54"/>
    <p:sldId id="311" r:id="rId55"/>
    <p:sldId id="312" r:id="rId56"/>
    <p:sldId id="313" r:id="rId57"/>
    <p:sldId id="314" r:id="rId58"/>
    <p:sldId id="315" r:id="rId59"/>
  </p:sldIdLst>
  <p:sldSz cx="12192000" cy="6858000"/>
  <p:notesSz cx="6858000" cy="9144000"/>
  <p:embeddedFontLst>
    <p:embeddedFont>
      <p:font typeface="Calibri" panose="020F0502020204030204" pitchFamily="34" charset="0"/>
      <p:regular r:id="rId61"/>
      <p:bold r:id="rId62"/>
      <p:italic r:id="rId63"/>
      <p:boldItalic r:id="rId64"/>
    </p:embeddedFont>
    <p:embeddedFont>
      <p:font typeface="Lato" panose="020F0502020204030203" pitchFamily="34"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1" roundtripDataSignature="AMtx7mjoIS97XrrlLsk96k5H5lOMHIfR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F08716-5724-418E-9056-FD273215E2AE}">
  <a:tblStyle styleId="{C2F08716-5724-418E-9056-FD273215E2AE}"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689F681-0F0E-44B9-8252-B848BFD299B1}"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b="off" i="off"/>
      <a:tcStyle>
        <a:tcBdr/>
        <a:fill>
          <a:solidFill>
            <a:srgbClr val="CACACA"/>
          </a:solidFill>
        </a:fill>
      </a:tcStyle>
    </a:band1H>
    <a:band2H>
      <a:tcTxStyle b="off" i="off"/>
      <a:tcStyle>
        <a:tcBdr/>
      </a:tcStyle>
    </a:band2H>
    <a:band1V>
      <a:tcTxStyle b="off" i="off"/>
      <a:tcStyle>
        <a:tcBdr/>
        <a:fill>
          <a:solidFill>
            <a:srgbClr val="CACACA"/>
          </a:solidFill>
        </a:fill>
      </a:tcStyle>
    </a:band1V>
    <a:band2V>
      <a:tcTxStyle b="off" i="off"/>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b="off" i="off"/>
      <a:tcStyle>
        <a:tcBdr/>
      </a:tcStyle>
    </a:neCell>
    <a:nwCell>
      <a:tcTxStyle b="off" i="off"/>
      <a:tcStyle>
        <a:tcBdr/>
      </a:tcStyle>
    </a:nwCell>
  </a:tblStyle>
  <a:tblStyle styleId="{3FBF8BF7-EB54-4CEF-9187-0BBF0388CD94}"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10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3.fntdata"/><Relationship Id="rId68"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6.fntdata"/><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font" Target="fonts/font1.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7.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2.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5:notes"/>
          <p:cNvSpPr txBox="1">
            <a:spLocks noGrp="1"/>
          </p:cNvSpPr>
          <p:nvPr>
            <p:ph type="body" idx="1"/>
          </p:nvPr>
        </p:nvSpPr>
        <p:spPr>
          <a:xfrm>
            <a:off x="685801" y="4343406"/>
            <a:ext cx="5486400" cy="4114800"/>
          </a:xfrm>
          <a:prstGeom prst="rect">
            <a:avLst/>
          </a:prstGeom>
          <a:noFill/>
          <a:ln>
            <a:noFill/>
          </a:ln>
        </p:spPr>
        <p:txBody>
          <a:bodyPr spcFirstLastPara="1" wrap="square" lIns="91425" tIns="45700" rIns="91425" bIns="45700" anchor="t" anchorCtr="0">
            <a:noAutofit/>
          </a:bodyPr>
          <a:lstStyle/>
          <a:p>
            <a:pPr marL="146036" lvl="3" indent="0" algn="just" rtl="0">
              <a:lnSpc>
                <a:spcPct val="100000"/>
              </a:lnSpc>
              <a:spcBef>
                <a:spcPts val="0"/>
              </a:spcBef>
              <a:spcAft>
                <a:spcPts val="0"/>
              </a:spcAft>
              <a:buClr>
                <a:srgbClr val="7F7F7F"/>
              </a:buClr>
              <a:buSzPts val="1100"/>
              <a:buFont typeface="Arial"/>
              <a:buNone/>
            </a:pPr>
            <a:r>
              <a:rPr lang="en-US" sz="1100" i="1">
                <a:solidFill>
                  <a:srgbClr val="7F7F7F"/>
                </a:solidFill>
              </a:rPr>
              <a:t>The original text for something knows as “Mission” was:</a:t>
            </a:r>
            <a:endParaRPr/>
          </a:p>
          <a:p>
            <a:pPr marL="146036" lvl="3" indent="0" algn="just" rtl="0">
              <a:lnSpc>
                <a:spcPct val="100000"/>
              </a:lnSpc>
              <a:spcBef>
                <a:spcPts val="0"/>
              </a:spcBef>
              <a:spcAft>
                <a:spcPts val="0"/>
              </a:spcAft>
              <a:buClr>
                <a:schemeClr val="dk1"/>
              </a:buClr>
              <a:buSzPts val="1100"/>
              <a:buFont typeface="Arial"/>
              <a:buNone/>
            </a:pPr>
            <a:endParaRPr sz="1100" i="1">
              <a:solidFill>
                <a:srgbClr val="7F7F7F"/>
              </a:solidFill>
            </a:endParaRPr>
          </a:p>
          <a:p>
            <a:pPr marL="317486" lvl="3" indent="-171450" algn="just" rtl="0">
              <a:lnSpc>
                <a:spcPct val="100000"/>
              </a:lnSpc>
              <a:spcBef>
                <a:spcPts val="0"/>
              </a:spcBef>
              <a:spcAft>
                <a:spcPts val="0"/>
              </a:spcAft>
              <a:buClr>
                <a:srgbClr val="7F7F7F"/>
              </a:buClr>
              <a:buSzPts val="1100"/>
              <a:buFont typeface="Arial"/>
              <a:buChar char="•"/>
            </a:pPr>
            <a:r>
              <a:rPr lang="en-US" sz="1100" i="1">
                <a:solidFill>
                  <a:srgbClr val="7F7F7F"/>
                </a:solidFill>
              </a:rPr>
              <a:t>Ensure that the On-Premise and Cloud platforms of the Core IT infrastructure are secure and highly available.</a:t>
            </a:r>
            <a:endParaRPr/>
          </a:p>
          <a:p>
            <a:pPr marL="317486" lvl="3" indent="-171450" algn="just" rtl="0">
              <a:lnSpc>
                <a:spcPct val="100000"/>
              </a:lnSpc>
              <a:spcBef>
                <a:spcPts val="0"/>
              </a:spcBef>
              <a:spcAft>
                <a:spcPts val="0"/>
              </a:spcAft>
              <a:buClr>
                <a:srgbClr val="7F7F7F"/>
              </a:buClr>
              <a:buSzPts val="1100"/>
              <a:buFont typeface="Arial"/>
              <a:buChar char="•"/>
            </a:pPr>
            <a:r>
              <a:rPr lang="en-US" sz="1100" i="1">
                <a:solidFill>
                  <a:srgbClr val="7F7F7F"/>
                </a:solidFill>
              </a:rPr>
              <a:t>Monitor and optimize infrastructure systems performance taking both proactive and reactive measures to correct and prevent issues affecting business continuity.</a:t>
            </a:r>
            <a:endParaRPr/>
          </a:p>
          <a:p>
            <a:pPr marL="317486" lvl="3" indent="-171450" algn="just" rtl="0">
              <a:lnSpc>
                <a:spcPct val="100000"/>
              </a:lnSpc>
              <a:spcBef>
                <a:spcPts val="0"/>
              </a:spcBef>
              <a:spcAft>
                <a:spcPts val="0"/>
              </a:spcAft>
              <a:buClr>
                <a:srgbClr val="7F7F7F"/>
              </a:buClr>
              <a:buSzPts val="1100"/>
              <a:buFont typeface="Arial"/>
              <a:buChar char="•"/>
            </a:pPr>
            <a:r>
              <a:rPr lang="en-US" sz="1100" i="1">
                <a:solidFill>
                  <a:srgbClr val="7F7F7F"/>
                </a:solidFill>
              </a:rPr>
              <a:t>Optimize costs of the whole IT infrastructure wherever is possible while embracing proven technology best practices and standards.</a:t>
            </a:r>
            <a:endParaRPr/>
          </a:p>
          <a:p>
            <a:pPr marL="0" lvl="0" indent="0" algn="l" rtl="0">
              <a:lnSpc>
                <a:spcPct val="100000"/>
              </a:lnSpc>
              <a:spcBef>
                <a:spcPts val="0"/>
              </a:spcBef>
              <a:spcAft>
                <a:spcPts val="0"/>
              </a:spcAft>
              <a:buClr>
                <a:schemeClr val="dk1"/>
              </a:buClr>
              <a:buSzPts val="1200"/>
              <a:buFont typeface="Calibri"/>
              <a:buNone/>
            </a:pPr>
            <a:endParaRPr/>
          </a:p>
        </p:txBody>
      </p:sp>
      <p:sp>
        <p:nvSpPr>
          <p:cNvPr id="151" name="Google Shape;151;p5:notes"/>
          <p:cNvSpPr txBox="1">
            <a:spLocks noGrp="1"/>
          </p:cNvSpPr>
          <p:nvPr>
            <p:ph type="sldNum" idx="12"/>
          </p:nvPr>
        </p:nvSpPr>
        <p:spPr>
          <a:xfrm>
            <a:off x="3884613" y="8685224"/>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r>
              <a:rPr lang="en-US"/>
              <a:t> </a:t>
            </a:r>
            <a:endParaRPr sz="1200" b="0" i="0" u="none" strike="noStrike" cap="non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5:notes"/>
          <p:cNvSpPr txBox="1">
            <a:spLocks noGrp="1"/>
          </p:cNvSpPr>
          <p:nvPr>
            <p:ph type="body" idx="1"/>
          </p:nvPr>
        </p:nvSpPr>
        <p:spPr>
          <a:xfrm>
            <a:off x="685801" y="4343406"/>
            <a:ext cx="5486400" cy="4114800"/>
          </a:xfrm>
          <a:prstGeom prst="rect">
            <a:avLst/>
          </a:prstGeom>
          <a:noFill/>
          <a:ln>
            <a:noFill/>
          </a:ln>
        </p:spPr>
        <p:txBody>
          <a:bodyPr spcFirstLastPara="1" wrap="square" lIns="91425" tIns="45700" rIns="91425" bIns="45700" anchor="t" anchorCtr="0">
            <a:noAutofit/>
          </a:bodyPr>
          <a:lstStyle/>
          <a:p>
            <a:pPr marL="146036" lvl="3" indent="0" algn="just" rtl="0">
              <a:lnSpc>
                <a:spcPct val="100000"/>
              </a:lnSpc>
              <a:spcBef>
                <a:spcPts val="0"/>
              </a:spcBef>
              <a:spcAft>
                <a:spcPts val="0"/>
              </a:spcAft>
              <a:buClr>
                <a:srgbClr val="7F7F7F"/>
              </a:buClr>
              <a:buSzPts val="1100"/>
              <a:buFont typeface="Arial"/>
              <a:buNone/>
            </a:pPr>
            <a:r>
              <a:rPr lang="en-US" sz="1100" i="1">
                <a:solidFill>
                  <a:srgbClr val="7F7F7F"/>
                </a:solidFill>
              </a:rPr>
              <a:t>The original text for something knows as “Mission” was:</a:t>
            </a:r>
            <a:endParaRPr/>
          </a:p>
          <a:p>
            <a:pPr marL="146036" lvl="3" indent="0" algn="just" rtl="0">
              <a:lnSpc>
                <a:spcPct val="100000"/>
              </a:lnSpc>
              <a:spcBef>
                <a:spcPts val="0"/>
              </a:spcBef>
              <a:spcAft>
                <a:spcPts val="0"/>
              </a:spcAft>
              <a:buClr>
                <a:schemeClr val="dk1"/>
              </a:buClr>
              <a:buSzPts val="1100"/>
              <a:buFont typeface="Arial"/>
              <a:buNone/>
            </a:pPr>
            <a:endParaRPr sz="1100" i="1">
              <a:solidFill>
                <a:srgbClr val="7F7F7F"/>
              </a:solidFill>
            </a:endParaRPr>
          </a:p>
          <a:p>
            <a:pPr marL="317486" lvl="3" indent="-171450" algn="just" rtl="0">
              <a:lnSpc>
                <a:spcPct val="100000"/>
              </a:lnSpc>
              <a:spcBef>
                <a:spcPts val="0"/>
              </a:spcBef>
              <a:spcAft>
                <a:spcPts val="0"/>
              </a:spcAft>
              <a:buClr>
                <a:srgbClr val="7F7F7F"/>
              </a:buClr>
              <a:buSzPts val="1100"/>
              <a:buFont typeface="Arial"/>
              <a:buChar char="•"/>
            </a:pPr>
            <a:r>
              <a:rPr lang="en-US" sz="1100" i="1">
                <a:solidFill>
                  <a:srgbClr val="7F7F7F"/>
                </a:solidFill>
              </a:rPr>
              <a:t>Ensure that the On-Premise and Cloud platforms of the Core IT infrastructure are secure and highly available.</a:t>
            </a:r>
            <a:endParaRPr/>
          </a:p>
          <a:p>
            <a:pPr marL="317486" lvl="3" indent="-171450" algn="just" rtl="0">
              <a:lnSpc>
                <a:spcPct val="100000"/>
              </a:lnSpc>
              <a:spcBef>
                <a:spcPts val="0"/>
              </a:spcBef>
              <a:spcAft>
                <a:spcPts val="0"/>
              </a:spcAft>
              <a:buClr>
                <a:srgbClr val="7F7F7F"/>
              </a:buClr>
              <a:buSzPts val="1100"/>
              <a:buFont typeface="Arial"/>
              <a:buChar char="•"/>
            </a:pPr>
            <a:r>
              <a:rPr lang="en-US" sz="1100" i="1">
                <a:solidFill>
                  <a:srgbClr val="7F7F7F"/>
                </a:solidFill>
              </a:rPr>
              <a:t>Monitor and optimize infrastructure systems performance taking both proactive and reactive measures to correct and prevent issues affecting business continuity.</a:t>
            </a:r>
            <a:endParaRPr/>
          </a:p>
          <a:p>
            <a:pPr marL="317486" lvl="3" indent="-171450" algn="just" rtl="0">
              <a:lnSpc>
                <a:spcPct val="100000"/>
              </a:lnSpc>
              <a:spcBef>
                <a:spcPts val="0"/>
              </a:spcBef>
              <a:spcAft>
                <a:spcPts val="0"/>
              </a:spcAft>
              <a:buClr>
                <a:srgbClr val="7F7F7F"/>
              </a:buClr>
              <a:buSzPts val="1100"/>
              <a:buFont typeface="Arial"/>
              <a:buChar char="•"/>
            </a:pPr>
            <a:r>
              <a:rPr lang="en-US" sz="1100" i="1">
                <a:solidFill>
                  <a:srgbClr val="7F7F7F"/>
                </a:solidFill>
              </a:rPr>
              <a:t>Optimize costs of the whole IT infrastructure wherever is possible while embracing proven technology best practices and standards.</a:t>
            </a:r>
            <a:endParaRPr/>
          </a:p>
          <a:p>
            <a:pPr marL="0" lvl="0" indent="0" algn="l" rtl="0">
              <a:lnSpc>
                <a:spcPct val="100000"/>
              </a:lnSpc>
              <a:spcBef>
                <a:spcPts val="0"/>
              </a:spcBef>
              <a:spcAft>
                <a:spcPts val="0"/>
              </a:spcAft>
              <a:buClr>
                <a:schemeClr val="dk1"/>
              </a:buClr>
              <a:buSzPts val="1200"/>
              <a:buFont typeface="Calibri"/>
              <a:buNone/>
            </a:pPr>
            <a:endParaRPr/>
          </a:p>
        </p:txBody>
      </p:sp>
      <p:sp>
        <p:nvSpPr>
          <p:cNvPr id="151" name="Google Shape;151;p5:notes"/>
          <p:cNvSpPr txBox="1">
            <a:spLocks noGrp="1"/>
          </p:cNvSpPr>
          <p:nvPr>
            <p:ph type="sldNum" idx="12"/>
          </p:nvPr>
        </p:nvSpPr>
        <p:spPr>
          <a:xfrm>
            <a:off x="3884613" y="8685224"/>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r>
              <a:rPr lang="en-US"/>
              <a:t> </a:t>
            </a:r>
            <a:endParaRPr sz="1200" b="0" i="0" u="none" strike="noStrike" cap="none"/>
          </a:p>
        </p:txBody>
      </p:sp>
    </p:spTree>
    <p:extLst>
      <p:ext uri="{BB962C8B-B14F-4D97-AF65-F5344CB8AC3E}">
        <p14:creationId xmlns:p14="http://schemas.microsoft.com/office/powerpoint/2010/main" val="3741454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Accountability: ETA, Achievement, Next Steps.</a:t>
            </a:r>
            <a:endParaRPr/>
          </a:p>
          <a:p>
            <a:pPr marL="0" lvl="0" indent="0" algn="l" rtl="0">
              <a:lnSpc>
                <a:spcPct val="100000"/>
              </a:lnSpc>
              <a:spcBef>
                <a:spcPts val="0"/>
              </a:spcBef>
              <a:spcAft>
                <a:spcPts val="0"/>
              </a:spcAft>
              <a:buSzPts val="1400"/>
              <a:buNone/>
            </a:pPr>
            <a:r>
              <a:rPr lang="en-US"/>
              <a:t>Communication: Transmiter (Responsible)/Receptor, Formal/Informal</a:t>
            </a:r>
            <a:endParaRPr/>
          </a:p>
          <a:p>
            <a:pPr marL="0" lvl="0" indent="0" algn="l" rtl="0">
              <a:lnSpc>
                <a:spcPct val="100000"/>
              </a:lnSpc>
              <a:spcBef>
                <a:spcPts val="0"/>
              </a:spcBef>
              <a:spcAft>
                <a:spcPts val="0"/>
              </a:spcAft>
              <a:buSzPts val="1400"/>
              <a:buNone/>
            </a:pPr>
            <a:r>
              <a:rPr lang="en-US"/>
              <a:t>Versatility: Vision, Business Changes, Resistance (Both Sides C-Level and Others)</a:t>
            </a:r>
            <a:endParaRPr/>
          </a:p>
          <a:p>
            <a:pPr marL="0" lvl="0" indent="0" algn="l" rtl="0">
              <a:lnSpc>
                <a:spcPct val="100000"/>
              </a:lnSpc>
              <a:spcBef>
                <a:spcPts val="0"/>
              </a:spcBef>
              <a:spcAft>
                <a:spcPts val="0"/>
              </a:spcAft>
              <a:buSzPts val="1400"/>
              <a:buNone/>
            </a:pPr>
            <a:r>
              <a:rPr lang="en-US"/>
              <a:t>Scalability to do more innovation and automation while keep running up the legacy</a:t>
            </a:r>
            <a:endParaRPr/>
          </a:p>
          <a:p>
            <a:pPr marL="0" lvl="0" indent="0" algn="l" rtl="0">
              <a:lnSpc>
                <a:spcPct val="100000"/>
              </a:lnSpc>
              <a:spcBef>
                <a:spcPts val="0"/>
              </a:spcBef>
              <a:spcAft>
                <a:spcPts val="0"/>
              </a:spcAft>
              <a:buSzPts val="1400"/>
              <a:buNone/>
            </a:pPr>
            <a:endParaRPr/>
          </a:p>
        </p:txBody>
      </p:sp>
      <p:sp>
        <p:nvSpPr>
          <p:cNvPr id="263" name="Google Shape;26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7" name="Google Shape;28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0" name="Google Shape;36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6" name="Google Shape;38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An easy read about Triune (Tri-One) brain can be read here:</a:t>
            </a:r>
            <a:endParaRPr/>
          </a:p>
          <a:p>
            <a:pPr marL="0" lvl="0" indent="0" algn="l" rtl="0">
              <a:lnSpc>
                <a:spcPct val="100000"/>
              </a:lnSpc>
              <a:spcBef>
                <a:spcPts val="0"/>
              </a:spcBef>
              <a:spcAft>
                <a:spcPts val="0"/>
              </a:spcAft>
              <a:buSzPts val="1400"/>
              <a:buNone/>
            </a:pPr>
            <a:r>
              <a:rPr lang="en-US"/>
              <a:t>https://en.wikipedia.org/wiki/Triune_brain</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This is a simple metaphor to explain more complex brain mechanisms.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414" name="Google Shape;41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3" name="Google Shape;42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Please see the book thinking, fast and slow:</a:t>
            </a:r>
            <a:endParaRPr/>
          </a:p>
          <a:p>
            <a:pPr marL="0" lvl="0" indent="0" algn="l" rtl="0">
              <a:lnSpc>
                <a:spcPct val="100000"/>
              </a:lnSpc>
              <a:spcBef>
                <a:spcPts val="0"/>
              </a:spcBef>
              <a:spcAft>
                <a:spcPts val="0"/>
              </a:spcAft>
              <a:buSzPts val="1400"/>
              <a:buNone/>
            </a:pPr>
            <a:r>
              <a:rPr lang="en-US"/>
              <a:t>https://en.wikipedia.org/wiki/Thinking,_Fast_and_Slow </a:t>
            </a:r>
            <a:endParaRPr/>
          </a:p>
          <a:p>
            <a:pPr marL="0" lvl="0" indent="0" algn="l" rtl="0">
              <a:lnSpc>
                <a:spcPct val="100000"/>
              </a:lnSpc>
              <a:spcBef>
                <a:spcPts val="0"/>
              </a:spcBef>
              <a:spcAft>
                <a:spcPts val="0"/>
              </a:spcAft>
              <a:buSzPts val="1400"/>
              <a:buNone/>
            </a:pPr>
            <a:r>
              <a:rPr lang="en-US"/>
              <a:t>https://en.wikipedia.org/wiki/Daniel_Kahneman</a:t>
            </a:r>
            <a:endParaRPr/>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chemeClr val="dk1"/>
              </a:buClr>
              <a:buSzPts val="1200"/>
              <a:buFont typeface="Lato"/>
              <a:buNone/>
            </a:pPr>
            <a:r>
              <a:rPr lang="en-US" sz="1200" i="1">
                <a:latin typeface="Lato"/>
                <a:ea typeface="Lato"/>
                <a:cs typeface="Lato"/>
                <a:sym typeface="Lato"/>
              </a:rPr>
              <a:t>Phrase taken from this curious article:</a:t>
            </a:r>
            <a:endParaRPr/>
          </a:p>
          <a:p>
            <a:pPr marL="0" marR="0" lvl="0" indent="0" algn="l" rtl="0">
              <a:lnSpc>
                <a:spcPct val="100000"/>
              </a:lnSpc>
              <a:spcBef>
                <a:spcPts val="0"/>
              </a:spcBef>
              <a:spcAft>
                <a:spcPts val="0"/>
              </a:spcAft>
              <a:buClr>
                <a:schemeClr val="dk1"/>
              </a:buClr>
              <a:buSzPts val="1200"/>
              <a:buFont typeface="Lato"/>
              <a:buNone/>
            </a:pPr>
            <a:r>
              <a:rPr lang="en-US" sz="1200" i="1">
                <a:latin typeface="Lato"/>
                <a:ea typeface="Lato"/>
                <a:cs typeface="Lato"/>
                <a:sym typeface="Lato"/>
              </a:rPr>
              <a:t>http://www.computerworld.com/article/2527153/it-management/opinion--the-unspoken-truth-about-managing-geeks.html</a:t>
            </a:r>
            <a:endParaRPr sz="1200"/>
          </a:p>
          <a:p>
            <a:pPr marL="0" lvl="0" indent="0" algn="l" rtl="0">
              <a:lnSpc>
                <a:spcPct val="100000"/>
              </a:lnSpc>
              <a:spcBef>
                <a:spcPts val="0"/>
              </a:spcBef>
              <a:spcAft>
                <a:spcPts val="0"/>
              </a:spcAft>
              <a:buSzPts val="1400"/>
              <a:buNone/>
            </a:pPr>
            <a:endParaRPr/>
          </a:p>
        </p:txBody>
      </p:sp>
      <p:sp>
        <p:nvSpPr>
          <p:cNvPr id="424" name="Google Shape;42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5" name="Google Shape;435;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5" name="Google Shape;445;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6" name="Google Shape;446;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0" name="Google Shape;46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9" name="Google Shape;46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9" name="Google Shape;48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0" name="Google Shape;490;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4" name="Google Shape;504;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3" name="Google Shape;51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2" name="Google Shape;52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3" name="Google Shape;56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9" name="Google Shape;58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3" name="Google Shape;61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0" name="Google Shape;640;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1" name="Google Shape;641;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2" name="Google Shape;66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3" name="Google Shape;683;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4" name="Google Shape;684;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1" name="Google Shape;771;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1" name="Google Shape;791;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0" name="Google Shape;82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a:p>
            <a:pPr marL="171450" lvl="0" indent="-171450" algn="l" rtl="0">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Depending on the work you do, it could be daily, weekly (fixed day of the week) or both. You must agree the frequency with the manager.</a:t>
            </a:r>
            <a:endParaRPr/>
          </a:p>
          <a:p>
            <a:pPr marL="171450" lvl="0" indent="-171450" algn="l" rtl="0">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It allows us to share information in one place about the progress of the most relevant work which is critical for the team success or may disturb it.</a:t>
            </a:r>
            <a:endParaRPr/>
          </a:p>
          <a:p>
            <a:pPr marL="171450" lvl="0" indent="-171450" algn="l" rtl="0">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It helps to avoid annoying questions from manager about delays, new issues, delivery date and real status of the work because the lack or imbalance of lack information.</a:t>
            </a:r>
            <a:endParaRPr/>
          </a:p>
          <a:p>
            <a:pPr marL="171450" lvl="0" indent="-171450" algn="l" rtl="0">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For example, It make sense to do it daily for newcomers that need advice, but also when a senior are working in too many projects or in some special project.</a:t>
            </a:r>
            <a:endParaRPr/>
          </a:p>
          <a:p>
            <a:pPr marL="171450" lvl="0" indent="-171450" algn="l" rtl="0">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At the end is a matter of balance not frequency.</a:t>
            </a:r>
            <a:endParaRPr/>
          </a:p>
          <a:p>
            <a:pPr marL="0" lvl="0" indent="0" algn="l" rtl="0">
              <a:lnSpc>
                <a:spcPct val="100000"/>
              </a:lnSpc>
              <a:spcBef>
                <a:spcPts val="0"/>
              </a:spcBef>
              <a:spcAft>
                <a:spcPts val="0"/>
              </a:spcAft>
              <a:buSzPts val="1400"/>
              <a:buNone/>
            </a:pPr>
            <a:endParaRPr/>
          </a:p>
        </p:txBody>
      </p:sp>
      <p:sp>
        <p:nvSpPr>
          <p:cNvPr id="895" name="Google Shape;895;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2" name="Google Shape;972;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3" name="Google Shape;973;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p56:notes"/>
          <p:cNvSpPr txBox="1">
            <a:spLocks noGrp="1"/>
          </p:cNvSpPr>
          <p:nvPr>
            <p:ph type="body" idx="1"/>
          </p:nvPr>
        </p:nvSpPr>
        <p:spPr>
          <a:xfrm>
            <a:off x="685801" y="4343406"/>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99" name="Google Shape;999;p56:notes"/>
          <p:cNvSpPr txBox="1">
            <a:spLocks noGrp="1"/>
          </p:cNvSpPr>
          <p:nvPr>
            <p:ph type="sldNum" idx="12"/>
          </p:nvPr>
        </p:nvSpPr>
        <p:spPr>
          <a:xfrm>
            <a:off x="3884613" y="8685224"/>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r>
              <a:rPr lang="en-US"/>
              <a:t> </a:t>
            </a:r>
            <a:endParaRPr sz="1200" b="0" i="0" u="none" strike="noStrike" cap="non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p57:notes"/>
          <p:cNvSpPr txBox="1">
            <a:spLocks noGrp="1"/>
          </p:cNvSpPr>
          <p:nvPr>
            <p:ph type="body" idx="1"/>
          </p:nvPr>
        </p:nvSpPr>
        <p:spPr>
          <a:xfrm>
            <a:off x="685801" y="4343406"/>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0" name="Google Shape;1010;p57:notes"/>
          <p:cNvSpPr txBox="1">
            <a:spLocks noGrp="1"/>
          </p:cNvSpPr>
          <p:nvPr>
            <p:ph type="sldNum" idx="12"/>
          </p:nvPr>
        </p:nvSpPr>
        <p:spPr>
          <a:xfrm>
            <a:off x="3884613" y="8685224"/>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r>
              <a:rPr lang="en-US"/>
              <a:t> </a:t>
            </a:r>
            <a:endParaRPr sz="1200" b="0" i="0" u="none" strike="noStrike" cap="none"/>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6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6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6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27"/>
        <p:cNvGrpSpPr/>
        <p:nvPr/>
      </p:nvGrpSpPr>
      <p:grpSpPr>
        <a:xfrm>
          <a:off x="0" y="0"/>
          <a:ext cx="0" cy="0"/>
          <a:chOff x="0" y="0"/>
          <a:chExt cx="0" cy="0"/>
        </a:xfrm>
      </p:grpSpPr>
      <p:sp>
        <p:nvSpPr>
          <p:cNvPr id="28" name="Google Shape;28;p64"/>
          <p:cNvSpPr txBox="1">
            <a:spLocks noGrp="1"/>
          </p:cNvSpPr>
          <p:nvPr>
            <p:ph type="sldNum" idx="12"/>
          </p:nvPr>
        </p:nvSpPr>
        <p:spPr>
          <a:xfrm>
            <a:off x="10285828" y="6636260"/>
            <a:ext cx="1906000" cy="122800"/>
          </a:xfrm>
          <a:prstGeom prst="rect">
            <a:avLst/>
          </a:prstGeom>
          <a:noFill/>
          <a:ln>
            <a:noFill/>
          </a:ln>
        </p:spPr>
        <p:txBody>
          <a:bodyPr spcFirstLastPara="1" wrap="square" lIns="91425" tIns="91425" rIns="91425" bIns="91425" anchor="t" anchorCtr="0">
            <a:noAutofit/>
          </a:bodyPr>
          <a:lstStyle>
            <a:lvl1pPr marL="0" marR="0" lvl="0" indent="88900" algn="l">
              <a:lnSpc>
                <a:spcPct val="100000"/>
              </a:lnSpc>
              <a:spcBef>
                <a:spcPts val="0"/>
              </a:spcBef>
              <a:spcAft>
                <a:spcPts val="0"/>
              </a:spcAft>
              <a:buClr>
                <a:schemeClr val="dk1"/>
              </a:buClr>
              <a:buSzPts val="1400"/>
              <a:buFont typeface="Arial"/>
              <a:buNone/>
              <a:defRPr sz="1333" b="0" i="0" u="none" strike="noStrike" cap="none">
                <a:solidFill>
                  <a:schemeClr val="dk1"/>
                </a:solidFill>
                <a:latin typeface="Arial"/>
                <a:ea typeface="Arial"/>
                <a:cs typeface="Arial"/>
                <a:sym typeface="Arial"/>
              </a:defRPr>
            </a:lvl1pPr>
            <a:lvl2pPr marL="0" marR="0" lvl="1" indent="88900" algn="l">
              <a:lnSpc>
                <a:spcPct val="100000"/>
              </a:lnSpc>
              <a:spcBef>
                <a:spcPts val="0"/>
              </a:spcBef>
              <a:spcAft>
                <a:spcPts val="0"/>
              </a:spcAft>
              <a:buClr>
                <a:schemeClr val="dk1"/>
              </a:buClr>
              <a:buSzPts val="1400"/>
              <a:buFont typeface="Arial"/>
              <a:buNone/>
              <a:defRPr sz="1333" b="0" i="0" u="none" strike="noStrike" cap="none">
                <a:solidFill>
                  <a:schemeClr val="dk1"/>
                </a:solidFill>
                <a:latin typeface="Arial"/>
                <a:ea typeface="Arial"/>
                <a:cs typeface="Arial"/>
                <a:sym typeface="Arial"/>
              </a:defRPr>
            </a:lvl2pPr>
            <a:lvl3pPr marL="0" marR="0" lvl="2" indent="88900" algn="l">
              <a:lnSpc>
                <a:spcPct val="100000"/>
              </a:lnSpc>
              <a:spcBef>
                <a:spcPts val="0"/>
              </a:spcBef>
              <a:spcAft>
                <a:spcPts val="0"/>
              </a:spcAft>
              <a:buClr>
                <a:schemeClr val="dk1"/>
              </a:buClr>
              <a:buSzPts val="1400"/>
              <a:buFont typeface="Arial"/>
              <a:buNone/>
              <a:defRPr sz="1333" b="0" i="0" u="none" strike="noStrike" cap="none">
                <a:solidFill>
                  <a:schemeClr val="dk1"/>
                </a:solidFill>
                <a:latin typeface="Arial"/>
                <a:ea typeface="Arial"/>
                <a:cs typeface="Arial"/>
                <a:sym typeface="Arial"/>
              </a:defRPr>
            </a:lvl3pPr>
            <a:lvl4pPr marL="0" marR="0" lvl="3" indent="88900" algn="l">
              <a:lnSpc>
                <a:spcPct val="100000"/>
              </a:lnSpc>
              <a:spcBef>
                <a:spcPts val="0"/>
              </a:spcBef>
              <a:spcAft>
                <a:spcPts val="0"/>
              </a:spcAft>
              <a:buClr>
                <a:schemeClr val="dk1"/>
              </a:buClr>
              <a:buSzPts val="1400"/>
              <a:buFont typeface="Arial"/>
              <a:buNone/>
              <a:defRPr sz="1333" b="0" i="0" u="none" strike="noStrike" cap="none">
                <a:solidFill>
                  <a:schemeClr val="dk1"/>
                </a:solidFill>
                <a:latin typeface="Arial"/>
                <a:ea typeface="Arial"/>
                <a:cs typeface="Arial"/>
                <a:sym typeface="Arial"/>
              </a:defRPr>
            </a:lvl4pPr>
            <a:lvl5pPr marL="0" marR="0" lvl="4" indent="88900" algn="l">
              <a:lnSpc>
                <a:spcPct val="100000"/>
              </a:lnSpc>
              <a:spcBef>
                <a:spcPts val="0"/>
              </a:spcBef>
              <a:spcAft>
                <a:spcPts val="0"/>
              </a:spcAft>
              <a:buClr>
                <a:schemeClr val="dk1"/>
              </a:buClr>
              <a:buSzPts val="1400"/>
              <a:buFont typeface="Arial"/>
              <a:buNone/>
              <a:defRPr sz="1333" b="0" i="0" u="none" strike="noStrike" cap="none">
                <a:solidFill>
                  <a:schemeClr val="dk1"/>
                </a:solidFill>
                <a:latin typeface="Arial"/>
                <a:ea typeface="Arial"/>
                <a:cs typeface="Arial"/>
                <a:sym typeface="Arial"/>
              </a:defRPr>
            </a:lvl5pPr>
            <a:lvl6pPr marL="0" marR="0" lvl="5" indent="88900" algn="l">
              <a:lnSpc>
                <a:spcPct val="100000"/>
              </a:lnSpc>
              <a:spcBef>
                <a:spcPts val="0"/>
              </a:spcBef>
              <a:spcAft>
                <a:spcPts val="0"/>
              </a:spcAft>
              <a:buClr>
                <a:schemeClr val="dk1"/>
              </a:buClr>
              <a:buSzPts val="1400"/>
              <a:buFont typeface="Arial"/>
              <a:buNone/>
              <a:defRPr sz="1333" b="0" i="0" u="none" strike="noStrike" cap="none">
                <a:solidFill>
                  <a:schemeClr val="dk1"/>
                </a:solidFill>
                <a:latin typeface="Arial"/>
                <a:ea typeface="Arial"/>
                <a:cs typeface="Arial"/>
                <a:sym typeface="Arial"/>
              </a:defRPr>
            </a:lvl6pPr>
            <a:lvl7pPr marL="0" marR="0" lvl="6" indent="88900" algn="l">
              <a:lnSpc>
                <a:spcPct val="100000"/>
              </a:lnSpc>
              <a:spcBef>
                <a:spcPts val="0"/>
              </a:spcBef>
              <a:spcAft>
                <a:spcPts val="0"/>
              </a:spcAft>
              <a:buClr>
                <a:schemeClr val="dk1"/>
              </a:buClr>
              <a:buSzPts val="1400"/>
              <a:buFont typeface="Arial"/>
              <a:buNone/>
              <a:defRPr sz="1333" b="0" i="0" u="none" strike="noStrike" cap="none">
                <a:solidFill>
                  <a:schemeClr val="dk1"/>
                </a:solidFill>
                <a:latin typeface="Arial"/>
                <a:ea typeface="Arial"/>
                <a:cs typeface="Arial"/>
                <a:sym typeface="Arial"/>
              </a:defRPr>
            </a:lvl7pPr>
            <a:lvl8pPr marL="0" marR="0" lvl="7" indent="88900" algn="l">
              <a:lnSpc>
                <a:spcPct val="100000"/>
              </a:lnSpc>
              <a:spcBef>
                <a:spcPts val="0"/>
              </a:spcBef>
              <a:spcAft>
                <a:spcPts val="0"/>
              </a:spcAft>
              <a:buClr>
                <a:schemeClr val="dk1"/>
              </a:buClr>
              <a:buSzPts val="1400"/>
              <a:buFont typeface="Arial"/>
              <a:buNone/>
              <a:defRPr sz="1333" b="0" i="0" u="none" strike="noStrike" cap="none">
                <a:solidFill>
                  <a:schemeClr val="dk1"/>
                </a:solidFill>
                <a:latin typeface="Arial"/>
                <a:ea typeface="Arial"/>
                <a:cs typeface="Arial"/>
                <a:sym typeface="Arial"/>
              </a:defRPr>
            </a:lvl8pPr>
            <a:lvl9pPr marL="0" marR="0" lvl="8" indent="88900" algn="l">
              <a:lnSpc>
                <a:spcPct val="100000"/>
              </a:lnSpc>
              <a:spcBef>
                <a:spcPts val="0"/>
              </a:spcBef>
              <a:spcAft>
                <a:spcPts val="0"/>
              </a:spcAft>
              <a:buClr>
                <a:schemeClr val="dk1"/>
              </a:buClr>
              <a:buSzPts val="1400"/>
              <a:buFont typeface="Arial"/>
              <a:buNone/>
              <a:defRPr sz="1333" b="0" i="0" u="none" strike="noStrike" cap="none">
                <a:solidFill>
                  <a:schemeClr val="dk1"/>
                </a:solidFill>
                <a:latin typeface="Arial"/>
                <a:ea typeface="Arial"/>
                <a:cs typeface="Arial"/>
                <a:sym typeface="Arial"/>
              </a:defRPr>
            </a:lvl9pPr>
          </a:lstStyle>
          <a:p>
            <a:pPr marL="0" lvl="0" indent="88900" algn="l" rtl="0">
              <a:spcBef>
                <a:spcPts val="0"/>
              </a:spcBef>
              <a:spcAft>
                <a:spcPts val="0"/>
              </a:spcAft>
              <a:buNone/>
            </a:pPr>
            <a:endParaRPr/>
          </a:p>
          <a:p>
            <a:pPr marL="609585" lvl="1" indent="-29629" algn="l" rtl="0">
              <a:spcBef>
                <a:spcPts val="0"/>
              </a:spcBef>
              <a:spcAft>
                <a:spcPts val="0"/>
              </a:spcAft>
              <a:buNone/>
            </a:pPr>
            <a:endParaRPr sz="2400"/>
          </a:p>
          <a:p>
            <a:pPr marL="1219170" lvl="2" indent="-29629" algn="l" rtl="0">
              <a:spcBef>
                <a:spcPts val="0"/>
              </a:spcBef>
              <a:spcAft>
                <a:spcPts val="0"/>
              </a:spcAft>
              <a:buNone/>
            </a:pPr>
            <a:endParaRPr sz="2400"/>
          </a:p>
          <a:p>
            <a:pPr marL="1828754" lvl="3" indent="-29630" algn="l" rtl="0">
              <a:spcBef>
                <a:spcPts val="0"/>
              </a:spcBef>
              <a:spcAft>
                <a:spcPts val="0"/>
              </a:spcAft>
              <a:buNone/>
            </a:pPr>
            <a:endParaRPr sz="2400"/>
          </a:p>
          <a:p>
            <a:pPr marL="2438339" lvl="4" indent="-29629" algn="l" rtl="0">
              <a:spcBef>
                <a:spcPts val="0"/>
              </a:spcBef>
              <a:spcAft>
                <a:spcPts val="0"/>
              </a:spcAft>
              <a:buNone/>
            </a:pPr>
            <a:endParaRPr sz="2400"/>
          </a:p>
          <a:p>
            <a:pPr marL="3047924" lvl="5" indent="-29629" algn="l" rtl="0">
              <a:spcBef>
                <a:spcPts val="0"/>
              </a:spcBef>
              <a:spcAft>
                <a:spcPts val="0"/>
              </a:spcAft>
              <a:buNone/>
            </a:pPr>
            <a:endParaRPr sz="2400"/>
          </a:p>
          <a:p>
            <a:pPr marL="3657509" lvl="6" indent="-29628" algn="l" rtl="0">
              <a:spcBef>
                <a:spcPts val="0"/>
              </a:spcBef>
              <a:spcAft>
                <a:spcPts val="0"/>
              </a:spcAft>
              <a:buNone/>
            </a:pPr>
            <a:endParaRPr sz="2400"/>
          </a:p>
          <a:p>
            <a:pPr marL="4267093" lvl="7" indent="-29629" algn="l" rtl="0">
              <a:spcBef>
                <a:spcPts val="0"/>
              </a:spcBef>
              <a:spcAft>
                <a:spcPts val="0"/>
              </a:spcAft>
              <a:buNone/>
            </a:pPr>
            <a:endParaRPr sz="2400"/>
          </a:p>
          <a:p>
            <a:pPr marL="4876678" lvl="8" indent="-29628" algn="l" rtl="0">
              <a:spcBef>
                <a:spcPts val="0"/>
              </a:spcBef>
              <a:spcAft>
                <a:spcPts val="0"/>
              </a:spcAft>
              <a:buNone/>
            </a:pPr>
            <a:endParaRPr sz="2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6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7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7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7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7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73"/>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70" name="Google Shape;70;p7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7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7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7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2"/>
        <p:cNvGrpSpPr/>
        <p:nvPr/>
      </p:nvGrpSpPr>
      <p:grpSpPr>
        <a:xfrm>
          <a:off x="0" y="0"/>
          <a:ext cx="0" cy="0"/>
          <a:chOff x="0" y="0"/>
          <a:chExt cx="0" cy="0"/>
        </a:xfrm>
      </p:grpSpPr>
      <p:sp>
        <p:nvSpPr>
          <p:cNvPr id="93" name="Google Shape;93;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5" name="Google Shape;95;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86"/>
        <p:cNvGrpSpPr/>
        <p:nvPr/>
      </p:nvGrpSpPr>
      <p:grpSpPr>
        <a:xfrm>
          <a:off x="0" y="0"/>
          <a:ext cx="0" cy="0"/>
          <a:chOff x="0" y="0"/>
          <a:chExt cx="0" cy="0"/>
        </a:xfrm>
      </p:grpSpPr>
      <p:sp>
        <p:nvSpPr>
          <p:cNvPr id="87" name="Google Shape;87;p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8" name="Google Shape;88;p6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9pPr>
          </a:lstStyle>
          <a:p>
            <a:endParaRPr/>
          </a:p>
        </p:txBody>
      </p:sp>
      <p:sp>
        <p:nvSpPr>
          <p:cNvPr id="89" name="Google Shape;89;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9pPr>
          </a:lstStyle>
          <a:p>
            <a:endParaRPr/>
          </a:p>
        </p:txBody>
      </p:sp>
      <p:sp>
        <p:nvSpPr>
          <p:cNvPr id="90" name="Google Shape;90;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9pPr>
          </a:lstStyle>
          <a:p>
            <a:endParaRPr/>
          </a:p>
        </p:txBody>
      </p:sp>
      <p:sp>
        <p:nvSpPr>
          <p:cNvPr id="91" name="Google Shape;91;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jpe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hyperlink" Target="https://sre.google/books/" TargetMode="External"/><Relationship Id="rId5" Type="http://schemas.openxmlformats.org/officeDocument/2006/relationships/image" Target="../media/image5.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gif"/><Relationship Id="rId5" Type="http://schemas.openxmlformats.org/officeDocument/2006/relationships/image" Target="../media/image16.jpg"/><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0.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5.jp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48.png"/><Relationship Id="rId4" Type="http://schemas.openxmlformats.org/officeDocument/2006/relationships/image" Target="../media/image59.png"/></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63.jpg"/><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8" Type="http://schemas.openxmlformats.org/officeDocument/2006/relationships/image" Target="../media/image74.jpg"/><Relationship Id="rId3" Type="http://schemas.openxmlformats.org/officeDocument/2006/relationships/image" Target="../media/image69.png"/><Relationship Id="rId7" Type="http://schemas.openxmlformats.org/officeDocument/2006/relationships/image" Target="../media/image73.jp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jpg"/><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_rels/slide46.xml.rels><?xml version="1.0" encoding="UTF-8" standalone="yes"?>
<Relationships xmlns="http://schemas.openxmlformats.org/package/2006/relationships"><Relationship Id="rId3" Type="http://schemas.openxmlformats.org/officeDocument/2006/relationships/hyperlink" Target="https://slack.com/intl/en-de/slack-tips/run-daily-standups-or-check-ins"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5.jp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7.png"/></Relationships>
</file>

<file path=ppt/slides/_rels/slide5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101.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
        <p:cNvGrpSpPr/>
        <p:nvPr/>
      </p:nvGrpSpPr>
      <p:grpSpPr>
        <a:xfrm>
          <a:off x="0" y="0"/>
          <a:ext cx="0" cy="0"/>
          <a:chOff x="0" y="0"/>
          <a:chExt cx="0" cy="0"/>
        </a:xfrm>
      </p:grpSpPr>
      <p:sp>
        <p:nvSpPr>
          <p:cNvPr id="103" name="Google Shape;103;p1"/>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04" name="Google Shape;104;p1"/>
          <p:cNvSpPr txBox="1">
            <a:spLocks noGrp="1"/>
          </p:cNvSpPr>
          <p:nvPr>
            <p:ph type="ctrTitle"/>
          </p:nvPr>
        </p:nvSpPr>
        <p:spPr>
          <a:xfrm>
            <a:off x="1848465" y="2291427"/>
            <a:ext cx="8495070" cy="1784402"/>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FFFFFF"/>
              </a:buClr>
              <a:buSzPts val="6600"/>
              <a:buFont typeface="Calibri"/>
              <a:buNone/>
            </a:pPr>
            <a:r>
              <a:rPr lang="en-US" sz="6600" b="1" dirty="0">
                <a:solidFill>
                  <a:srgbClr val="FFFFFF"/>
                </a:solidFill>
              </a:rPr>
              <a:t>Site Reliability Engineering</a:t>
            </a:r>
            <a:endParaRPr dirty="0"/>
          </a:p>
        </p:txBody>
      </p:sp>
      <p:sp>
        <p:nvSpPr>
          <p:cNvPr id="105" name="Google Shape;105;p1"/>
          <p:cNvSpPr txBox="1">
            <a:spLocks noGrp="1"/>
          </p:cNvSpPr>
          <p:nvPr>
            <p:ph type="subTitle" idx="1"/>
          </p:nvPr>
        </p:nvSpPr>
        <p:spPr>
          <a:xfrm>
            <a:off x="1918804" y="4254016"/>
            <a:ext cx="8495070" cy="90400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FFFF"/>
              </a:buClr>
              <a:buSzPts val="2400"/>
              <a:buNone/>
            </a:pPr>
            <a:r>
              <a:rPr lang="en-US" dirty="0">
                <a:solidFill>
                  <a:srgbClr val="FFFFFF"/>
                </a:solidFill>
              </a:rPr>
              <a:t>Organizational &amp; Operational Framework</a:t>
            </a:r>
            <a:endParaRPr dirty="0"/>
          </a:p>
          <a:p>
            <a:pPr marL="0" lvl="0" indent="0" algn="ctr" rtl="0">
              <a:lnSpc>
                <a:spcPct val="90000"/>
              </a:lnSpc>
              <a:spcBef>
                <a:spcPts val="1000"/>
              </a:spcBef>
              <a:spcAft>
                <a:spcPts val="0"/>
              </a:spcAft>
              <a:buClr>
                <a:srgbClr val="FFFFFF"/>
              </a:buClr>
              <a:buSzPts val="2400"/>
              <a:buNone/>
            </a:pPr>
            <a:r>
              <a:rPr lang="en-US" dirty="0">
                <a:solidFill>
                  <a:srgbClr val="FFFFFF"/>
                </a:solidFill>
              </a:rPr>
              <a:t>(</a:t>
            </a:r>
            <a:r>
              <a:rPr lang="en-US" i="1" dirty="0">
                <a:solidFill>
                  <a:srgbClr val="FFFFFF"/>
                </a:solidFill>
              </a:rPr>
              <a:t>a.k.a.</a:t>
            </a:r>
            <a:r>
              <a:rPr lang="en-US" dirty="0">
                <a:solidFill>
                  <a:srgbClr val="FFFFFF"/>
                </a:solidFill>
              </a:rPr>
              <a:t> “Work Mode”)</a:t>
            </a:r>
            <a:endParaRPr dirty="0"/>
          </a:p>
        </p:txBody>
      </p:sp>
      <p:sp>
        <p:nvSpPr>
          <p:cNvPr id="106" name="Google Shape;106;p1"/>
          <p:cNvSpPr/>
          <p:nvPr/>
        </p:nvSpPr>
        <p:spPr>
          <a:xfrm>
            <a:off x="5025914" y="889251"/>
            <a:ext cx="2140172" cy="2140172"/>
          </a:xfrm>
          <a:prstGeom prst="ellipse">
            <a:avLst/>
          </a:prstGeom>
          <a:solidFill>
            <a:srgbClr val="FFFFFF"/>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07" name="Google Shape;107;p1" descr="Group"/>
          <p:cNvPicPr preferRelativeResize="0"/>
          <p:nvPr/>
        </p:nvPicPr>
        <p:blipFill rotWithShape="1">
          <a:blip r:embed="rId3">
            <a:alphaModFix/>
          </a:blip>
          <a:srcRect/>
          <a:stretch/>
        </p:blipFill>
        <p:spPr>
          <a:xfrm>
            <a:off x="5508264" y="1371601"/>
            <a:ext cx="1175474" cy="1175474"/>
          </a:xfrm>
          <a:prstGeom prst="rect">
            <a:avLst/>
          </a:prstGeom>
          <a:noFill/>
          <a:ln>
            <a:noFill/>
          </a:ln>
        </p:spPr>
      </p:pic>
      <p:sp>
        <p:nvSpPr>
          <p:cNvPr id="108" name="Google Shape;108;p1"/>
          <p:cNvSpPr txBox="1"/>
          <p:nvPr/>
        </p:nvSpPr>
        <p:spPr>
          <a:xfrm>
            <a:off x="5315578" y="5581247"/>
            <a:ext cx="6510125"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Calibri"/>
                <a:ea typeface="Calibri"/>
                <a:cs typeface="Calibri"/>
                <a:sym typeface="Calibri"/>
              </a:rPr>
              <a:t>May 2019</a:t>
            </a:r>
          </a:p>
          <a:p>
            <a:pPr marL="0" marR="0" lvl="0" indent="0" algn="r" rtl="0">
              <a:lnSpc>
                <a:spcPct val="100000"/>
              </a:lnSpc>
              <a:spcBef>
                <a:spcPts val="0"/>
              </a:spcBef>
              <a:spcAft>
                <a:spcPts val="0"/>
              </a:spcAft>
              <a:buClr>
                <a:srgbClr val="000000"/>
              </a:buClr>
              <a:buSzPts val="2800"/>
              <a:buFont typeface="Arial"/>
              <a:buNone/>
            </a:pPr>
            <a:r>
              <a:rPr lang="en-US" sz="2800" dirty="0">
                <a:solidFill>
                  <a:schemeClr val="lt1"/>
                </a:solidFill>
                <a:latin typeface="Calibri"/>
                <a:ea typeface="Calibri"/>
                <a:cs typeface="Calibri"/>
                <a:sym typeface="Calibri"/>
              </a:rPr>
              <a:t>Olaf Reitmaier Veracierta</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2"/>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14" name="Google Shape;114;p2"/>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b="1">
                <a:solidFill>
                  <a:srgbClr val="FFFFFF"/>
                </a:solidFill>
              </a:rPr>
              <a:t>Agenda</a:t>
            </a:r>
            <a:endParaRPr/>
          </a:p>
        </p:txBody>
      </p:sp>
      <p:grpSp>
        <p:nvGrpSpPr>
          <p:cNvPr id="115" name="Google Shape;115;p2"/>
          <p:cNvGrpSpPr/>
          <p:nvPr/>
        </p:nvGrpSpPr>
        <p:grpSpPr>
          <a:xfrm>
            <a:off x="5194300" y="541061"/>
            <a:ext cx="6513603" cy="5745151"/>
            <a:chOff x="0" y="70137"/>
            <a:chExt cx="6513603" cy="5745151"/>
          </a:xfrm>
        </p:grpSpPr>
        <p:sp>
          <p:nvSpPr>
            <p:cNvPr id="116" name="Google Shape;116;p2"/>
            <p:cNvSpPr/>
            <p:nvPr/>
          </p:nvSpPr>
          <p:spPr>
            <a:xfrm>
              <a:off x="0" y="321057"/>
              <a:ext cx="6513603" cy="428400"/>
            </a:xfrm>
            <a:prstGeom prst="rect">
              <a:avLst/>
            </a:prstGeom>
            <a:solidFill>
              <a:schemeClr val="lt1">
                <a:alpha val="89411"/>
              </a:schemeClr>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2"/>
            <p:cNvSpPr/>
            <p:nvPr/>
          </p:nvSpPr>
          <p:spPr>
            <a:xfrm>
              <a:off x="325680" y="70137"/>
              <a:ext cx="4559522" cy="501840"/>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2"/>
            <p:cNvSpPr txBox="1"/>
            <p:nvPr/>
          </p:nvSpPr>
          <p:spPr>
            <a:xfrm>
              <a:off x="350178" y="94635"/>
              <a:ext cx="4510526" cy="452844"/>
            </a:xfrm>
            <a:prstGeom prst="rect">
              <a:avLst/>
            </a:prstGeom>
            <a:noFill/>
            <a:ln>
              <a:noFill/>
            </a:ln>
          </p:spPr>
          <p:txBody>
            <a:bodyPr spcFirstLastPara="1" wrap="square" lIns="172325" tIns="0" rIns="172325" bIns="0" anchor="ctr" anchorCtr="0">
              <a:noAutofit/>
            </a:bodyPr>
            <a:lstStyle/>
            <a:p>
              <a:pPr marL="0" marR="0" lvl="0" indent="0" algn="l" rtl="0">
                <a:lnSpc>
                  <a:spcPct val="90000"/>
                </a:lnSpc>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Introduction</a:t>
              </a:r>
              <a:endParaRPr sz="1400" b="0" i="0" u="none" strike="noStrike" cap="none">
                <a:solidFill>
                  <a:srgbClr val="000000"/>
                </a:solidFill>
                <a:latin typeface="Arial"/>
                <a:ea typeface="Arial"/>
                <a:cs typeface="Arial"/>
                <a:sym typeface="Arial"/>
              </a:endParaRPr>
            </a:p>
          </p:txBody>
        </p:sp>
        <p:sp>
          <p:nvSpPr>
            <p:cNvPr id="119" name="Google Shape;119;p2"/>
            <p:cNvSpPr/>
            <p:nvPr/>
          </p:nvSpPr>
          <p:spPr>
            <a:xfrm>
              <a:off x="0" y="1092177"/>
              <a:ext cx="6513603" cy="428400"/>
            </a:xfrm>
            <a:prstGeom prst="rect">
              <a:avLst/>
            </a:prstGeom>
            <a:solidFill>
              <a:schemeClr val="lt1">
                <a:alpha val="89411"/>
              </a:schemeClr>
            </a:solidFill>
            <a:ln w="12700" cap="flat" cmpd="sng">
              <a:solidFill>
                <a:srgbClr val="BF9000"/>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2"/>
            <p:cNvSpPr/>
            <p:nvPr/>
          </p:nvSpPr>
          <p:spPr>
            <a:xfrm>
              <a:off x="325680" y="841257"/>
              <a:ext cx="4559522" cy="501840"/>
            </a:xfrm>
            <a:prstGeom prst="roundRect">
              <a:avLst>
                <a:gd name="adj" fmla="val 16667"/>
              </a:avLst>
            </a:prstGeom>
            <a:solidFill>
              <a:srgbClr val="BF900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2"/>
            <p:cNvSpPr txBox="1"/>
            <p:nvPr/>
          </p:nvSpPr>
          <p:spPr>
            <a:xfrm>
              <a:off x="350178" y="865755"/>
              <a:ext cx="4510526" cy="452844"/>
            </a:xfrm>
            <a:prstGeom prst="rect">
              <a:avLst/>
            </a:prstGeom>
            <a:noFill/>
            <a:ln>
              <a:noFill/>
            </a:ln>
          </p:spPr>
          <p:txBody>
            <a:bodyPr spcFirstLastPara="1" wrap="square" lIns="172325" tIns="0" rIns="172325" bIns="0" anchor="ctr" anchorCtr="0">
              <a:noAutofit/>
            </a:bodyPr>
            <a:lstStyle/>
            <a:p>
              <a:pPr marL="0" marR="0" lvl="0" indent="0" algn="l" rtl="0">
                <a:lnSpc>
                  <a:spcPct val="90000"/>
                </a:lnSpc>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Weakness / Strengths</a:t>
              </a:r>
              <a:endParaRPr sz="1400" b="0" i="0" u="none" strike="noStrike" cap="none">
                <a:solidFill>
                  <a:srgbClr val="000000"/>
                </a:solidFill>
                <a:latin typeface="Arial"/>
                <a:ea typeface="Arial"/>
                <a:cs typeface="Arial"/>
                <a:sym typeface="Arial"/>
              </a:endParaRPr>
            </a:p>
          </p:txBody>
        </p:sp>
        <p:sp>
          <p:nvSpPr>
            <p:cNvPr id="122" name="Google Shape;122;p2"/>
            <p:cNvSpPr/>
            <p:nvPr/>
          </p:nvSpPr>
          <p:spPr>
            <a:xfrm>
              <a:off x="0" y="1863297"/>
              <a:ext cx="6513603" cy="2409750"/>
            </a:xfrm>
            <a:prstGeom prst="rect">
              <a:avLst/>
            </a:prstGeom>
            <a:solidFill>
              <a:schemeClr val="lt1">
                <a:alpha val="89411"/>
              </a:schemeClr>
            </a:solidFill>
            <a:ln w="12700" cap="flat" cmpd="sng">
              <a:solidFill>
                <a:srgbClr val="7030A0"/>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2"/>
            <p:cNvSpPr txBox="1"/>
            <p:nvPr/>
          </p:nvSpPr>
          <p:spPr>
            <a:xfrm>
              <a:off x="0" y="1863297"/>
              <a:ext cx="6513603" cy="2409750"/>
            </a:xfrm>
            <a:prstGeom prst="rect">
              <a:avLst/>
            </a:prstGeom>
            <a:noFill/>
            <a:ln>
              <a:noFill/>
            </a:ln>
          </p:spPr>
          <p:txBody>
            <a:bodyPr spcFirstLastPara="1" wrap="square" lIns="505525" tIns="354075" rIns="505525" bIns="120900" anchor="t" anchorCtr="0">
              <a:noAutofit/>
            </a:bodyPr>
            <a:lstStyle/>
            <a:p>
              <a:pPr marL="171450" marR="0" lvl="1" indent="-171450" algn="l" rtl="0">
                <a:lnSpc>
                  <a:spcPct val="90000"/>
                </a:lnSpc>
                <a:spcBef>
                  <a:spcPts val="0"/>
                </a:spcBef>
                <a:spcAft>
                  <a:spcPts val="0"/>
                </a:spcAft>
                <a:buClr>
                  <a:schemeClr val="dk1"/>
                </a:buClr>
                <a:buSzPts val="1700"/>
                <a:buFont typeface="Calibri"/>
                <a:buChar char="•"/>
              </a:pPr>
              <a:r>
                <a:rPr lang="en-US" sz="1700" b="0" i="0" u="none" strike="noStrike" cap="none">
                  <a:solidFill>
                    <a:schemeClr val="dk1"/>
                  </a:solidFill>
                  <a:latin typeface="Calibri"/>
                  <a:ea typeface="Calibri"/>
                  <a:cs typeface="Calibri"/>
                  <a:sym typeface="Calibri"/>
                </a:rPr>
                <a:t>Culture of Service</a:t>
              </a:r>
              <a:endParaRPr sz="1400" b="0" i="0" u="none" strike="noStrike" cap="none">
                <a:solidFill>
                  <a:srgbClr val="000000"/>
                </a:solidFill>
                <a:latin typeface="Arial"/>
                <a:ea typeface="Arial"/>
                <a:cs typeface="Arial"/>
                <a:sym typeface="Arial"/>
              </a:endParaRPr>
            </a:p>
            <a:p>
              <a:pPr marL="171450" marR="0" lvl="1" indent="-171450" algn="l" rtl="0">
                <a:lnSpc>
                  <a:spcPct val="90000"/>
                </a:lnSpc>
                <a:spcBef>
                  <a:spcPts val="255"/>
                </a:spcBef>
                <a:spcAft>
                  <a:spcPts val="0"/>
                </a:spcAft>
                <a:buClr>
                  <a:schemeClr val="dk1"/>
                </a:buClr>
                <a:buSzPts val="1700"/>
                <a:buFont typeface="Calibri"/>
                <a:buChar char="•"/>
              </a:pPr>
              <a:r>
                <a:rPr lang="en-US" sz="1700" b="0" i="0" u="none" strike="noStrike" cap="none">
                  <a:solidFill>
                    <a:schemeClr val="dk1"/>
                  </a:solidFill>
                  <a:latin typeface="Calibri"/>
                  <a:ea typeface="Calibri"/>
                  <a:cs typeface="Calibri"/>
                  <a:sym typeface="Calibri"/>
                </a:rPr>
                <a:t>Bi-Modality Awareness</a:t>
              </a:r>
              <a:endParaRPr sz="1400" b="0" i="0" u="none" strike="noStrike" cap="none">
                <a:solidFill>
                  <a:srgbClr val="000000"/>
                </a:solidFill>
                <a:latin typeface="Arial"/>
                <a:ea typeface="Arial"/>
                <a:cs typeface="Arial"/>
                <a:sym typeface="Arial"/>
              </a:endParaRPr>
            </a:p>
            <a:p>
              <a:pPr marL="171450" marR="0" lvl="1" indent="-171450" algn="l" rtl="0">
                <a:lnSpc>
                  <a:spcPct val="90000"/>
                </a:lnSpc>
                <a:spcBef>
                  <a:spcPts val="255"/>
                </a:spcBef>
                <a:spcAft>
                  <a:spcPts val="0"/>
                </a:spcAft>
                <a:buClr>
                  <a:schemeClr val="dk1"/>
                </a:buClr>
                <a:buSzPts val="1700"/>
                <a:buFont typeface="Calibri"/>
                <a:buChar char="•"/>
              </a:pPr>
              <a:r>
                <a:rPr lang="en-US" sz="1700" b="0" i="0" u="none" strike="noStrike" cap="none">
                  <a:solidFill>
                    <a:schemeClr val="dk1"/>
                  </a:solidFill>
                  <a:latin typeface="Calibri"/>
                  <a:ea typeface="Calibri"/>
                  <a:cs typeface="Calibri"/>
                  <a:sym typeface="Calibri"/>
                </a:rPr>
                <a:t>Ways of Working</a:t>
              </a:r>
              <a:endParaRPr sz="1400" b="0" i="0" u="none" strike="noStrike" cap="none">
                <a:solidFill>
                  <a:srgbClr val="000000"/>
                </a:solidFill>
                <a:latin typeface="Arial"/>
                <a:ea typeface="Arial"/>
                <a:cs typeface="Arial"/>
                <a:sym typeface="Arial"/>
              </a:endParaRPr>
            </a:p>
            <a:p>
              <a:pPr marL="342900" marR="0" lvl="2" indent="-171450" algn="l" rtl="0">
                <a:lnSpc>
                  <a:spcPct val="90000"/>
                </a:lnSpc>
                <a:spcBef>
                  <a:spcPts val="255"/>
                </a:spcBef>
                <a:spcAft>
                  <a:spcPts val="0"/>
                </a:spcAft>
                <a:buClr>
                  <a:schemeClr val="dk1"/>
                </a:buClr>
                <a:buSzPts val="1700"/>
                <a:buFont typeface="Calibri"/>
                <a:buChar char="•"/>
              </a:pPr>
              <a:r>
                <a:rPr lang="en-US" sz="1700" b="0" i="0" u="none" strike="noStrike" cap="none">
                  <a:solidFill>
                    <a:schemeClr val="dk1"/>
                  </a:solidFill>
                  <a:latin typeface="Calibri"/>
                  <a:ea typeface="Calibri"/>
                  <a:cs typeface="Calibri"/>
                  <a:sym typeface="Calibri"/>
                </a:rPr>
                <a:t>Organization</a:t>
              </a:r>
              <a:endParaRPr sz="1400" b="0" i="0" u="none" strike="noStrike" cap="none">
                <a:solidFill>
                  <a:srgbClr val="000000"/>
                </a:solidFill>
                <a:latin typeface="Arial"/>
                <a:ea typeface="Arial"/>
                <a:cs typeface="Arial"/>
                <a:sym typeface="Arial"/>
              </a:endParaRPr>
            </a:p>
            <a:p>
              <a:pPr marL="342900" marR="0" lvl="2" indent="-171450" algn="l" rtl="0">
                <a:lnSpc>
                  <a:spcPct val="90000"/>
                </a:lnSpc>
                <a:spcBef>
                  <a:spcPts val="255"/>
                </a:spcBef>
                <a:spcAft>
                  <a:spcPts val="0"/>
                </a:spcAft>
                <a:buClr>
                  <a:schemeClr val="dk1"/>
                </a:buClr>
                <a:buSzPts val="1700"/>
                <a:buFont typeface="Calibri"/>
                <a:buChar char="•"/>
              </a:pPr>
              <a:r>
                <a:rPr lang="en-US" sz="1700" b="0" i="0" u="none" strike="noStrike" cap="none">
                  <a:solidFill>
                    <a:schemeClr val="dk1"/>
                  </a:solidFill>
                  <a:latin typeface="Calibri"/>
                  <a:ea typeface="Calibri"/>
                  <a:cs typeface="Calibri"/>
                  <a:sym typeface="Calibri"/>
                </a:rPr>
                <a:t>Innovation</a:t>
              </a:r>
              <a:endParaRPr sz="1400" b="0" i="0" u="none" strike="noStrike" cap="none">
                <a:solidFill>
                  <a:srgbClr val="000000"/>
                </a:solidFill>
                <a:latin typeface="Arial"/>
                <a:ea typeface="Arial"/>
                <a:cs typeface="Arial"/>
                <a:sym typeface="Arial"/>
              </a:endParaRPr>
            </a:p>
            <a:p>
              <a:pPr marL="342900" marR="0" lvl="2" indent="-171450" algn="l" rtl="0">
                <a:lnSpc>
                  <a:spcPct val="90000"/>
                </a:lnSpc>
                <a:spcBef>
                  <a:spcPts val="255"/>
                </a:spcBef>
                <a:spcAft>
                  <a:spcPts val="0"/>
                </a:spcAft>
                <a:buClr>
                  <a:schemeClr val="dk1"/>
                </a:buClr>
                <a:buSzPts val="1700"/>
                <a:buFont typeface="Calibri"/>
                <a:buChar char="•"/>
              </a:pPr>
              <a:r>
                <a:rPr lang="en-US" sz="1700" b="0" i="0" u="none" strike="noStrike" cap="none">
                  <a:solidFill>
                    <a:schemeClr val="dk1"/>
                  </a:solidFill>
                  <a:latin typeface="Calibri"/>
                  <a:ea typeface="Calibri"/>
                  <a:cs typeface="Calibri"/>
                  <a:sym typeface="Calibri"/>
                </a:rPr>
                <a:t>Communication</a:t>
              </a:r>
              <a:endParaRPr sz="1400" b="0" i="0" u="none" strike="noStrike" cap="none">
                <a:solidFill>
                  <a:srgbClr val="000000"/>
                </a:solidFill>
                <a:latin typeface="Arial"/>
                <a:ea typeface="Arial"/>
                <a:cs typeface="Arial"/>
                <a:sym typeface="Arial"/>
              </a:endParaRPr>
            </a:p>
            <a:p>
              <a:pPr marL="342900" marR="0" lvl="2" indent="-171450" algn="l" rtl="0">
                <a:lnSpc>
                  <a:spcPct val="90000"/>
                </a:lnSpc>
                <a:spcBef>
                  <a:spcPts val="255"/>
                </a:spcBef>
                <a:spcAft>
                  <a:spcPts val="0"/>
                </a:spcAft>
                <a:buClr>
                  <a:schemeClr val="dk1"/>
                </a:buClr>
                <a:buSzPts val="1700"/>
                <a:buFont typeface="Calibri"/>
                <a:buChar char="•"/>
              </a:pPr>
              <a:r>
                <a:rPr lang="en-US" sz="1700" b="0" i="0" u="none" strike="noStrike" cap="none">
                  <a:solidFill>
                    <a:schemeClr val="dk1"/>
                  </a:solidFill>
                  <a:latin typeface="Calibri"/>
                  <a:ea typeface="Calibri"/>
                  <a:cs typeface="Calibri"/>
                  <a:sym typeface="Calibri"/>
                </a:rPr>
                <a:t>Planning</a:t>
              </a:r>
              <a:endParaRPr sz="1400" b="0" i="0" u="none" strike="noStrike" cap="none">
                <a:solidFill>
                  <a:srgbClr val="000000"/>
                </a:solidFill>
                <a:latin typeface="Arial"/>
                <a:ea typeface="Arial"/>
                <a:cs typeface="Arial"/>
                <a:sym typeface="Arial"/>
              </a:endParaRPr>
            </a:p>
          </p:txBody>
        </p:sp>
        <p:sp>
          <p:nvSpPr>
            <p:cNvPr id="124" name="Google Shape;124;p2"/>
            <p:cNvSpPr/>
            <p:nvPr/>
          </p:nvSpPr>
          <p:spPr>
            <a:xfrm>
              <a:off x="325680" y="1612377"/>
              <a:ext cx="4559522" cy="501840"/>
            </a:xfrm>
            <a:prstGeom prst="roundRect">
              <a:avLst>
                <a:gd name="adj" fmla="val 16667"/>
              </a:avLst>
            </a:prstGeom>
            <a:solidFill>
              <a:srgbClr val="7030A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2"/>
            <p:cNvSpPr txBox="1"/>
            <p:nvPr/>
          </p:nvSpPr>
          <p:spPr>
            <a:xfrm>
              <a:off x="350178" y="1636875"/>
              <a:ext cx="4510526" cy="452844"/>
            </a:xfrm>
            <a:prstGeom prst="rect">
              <a:avLst/>
            </a:prstGeom>
            <a:noFill/>
            <a:ln>
              <a:noFill/>
            </a:ln>
          </p:spPr>
          <p:txBody>
            <a:bodyPr spcFirstLastPara="1" wrap="square" lIns="172325" tIns="0" rIns="172325" bIns="0" anchor="ctr" anchorCtr="0">
              <a:noAutofit/>
            </a:bodyPr>
            <a:lstStyle/>
            <a:p>
              <a:pPr marL="0" marR="0" lvl="0" indent="0" algn="l" rtl="0">
                <a:lnSpc>
                  <a:spcPct val="90000"/>
                </a:lnSpc>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Changes</a:t>
              </a:r>
              <a:endParaRPr sz="1400" b="0" i="0" u="none" strike="noStrike" cap="none">
                <a:solidFill>
                  <a:srgbClr val="000000"/>
                </a:solidFill>
                <a:latin typeface="Arial"/>
                <a:ea typeface="Arial"/>
                <a:cs typeface="Arial"/>
                <a:sym typeface="Arial"/>
              </a:endParaRPr>
            </a:p>
          </p:txBody>
        </p:sp>
        <p:sp>
          <p:nvSpPr>
            <p:cNvPr id="126" name="Google Shape;126;p2"/>
            <p:cNvSpPr/>
            <p:nvPr/>
          </p:nvSpPr>
          <p:spPr>
            <a:xfrm>
              <a:off x="0" y="4615767"/>
              <a:ext cx="6513603" cy="428400"/>
            </a:xfrm>
            <a:prstGeom prst="rect">
              <a:avLst/>
            </a:prstGeom>
            <a:solidFill>
              <a:schemeClr val="lt1">
                <a:alpha val="89411"/>
              </a:schemeClr>
            </a:solidFill>
            <a:ln w="12700" cap="flat" cmpd="sng">
              <a:solidFill>
                <a:srgbClr val="46BA4E"/>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2"/>
            <p:cNvSpPr/>
            <p:nvPr/>
          </p:nvSpPr>
          <p:spPr>
            <a:xfrm>
              <a:off x="325680" y="4364847"/>
              <a:ext cx="4559522" cy="501840"/>
            </a:xfrm>
            <a:prstGeom prst="roundRect">
              <a:avLst>
                <a:gd name="adj" fmla="val 16667"/>
              </a:avLst>
            </a:prstGeom>
            <a:solidFill>
              <a:srgbClr val="46BA4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2"/>
            <p:cNvSpPr txBox="1"/>
            <p:nvPr/>
          </p:nvSpPr>
          <p:spPr>
            <a:xfrm>
              <a:off x="350178" y="4389345"/>
              <a:ext cx="4510526" cy="452844"/>
            </a:xfrm>
            <a:prstGeom prst="rect">
              <a:avLst/>
            </a:prstGeom>
            <a:noFill/>
            <a:ln>
              <a:noFill/>
            </a:ln>
          </p:spPr>
          <p:txBody>
            <a:bodyPr spcFirstLastPara="1" wrap="square" lIns="172325" tIns="0" rIns="172325" bIns="0" anchor="ctr" anchorCtr="0">
              <a:noAutofit/>
            </a:bodyPr>
            <a:lstStyle/>
            <a:p>
              <a:pPr marL="0" marR="0" lvl="0" indent="0" algn="l" rtl="0">
                <a:lnSpc>
                  <a:spcPct val="90000"/>
                </a:lnSpc>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Trust &amp; Visibility</a:t>
              </a:r>
              <a:endParaRPr sz="1400" b="0" i="0" u="none" strike="noStrike" cap="none">
                <a:solidFill>
                  <a:srgbClr val="000000"/>
                </a:solidFill>
                <a:latin typeface="Arial"/>
                <a:ea typeface="Arial"/>
                <a:cs typeface="Arial"/>
                <a:sym typeface="Arial"/>
              </a:endParaRPr>
            </a:p>
          </p:txBody>
        </p:sp>
        <p:sp>
          <p:nvSpPr>
            <p:cNvPr id="129" name="Google Shape;129;p2"/>
            <p:cNvSpPr/>
            <p:nvPr/>
          </p:nvSpPr>
          <p:spPr>
            <a:xfrm>
              <a:off x="0" y="5386888"/>
              <a:ext cx="6513603" cy="428400"/>
            </a:xfrm>
            <a:prstGeom prst="rect">
              <a:avLst/>
            </a:prstGeom>
            <a:solidFill>
              <a:schemeClr val="lt1">
                <a:alpha val="89411"/>
              </a:schemeClr>
            </a:solidFill>
            <a:ln w="12700" cap="flat" cmpd="sng">
              <a:solidFill>
                <a:srgbClr val="C55A1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2"/>
            <p:cNvSpPr/>
            <p:nvPr/>
          </p:nvSpPr>
          <p:spPr>
            <a:xfrm>
              <a:off x="325680" y="5135968"/>
              <a:ext cx="4559522" cy="501840"/>
            </a:xfrm>
            <a:prstGeom prst="roundRect">
              <a:avLst>
                <a:gd name="adj" fmla="val 16667"/>
              </a:avLst>
            </a:prstGeom>
            <a:solidFill>
              <a:srgbClr val="C55A1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2"/>
            <p:cNvSpPr txBox="1"/>
            <p:nvPr/>
          </p:nvSpPr>
          <p:spPr>
            <a:xfrm>
              <a:off x="350178" y="5160466"/>
              <a:ext cx="4510526" cy="452844"/>
            </a:xfrm>
            <a:prstGeom prst="rect">
              <a:avLst/>
            </a:prstGeom>
            <a:noFill/>
            <a:ln>
              <a:noFill/>
            </a:ln>
          </p:spPr>
          <p:txBody>
            <a:bodyPr spcFirstLastPara="1" wrap="square" lIns="172325" tIns="0" rIns="172325" bIns="0" anchor="ctr" anchorCtr="0">
              <a:noAutofit/>
            </a:bodyPr>
            <a:lstStyle/>
            <a:p>
              <a:pPr marL="0" marR="0" lvl="0" indent="0" algn="l" rtl="0">
                <a:lnSpc>
                  <a:spcPct val="90000"/>
                </a:lnSpc>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Round Robin (Q&amp;A)</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p:cNvGrpSpPr/>
        <p:nvPr/>
      </p:nvGrpSpPr>
      <p:grpSpPr>
        <a:xfrm>
          <a:off x="0" y="0"/>
          <a:ext cx="0" cy="0"/>
          <a:chOff x="0" y="0"/>
          <a:chExt cx="0" cy="0"/>
        </a:xfrm>
      </p:grpSpPr>
      <p:sp>
        <p:nvSpPr>
          <p:cNvPr id="136" name="Google Shape;136;p3"/>
          <p:cNvSpPr/>
          <p:nvPr/>
        </p:nvSpPr>
        <p:spPr>
          <a:xfrm>
            <a:off x="0" y="0"/>
            <a:ext cx="12192000" cy="6858000"/>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7" name="Google Shape;137;p3"/>
          <p:cNvSpPr txBox="1">
            <a:spLocks noGrp="1"/>
          </p:cNvSpPr>
          <p:nvPr>
            <p:ph type="title"/>
          </p:nvPr>
        </p:nvSpPr>
        <p:spPr>
          <a:xfrm>
            <a:off x="6746628" y="1783959"/>
            <a:ext cx="4645250" cy="288911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alibri"/>
              <a:buNone/>
            </a:pPr>
            <a:r>
              <a:rPr lang="en-US" sz="6000">
                <a:solidFill>
                  <a:schemeClr val="lt1"/>
                </a:solidFill>
                <a:latin typeface="Calibri"/>
                <a:ea typeface="Calibri"/>
                <a:cs typeface="Calibri"/>
                <a:sym typeface="Calibri"/>
              </a:rPr>
              <a:t>Introduction</a:t>
            </a:r>
            <a:endParaRPr/>
          </a:p>
        </p:txBody>
      </p:sp>
      <p:sp>
        <p:nvSpPr>
          <p:cNvPr id="138" name="Google Shape;138;p3"/>
          <p:cNvSpPr/>
          <p:nvPr/>
        </p:nvSpPr>
        <p:spPr>
          <a:xfrm flipH="1">
            <a:off x="0" y="0"/>
            <a:ext cx="6172782"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lt1">
              <a:alpha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39" name="Google Shape;139;p3"/>
          <p:cNvSpPr/>
          <p:nvPr/>
        </p:nvSpPr>
        <p:spPr>
          <a:xfrm>
            <a:off x="0" y="0"/>
            <a:ext cx="6024154" cy="6858000"/>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40" name="Google Shape;140;p3" descr="Books"/>
          <p:cNvPicPr preferRelativeResize="0"/>
          <p:nvPr/>
        </p:nvPicPr>
        <p:blipFill rotWithShape="1">
          <a:blip r:embed="rId3">
            <a:alphaModFix/>
          </a:blip>
          <a:srcRect/>
          <a:stretch/>
        </p:blipFill>
        <p:spPr>
          <a:xfrm>
            <a:off x="419382" y="720993"/>
            <a:ext cx="4047843" cy="404784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4"/>
          <p:cNvSpPr txBox="1">
            <a:spLocks noGrp="1"/>
          </p:cNvSpPr>
          <p:nvPr>
            <p:ph type="title"/>
          </p:nvPr>
        </p:nvSpPr>
        <p:spPr>
          <a:xfrm>
            <a:off x="838200" y="365125"/>
            <a:ext cx="10515600" cy="882907"/>
          </a:xfrm>
          <a:prstGeom prst="rect">
            <a:avLst/>
          </a:prstGeom>
          <a:solidFill>
            <a:srgbClr val="7030A0"/>
          </a:soli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400"/>
              <a:buFont typeface="Calibri"/>
              <a:buNone/>
            </a:pPr>
            <a:r>
              <a:rPr lang="en-US" b="1" dirty="0">
                <a:solidFill>
                  <a:schemeClr val="lt1"/>
                </a:solidFill>
              </a:rPr>
              <a:t>Purpose</a:t>
            </a:r>
            <a:endParaRPr dirty="0"/>
          </a:p>
        </p:txBody>
      </p:sp>
      <p:sp>
        <p:nvSpPr>
          <p:cNvPr id="147" name="Google Shape;147;p4"/>
          <p:cNvSpPr txBox="1">
            <a:spLocks noGrp="1"/>
          </p:cNvSpPr>
          <p:nvPr>
            <p:ph type="body" idx="1"/>
          </p:nvPr>
        </p:nvSpPr>
        <p:spPr>
          <a:xfrm>
            <a:off x="838200" y="1825625"/>
            <a:ext cx="10515599"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Clarify </a:t>
            </a:r>
            <a:r>
              <a:rPr lang="en-US" b="1"/>
              <a:t>expectations</a:t>
            </a:r>
            <a:r>
              <a:rPr lang="en-US"/>
              <a:t> from company leaders</a:t>
            </a:r>
            <a:endParaRPr/>
          </a:p>
          <a:p>
            <a:pPr marL="228600" lvl="0" indent="-228600" algn="l" rtl="0">
              <a:lnSpc>
                <a:spcPct val="90000"/>
              </a:lnSpc>
              <a:spcBef>
                <a:spcPts val="1000"/>
              </a:spcBef>
              <a:spcAft>
                <a:spcPts val="0"/>
              </a:spcAft>
              <a:buClr>
                <a:schemeClr val="dk1"/>
              </a:buClr>
              <a:buSzPts val="2800"/>
              <a:buChar char="•"/>
            </a:pPr>
            <a:r>
              <a:rPr lang="en-US" b="1"/>
              <a:t>Align</a:t>
            </a:r>
            <a:r>
              <a:rPr lang="en-US"/>
              <a:t> all the people then address technology issues</a:t>
            </a:r>
            <a:endParaRPr/>
          </a:p>
          <a:p>
            <a:pPr marL="228600" lvl="0" indent="-228600" algn="l" rtl="0">
              <a:lnSpc>
                <a:spcPct val="90000"/>
              </a:lnSpc>
              <a:spcBef>
                <a:spcPts val="1000"/>
              </a:spcBef>
              <a:spcAft>
                <a:spcPts val="0"/>
              </a:spcAft>
              <a:buClr>
                <a:schemeClr val="dk1"/>
              </a:buClr>
              <a:buSzPts val="2800"/>
              <a:buChar char="•"/>
            </a:pPr>
            <a:r>
              <a:rPr lang="en-US"/>
              <a:t>Allow collaborators to </a:t>
            </a:r>
            <a:r>
              <a:rPr lang="en-US" b="1"/>
              <a:t>share concerns </a:t>
            </a:r>
            <a:r>
              <a:rPr lang="en-US">
                <a:solidFill>
                  <a:srgbClr val="0070C0"/>
                </a:solidFill>
              </a:rPr>
              <a:t>(</a:t>
            </a:r>
            <a:r>
              <a:rPr lang="en-US" i="1">
                <a:solidFill>
                  <a:srgbClr val="0070C0"/>
                </a:solidFill>
              </a:rPr>
              <a:t>at the end, take notes</a:t>
            </a:r>
            <a:r>
              <a:rPr lang="en-US">
                <a:solidFill>
                  <a:srgbClr val="0070C0"/>
                </a:solidFill>
              </a:rPr>
              <a:t>)</a:t>
            </a:r>
            <a:endParaRPr/>
          </a:p>
          <a:p>
            <a:pPr marL="228600" lvl="0" indent="-228600" algn="l" rtl="0">
              <a:lnSpc>
                <a:spcPct val="90000"/>
              </a:lnSpc>
              <a:spcBef>
                <a:spcPts val="1000"/>
              </a:spcBef>
              <a:spcAft>
                <a:spcPts val="0"/>
              </a:spcAft>
              <a:buClr>
                <a:schemeClr val="dk1"/>
              </a:buClr>
              <a:buSzPts val="2800"/>
              <a:buChar char="•"/>
            </a:pPr>
            <a:r>
              <a:rPr lang="en-US"/>
              <a:t>Propose a </a:t>
            </a:r>
            <a:r>
              <a:rPr lang="en-US" b="1"/>
              <a:t>set of criteria </a:t>
            </a:r>
            <a:r>
              <a:rPr lang="en-US"/>
              <a:t>used to follow-up teamwork</a:t>
            </a:r>
            <a:endParaRPr/>
          </a:p>
          <a:p>
            <a:pPr marL="228600" lvl="0" indent="-228600" algn="l" rtl="0">
              <a:lnSpc>
                <a:spcPct val="90000"/>
              </a:lnSpc>
              <a:spcBef>
                <a:spcPts val="1000"/>
              </a:spcBef>
              <a:spcAft>
                <a:spcPts val="0"/>
              </a:spcAft>
              <a:buClr>
                <a:schemeClr val="dk1"/>
              </a:buClr>
              <a:buSzPts val="2800"/>
              <a:buChar char="•"/>
            </a:pPr>
            <a:r>
              <a:rPr lang="en-US"/>
              <a:t>Opportunity to be honest, positive and </a:t>
            </a:r>
            <a:r>
              <a:rPr lang="en-US" b="1"/>
              <a:t>share ideas</a:t>
            </a:r>
            <a:endParaRPr/>
          </a:p>
          <a:p>
            <a:pPr marL="228600" lvl="0" indent="-228600" algn="l" rtl="0">
              <a:lnSpc>
                <a:spcPct val="90000"/>
              </a:lnSpc>
              <a:spcBef>
                <a:spcPts val="1000"/>
              </a:spcBef>
              <a:spcAft>
                <a:spcPts val="0"/>
              </a:spcAft>
              <a:buClr>
                <a:schemeClr val="dk1"/>
              </a:buClr>
              <a:buSzPts val="2800"/>
              <a:buChar char="•"/>
            </a:pPr>
            <a:r>
              <a:rPr lang="en-US"/>
              <a:t>Put everyone in the </a:t>
            </a:r>
            <a:r>
              <a:rPr lang="en-US" b="1"/>
              <a:t>same (new) page</a:t>
            </a:r>
            <a:r>
              <a:rPr lang="en-US"/>
              <a:t>, no excuses</a:t>
            </a:r>
            <a:endParaRPr/>
          </a:p>
          <a:p>
            <a:pPr marL="228600" lvl="0" indent="-228600" algn="l" rtl="0">
              <a:lnSpc>
                <a:spcPct val="90000"/>
              </a:lnSpc>
              <a:spcBef>
                <a:spcPts val="1000"/>
              </a:spcBef>
              <a:spcAft>
                <a:spcPts val="0"/>
              </a:spcAft>
              <a:buClr>
                <a:schemeClr val="dk1"/>
              </a:buClr>
              <a:buSzPts val="2800"/>
              <a:buChar char="•"/>
            </a:pPr>
            <a:r>
              <a:rPr lang="en-US" b="1"/>
              <a:t>Avoid repeating </a:t>
            </a:r>
            <a:r>
              <a:rPr lang="en-US"/>
              <a:t>this information several times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5"/>
          <p:cNvSpPr txBox="1"/>
          <p:nvPr/>
        </p:nvSpPr>
        <p:spPr>
          <a:xfrm>
            <a:off x="712630" y="333900"/>
            <a:ext cx="10643229" cy="707886"/>
          </a:xfrm>
          <a:prstGeom prst="rect">
            <a:avLst/>
          </a:prstGeom>
          <a:solidFill>
            <a:srgbClr val="7030A0"/>
          </a:solidFill>
          <a:ln>
            <a:noFill/>
          </a:ln>
        </p:spPr>
        <p:txBody>
          <a:bodyPr spcFirstLastPara="1" wrap="square" lIns="121900" tIns="121900" rIns="121900" bIns="121900" anchor="ctr" anchorCtr="0">
            <a:noAutofit/>
          </a:bodyPr>
          <a:lstStyle/>
          <a:p>
            <a:pPr marL="0" marR="0" lvl="0" indent="0" algn="ctr" rtl="0">
              <a:lnSpc>
                <a:spcPct val="120000"/>
              </a:lnSpc>
              <a:spcBef>
                <a:spcPts val="0"/>
              </a:spcBef>
              <a:spcAft>
                <a:spcPts val="0"/>
              </a:spcAft>
              <a:buClr>
                <a:srgbClr val="000000"/>
              </a:buClr>
              <a:buSzPts val="2667"/>
              <a:buFont typeface="Arial"/>
              <a:buNone/>
            </a:pPr>
            <a:r>
              <a:rPr lang="en-US" sz="2667" b="1" i="0" u="none" strike="noStrike" cap="none" dirty="0">
                <a:solidFill>
                  <a:schemeClr val="lt1"/>
                </a:solidFill>
                <a:latin typeface="Calibri"/>
                <a:ea typeface="Calibri"/>
                <a:cs typeface="Calibri"/>
                <a:sym typeface="Calibri"/>
              </a:rPr>
              <a:t>Site Reliability Engineering</a:t>
            </a:r>
            <a:endParaRPr sz="2667" b="1" i="0" u="none" strike="noStrike" cap="none" dirty="0">
              <a:solidFill>
                <a:schemeClr val="lt1"/>
              </a:solidFill>
              <a:latin typeface="Calibri"/>
              <a:ea typeface="Calibri"/>
              <a:cs typeface="Calibri"/>
              <a:sym typeface="Calibri"/>
            </a:endParaRPr>
          </a:p>
        </p:txBody>
      </p:sp>
      <p:sp>
        <p:nvSpPr>
          <p:cNvPr id="154" name="Google Shape;154;p5"/>
          <p:cNvSpPr txBox="1"/>
          <p:nvPr/>
        </p:nvSpPr>
        <p:spPr>
          <a:xfrm>
            <a:off x="848139" y="1236609"/>
            <a:ext cx="10382207" cy="457044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800"/>
              <a:buFont typeface="Arial"/>
              <a:buNone/>
            </a:pPr>
            <a:r>
              <a:rPr lang="en-US" sz="2800" b="1" i="1" u="none" strike="noStrike" cap="none" dirty="0">
                <a:solidFill>
                  <a:schemeClr val="dk1"/>
                </a:solidFill>
                <a:latin typeface="Calibri"/>
                <a:ea typeface="Calibri"/>
                <a:cs typeface="Calibri"/>
                <a:sym typeface="Calibri"/>
              </a:rPr>
              <a:t>Vision</a:t>
            </a:r>
            <a:endParaRPr sz="1400" b="0" i="0" u="none" strike="noStrike" cap="none" dirty="0">
              <a:solidFill>
                <a:srgbClr val="000000"/>
              </a:solidFill>
              <a:latin typeface="Arial"/>
              <a:ea typeface="Arial"/>
              <a:cs typeface="Arial"/>
              <a:sym typeface="Arial"/>
            </a:endParaRPr>
          </a:p>
          <a:p>
            <a:pPr marL="380990" marR="0" lvl="0" indent="-380990" algn="just" rtl="0">
              <a:lnSpc>
                <a:spcPct val="100000"/>
              </a:lnSpc>
              <a:spcBef>
                <a:spcPts val="0"/>
              </a:spcBef>
              <a:spcAft>
                <a:spcPts val="0"/>
              </a:spcAft>
              <a:buClr>
                <a:schemeClr val="dk1"/>
              </a:buClr>
              <a:buSzPts val="2800"/>
              <a:buFont typeface="Arial"/>
              <a:buChar char="•"/>
            </a:pPr>
            <a:r>
              <a:rPr lang="en-US" sz="2800" b="0" i="1" u="none" strike="noStrike" cap="none" dirty="0">
                <a:solidFill>
                  <a:schemeClr val="dk1"/>
                </a:solidFill>
                <a:latin typeface="Calibri"/>
                <a:ea typeface="Calibri"/>
                <a:cs typeface="Calibri"/>
                <a:sym typeface="Calibri"/>
              </a:rPr>
              <a:t>Be recognized as an </a:t>
            </a:r>
            <a:r>
              <a:rPr lang="en-US" sz="2800" b="1" i="1" u="none" strike="noStrike" cap="none" dirty="0">
                <a:solidFill>
                  <a:schemeClr val="dk1"/>
                </a:solidFill>
                <a:latin typeface="Calibri"/>
                <a:ea typeface="Calibri"/>
                <a:cs typeface="Calibri"/>
                <a:sym typeface="Calibri"/>
              </a:rPr>
              <a:t>expert and reliable </a:t>
            </a:r>
            <a:r>
              <a:rPr lang="en-US" sz="2800" b="1" i="1" dirty="0">
                <a:solidFill>
                  <a:schemeClr val="dk1"/>
                </a:solidFill>
                <a:latin typeface="Calibri"/>
                <a:ea typeface="Calibri"/>
                <a:cs typeface="Calibri"/>
                <a:sym typeface="Calibri"/>
              </a:rPr>
              <a:t>group</a:t>
            </a:r>
            <a:r>
              <a:rPr lang="en-US" sz="2800" b="1" i="1" u="none" strike="noStrike" cap="none" dirty="0">
                <a:solidFill>
                  <a:schemeClr val="dk1"/>
                </a:solidFill>
                <a:latin typeface="Calibri"/>
                <a:ea typeface="Calibri"/>
                <a:cs typeface="Calibri"/>
                <a:sym typeface="Calibri"/>
              </a:rPr>
              <a:t> of people </a:t>
            </a:r>
            <a:r>
              <a:rPr lang="en-US" sz="2800" b="0" i="1" u="none" strike="noStrike" cap="none" dirty="0">
                <a:solidFill>
                  <a:schemeClr val="dk1"/>
                </a:solidFill>
                <a:latin typeface="Calibri"/>
                <a:ea typeface="Calibri"/>
                <a:cs typeface="Calibri"/>
                <a:sym typeface="Calibri"/>
              </a:rPr>
              <a:t>which offers the </a:t>
            </a:r>
            <a:r>
              <a:rPr lang="en-US" sz="2800" b="1" i="1" u="none" strike="noStrike" cap="none" dirty="0">
                <a:solidFill>
                  <a:schemeClr val="dk1"/>
                </a:solidFill>
                <a:latin typeface="Calibri"/>
                <a:ea typeface="Calibri"/>
                <a:cs typeface="Calibri"/>
                <a:sym typeface="Calibri"/>
              </a:rPr>
              <a:t>best in class knowledge and support </a:t>
            </a:r>
            <a:r>
              <a:rPr lang="en-US" sz="2800" b="0" i="1" u="none" strike="noStrike" cap="none" dirty="0">
                <a:solidFill>
                  <a:schemeClr val="dk1"/>
                </a:solidFill>
                <a:latin typeface="Calibri"/>
                <a:ea typeface="Calibri"/>
                <a:cs typeface="Calibri"/>
                <a:sym typeface="Calibri"/>
              </a:rPr>
              <a:t>over the core IT infrastructure.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800"/>
              <a:buFont typeface="Arial"/>
              <a:buNone/>
            </a:pPr>
            <a:endParaRPr sz="2800" b="1" i="1"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800"/>
              <a:buFont typeface="Arial"/>
              <a:buNone/>
            </a:pPr>
            <a:r>
              <a:rPr lang="en-US" sz="2800" b="1" i="1" u="none" strike="noStrike" cap="none" dirty="0">
                <a:solidFill>
                  <a:schemeClr val="dk1"/>
                </a:solidFill>
                <a:latin typeface="Calibri"/>
                <a:ea typeface="Calibri"/>
                <a:cs typeface="Calibri"/>
                <a:sym typeface="Calibri"/>
              </a:rPr>
              <a:t>Mission:</a:t>
            </a:r>
            <a:endParaRPr sz="2800" b="1" i="0" u="none" strike="noStrike" cap="none" dirty="0">
              <a:solidFill>
                <a:schemeClr val="dk1"/>
              </a:solidFill>
              <a:latin typeface="Calibri"/>
              <a:ea typeface="Calibri"/>
              <a:cs typeface="Calibri"/>
              <a:sym typeface="Calibri"/>
            </a:endParaRPr>
          </a:p>
          <a:p>
            <a:pPr marL="457189" marR="0" lvl="0" indent="-457189" algn="just" rtl="0">
              <a:lnSpc>
                <a:spcPct val="100000"/>
              </a:lnSpc>
              <a:spcBef>
                <a:spcPts val="0"/>
              </a:spcBef>
              <a:spcAft>
                <a:spcPts val="0"/>
              </a:spcAft>
              <a:buClr>
                <a:schemeClr val="dk1"/>
              </a:buClr>
              <a:buSzPts val="2800"/>
              <a:buFont typeface="Arial"/>
              <a:buChar char="•"/>
            </a:pPr>
            <a:r>
              <a:rPr lang="en-US" sz="2800" b="0" i="1" u="none" strike="noStrike" cap="none" dirty="0">
                <a:solidFill>
                  <a:schemeClr val="dk1"/>
                </a:solidFill>
                <a:latin typeface="Calibri"/>
                <a:ea typeface="Calibri"/>
                <a:cs typeface="Calibri"/>
                <a:sym typeface="Calibri"/>
              </a:rPr>
              <a:t>Ensure the </a:t>
            </a:r>
            <a:r>
              <a:rPr lang="en-US" sz="2800" b="1" i="1" u="none" strike="noStrike" cap="none" dirty="0">
                <a:solidFill>
                  <a:schemeClr val="dk1"/>
                </a:solidFill>
                <a:latin typeface="Calibri"/>
                <a:ea typeface="Calibri"/>
                <a:cs typeface="Calibri"/>
                <a:sym typeface="Calibri"/>
              </a:rPr>
              <a:t>continuous and secure operation and support </a:t>
            </a:r>
            <a:r>
              <a:rPr lang="en-US" sz="2800" b="0" i="1" u="none" strike="noStrike" cap="none" dirty="0">
                <a:solidFill>
                  <a:schemeClr val="dk1"/>
                </a:solidFill>
                <a:latin typeface="Calibri"/>
                <a:ea typeface="Calibri"/>
                <a:cs typeface="Calibri"/>
                <a:sym typeface="Calibri"/>
              </a:rPr>
              <a:t>of the network, compute, storage, backup, messaging, logging and monitoring platforms of the core IT infrastructure enabling the critical business application and services.</a:t>
            </a:r>
            <a:endParaRPr sz="1400" b="0" i="0" u="none" strike="noStrike" cap="none" dirty="0">
              <a:solidFill>
                <a:srgbClr val="000000"/>
              </a:solidFill>
              <a:latin typeface="Arial"/>
              <a:ea typeface="Arial"/>
              <a:cs typeface="Arial"/>
              <a:sym typeface="Arial"/>
            </a:endParaRPr>
          </a:p>
          <a:p>
            <a:pPr marL="457189" marR="0" lvl="0" indent="-387339" algn="just" rtl="0">
              <a:lnSpc>
                <a:spcPct val="100000"/>
              </a:lnSpc>
              <a:spcBef>
                <a:spcPts val="0"/>
              </a:spcBef>
              <a:spcAft>
                <a:spcPts val="0"/>
              </a:spcAft>
              <a:buClr>
                <a:schemeClr val="dk1"/>
              </a:buClr>
              <a:buSzPts val="1100"/>
              <a:buFont typeface="Arial"/>
              <a:buNone/>
            </a:pPr>
            <a:endParaRPr sz="1100" b="1" i="1" u="none" strike="noStrike" cap="none" dirty="0">
              <a:solidFill>
                <a:srgbClr val="7F7F7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5"/>
          <p:cNvSpPr txBox="1"/>
          <p:nvPr/>
        </p:nvSpPr>
        <p:spPr>
          <a:xfrm>
            <a:off x="712630" y="333900"/>
            <a:ext cx="10643229" cy="707886"/>
          </a:xfrm>
          <a:prstGeom prst="rect">
            <a:avLst/>
          </a:prstGeom>
          <a:solidFill>
            <a:srgbClr val="7030A0"/>
          </a:solidFill>
          <a:ln>
            <a:noFill/>
          </a:ln>
        </p:spPr>
        <p:txBody>
          <a:bodyPr spcFirstLastPara="1" wrap="square" lIns="121900" tIns="121900" rIns="121900" bIns="121900" anchor="ctr" anchorCtr="0">
            <a:noAutofit/>
          </a:bodyPr>
          <a:lstStyle/>
          <a:p>
            <a:pPr marL="0" marR="0" lvl="0" indent="0" algn="ctr" rtl="0">
              <a:lnSpc>
                <a:spcPct val="120000"/>
              </a:lnSpc>
              <a:spcBef>
                <a:spcPts val="0"/>
              </a:spcBef>
              <a:spcAft>
                <a:spcPts val="0"/>
              </a:spcAft>
              <a:buClr>
                <a:srgbClr val="000000"/>
              </a:buClr>
              <a:buSzPts val="2667"/>
              <a:buFont typeface="Arial"/>
              <a:buNone/>
            </a:pPr>
            <a:r>
              <a:rPr lang="en-US" sz="2667" b="1" i="0" u="none" strike="noStrike" cap="none" dirty="0">
                <a:solidFill>
                  <a:schemeClr val="lt1"/>
                </a:solidFill>
                <a:latin typeface="Calibri"/>
                <a:ea typeface="Calibri"/>
                <a:cs typeface="Calibri"/>
                <a:sym typeface="Calibri"/>
              </a:rPr>
              <a:t>Site Reliability Engineering</a:t>
            </a:r>
            <a:endParaRPr sz="2667" b="1" i="0" u="none" strike="noStrike" cap="none" dirty="0">
              <a:solidFill>
                <a:schemeClr val="lt1"/>
              </a:solidFill>
              <a:latin typeface="Calibri"/>
              <a:ea typeface="Calibri"/>
              <a:cs typeface="Calibri"/>
              <a:sym typeface="Calibri"/>
            </a:endParaRPr>
          </a:p>
        </p:txBody>
      </p:sp>
      <p:pic>
        <p:nvPicPr>
          <p:cNvPr id="1026" name="Picture 2" descr="Books For Site Reliability Engineering">
            <a:extLst>
              <a:ext uri="{FF2B5EF4-FFF2-40B4-BE49-F238E27FC236}">
                <a16:creationId xmlns:a16="http://schemas.microsoft.com/office/drawing/2014/main" id="{52DD975A-EDD8-895F-E8E7-187D082CB2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630" y="1274958"/>
            <a:ext cx="1845907" cy="2362761"/>
          </a:xfrm>
          <a:prstGeom prst="rect">
            <a:avLst/>
          </a:prstGeom>
          <a:noFill/>
          <a:ln>
            <a:noFill/>
          </a:ln>
          <a:effectLst>
            <a:outerShdw blurRad="225425" dist="50800" dir="5220000" algn="ctr">
              <a:srgbClr val="000000">
                <a:alpha val="33000"/>
              </a:srgb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33F7087-7170-1941-81C9-A6E23981B1E1}"/>
              </a:ext>
            </a:extLst>
          </p:cNvPr>
          <p:cNvPicPr>
            <a:picLocks noChangeAspect="1"/>
          </p:cNvPicPr>
          <p:nvPr/>
        </p:nvPicPr>
        <p:blipFill>
          <a:blip r:embed="rId4"/>
          <a:stretch>
            <a:fillRect/>
          </a:stretch>
        </p:blipFill>
        <p:spPr>
          <a:xfrm>
            <a:off x="3109434" y="1294832"/>
            <a:ext cx="8106396" cy="2134168"/>
          </a:xfrm>
          <a:prstGeom prst="rect">
            <a:avLst/>
          </a:prstGeom>
        </p:spPr>
      </p:pic>
      <p:pic>
        <p:nvPicPr>
          <p:cNvPr id="1032" name="Picture 8" descr="Books For Site Reliability Engineering">
            <a:extLst>
              <a:ext uri="{FF2B5EF4-FFF2-40B4-BE49-F238E27FC236}">
                <a16:creationId xmlns:a16="http://schemas.microsoft.com/office/drawing/2014/main" id="{863A6BDE-1270-AA3E-A817-305F098BC0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2630" y="3715264"/>
            <a:ext cx="1845908" cy="2368684"/>
          </a:xfrm>
          <a:prstGeom prst="rect">
            <a:avLst/>
          </a:prstGeom>
          <a:noFill/>
          <a:ln>
            <a:noFill/>
          </a:ln>
          <a:effectLst>
            <a:outerShdw blurRad="225425" dist="50800" dir="5220000" algn="ctr">
              <a:srgbClr val="000000">
                <a:alpha val="33000"/>
              </a:srgbClr>
            </a:outerShdw>
          </a:effectLst>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6482B50-0C77-FCE8-E78A-5EEC80495C38}"/>
              </a:ext>
            </a:extLst>
          </p:cNvPr>
          <p:cNvSpPr txBox="1"/>
          <p:nvPr/>
        </p:nvSpPr>
        <p:spPr>
          <a:xfrm>
            <a:off x="606568" y="6083948"/>
            <a:ext cx="2232349" cy="307777"/>
          </a:xfrm>
          <a:prstGeom prst="rect">
            <a:avLst/>
          </a:prstGeom>
          <a:noFill/>
        </p:spPr>
        <p:txBody>
          <a:bodyPr wrap="square">
            <a:spAutoFit/>
          </a:bodyPr>
          <a:lstStyle/>
          <a:p>
            <a:r>
              <a:rPr lang="en-DE" dirty="0">
                <a:hlinkClick r:id="rId6"/>
              </a:rPr>
              <a:t>https://sre.google/books/</a:t>
            </a:r>
            <a:r>
              <a:rPr lang="en-GB" dirty="0"/>
              <a:t> </a:t>
            </a:r>
            <a:endParaRPr lang="en-DE" dirty="0"/>
          </a:p>
        </p:txBody>
      </p:sp>
      <p:pic>
        <p:nvPicPr>
          <p:cNvPr id="11" name="Picture 10">
            <a:extLst>
              <a:ext uri="{FF2B5EF4-FFF2-40B4-BE49-F238E27FC236}">
                <a16:creationId xmlns:a16="http://schemas.microsoft.com/office/drawing/2014/main" id="{F08FA472-4937-14D5-C8F4-8F2147763712}"/>
              </a:ext>
            </a:extLst>
          </p:cNvPr>
          <p:cNvPicPr>
            <a:picLocks noChangeAspect="1"/>
          </p:cNvPicPr>
          <p:nvPr/>
        </p:nvPicPr>
        <p:blipFill>
          <a:blip r:embed="rId7"/>
          <a:stretch>
            <a:fillRect/>
          </a:stretch>
        </p:blipFill>
        <p:spPr>
          <a:xfrm>
            <a:off x="3538642" y="3715264"/>
            <a:ext cx="4512449" cy="2368684"/>
          </a:xfrm>
          <a:prstGeom prst="rect">
            <a:avLst/>
          </a:prstGeom>
        </p:spPr>
      </p:pic>
      <p:pic>
        <p:nvPicPr>
          <p:cNvPr id="13" name="Picture 12">
            <a:extLst>
              <a:ext uri="{FF2B5EF4-FFF2-40B4-BE49-F238E27FC236}">
                <a16:creationId xmlns:a16="http://schemas.microsoft.com/office/drawing/2014/main" id="{122837DB-841D-1407-9CF9-DF8C6F69D4BA}"/>
              </a:ext>
            </a:extLst>
          </p:cNvPr>
          <p:cNvPicPr>
            <a:picLocks noChangeAspect="1"/>
          </p:cNvPicPr>
          <p:nvPr/>
        </p:nvPicPr>
        <p:blipFill>
          <a:blip r:embed="rId8"/>
          <a:stretch>
            <a:fillRect/>
          </a:stretch>
        </p:blipFill>
        <p:spPr>
          <a:xfrm>
            <a:off x="8051091" y="3715264"/>
            <a:ext cx="2141030" cy="2382691"/>
          </a:xfrm>
          <a:prstGeom prst="rect">
            <a:avLst/>
          </a:prstGeom>
        </p:spPr>
      </p:pic>
      <p:sp>
        <p:nvSpPr>
          <p:cNvPr id="14" name="TextBox 13">
            <a:extLst>
              <a:ext uri="{FF2B5EF4-FFF2-40B4-BE49-F238E27FC236}">
                <a16:creationId xmlns:a16="http://schemas.microsoft.com/office/drawing/2014/main" id="{7A280334-059D-7FDC-D53B-6A64CA2E4DD5}"/>
              </a:ext>
            </a:extLst>
          </p:cNvPr>
          <p:cNvSpPr txBox="1"/>
          <p:nvPr/>
        </p:nvSpPr>
        <p:spPr>
          <a:xfrm>
            <a:off x="6340932" y="3816221"/>
            <a:ext cx="1643399" cy="400110"/>
          </a:xfrm>
          <a:prstGeom prst="rect">
            <a:avLst/>
          </a:prstGeom>
          <a:noFill/>
        </p:spPr>
        <p:txBody>
          <a:bodyPr wrap="none" rtlCol="0">
            <a:spAutoFit/>
          </a:bodyPr>
          <a:lstStyle/>
          <a:p>
            <a:r>
              <a:rPr lang="en-GB" sz="2000" b="1" dirty="0"/>
              <a:t>“Reliability”</a:t>
            </a:r>
            <a:endParaRPr lang="en-DE" b="1" dirty="0"/>
          </a:p>
        </p:txBody>
      </p:sp>
    </p:spTree>
    <p:extLst>
      <p:ext uri="{BB962C8B-B14F-4D97-AF65-F5344CB8AC3E}">
        <p14:creationId xmlns:p14="http://schemas.microsoft.com/office/powerpoint/2010/main" val="2984655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3"/>
        <p:cNvGrpSpPr/>
        <p:nvPr/>
      </p:nvGrpSpPr>
      <p:grpSpPr>
        <a:xfrm>
          <a:off x="0" y="0"/>
          <a:ext cx="0" cy="0"/>
          <a:chOff x="0" y="0"/>
          <a:chExt cx="0" cy="0"/>
        </a:xfrm>
      </p:grpSpPr>
      <p:sp>
        <p:nvSpPr>
          <p:cNvPr id="234" name="Google Shape;234;p9"/>
          <p:cNvSpPr/>
          <p:nvPr/>
        </p:nvSpPr>
        <p:spPr>
          <a:xfrm>
            <a:off x="0" y="0"/>
            <a:ext cx="12192000" cy="6858000"/>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5" name="Google Shape;235;p9"/>
          <p:cNvSpPr txBox="1">
            <a:spLocks noGrp="1"/>
          </p:cNvSpPr>
          <p:nvPr>
            <p:ph type="title"/>
          </p:nvPr>
        </p:nvSpPr>
        <p:spPr>
          <a:xfrm>
            <a:off x="6746628" y="1783959"/>
            <a:ext cx="4645250" cy="288911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alibri"/>
              <a:buNone/>
            </a:pPr>
            <a:r>
              <a:rPr lang="en-US" sz="6000">
                <a:solidFill>
                  <a:schemeClr val="lt1"/>
                </a:solidFill>
                <a:latin typeface="Calibri"/>
                <a:ea typeface="Calibri"/>
                <a:cs typeface="Calibri"/>
                <a:sym typeface="Calibri"/>
              </a:rPr>
              <a:t>Weakness</a:t>
            </a:r>
            <a:br>
              <a:rPr lang="en-US" sz="6000">
                <a:solidFill>
                  <a:schemeClr val="lt1"/>
                </a:solidFill>
                <a:latin typeface="Calibri"/>
                <a:ea typeface="Calibri"/>
                <a:cs typeface="Calibri"/>
                <a:sym typeface="Calibri"/>
              </a:rPr>
            </a:br>
            <a:r>
              <a:rPr lang="en-US" sz="6000">
                <a:solidFill>
                  <a:schemeClr val="lt1"/>
                </a:solidFill>
                <a:latin typeface="Calibri"/>
                <a:ea typeface="Calibri"/>
                <a:cs typeface="Calibri"/>
                <a:sym typeface="Calibri"/>
              </a:rPr>
              <a:t>&amp;</a:t>
            </a:r>
            <a:r>
              <a:rPr lang="en-US" sz="6000">
                <a:solidFill>
                  <a:schemeClr val="lt1"/>
                </a:solidFill>
              </a:rPr>
              <a:t> </a:t>
            </a:r>
            <a:r>
              <a:rPr lang="en-US" sz="6000">
                <a:solidFill>
                  <a:schemeClr val="lt1"/>
                </a:solidFill>
                <a:latin typeface="Calibri"/>
                <a:ea typeface="Calibri"/>
                <a:cs typeface="Calibri"/>
                <a:sym typeface="Calibri"/>
              </a:rPr>
              <a:t>Strengths</a:t>
            </a:r>
            <a:endParaRPr/>
          </a:p>
        </p:txBody>
      </p:sp>
      <p:sp>
        <p:nvSpPr>
          <p:cNvPr id="236" name="Google Shape;236;p9"/>
          <p:cNvSpPr/>
          <p:nvPr/>
        </p:nvSpPr>
        <p:spPr>
          <a:xfrm flipH="1">
            <a:off x="0" y="0"/>
            <a:ext cx="6172782"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lt1">
              <a:alpha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37" name="Google Shape;237;p9"/>
          <p:cNvSpPr/>
          <p:nvPr/>
        </p:nvSpPr>
        <p:spPr>
          <a:xfrm>
            <a:off x="0" y="0"/>
            <a:ext cx="6024154" cy="6858000"/>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238" name="Google Shape;238;p9" descr="Books"/>
          <p:cNvPicPr preferRelativeResize="0"/>
          <p:nvPr/>
        </p:nvPicPr>
        <p:blipFill rotWithShape="1">
          <a:blip r:embed="rId3">
            <a:alphaModFix/>
          </a:blip>
          <a:srcRect/>
          <a:stretch/>
        </p:blipFill>
        <p:spPr>
          <a:xfrm>
            <a:off x="419382" y="720993"/>
            <a:ext cx="4047843" cy="404784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2"/>
        <p:cNvGrpSpPr/>
        <p:nvPr/>
      </p:nvGrpSpPr>
      <p:grpSpPr>
        <a:xfrm>
          <a:off x="0" y="0"/>
          <a:ext cx="0" cy="0"/>
          <a:chOff x="0" y="0"/>
          <a:chExt cx="0" cy="0"/>
        </a:xfrm>
      </p:grpSpPr>
      <p:sp>
        <p:nvSpPr>
          <p:cNvPr id="243" name="Google Shape;243;p10"/>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44" name="Google Shape;244;p10"/>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Strengths</a:t>
            </a:r>
            <a:endParaRPr/>
          </a:p>
        </p:txBody>
      </p:sp>
      <p:grpSp>
        <p:nvGrpSpPr>
          <p:cNvPr id="245" name="Google Shape;245;p10"/>
          <p:cNvGrpSpPr/>
          <p:nvPr/>
        </p:nvGrpSpPr>
        <p:grpSpPr>
          <a:xfrm>
            <a:off x="6249455" y="1362274"/>
            <a:ext cx="4037343" cy="4005166"/>
            <a:chOff x="616578" y="19714"/>
            <a:chExt cx="4037343" cy="4005166"/>
          </a:xfrm>
        </p:grpSpPr>
        <p:sp>
          <p:nvSpPr>
            <p:cNvPr id="246" name="Google Shape;246;p10"/>
            <p:cNvSpPr/>
            <p:nvPr/>
          </p:nvSpPr>
          <p:spPr>
            <a:xfrm>
              <a:off x="978546" y="19714"/>
              <a:ext cx="1132312" cy="1132312"/>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10"/>
            <p:cNvSpPr/>
            <p:nvPr/>
          </p:nvSpPr>
          <p:spPr>
            <a:xfrm>
              <a:off x="1219859" y="261027"/>
              <a:ext cx="649687" cy="649687"/>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10"/>
            <p:cNvSpPr/>
            <p:nvPr/>
          </p:nvSpPr>
          <p:spPr>
            <a:xfrm>
              <a:off x="616578" y="1504714"/>
              <a:ext cx="185625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10"/>
            <p:cNvSpPr txBox="1"/>
            <p:nvPr/>
          </p:nvSpPr>
          <p:spPr>
            <a:xfrm>
              <a:off x="616578" y="1504714"/>
              <a:ext cx="185625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KNOWLEDGE</a:t>
              </a:r>
              <a:endParaRPr sz="1400" b="0" i="0" u="none" strike="noStrike" cap="none">
                <a:solidFill>
                  <a:srgbClr val="000000"/>
                </a:solidFill>
                <a:latin typeface="Arial"/>
                <a:ea typeface="Arial"/>
                <a:cs typeface="Arial"/>
                <a:sym typeface="Arial"/>
              </a:endParaRPr>
            </a:p>
          </p:txBody>
        </p:sp>
        <p:sp>
          <p:nvSpPr>
            <p:cNvPr id="250" name="Google Shape;250;p10"/>
            <p:cNvSpPr/>
            <p:nvPr/>
          </p:nvSpPr>
          <p:spPr>
            <a:xfrm>
              <a:off x="3159640" y="19714"/>
              <a:ext cx="1132312" cy="1132312"/>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10"/>
            <p:cNvSpPr/>
            <p:nvPr/>
          </p:nvSpPr>
          <p:spPr>
            <a:xfrm>
              <a:off x="3400953" y="261027"/>
              <a:ext cx="649687" cy="649687"/>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10"/>
            <p:cNvSpPr/>
            <p:nvPr/>
          </p:nvSpPr>
          <p:spPr>
            <a:xfrm>
              <a:off x="2797671" y="1504714"/>
              <a:ext cx="185625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10"/>
            <p:cNvSpPr txBox="1"/>
            <p:nvPr/>
          </p:nvSpPr>
          <p:spPr>
            <a:xfrm>
              <a:off x="2797671" y="1504714"/>
              <a:ext cx="185625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PASSIONATE</a:t>
              </a:r>
              <a:endParaRPr sz="1400" b="0" i="0" u="none" strike="noStrike" cap="none">
                <a:solidFill>
                  <a:srgbClr val="000000"/>
                </a:solidFill>
                <a:latin typeface="Arial"/>
                <a:ea typeface="Arial"/>
                <a:cs typeface="Arial"/>
                <a:sym typeface="Arial"/>
              </a:endParaRPr>
            </a:p>
          </p:txBody>
        </p:sp>
        <p:sp>
          <p:nvSpPr>
            <p:cNvPr id="254" name="Google Shape;254;p10"/>
            <p:cNvSpPr/>
            <p:nvPr/>
          </p:nvSpPr>
          <p:spPr>
            <a:xfrm>
              <a:off x="2129434" y="2316891"/>
              <a:ext cx="1132312" cy="1132312"/>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10"/>
            <p:cNvSpPr/>
            <p:nvPr/>
          </p:nvSpPr>
          <p:spPr>
            <a:xfrm>
              <a:off x="2373477" y="2536385"/>
              <a:ext cx="649687" cy="649687"/>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10"/>
            <p:cNvSpPr/>
            <p:nvPr/>
          </p:nvSpPr>
          <p:spPr>
            <a:xfrm>
              <a:off x="1767471" y="3721876"/>
              <a:ext cx="1856250" cy="30300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10"/>
            <p:cNvSpPr txBox="1"/>
            <p:nvPr/>
          </p:nvSpPr>
          <p:spPr>
            <a:xfrm>
              <a:off x="1767471" y="3721876"/>
              <a:ext cx="1856250" cy="303004"/>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COMPROMISE</a:t>
              </a:r>
              <a:endParaRPr sz="1400" b="0" i="0" u="none" strike="noStrike" cap="none">
                <a:solidFill>
                  <a:srgbClr val="000000"/>
                </a:solidFill>
                <a:latin typeface="Arial"/>
                <a:ea typeface="Arial"/>
                <a:cs typeface="Arial"/>
                <a:sym typeface="Arial"/>
              </a:endParaRPr>
            </a:p>
          </p:txBody>
        </p:sp>
      </p:grpSp>
      <p:sp>
        <p:nvSpPr>
          <p:cNvPr id="258" name="Google Shape;258;p10"/>
          <p:cNvSpPr txBox="1"/>
          <p:nvPr/>
        </p:nvSpPr>
        <p:spPr>
          <a:xfrm>
            <a:off x="5824449" y="5650675"/>
            <a:ext cx="5078928"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70C0"/>
                </a:solidFill>
                <a:latin typeface="Calibri"/>
                <a:ea typeface="Calibri"/>
                <a:cs typeface="Calibri"/>
                <a:sym typeface="Calibri"/>
              </a:rPr>
              <a:t>++ Assertiveness </a:t>
            </a:r>
            <a:br>
              <a:rPr lang="en-US" sz="2400" b="0" i="0" u="none" strike="noStrike" cap="none">
                <a:solidFill>
                  <a:srgbClr val="0070C0"/>
                </a:solidFill>
                <a:latin typeface="Calibri"/>
                <a:ea typeface="Calibri"/>
                <a:cs typeface="Calibri"/>
                <a:sym typeface="Calibri"/>
              </a:rPr>
            </a:br>
            <a:r>
              <a:rPr lang="en-US" sz="2400" b="0" i="0" u="none" strike="noStrike" cap="none">
                <a:solidFill>
                  <a:srgbClr val="0070C0"/>
                </a:solidFill>
                <a:latin typeface="Calibri"/>
                <a:ea typeface="Calibri"/>
                <a:cs typeface="Calibri"/>
                <a:sym typeface="Calibri"/>
              </a:rPr>
              <a:t>++ Resolution</a:t>
            </a:r>
            <a:endParaRPr sz="1400" b="0" i="0" u="none" strike="noStrike" cap="none">
              <a:solidFill>
                <a:srgbClr val="000000"/>
              </a:solidFill>
              <a:latin typeface="Arial"/>
              <a:ea typeface="Arial"/>
              <a:cs typeface="Arial"/>
              <a:sym typeface="Arial"/>
            </a:endParaRPr>
          </a:p>
        </p:txBody>
      </p:sp>
      <p:sp>
        <p:nvSpPr>
          <p:cNvPr id="259" name="Google Shape;259;p10"/>
          <p:cNvSpPr/>
          <p:nvPr/>
        </p:nvSpPr>
        <p:spPr>
          <a:xfrm>
            <a:off x="5537200" y="723900"/>
            <a:ext cx="5588000" cy="485504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4"/>
        <p:cNvGrpSpPr/>
        <p:nvPr/>
      </p:nvGrpSpPr>
      <p:grpSpPr>
        <a:xfrm>
          <a:off x="0" y="0"/>
          <a:ext cx="0" cy="0"/>
          <a:chOff x="0" y="0"/>
          <a:chExt cx="0" cy="0"/>
        </a:xfrm>
      </p:grpSpPr>
      <p:sp>
        <p:nvSpPr>
          <p:cNvPr id="265" name="Google Shape;265;p11"/>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66" name="Google Shape;266;p11"/>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Weakness</a:t>
            </a:r>
            <a:endParaRPr/>
          </a:p>
        </p:txBody>
      </p:sp>
      <p:grpSp>
        <p:nvGrpSpPr>
          <p:cNvPr id="267" name="Google Shape;267;p11"/>
          <p:cNvGrpSpPr/>
          <p:nvPr/>
        </p:nvGrpSpPr>
        <p:grpSpPr>
          <a:xfrm>
            <a:off x="6149676" y="730877"/>
            <a:ext cx="4735302" cy="4535299"/>
            <a:chOff x="955376" y="37038"/>
            <a:chExt cx="4735302" cy="4535299"/>
          </a:xfrm>
        </p:grpSpPr>
        <p:sp>
          <p:nvSpPr>
            <p:cNvPr id="268" name="Google Shape;268;p11"/>
            <p:cNvSpPr/>
            <p:nvPr/>
          </p:nvSpPr>
          <p:spPr>
            <a:xfrm>
              <a:off x="1399286" y="37038"/>
              <a:ext cx="1269562" cy="1269562"/>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11"/>
            <p:cNvSpPr/>
            <p:nvPr/>
          </p:nvSpPr>
          <p:spPr>
            <a:xfrm>
              <a:off x="1669848" y="307601"/>
              <a:ext cx="728437" cy="728437"/>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11"/>
            <p:cNvSpPr/>
            <p:nvPr/>
          </p:nvSpPr>
          <p:spPr>
            <a:xfrm>
              <a:off x="955376" y="1459845"/>
              <a:ext cx="208125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11"/>
            <p:cNvSpPr txBox="1"/>
            <p:nvPr/>
          </p:nvSpPr>
          <p:spPr>
            <a:xfrm>
              <a:off x="955376" y="1459845"/>
              <a:ext cx="208125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ACCOUNTABILITY</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735"/>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(TRACEABILITY)</a:t>
              </a:r>
              <a:endParaRPr sz="1400" b="0" i="0" u="none" strike="noStrike" cap="none">
                <a:solidFill>
                  <a:srgbClr val="000000"/>
                </a:solidFill>
                <a:latin typeface="Arial"/>
                <a:ea typeface="Arial"/>
                <a:cs typeface="Arial"/>
                <a:sym typeface="Arial"/>
              </a:endParaRPr>
            </a:p>
          </p:txBody>
        </p:sp>
        <p:sp>
          <p:nvSpPr>
            <p:cNvPr id="272" name="Google Shape;272;p11"/>
            <p:cNvSpPr/>
            <p:nvPr/>
          </p:nvSpPr>
          <p:spPr>
            <a:xfrm>
              <a:off x="4009303" y="110165"/>
              <a:ext cx="1269562" cy="1269562"/>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11"/>
            <p:cNvSpPr/>
            <p:nvPr/>
          </p:nvSpPr>
          <p:spPr>
            <a:xfrm>
              <a:off x="4243355" y="417347"/>
              <a:ext cx="728437" cy="728437"/>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11"/>
            <p:cNvSpPr/>
            <p:nvPr/>
          </p:nvSpPr>
          <p:spPr>
            <a:xfrm>
              <a:off x="3609428" y="1434580"/>
              <a:ext cx="208125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11"/>
            <p:cNvSpPr txBox="1"/>
            <p:nvPr/>
          </p:nvSpPr>
          <p:spPr>
            <a:xfrm>
              <a:off x="3609428" y="1434580"/>
              <a:ext cx="208125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COMMUNICATION</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735"/>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(WORKFLOWS)</a:t>
              </a:r>
              <a:endParaRPr sz="1400" b="0" i="0" u="none" strike="noStrike" cap="none">
                <a:solidFill>
                  <a:srgbClr val="000000"/>
                </a:solidFill>
                <a:latin typeface="Arial"/>
                <a:ea typeface="Arial"/>
                <a:cs typeface="Arial"/>
                <a:sym typeface="Arial"/>
              </a:endParaRPr>
            </a:p>
          </p:txBody>
        </p:sp>
        <p:sp>
          <p:nvSpPr>
            <p:cNvPr id="276" name="Google Shape;276;p11"/>
            <p:cNvSpPr/>
            <p:nvPr/>
          </p:nvSpPr>
          <p:spPr>
            <a:xfrm>
              <a:off x="2627099" y="2463218"/>
              <a:ext cx="1269562" cy="1269562"/>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11"/>
            <p:cNvSpPr/>
            <p:nvPr/>
          </p:nvSpPr>
          <p:spPr>
            <a:xfrm>
              <a:off x="2897667" y="2697252"/>
              <a:ext cx="728437" cy="728437"/>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11"/>
            <p:cNvSpPr/>
            <p:nvPr/>
          </p:nvSpPr>
          <p:spPr>
            <a:xfrm>
              <a:off x="2221255" y="3852337"/>
              <a:ext cx="208125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p11"/>
            <p:cNvSpPr txBox="1"/>
            <p:nvPr/>
          </p:nvSpPr>
          <p:spPr>
            <a:xfrm>
              <a:off x="2221255" y="3852337"/>
              <a:ext cx="208125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VERSATILITY</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735"/>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(STRATEGY)</a:t>
              </a:r>
              <a:endParaRPr sz="1400" b="0" i="0" u="none" strike="noStrike" cap="none">
                <a:solidFill>
                  <a:srgbClr val="000000"/>
                </a:solidFill>
                <a:latin typeface="Arial"/>
                <a:ea typeface="Arial"/>
                <a:cs typeface="Arial"/>
                <a:sym typeface="Arial"/>
              </a:endParaRPr>
            </a:p>
          </p:txBody>
        </p:sp>
      </p:grpSp>
      <p:sp>
        <p:nvSpPr>
          <p:cNvPr id="280" name="Google Shape;280;p11"/>
          <p:cNvSpPr txBox="1"/>
          <p:nvPr/>
        </p:nvSpPr>
        <p:spPr>
          <a:xfrm>
            <a:off x="5124796" y="1421736"/>
            <a:ext cx="862171"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What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When</a:t>
            </a:r>
            <a:endParaRPr sz="1400" b="0" i="0" u="none" strike="noStrike" cap="none">
              <a:solidFill>
                <a:srgbClr val="000000"/>
              </a:solidFill>
              <a:latin typeface="Arial"/>
              <a:ea typeface="Arial"/>
              <a:cs typeface="Arial"/>
              <a:sym typeface="Arial"/>
            </a:endParaRPr>
          </a:p>
        </p:txBody>
      </p:sp>
      <p:sp>
        <p:nvSpPr>
          <p:cNvPr id="281" name="Google Shape;281;p11"/>
          <p:cNvSpPr txBox="1"/>
          <p:nvPr/>
        </p:nvSpPr>
        <p:spPr>
          <a:xfrm>
            <a:off x="10843391" y="939823"/>
            <a:ext cx="862171"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Whom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Where</a:t>
            </a:r>
            <a:endParaRPr sz="1400" b="0" i="0" u="none" strike="noStrike" cap="none">
              <a:solidFill>
                <a:srgbClr val="000000"/>
              </a:solidFill>
              <a:latin typeface="Arial"/>
              <a:ea typeface="Arial"/>
              <a:cs typeface="Arial"/>
              <a:sym typeface="Arial"/>
            </a:endParaRPr>
          </a:p>
        </p:txBody>
      </p:sp>
      <p:sp>
        <p:nvSpPr>
          <p:cNvPr id="282" name="Google Shape;282;p11"/>
          <p:cNvSpPr txBox="1"/>
          <p:nvPr/>
        </p:nvSpPr>
        <p:spPr>
          <a:xfrm>
            <a:off x="9546979" y="4141190"/>
            <a:ext cx="862171"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Why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Who</a:t>
            </a:r>
            <a:endParaRPr sz="1400" b="0" i="0" u="none" strike="noStrike" cap="none">
              <a:solidFill>
                <a:srgbClr val="000000"/>
              </a:solidFill>
              <a:latin typeface="Arial"/>
              <a:ea typeface="Arial"/>
              <a:cs typeface="Arial"/>
              <a:sym typeface="Arial"/>
            </a:endParaRPr>
          </a:p>
        </p:txBody>
      </p:sp>
      <p:sp>
        <p:nvSpPr>
          <p:cNvPr id="283" name="Google Shape;283;p11"/>
          <p:cNvSpPr txBox="1"/>
          <p:nvPr/>
        </p:nvSpPr>
        <p:spPr>
          <a:xfrm>
            <a:off x="7403197" y="6120013"/>
            <a:ext cx="2184145"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FF2F92"/>
                </a:solidFill>
                <a:latin typeface="Calibri"/>
                <a:ea typeface="Calibri"/>
                <a:cs typeface="Calibri"/>
                <a:sym typeface="Calibri"/>
              </a:rPr>
              <a:t>-- Scalability</a:t>
            </a:r>
            <a:endParaRPr sz="1400" b="0" i="0" u="none" strike="noStrike" cap="none">
              <a:solidFill>
                <a:srgbClr val="000000"/>
              </a:solidFill>
              <a:latin typeface="Arial"/>
              <a:ea typeface="Arial"/>
              <a:cs typeface="Arial"/>
              <a:sym typeface="Arial"/>
            </a:endParaRPr>
          </a:p>
        </p:txBody>
      </p:sp>
      <p:sp>
        <p:nvSpPr>
          <p:cNvPr id="284" name="Google Shape;284;p11"/>
          <p:cNvSpPr/>
          <p:nvPr/>
        </p:nvSpPr>
        <p:spPr>
          <a:xfrm>
            <a:off x="5820032" y="481914"/>
            <a:ext cx="5350476" cy="5511113"/>
          </a:xfrm>
          <a:custGeom>
            <a:avLst/>
            <a:gdLst/>
            <a:ahLst/>
            <a:cxnLst/>
            <a:rect l="l" t="t" r="r" b="b"/>
            <a:pathLst>
              <a:path w="5350476" h="5511113" extrusionOk="0">
                <a:moveTo>
                  <a:pt x="4880919" y="444843"/>
                </a:moveTo>
                <a:cubicBezTo>
                  <a:pt x="4885038" y="510746"/>
                  <a:pt x="4886363" y="576883"/>
                  <a:pt x="4893276" y="642551"/>
                </a:cubicBezTo>
                <a:cubicBezTo>
                  <a:pt x="4894640" y="655505"/>
                  <a:pt x="4902474" y="666985"/>
                  <a:pt x="4905633" y="679621"/>
                </a:cubicBezTo>
                <a:lnTo>
                  <a:pt x="4930346" y="778475"/>
                </a:lnTo>
                <a:cubicBezTo>
                  <a:pt x="4939602" y="843268"/>
                  <a:pt x="4943630" y="876250"/>
                  <a:pt x="4955060" y="939113"/>
                </a:cubicBezTo>
                <a:cubicBezTo>
                  <a:pt x="4958817" y="959777"/>
                  <a:pt x="4962694" y="980432"/>
                  <a:pt x="4967417" y="1000897"/>
                </a:cubicBezTo>
                <a:cubicBezTo>
                  <a:pt x="4975054" y="1033993"/>
                  <a:pt x="4981389" y="1067529"/>
                  <a:pt x="4992130" y="1099751"/>
                </a:cubicBezTo>
                <a:cubicBezTo>
                  <a:pt x="5000368" y="1124464"/>
                  <a:pt x="5002394" y="1152216"/>
                  <a:pt x="5016844" y="1173891"/>
                </a:cubicBezTo>
                <a:cubicBezTo>
                  <a:pt x="5041143" y="1210341"/>
                  <a:pt x="5042948" y="1218300"/>
                  <a:pt x="5078627" y="1248032"/>
                </a:cubicBezTo>
                <a:cubicBezTo>
                  <a:pt x="5090036" y="1257539"/>
                  <a:pt x="5104289" y="1263238"/>
                  <a:pt x="5115698" y="1272745"/>
                </a:cubicBezTo>
                <a:cubicBezTo>
                  <a:pt x="5174766" y="1321968"/>
                  <a:pt x="5133304" y="1293873"/>
                  <a:pt x="5177482" y="1346886"/>
                </a:cubicBezTo>
                <a:cubicBezTo>
                  <a:pt x="5188669" y="1360311"/>
                  <a:pt x="5203365" y="1370531"/>
                  <a:pt x="5214552" y="1383956"/>
                </a:cubicBezTo>
                <a:cubicBezTo>
                  <a:pt x="5247186" y="1423118"/>
                  <a:pt x="5246020" y="1441291"/>
                  <a:pt x="5263979" y="1495167"/>
                </a:cubicBezTo>
                <a:lnTo>
                  <a:pt x="5288692" y="1569308"/>
                </a:lnTo>
                <a:cubicBezTo>
                  <a:pt x="5292811" y="1581665"/>
                  <a:pt x="5297890" y="1593742"/>
                  <a:pt x="5301049" y="1606378"/>
                </a:cubicBezTo>
                <a:cubicBezTo>
                  <a:pt x="5305168" y="1622854"/>
                  <a:pt x="5308526" y="1639538"/>
                  <a:pt x="5313406" y="1655805"/>
                </a:cubicBezTo>
                <a:cubicBezTo>
                  <a:pt x="5351031" y="1781223"/>
                  <a:pt x="5327954" y="1679123"/>
                  <a:pt x="5350476" y="1791729"/>
                </a:cubicBezTo>
                <a:cubicBezTo>
                  <a:pt x="5346357" y="1886464"/>
                  <a:pt x="5347876" y="1981614"/>
                  <a:pt x="5338119" y="2075935"/>
                </a:cubicBezTo>
                <a:cubicBezTo>
                  <a:pt x="5335438" y="2101847"/>
                  <a:pt x="5321644" y="2125362"/>
                  <a:pt x="5313406" y="2150075"/>
                </a:cubicBezTo>
                <a:cubicBezTo>
                  <a:pt x="5291657" y="2215321"/>
                  <a:pt x="5308271" y="2176311"/>
                  <a:pt x="5251622" y="2261286"/>
                </a:cubicBezTo>
                <a:cubicBezTo>
                  <a:pt x="5243384" y="2273643"/>
                  <a:pt x="5237410" y="2287855"/>
                  <a:pt x="5226909" y="2298356"/>
                </a:cubicBezTo>
                <a:lnTo>
                  <a:pt x="5152768" y="2372497"/>
                </a:lnTo>
                <a:lnTo>
                  <a:pt x="5078627" y="2446637"/>
                </a:lnTo>
                <a:cubicBezTo>
                  <a:pt x="5066270" y="2458994"/>
                  <a:pt x="5056097" y="2474014"/>
                  <a:pt x="5041557" y="2483708"/>
                </a:cubicBezTo>
                <a:lnTo>
                  <a:pt x="4930346" y="2557848"/>
                </a:lnTo>
                <a:cubicBezTo>
                  <a:pt x="4917989" y="2566086"/>
                  <a:pt x="4905157" y="2573651"/>
                  <a:pt x="4893276" y="2582562"/>
                </a:cubicBezTo>
                <a:cubicBezTo>
                  <a:pt x="4876800" y="2594919"/>
                  <a:pt x="4861730" y="2609414"/>
                  <a:pt x="4843849" y="2619632"/>
                </a:cubicBezTo>
                <a:cubicBezTo>
                  <a:pt x="4832540" y="2626094"/>
                  <a:pt x="4818165" y="2625663"/>
                  <a:pt x="4806779" y="2631989"/>
                </a:cubicBezTo>
                <a:cubicBezTo>
                  <a:pt x="4780815" y="2646414"/>
                  <a:pt x="4757352" y="2664940"/>
                  <a:pt x="4732638" y="2681416"/>
                </a:cubicBezTo>
                <a:cubicBezTo>
                  <a:pt x="4687517" y="2711497"/>
                  <a:pt x="4652781" y="2736866"/>
                  <a:pt x="4596714" y="2755556"/>
                </a:cubicBezTo>
                <a:cubicBezTo>
                  <a:pt x="4584357" y="2759675"/>
                  <a:pt x="4571616" y="2762782"/>
                  <a:pt x="4559644" y="2767913"/>
                </a:cubicBezTo>
                <a:cubicBezTo>
                  <a:pt x="4542713" y="2775169"/>
                  <a:pt x="4527148" y="2785371"/>
                  <a:pt x="4510217" y="2792627"/>
                </a:cubicBezTo>
                <a:cubicBezTo>
                  <a:pt x="4440526" y="2822494"/>
                  <a:pt x="4507307" y="2785994"/>
                  <a:pt x="4423719" y="2817340"/>
                </a:cubicBezTo>
                <a:cubicBezTo>
                  <a:pt x="4406471" y="2823808"/>
                  <a:pt x="4391223" y="2834798"/>
                  <a:pt x="4374292" y="2842054"/>
                </a:cubicBezTo>
                <a:cubicBezTo>
                  <a:pt x="4342001" y="2855893"/>
                  <a:pt x="4322620" y="2856319"/>
                  <a:pt x="4287795" y="2866767"/>
                </a:cubicBezTo>
                <a:cubicBezTo>
                  <a:pt x="4262843" y="2874253"/>
                  <a:pt x="4213654" y="2891481"/>
                  <a:pt x="4213654" y="2891481"/>
                </a:cubicBezTo>
                <a:cubicBezTo>
                  <a:pt x="4205416" y="2903838"/>
                  <a:pt x="4198807" y="2917451"/>
                  <a:pt x="4188941" y="2928551"/>
                </a:cubicBezTo>
                <a:cubicBezTo>
                  <a:pt x="4165721" y="2954673"/>
                  <a:pt x="4114800" y="3002691"/>
                  <a:pt x="4114800" y="3002691"/>
                </a:cubicBezTo>
                <a:cubicBezTo>
                  <a:pt x="4110681" y="3015048"/>
                  <a:pt x="4108770" y="3028376"/>
                  <a:pt x="4102444" y="3039762"/>
                </a:cubicBezTo>
                <a:cubicBezTo>
                  <a:pt x="4088020" y="3065726"/>
                  <a:pt x="4062410" y="3085724"/>
                  <a:pt x="4053017" y="3113902"/>
                </a:cubicBezTo>
                <a:cubicBezTo>
                  <a:pt x="4035964" y="3165061"/>
                  <a:pt x="4047885" y="3140134"/>
                  <a:pt x="4015946" y="3188043"/>
                </a:cubicBezTo>
                <a:cubicBezTo>
                  <a:pt x="3986537" y="3276272"/>
                  <a:pt x="4005683" y="3240508"/>
                  <a:pt x="3966519" y="3299254"/>
                </a:cubicBezTo>
                <a:lnTo>
                  <a:pt x="3929449" y="3410464"/>
                </a:lnTo>
                <a:cubicBezTo>
                  <a:pt x="3925330" y="3422821"/>
                  <a:pt x="3924317" y="3436697"/>
                  <a:pt x="3917092" y="3447535"/>
                </a:cubicBezTo>
                <a:cubicBezTo>
                  <a:pt x="3898856" y="3474889"/>
                  <a:pt x="3883852" y="3502646"/>
                  <a:pt x="3855309" y="3521675"/>
                </a:cubicBezTo>
                <a:cubicBezTo>
                  <a:pt x="3844471" y="3528900"/>
                  <a:pt x="3829888" y="3528207"/>
                  <a:pt x="3818238" y="3534032"/>
                </a:cubicBezTo>
                <a:cubicBezTo>
                  <a:pt x="3804955" y="3540673"/>
                  <a:pt x="3794739" y="3552714"/>
                  <a:pt x="3781168" y="3558745"/>
                </a:cubicBezTo>
                <a:cubicBezTo>
                  <a:pt x="3729859" y="3581549"/>
                  <a:pt x="3698101" y="3585244"/>
                  <a:pt x="3645244" y="3595816"/>
                </a:cubicBezTo>
                <a:cubicBezTo>
                  <a:pt x="3649363" y="3822356"/>
                  <a:pt x="3650052" y="4048985"/>
                  <a:pt x="3657600" y="4275437"/>
                </a:cubicBezTo>
                <a:cubicBezTo>
                  <a:pt x="3658300" y="4296428"/>
                  <a:pt x="3665401" y="4316719"/>
                  <a:pt x="3669957" y="4337221"/>
                </a:cubicBezTo>
                <a:cubicBezTo>
                  <a:pt x="3682406" y="4393241"/>
                  <a:pt x="3686494" y="4399191"/>
                  <a:pt x="3707027" y="4460789"/>
                </a:cubicBezTo>
                <a:lnTo>
                  <a:pt x="3731741" y="4534929"/>
                </a:lnTo>
                <a:lnTo>
                  <a:pt x="3756454" y="4609070"/>
                </a:lnTo>
                <a:lnTo>
                  <a:pt x="3768811" y="4646140"/>
                </a:lnTo>
                <a:cubicBezTo>
                  <a:pt x="3764066" y="4674608"/>
                  <a:pt x="3759306" y="4726935"/>
                  <a:pt x="3744098" y="4757351"/>
                </a:cubicBezTo>
                <a:cubicBezTo>
                  <a:pt x="3737456" y="4770634"/>
                  <a:pt x="3728016" y="4782336"/>
                  <a:pt x="3719384" y="4794421"/>
                </a:cubicBezTo>
                <a:cubicBezTo>
                  <a:pt x="3707414" y="4811179"/>
                  <a:pt x="3695717" y="4828211"/>
                  <a:pt x="3682314" y="4843848"/>
                </a:cubicBezTo>
                <a:cubicBezTo>
                  <a:pt x="3658986" y="4871064"/>
                  <a:pt x="3625866" y="4899208"/>
                  <a:pt x="3595817" y="4917989"/>
                </a:cubicBezTo>
                <a:cubicBezTo>
                  <a:pt x="3580197" y="4927752"/>
                  <a:pt x="3562185" y="4933225"/>
                  <a:pt x="3546390" y="4942702"/>
                </a:cubicBezTo>
                <a:cubicBezTo>
                  <a:pt x="3520921" y="4957983"/>
                  <a:pt x="3500427" y="4982736"/>
                  <a:pt x="3472249" y="4992129"/>
                </a:cubicBezTo>
                <a:lnTo>
                  <a:pt x="3361038" y="5029200"/>
                </a:lnTo>
                <a:lnTo>
                  <a:pt x="3323968" y="5041556"/>
                </a:lnTo>
                <a:cubicBezTo>
                  <a:pt x="3299254" y="5058032"/>
                  <a:pt x="3242623" y="5062168"/>
                  <a:pt x="3249827" y="5090983"/>
                </a:cubicBezTo>
                <a:cubicBezTo>
                  <a:pt x="3253946" y="5107459"/>
                  <a:pt x="3254589" y="5125220"/>
                  <a:pt x="3262184" y="5140410"/>
                </a:cubicBezTo>
                <a:cubicBezTo>
                  <a:pt x="3320501" y="5257044"/>
                  <a:pt x="3280925" y="5124485"/>
                  <a:pt x="3323968" y="5239264"/>
                </a:cubicBezTo>
                <a:cubicBezTo>
                  <a:pt x="3357141" y="5327724"/>
                  <a:pt x="3310998" y="5250547"/>
                  <a:pt x="3361038" y="5338118"/>
                </a:cubicBezTo>
                <a:cubicBezTo>
                  <a:pt x="3368406" y="5351013"/>
                  <a:pt x="3379720" y="5361618"/>
                  <a:pt x="3385752" y="5375189"/>
                </a:cubicBezTo>
                <a:cubicBezTo>
                  <a:pt x="3396332" y="5398994"/>
                  <a:pt x="3410465" y="5449329"/>
                  <a:pt x="3410465" y="5449329"/>
                </a:cubicBezTo>
                <a:cubicBezTo>
                  <a:pt x="3398108" y="5453448"/>
                  <a:pt x="3385367" y="5456555"/>
                  <a:pt x="3373395" y="5461686"/>
                </a:cubicBezTo>
                <a:cubicBezTo>
                  <a:pt x="3356464" y="5468942"/>
                  <a:pt x="3341443" y="5480575"/>
                  <a:pt x="3323968" y="5486400"/>
                </a:cubicBezTo>
                <a:cubicBezTo>
                  <a:pt x="3306706" y="5492154"/>
                  <a:pt x="3200482" y="5509040"/>
                  <a:pt x="3188044" y="5511113"/>
                </a:cubicBezTo>
                <a:cubicBezTo>
                  <a:pt x="3031525" y="5506994"/>
                  <a:pt x="2874698" y="5509407"/>
                  <a:pt x="2718487" y="5498756"/>
                </a:cubicBezTo>
                <a:cubicBezTo>
                  <a:pt x="2664138" y="5495050"/>
                  <a:pt x="2641294" y="5466720"/>
                  <a:pt x="2594919" y="5449329"/>
                </a:cubicBezTo>
                <a:cubicBezTo>
                  <a:pt x="2579018" y="5443366"/>
                  <a:pt x="2561968" y="5441091"/>
                  <a:pt x="2545492" y="5436972"/>
                </a:cubicBezTo>
                <a:cubicBezTo>
                  <a:pt x="2533135" y="5428734"/>
                  <a:pt x="2521316" y="5419627"/>
                  <a:pt x="2508422" y="5412259"/>
                </a:cubicBezTo>
                <a:cubicBezTo>
                  <a:pt x="2492429" y="5403120"/>
                  <a:pt x="2473379" y="5399052"/>
                  <a:pt x="2458995" y="5387545"/>
                </a:cubicBezTo>
                <a:cubicBezTo>
                  <a:pt x="2431703" y="5365712"/>
                  <a:pt x="2409568" y="5338118"/>
                  <a:pt x="2384854" y="5313405"/>
                </a:cubicBezTo>
                <a:cubicBezTo>
                  <a:pt x="2372497" y="5301048"/>
                  <a:pt x="2357477" y="5290875"/>
                  <a:pt x="2347784" y="5276335"/>
                </a:cubicBezTo>
                <a:cubicBezTo>
                  <a:pt x="2339546" y="5263978"/>
                  <a:pt x="2335665" y="5247135"/>
                  <a:pt x="2323071" y="5239264"/>
                </a:cubicBezTo>
                <a:cubicBezTo>
                  <a:pt x="2300980" y="5225457"/>
                  <a:pt x="2273644" y="5222789"/>
                  <a:pt x="2248930" y="5214551"/>
                </a:cubicBezTo>
                <a:lnTo>
                  <a:pt x="2211860" y="5202194"/>
                </a:lnTo>
                <a:cubicBezTo>
                  <a:pt x="2150076" y="5206313"/>
                  <a:pt x="2087587" y="5204371"/>
                  <a:pt x="2026509" y="5214551"/>
                </a:cubicBezTo>
                <a:cubicBezTo>
                  <a:pt x="2011860" y="5216992"/>
                  <a:pt x="2004251" y="5238206"/>
                  <a:pt x="1989438" y="5239264"/>
                </a:cubicBezTo>
                <a:cubicBezTo>
                  <a:pt x="1944059" y="5242505"/>
                  <a:pt x="1898822" y="5231027"/>
                  <a:pt x="1853514" y="5226908"/>
                </a:cubicBezTo>
                <a:lnTo>
                  <a:pt x="1804087" y="5152767"/>
                </a:lnTo>
                <a:cubicBezTo>
                  <a:pt x="1795849" y="5140410"/>
                  <a:pt x="1788284" y="5127578"/>
                  <a:pt x="1779373" y="5115697"/>
                </a:cubicBezTo>
                <a:lnTo>
                  <a:pt x="1742303" y="5066270"/>
                </a:lnTo>
                <a:cubicBezTo>
                  <a:pt x="1720587" y="5001123"/>
                  <a:pt x="1744298" y="5053837"/>
                  <a:pt x="1692876" y="4992129"/>
                </a:cubicBezTo>
                <a:cubicBezTo>
                  <a:pt x="1683369" y="4980720"/>
                  <a:pt x="1676795" y="4967144"/>
                  <a:pt x="1668163" y="4955059"/>
                </a:cubicBezTo>
                <a:cubicBezTo>
                  <a:pt x="1656192" y="4938300"/>
                  <a:pt x="1643449" y="4922108"/>
                  <a:pt x="1631092" y="4905632"/>
                </a:cubicBezTo>
                <a:cubicBezTo>
                  <a:pt x="1592515" y="4789895"/>
                  <a:pt x="1655712" y="4961074"/>
                  <a:pt x="1581665" y="4831491"/>
                </a:cubicBezTo>
                <a:cubicBezTo>
                  <a:pt x="1573239" y="4816746"/>
                  <a:pt x="1575999" y="4797674"/>
                  <a:pt x="1569309" y="4782064"/>
                </a:cubicBezTo>
                <a:cubicBezTo>
                  <a:pt x="1563459" y="4768414"/>
                  <a:pt x="1551237" y="4758277"/>
                  <a:pt x="1544595" y="4744994"/>
                </a:cubicBezTo>
                <a:cubicBezTo>
                  <a:pt x="1529596" y="4714996"/>
                  <a:pt x="1528343" y="4677165"/>
                  <a:pt x="1519882" y="4646140"/>
                </a:cubicBezTo>
                <a:cubicBezTo>
                  <a:pt x="1513028" y="4621008"/>
                  <a:pt x="1504843" y="4596187"/>
                  <a:pt x="1495168" y="4572000"/>
                </a:cubicBezTo>
                <a:lnTo>
                  <a:pt x="1445741" y="4448432"/>
                </a:lnTo>
                <a:cubicBezTo>
                  <a:pt x="1437503" y="4399005"/>
                  <a:pt x="1430854" y="4349287"/>
                  <a:pt x="1421027" y="4300151"/>
                </a:cubicBezTo>
                <a:cubicBezTo>
                  <a:pt x="1416908" y="4279556"/>
                  <a:pt x="1415313" y="4258292"/>
                  <a:pt x="1408671" y="4238367"/>
                </a:cubicBezTo>
                <a:cubicBezTo>
                  <a:pt x="1402846" y="4220892"/>
                  <a:pt x="1392195" y="4205416"/>
                  <a:pt x="1383957" y="4188940"/>
                </a:cubicBezTo>
                <a:cubicBezTo>
                  <a:pt x="1379838" y="4164227"/>
                  <a:pt x="1376513" y="4139368"/>
                  <a:pt x="1371600" y="4114800"/>
                </a:cubicBezTo>
                <a:cubicBezTo>
                  <a:pt x="1368269" y="4098147"/>
                  <a:pt x="1362928" y="4081951"/>
                  <a:pt x="1359244" y="4065372"/>
                </a:cubicBezTo>
                <a:cubicBezTo>
                  <a:pt x="1354688" y="4044870"/>
                  <a:pt x="1351443" y="4024091"/>
                  <a:pt x="1346887" y="4003589"/>
                </a:cubicBezTo>
                <a:cubicBezTo>
                  <a:pt x="1343203" y="3987011"/>
                  <a:pt x="1337568" y="3970871"/>
                  <a:pt x="1334530" y="3954162"/>
                </a:cubicBezTo>
                <a:cubicBezTo>
                  <a:pt x="1329320" y="3925506"/>
                  <a:pt x="1326961" y="3896393"/>
                  <a:pt x="1322173" y="3867664"/>
                </a:cubicBezTo>
                <a:cubicBezTo>
                  <a:pt x="1309749" y="3793117"/>
                  <a:pt x="1312273" y="3823111"/>
                  <a:pt x="1297460" y="3756454"/>
                </a:cubicBezTo>
                <a:cubicBezTo>
                  <a:pt x="1292904" y="3735952"/>
                  <a:pt x="1290197" y="3715045"/>
                  <a:pt x="1285103" y="3694670"/>
                </a:cubicBezTo>
                <a:cubicBezTo>
                  <a:pt x="1278898" y="3669850"/>
                  <a:pt x="1261632" y="3627211"/>
                  <a:pt x="1248033" y="3608172"/>
                </a:cubicBezTo>
                <a:cubicBezTo>
                  <a:pt x="1237876" y="3593952"/>
                  <a:pt x="1223320" y="3583459"/>
                  <a:pt x="1210963" y="3571102"/>
                </a:cubicBezTo>
                <a:cubicBezTo>
                  <a:pt x="1206844" y="3558745"/>
                  <a:pt x="1206743" y="3544203"/>
                  <a:pt x="1198606" y="3534032"/>
                </a:cubicBezTo>
                <a:cubicBezTo>
                  <a:pt x="1181183" y="3512254"/>
                  <a:pt x="1148888" y="3505102"/>
                  <a:pt x="1124465" y="3496962"/>
                </a:cubicBezTo>
                <a:cubicBezTo>
                  <a:pt x="1112108" y="3488724"/>
                  <a:pt x="1100678" y="3478890"/>
                  <a:pt x="1087395" y="3472248"/>
                </a:cubicBezTo>
                <a:cubicBezTo>
                  <a:pt x="1075745" y="3466423"/>
                  <a:pt x="1062891" y="3463318"/>
                  <a:pt x="1050325" y="3459891"/>
                </a:cubicBezTo>
                <a:cubicBezTo>
                  <a:pt x="945464" y="3431293"/>
                  <a:pt x="966017" y="3437256"/>
                  <a:pt x="864973" y="3422821"/>
                </a:cubicBezTo>
                <a:cubicBezTo>
                  <a:pt x="852616" y="3418702"/>
                  <a:pt x="839289" y="3416790"/>
                  <a:pt x="827903" y="3410464"/>
                </a:cubicBezTo>
                <a:cubicBezTo>
                  <a:pt x="779634" y="3383648"/>
                  <a:pt x="710104" y="3332620"/>
                  <a:pt x="679622" y="3286897"/>
                </a:cubicBezTo>
                <a:cubicBezTo>
                  <a:pt x="671384" y="3274540"/>
                  <a:pt x="664416" y="3261236"/>
                  <a:pt x="654909" y="3249827"/>
                </a:cubicBezTo>
                <a:cubicBezTo>
                  <a:pt x="558124" y="3133684"/>
                  <a:pt x="693328" y="3325993"/>
                  <a:pt x="568411" y="3138616"/>
                </a:cubicBezTo>
                <a:cubicBezTo>
                  <a:pt x="560173" y="3126259"/>
                  <a:pt x="548394" y="3115634"/>
                  <a:pt x="543698" y="3101545"/>
                </a:cubicBezTo>
                <a:cubicBezTo>
                  <a:pt x="531685" y="3065508"/>
                  <a:pt x="528441" y="3049950"/>
                  <a:pt x="506627" y="3015048"/>
                </a:cubicBezTo>
                <a:cubicBezTo>
                  <a:pt x="444099" y="2915004"/>
                  <a:pt x="496824" y="3011271"/>
                  <a:pt x="432487" y="2928551"/>
                </a:cubicBezTo>
                <a:cubicBezTo>
                  <a:pt x="414252" y="2905106"/>
                  <a:pt x="404063" y="2875412"/>
                  <a:pt x="383060" y="2854410"/>
                </a:cubicBezTo>
                <a:cubicBezTo>
                  <a:pt x="358346" y="2829697"/>
                  <a:pt x="328306" y="2809350"/>
                  <a:pt x="308919" y="2780270"/>
                </a:cubicBezTo>
                <a:cubicBezTo>
                  <a:pt x="300681" y="2767913"/>
                  <a:pt x="294707" y="2753701"/>
                  <a:pt x="284206" y="2743200"/>
                </a:cubicBezTo>
                <a:cubicBezTo>
                  <a:pt x="273705" y="2732699"/>
                  <a:pt x="257637" y="2728987"/>
                  <a:pt x="247136" y="2718486"/>
                </a:cubicBezTo>
                <a:cubicBezTo>
                  <a:pt x="155174" y="2626524"/>
                  <a:pt x="260358" y="2702588"/>
                  <a:pt x="172995" y="2644345"/>
                </a:cubicBezTo>
                <a:cubicBezTo>
                  <a:pt x="164757" y="2631988"/>
                  <a:pt x="157789" y="2618684"/>
                  <a:pt x="148282" y="2607275"/>
                </a:cubicBezTo>
                <a:cubicBezTo>
                  <a:pt x="137095" y="2593850"/>
                  <a:pt x="120905" y="2584745"/>
                  <a:pt x="111211" y="2570205"/>
                </a:cubicBezTo>
                <a:cubicBezTo>
                  <a:pt x="103986" y="2559368"/>
                  <a:pt x="106079" y="2543973"/>
                  <a:pt x="98854" y="2533135"/>
                </a:cubicBezTo>
                <a:cubicBezTo>
                  <a:pt x="89161" y="2518595"/>
                  <a:pt x="71941" y="2510284"/>
                  <a:pt x="61784" y="2496064"/>
                </a:cubicBezTo>
                <a:cubicBezTo>
                  <a:pt x="51078" y="2481075"/>
                  <a:pt x="43912" y="2463740"/>
                  <a:pt x="37071" y="2446637"/>
                </a:cubicBezTo>
                <a:cubicBezTo>
                  <a:pt x="17014" y="2396494"/>
                  <a:pt x="12138" y="2371622"/>
                  <a:pt x="0" y="2323070"/>
                </a:cubicBezTo>
                <a:cubicBezTo>
                  <a:pt x="4119" y="2248929"/>
                  <a:pt x="5634" y="2174598"/>
                  <a:pt x="12357" y="2100648"/>
                </a:cubicBezTo>
                <a:cubicBezTo>
                  <a:pt x="13895" y="2083735"/>
                  <a:pt x="21383" y="2067874"/>
                  <a:pt x="24714" y="2051221"/>
                </a:cubicBezTo>
                <a:cubicBezTo>
                  <a:pt x="29628" y="2026653"/>
                  <a:pt x="32589" y="2001731"/>
                  <a:pt x="37071" y="1977081"/>
                </a:cubicBezTo>
                <a:cubicBezTo>
                  <a:pt x="44915" y="1933940"/>
                  <a:pt x="62402" y="1851660"/>
                  <a:pt x="74141" y="1816443"/>
                </a:cubicBezTo>
                <a:lnTo>
                  <a:pt x="111211" y="1705232"/>
                </a:lnTo>
                <a:cubicBezTo>
                  <a:pt x="115330" y="1692875"/>
                  <a:pt x="121014" y="1680934"/>
                  <a:pt x="123568" y="1668162"/>
                </a:cubicBezTo>
                <a:cubicBezTo>
                  <a:pt x="139256" y="1589725"/>
                  <a:pt x="130831" y="1626753"/>
                  <a:pt x="148282" y="1556951"/>
                </a:cubicBezTo>
                <a:cubicBezTo>
                  <a:pt x="156000" y="1495207"/>
                  <a:pt x="169516" y="1393679"/>
                  <a:pt x="172995" y="1334529"/>
                </a:cubicBezTo>
                <a:cubicBezTo>
                  <a:pt x="178805" y="1235760"/>
                  <a:pt x="176656" y="1136524"/>
                  <a:pt x="185352" y="1037967"/>
                </a:cubicBezTo>
                <a:cubicBezTo>
                  <a:pt x="189044" y="996125"/>
                  <a:pt x="199877" y="955150"/>
                  <a:pt x="210065" y="914400"/>
                </a:cubicBezTo>
                <a:lnTo>
                  <a:pt x="247136" y="766118"/>
                </a:lnTo>
                <a:lnTo>
                  <a:pt x="271849" y="667264"/>
                </a:lnTo>
                <a:cubicBezTo>
                  <a:pt x="275968" y="654907"/>
                  <a:pt x="280628" y="642718"/>
                  <a:pt x="284206" y="630194"/>
                </a:cubicBezTo>
                <a:cubicBezTo>
                  <a:pt x="324336" y="489741"/>
                  <a:pt x="263690" y="675305"/>
                  <a:pt x="321276" y="531340"/>
                </a:cubicBezTo>
                <a:cubicBezTo>
                  <a:pt x="330951" y="507153"/>
                  <a:pt x="331540" y="478875"/>
                  <a:pt x="345990" y="457200"/>
                </a:cubicBezTo>
                <a:cubicBezTo>
                  <a:pt x="407340" y="365171"/>
                  <a:pt x="328497" y="478189"/>
                  <a:pt x="407773" y="383059"/>
                </a:cubicBezTo>
                <a:cubicBezTo>
                  <a:pt x="417280" y="371650"/>
                  <a:pt x="423855" y="358074"/>
                  <a:pt x="432487" y="345989"/>
                </a:cubicBezTo>
                <a:cubicBezTo>
                  <a:pt x="483767" y="274197"/>
                  <a:pt x="475298" y="290820"/>
                  <a:pt x="556054" y="210064"/>
                </a:cubicBezTo>
                <a:cubicBezTo>
                  <a:pt x="585139" y="180979"/>
                  <a:pt x="627856" y="133419"/>
                  <a:pt x="667265" y="123567"/>
                </a:cubicBezTo>
                <a:cubicBezTo>
                  <a:pt x="700216" y="115329"/>
                  <a:pt x="732813" y="105515"/>
                  <a:pt x="766119" y="98854"/>
                </a:cubicBezTo>
                <a:cubicBezTo>
                  <a:pt x="786714" y="94735"/>
                  <a:pt x="807528" y="91591"/>
                  <a:pt x="827903" y="86497"/>
                </a:cubicBezTo>
                <a:cubicBezTo>
                  <a:pt x="840539" y="83338"/>
                  <a:pt x="852337" y="77299"/>
                  <a:pt x="864973" y="74140"/>
                </a:cubicBezTo>
                <a:cubicBezTo>
                  <a:pt x="885348" y="69046"/>
                  <a:pt x="906162" y="65902"/>
                  <a:pt x="926757" y="61783"/>
                </a:cubicBezTo>
                <a:cubicBezTo>
                  <a:pt x="1276865" y="65902"/>
                  <a:pt x="1627140" y="62603"/>
                  <a:pt x="1977082" y="74140"/>
                </a:cubicBezTo>
                <a:cubicBezTo>
                  <a:pt x="2003118" y="74998"/>
                  <a:pt x="2026509" y="90616"/>
                  <a:pt x="2051222" y="98854"/>
                </a:cubicBezTo>
                <a:cubicBezTo>
                  <a:pt x="2089577" y="111639"/>
                  <a:pt x="2099539" y="113016"/>
                  <a:pt x="2137719" y="135924"/>
                </a:cubicBezTo>
                <a:cubicBezTo>
                  <a:pt x="2163188" y="151206"/>
                  <a:pt x="2183045" y="178147"/>
                  <a:pt x="2211860" y="185351"/>
                </a:cubicBezTo>
                <a:cubicBezTo>
                  <a:pt x="2281662" y="202802"/>
                  <a:pt x="2244634" y="194378"/>
                  <a:pt x="2323071" y="210064"/>
                </a:cubicBezTo>
                <a:cubicBezTo>
                  <a:pt x="2350405" y="208112"/>
                  <a:pt x="2476966" y="213437"/>
                  <a:pt x="2533136" y="185351"/>
                </a:cubicBezTo>
                <a:cubicBezTo>
                  <a:pt x="2622311" y="140763"/>
                  <a:pt x="2511305" y="179255"/>
                  <a:pt x="2619633" y="135924"/>
                </a:cubicBezTo>
                <a:cubicBezTo>
                  <a:pt x="2643820" y="126249"/>
                  <a:pt x="2672098" y="125660"/>
                  <a:pt x="2693773" y="111210"/>
                </a:cubicBezTo>
                <a:cubicBezTo>
                  <a:pt x="2800019" y="40382"/>
                  <a:pt x="2665591" y="125302"/>
                  <a:pt x="2767914" y="74140"/>
                </a:cubicBezTo>
                <a:cubicBezTo>
                  <a:pt x="2781197" y="67499"/>
                  <a:pt x="2791079" y="54641"/>
                  <a:pt x="2804984" y="49427"/>
                </a:cubicBezTo>
                <a:cubicBezTo>
                  <a:pt x="2824649" y="42053"/>
                  <a:pt x="2846173" y="41189"/>
                  <a:pt x="2866768" y="37070"/>
                </a:cubicBezTo>
                <a:cubicBezTo>
                  <a:pt x="3012814" y="43709"/>
                  <a:pt x="3154416" y="47300"/>
                  <a:pt x="3299254" y="61783"/>
                </a:cubicBezTo>
                <a:cubicBezTo>
                  <a:pt x="3328235" y="64681"/>
                  <a:pt x="3356919" y="70021"/>
                  <a:pt x="3385752" y="74140"/>
                </a:cubicBezTo>
                <a:cubicBezTo>
                  <a:pt x="3447536" y="70021"/>
                  <a:pt x="3509522" y="68265"/>
                  <a:pt x="3571103" y="61783"/>
                </a:cubicBezTo>
                <a:cubicBezTo>
                  <a:pt x="3601691" y="58563"/>
                  <a:pt x="3628559" y="45368"/>
                  <a:pt x="3657600" y="37070"/>
                </a:cubicBezTo>
                <a:cubicBezTo>
                  <a:pt x="3673929" y="32404"/>
                  <a:pt x="3690449" y="28397"/>
                  <a:pt x="3707027" y="24713"/>
                </a:cubicBezTo>
                <a:cubicBezTo>
                  <a:pt x="3790789" y="6099"/>
                  <a:pt x="3784597" y="10777"/>
                  <a:pt x="3892379" y="0"/>
                </a:cubicBezTo>
                <a:cubicBezTo>
                  <a:pt x="3962401" y="4119"/>
                  <a:pt x="4032589" y="6006"/>
                  <a:pt x="4102444" y="12356"/>
                </a:cubicBezTo>
                <a:cubicBezTo>
                  <a:pt x="4121129" y="14055"/>
                  <a:pt x="4192168" y="30931"/>
                  <a:pt x="4213654" y="37070"/>
                </a:cubicBezTo>
                <a:cubicBezTo>
                  <a:pt x="4226178" y="40648"/>
                  <a:pt x="4238088" y="46268"/>
                  <a:pt x="4250725" y="49427"/>
                </a:cubicBezTo>
                <a:cubicBezTo>
                  <a:pt x="4270648" y="54408"/>
                  <a:pt x="4326466" y="61299"/>
                  <a:pt x="4349579" y="74140"/>
                </a:cubicBezTo>
                <a:cubicBezTo>
                  <a:pt x="4375543" y="88565"/>
                  <a:pt x="4399006" y="107091"/>
                  <a:pt x="4423719" y="123567"/>
                </a:cubicBezTo>
                <a:lnTo>
                  <a:pt x="4460790" y="148281"/>
                </a:lnTo>
                <a:cubicBezTo>
                  <a:pt x="4473147" y="156519"/>
                  <a:pt x="4483771" y="168298"/>
                  <a:pt x="4497860" y="172994"/>
                </a:cubicBezTo>
                <a:lnTo>
                  <a:pt x="4534930" y="185351"/>
                </a:lnTo>
                <a:cubicBezTo>
                  <a:pt x="4547287" y="197708"/>
                  <a:pt x="4560813" y="208996"/>
                  <a:pt x="4572000" y="222421"/>
                </a:cubicBezTo>
                <a:cubicBezTo>
                  <a:pt x="4581507" y="233830"/>
                  <a:pt x="4586213" y="248990"/>
                  <a:pt x="4596714" y="259491"/>
                </a:cubicBezTo>
                <a:cubicBezTo>
                  <a:pt x="4607215" y="269992"/>
                  <a:pt x="4621427" y="275967"/>
                  <a:pt x="4633784" y="284205"/>
                </a:cubicBezTo>
                <a:cubicBezTo>
                  <a:pt x="4690436" y="369183"/>
                  <a:pt x="4655033" y="348952"/>
                  <a:pt x="4720282" y="370702"/>
                </a:cubicBezTo>
                <a:lnTo>
                  <a:pt x="4794422" y="420129"/>
                </a:lnTo>
                <a:cubicBezTo>
                  <a:pt x="4834919" y="447127"/>
                  <a:pt x="4831492" y="429992"/>
                  <a:pt x="4831492" y="457200"/>
                </a:cubicBezTo>
              </a:path>
            </a:pathLst>
          </a:custGeom>
          <a:noFill/>
          <a:ln w="38100" cap="flat" cmpd="sng">
            <a:solidFill>
              <a:srgbClr val="595959"/>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8"/>
        <p:cNvGrpSpPr/>
        <p:nvPr/>
      </p:nvGrpSpPr>
      <p:grpSpPr>
        <a:xfrm>
          <a:off x="0" y="0"/>
          <a:ext cx="0" cy="0"/>
          <a:chOff x="0" y="0"/>
          <a:chExt cx="0" cy="0"/>
        </a:xfrm>
      </p:grpSpPr>
      <p:sp>
        <p:nvSpPr>
          <p:cNvPr id="289" name="Google Shape;289;p12"/>
          <p:cNvSpPr/>
          <p:nvPr/>
        </p:nvSpPr>
        <p:spPr>
          <a:xfrm>
            <a:off x="0" y="0"/>
            <a:ext cx="12192000" cy="6858000"/>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0" name="Google Shape;290;p12"/>
          <p:cNvSpPr txBox="1">
            <a:spLocks noGrp="1"/>
          </p:cNvSpPr>
          <p:nvPr>
            <p:ph type="title"/>
          </p:nvPr>
        </p:nvSpPr>
        <p:spPr>
          <a:xfrm>
            <a:off x="6746628" y="1783959"/>
            <a:ext cx="4645250" cy="288911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alibri"/>
              <a:buNone/>
            </a:pPr>
            <a:r>
              <a:rPr lang="en-US" sz="6000">
                <a:solidFill>
                  <a:schemeClr val="lt1"/>
                </a:solidFill>
                <a:latin typeface="Calibri"/>
                <a:ea typeface="Calibri"/>
                <a:cs typeface="Calibri"/>
                <a:sym typeface="Calibri"/>
              </a:rPr>
              <a:t>Changes</a:t>
            </a:r>
            <a:endParaRPr/>
          </a:p>
        </p:txBody>
      </p:sp>
      <p:sp>
        <p:nvSpPr>
          <p:cNvPr id="291" name="Google Shape;291;p12"/>
          <p:cNvSpPr/>
          <p:nvPr/>
        </p:nvSpPr>
        <p:spPr>
          <a:xfrm flipH="1">
            <a:off x="0" y="0"/>
            <a:ext cx="6172782"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lt1">
              <a:alpha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92" name="Google Shape;292;p12"/>
          <p:cNvSpPr/>
          <p:nvPr/>
        </p:nvSpPr>
        <p:spPr>
          <a:xfrm>
            <a:off x="0" y="0"/>
            <a:ext cx="6024154" cy="6858000"/>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293" name="Google Shape;293;p12" descr="Books"/>
          <p:cNvPicPr preferRelativeResize="0"/>
          <p:nvPr/>
        </p:nvPicPr>
        <p:blipFill rotWithShape="1">
          <a:blip r:embed="rId3">
            <a:alphaModFix/>
          </a:blip>
          <a:srcRect/>
          <a:stretch/>
        </p:blipFill>
        <p:spPr>
          <a:xfrm>
            <a:off x="419382" y="720993"/>
            <a:ext cx="4047843" cy="404784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299" name="Google Shape;299;p13" descr="Image result for gartner change"/>
          <p:cNvPicPr preferRelativeResize="0"/>
          <p:nvPr/>
        </p:nvPicPr>
        <p:blipFill rotWithShape="1">
          <a:blip r:embed="rId3">
            <a:alphaModFix/>
          </a:blip>
          <a:srcRect/>
          <a:stretch/>
        </p:blipFill>
        <p:spPr>
          <a:xfrm>
            <a:off x="0" y="0"/>
            <a:ext cx="6797675" cy="6858000"/>
          </a:xfrm>
          <a:prstGeom prst="rect">
            <a:avLst/>
          </a:prstGeom>
          <a:noFill/>
          <a:ln>
            <a:noFill/>
          </a:ln>
        </p:spPr>
      </p:pic>
      <p:pic>
        <p:nvPicPr>
          <p:cNvPr id="300" name="Google Shape;300;p13" descr="Image result for change"/>
          <p:cNvPicPr preferRelativeResize="0"/>
          <p:nvPr/>
        </p:nvPicPr>
        <p:blipFill rotWithShape="1">
          <a:blip r:embed="rId4">
            <a:alphaModFix/>
          </a:blip>
          <a:srcRect/>
          <a:stretch/>
        </p:blipFill>
        <p:spPr>
          <a:xfrm>
            <a:off x="6785358" y="0"/>
            <a:ext cx="5406642" cy="3040083"/>
          </a:xfrm>
          <a:prstGeom prst="rect">
            <a:avLst/>
          </a:prstGeom>
          <a:noFill/>
          <a:ln>
            <a:noFill/>
          </a:ln>
        </p:spPr>
      </p:pic>
      <p:pic>
        <p:nvPicPr>
          <p:cNvPr id="301" name="Google Shape;301;p13" descr="Image result for climate change"/>
          <p:cNvPicPr preferRelativeResize="0"/>
          <p:nvPr/>
        </p:nvPicPr>
        <p:blipFill rotWithShape="1">
          <a:blip r:embed="rId5">
            <a:alphaModFix/>
          </a:blip>
          <a:srcRect/>
          <a:stretch/>
        </p:blipFill>
        <p:spPr>
          <a:xfrm>
            <a:off x="6797675" y="1890051"/>
            <a:ext cx="5394325" cy="2306544"/>
          </a:xfrm>
          <a:prstGeom prst="rect">
            <a:avLst/>
          </a:prstGeom>
          <a:noFill/>
          <a:ln>
            <a:noFill/>
          </a:ln>
        </p:spPr>
      </p:pic>
      <p:pic>
        <p:nvPicPr>
          <p:cNvPr id="302" name="Google Shape;302;p13" descr="Image result for blue and red pill"/>
          <p:cNvPicPr preferRelativeResize="0"/>
          <p:nvPr/>
        </p:nvPicPr>
        <p:blipFill rotWithShape="1">
          <a:blip r:embed="rId6">
            <a:alphaModFix/>
          </a:blip>
          <a:srcRect/>
          <a:stretch/>
        </p:blipFill>
        <p:spPr>
          <a:xfrm>
            <a:off x="6785356" y="4454071"/>
            <a:ext cx="5406643" cy="2410149"/>
          </a:xfrm>
          <a:prstGeom prst="rect">
            <a:avLst/>
          </a:prstGeom>
          <a:noFill/>
          <a:ln>
            <a:noFill/>
          </a:ln>
        </p:spPr>
      </p:pic>
      <p:sp>
        <p:nvSpPr>
          <p:cNvPr id="303" name="Google Shape;303;p13"/>
          <p:cNvSpPr/>
          <p:nvPr/>
        </p:nvSpPr>
        <p:spPr>
          <a:xfrm>
            <a:off x="297556" y="257121"/>
            <a:ext cx="6082696" cy="558140"/>
          </a:xfrm>
          <a:prstGeom prst="rect">
            <a:avLst/>
          </a:prstGeom>
          <a:solidFill>
            <a:srgbClr val="2E75B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Calibri"/>
                <a:ea typeface="Calibri"/>
                <a:cs typeface="Calibri"/>
                <a:sym typeface="Calibri"/>
              </a:rPr>
              <a:t>The Company / Business Culture</a:t>
            </a:r>
            <a:endParaRPr sz="1400" b="0" i="0" u="none" strike="noStrike" cap="none">
              <a:solidFill>
                <a:srgbClr val="000000"/>
              </a:solidFill>
              <a:latin typeface="Arial"/>
              <a:ea typeface="Arial"/>
              <a:cs typeface="Arial"/>
              <a:sym typeface="Arial"/>
            </a:endParaRPr>
          </a:p>
        </p:txBody>
      </p:sp>
      <p:sp>
        <p:nvSpPr>
          <p:cNvPr id="304" name="Google Shape;304;p13"/>
          <p:cNvSpPr txBox="1"/>
          <p:nvPr/>
        </p:nvSpPr>
        <p:spPr>
          <a:xfrm>
            <a:off x="6785356" y="3709892"/>
            <a:ext cx="5406643" cy="1015663"/>
          </a:xfrm>
          <a:prstGeom prst="rect">
            <a:avLst/>
          </a:prstGeom>
          <a:solidFill>
            <a:srgbClr val="3A3838"/>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0" i="0" u="sng" strike="noStrike" cap="none">
                <a:solidFill>
                  <a:schemeClr val="lt1"/>
                </a:solidFill>
                <a:latin typeface="Calibri"/>
                <a:ea typeface="Calibri"/>
                <a:cs typeface="Calibri"/>
                <a:sym typeface="Calibri"/>
              </a:rPr>
              <a:t>Vicious Cycle:</a:t>
            </a:r>
            <a:r>
              <a:rPr lang="en-US" sz="2000" b="0" i="0" u="none" strike="noStrike" cap="none">
                <a:solidFill>
                  <a:schemeClr val="lt1"/>
                </a:solidFill>
                <a:latin typeface="Calibri"/>
                <a:ea typeface="Calibri"/>
                <a:cs typeface="Calibri"/>
                <a:sym typeface="Calibri"/>
              </a:rPr>
              <a:t> I really like a different future, but why change if everything is ok the way it is. The (other) people has to change.</a:t>
            </a:r>
            <a:endParaRPr sz="1400" b="0" i="0" u="none" strike="noStrike" cap="none">
              <a:solidFill>
                <a:srgbClr val="000000"/>
              </a:solidFill>
              <a:latin typeface="Arial"/>
              <a:ea typeface="Arial"/>
              <a:cs typeface="Arial"/>
              <a:sym typeface="Arial"/>
            </a:endParaRPr>
          </a:p>
        </p:txBody>
      </p:sp>
      <p:sp>
        <p:nvSpPr>
          <p:cNvPr id="305" name="Google Shape;305;p13"/>
          <p:cNvSpPr/>
          <p:nvPr/>
        </p:nvSpPr>
        <p:spPr>
          <a:xfrm>
            <a:off x="2856662" y="3657940"/>
            <a:ext cx="1084352" cy="376100"/>
          </a:xfrm>
          <a:prstGeom prst="rect">
            <a:avLst/>
          </a:prstGeom>
          <a:solidFill>
            <a:srgbClr val="1F3864"/>
          </a:solidFill>
          <a:ln w="12700"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92D050"/>
                </a:solidFill>
                <a:latin typeface="Calibri"/>
                <a:ea typeface="Calibri"/>
                <a:cs typeface="Calibri"/>
                <a:sym typeface="Calibri"/>
              </a:rPr>
              <a:t>Micro</a:t>
            </a:r>
            <a:endParaRPr sz="1400" b="0" i="0" u="none" strike="noStrike" cap="none">
              <a:solidFill>
                <a:srgbClr val="000000"/>
              </a:solidFill>
              <a:latin typeface="Arial"/>
              <a:ea typeface="Arial"/>
              <a:cs typeface="Arial"/>
              <a:sym typeface="Arial"/>
            </a:endParaRPr>
          </a:p>
        </p:txBody>
      </p:sp>
      <p:sp>
        <p:nvSpPr>
          <p:cNvPr id="306" name="Google Shape;306;p13"/>
          <p:cNvSpPr/>
          <p:nvPr/>
        </p:nvSpPr>
        <p:spPr>
          <a:xfrm>
            <a:off x="2844345" y="2663983"/>
            <a:ext cx="1084352" cy="376100"/>
          </a:xfrm>
          <a:prstGeom prst="rect">
            <a:avLst/>
          </a:prstGeom>
          <a:solidFill>
            <a:srgbClr val="1F3864"/>
          </a:solidFill>
          <a:ln w="12700"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92D050"/>
                </a:solidFill>
                <a:latin typeface="Calibri"/>
                <a:ea typeface="Calibri"/>
                <a:cs typeface="Calibri"/>
                <a:sym typeface="Calibri"/>
              </a:rPr>
              <a:t>Macro</a:t>
            </a:r>
            <a:endParaRPr sz="1400" b="0" i="0" u="none" strike="noStrike" cap="none">
              <a:solidFill>
                <a:srgbClr val="000000"/>
              </a:solidFill>
              <a:latin typeface="Arial"/>
              <a:ea typeface="Arial"/>
              <a:cs typeface="Arial"/>
              <a:sym typeface="Arial"/>
            </a:endParaRPr>
          </a:p>
        </p:txBody>
      </p:sp>
      <p:pic>
        <p:nvPicPr>
          <p:cNvPr id="307" name="Google Shape;307;p13" descr="Blind"/>
          <p:cNvPicPr preferRelativeResize="0"/>
          <p:nvPr/>
        </p:nvPicPr>
        <p:blipFill rotWithShape="1">
          <a:blip r:embed="rId7">
            <a:alphaModFix/>
          </a:blip>
          <a:srcRect/>
          <a:stretch/>
        </p:blipFill>
        <p:spPr>
          <a:xfrm>
            <a:off x="7249333" y="518669"/>
            <a:ext cx="914400" cy="914400"/>
          </a:xfrm>
          <a:prstGeom prst="rect">
            <a:avLst/>
          </a:prstGeom>
          <a:noFill/>
          <a:ln>
            <a:noFill/>
          </a:ln>
        </p:spPr>
      </p:pic>
      <p:cxnSp>
        <p:nvCxnSpPr>
          <p:cNvPr id="308" name="Google Shape;308;p13"/>
          <p:cNvCxnSpPr>
            <a:stCxn id="305" idx="3"/>
            <a:endCxn id="309" idx="2"/>
          </p:cNvCxnSpPr>
          <p:nvPr/>
        </p:nvCxnSpPr>
        <p:spPr>
          <a:xfrm>
            <a:off x="3941014" y="3845990"/>
            <a:ext cx="1379400" cy="1494900"/>
          </a:xfrm>
          <a:prstGeom prst="straightConnector1">
            <a:avLst/>
          </a:prstGeom>
          <a:noFill/>
          <a:ln w="9525" cap="flat" cmpd="sng">
            <a:solidFill>
              <a:schemeClr val="lt1"/>
            </a:solidFill>
            <a:prstDash val="solid"/>
            <a:miter lim="800000"/>
            <a:headEnd type="none" w="sm" len="sm"/>
            <a:tailEnd type="none" w="sm" len="sm"/>
          </a:ln>
        </p:spPr>
      </p:cxnSp>
      <p:sp>
        <p:nvSpPr>
          <p:cNvPr id="309" name="Google Shape;309;p13"/>
          <p:cNvSpPr/>
          <p:nvPr/>
        </p:nvSpPr>
        <p:spPr>
          <a:xfrm>
            <a:off x="5320537" y="4843850"/>
            <a:ext cx="1059715" cy="993814"/>
          </a:xfrm>
          <a:prstGeom prst="ellipse">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alibri"/>
                <a:ea typeface="Calibri"/>
                <a:cs typeface="Calibri"/>
                <a:sym typeface="Calibri"/>
              </a:rPr>
              <a:t>Safety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alibri"/>
                <a:ea typeface="Calibri"/>
                <a:cs typeface="Calibri"/>
                <a:sym typeface="Calibri"/>
              </a:rPr>
              <a:t>Circle</a:t>
            </a:r>
            <a:endParaRPr sz="1400" b="0" i="0" u="none" strike="noStrike" cap="none">
              <a:solidFill>
                <a:srgbClr val="000000"/>
              </a:solidFill>
              <a:latin typeface="Arial"/>
              <a:ea typeface="Arial"/>
              <a:cs typeface="Arial"/>
              <a:sym typeface="Arial"/>
            </a:endParaRPr>
          </a:p>
        </p:txBody>
      </p:sp>
      <p:sp>
        <p:nvSpPr>
          <p:cNvPr id="310" name="Google Shape;310;p13"/>
          <p:cNvSpPr/>
          <p:nvPr/>
        </p:nvSpPr>
        <p:spPr>
          <a:xfrm>
            <a:off x="7114865" y="247602"/>
            <a:ext cx="1183337"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Calibri"/>
                <a:ea typeface="Calibri"/>
                <a:cs typeface="Calibri"/>
                <a:sym typeface="Calibri"/>
              </a:rPr>
              <a:t>Blindness?</a:t>
            </a:r>
            <a:endParaRPr sz="1400" b="0" i="0" u="none" strike="noStrike" cap="none">
              <a:solidFill>
                <a:srgbClr val="000000"/>
              </a:solidFill>
              <a:latin typeface="Arial"/>
              <a:ea typeface="Arial"/>
              <a:cs typeface="Arial"/>
              <a:sym typeface="Arial"/>
            </a:endParaRPr>
          </a:p>
        </p:txBody>
      </p:sp>
      <p:sp>
        <p:nvSpPr>
          <p:cNvPr id="311" name="Google Shape;311;p13"/>
          <p:cNvSpPr/>
          <p:nvPr/>
        </p:nvSpPr>
        <p:spPr>
          <a:xfrm>
            <a:off x="6894347" y="1386561"/>
            <a:ext cx="162437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FFFFFF"/>
                </a:solidFill>
                <a:latin typeface="Calibri"/>
                <a:ea typeface="Calibri"/>
                <a:cs typeface="Calibri"/>
                <a:sym typeface="Calibri"/>
              </a:rPr>
              <a:t>Start with You</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6"/>
        <p:cNvGrpSpPr/>
        <p:nvPr/>
      </p:nvGrpSpPr>
      <p:grpSpPr>
        <a:xfrm>
          <a:off x="0" y="0"/>
          <a:ext cx="0" cy="0"/>
          <a:chOff x="0" y="0"/>
          <a:chExt cx="0" cy="0"/>
        </a:xfrm>
      </p:grpSpPr>
      <p:sp>
        <p:nvSpPr>
          <p:cNvPr id="317" name="Google Shape;317;p14"/>
          <p:cNvSpPr/>
          <p:nvPr/>
        </p:nvSpPr>
        <p:spPr>
          <a:xfrm>
            <a:off x="327546" y="4572000"/>
            <a:ext cx="7058307" cy="1964266"/>
          </a:xfrm>
          <a:prstGeom prst="rect">
            <a:avLst/>
          </a:prstGeom>
          <a:solidFill>
            <a:srgbClr val="6853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318" name="Google Shape;318;p14" descr="Related image"/>
          <p:cNvPicPr preferRelativeResize="0"/>
          <p:nvPr/>
        </p:nvPicPr>
        <p:blipFill rotWithShape="1">
          <a:blip r:embed="rId3">
            <a:alphaModFix/>
          </a:blip>
          <a:srcRect l="3337"/>
          <a:stretch/>
        </p:blipFill>
        <p:spPr>
          <a:xfrm>
            <a:off x="327547" y="321733"/>
            <a:ext cx="7058306" cy="4107392"/>
          </a:xfrm>
          <a:prstGeom prst="rect">
            <a:avLst/>
          </a:prstGeom>
          <a:noFill/>
          <a:ln>
            <a:noFill/>
          </a:ln>
        </p:spPr>
      </p:pic>
      <p:sp>
        <p:nvSpPr>
          <p:cNvPr id="319" name="Google Shape;319;p14"/>
          <p:cNvSpPr/>
          <p:nvPr/>
        </p:nvSpPr>
        <p:spPr>
          <a:xfrm>
            <a:off x="7534655" y="321732"/>
            <a:ext cx="4335613" cy="6214534"/>
          </a:xfrm>
          <a:prstGeom prst="rect">
            <a:avLst/>
          </a:pr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20" name="Google Shape;320;p14"/>
          <p:cNvSpPr txBox="1">
            <a:spLocks noGrp="1"/>
          </p:cNvSpPr>
          <p:nvPr>
            <p:ph type="body" idx="1"/>
          </p:nvPr>
        </p:nvSpPr>
        <p:spPr>
          <a:xfrm>
            <a:off x="8029319" y="917725"/>
            <a:ext cx="3424739" cy="4852362"/>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FFFFFF"/>
              </a:buClr>
              <a:buSzPts val="2400"/>
              <a:buNone/>
            </a:pPr>
            <a:r>
              <a:rPr lang="en-US" sz="2400">
                <a:solidFill>
                  <a:srgbClr val="FFFFFF"/>
                </a:solidFill>
              </a:rPr>
              <a:t>Every:</a:t>
            </a:r>
            <a:endParaRPr/>
          </a:p>
          <a:p>
            <a:pPr marL="228600" lvl="0" indent="-228600" algn="l" rtl="0">
              <a:lnSpc>
                <a:spcPct val="80000"/>
              </a:lnSpc>
              <a:spcBef>
                <a:spcPts val="1000"/>
              </a:spcBef>
              <a:spcAft>
                <a:spcPts val="0"/>
              </a:spcAft>
              <a:buClr>
                <a:srgbClr val="FFFFFF"/>
              </a:buClr>
              <a:buSzPts val="2400"/>
              <a:buChar char="•"/>
            </a:pPr>
            <a:r>
              <a:rPr lang="en-US" sz="2400">
                <a:solidFill>
                  <a:srgbClr val="FFFFFF"/>
                </a:solidFill>
              </a:rPr>
              <a:t>Business</a:t>
            </a:r>
            <a:endParaRPr/>
          </a:p>
          <a:p>
            <a:pPr marL="228600" lvl="0" indent="-228600" algn="l" rtl="0">
              <a:lnSpc>
                <a:spcPct val="80000"/>
              </a:lnSpc>
              <a:spcBef>
                <a:spcPts val="1000"/>
              </a:spcBef>
              <a:spcAft>
                <a:spcPts val="0"/>
              </a:spcAft>
              <a:buClr>
                <a:srgbClr val="FFFFFF"/>
              </a:buClr>
              <a:buSzPts val="2400"/>
              <a:buChar char="•"/>
            </a:pPr>
            <a:r>
              <a:rPr lang="en-US" sz="2400">
                <a:solidFill>
                  <a:srgbClr val="FFFFFF"/>
                </a:solidFill>
              </a:rPr>
              <a:t>Customer</a:t>
            </a:r>
            <a:endParaRPr/>
          </a:p>
          <a:p>
            <a:pPr marL="228600" lvl="0" indent="-228600" algn="l" rtl="0">
              <a:lnSpc>
                <a:spcPct val="80000"/>
              </a:lnSpc>
              <a:spcBef>
                <a:spcPts val="1000"/>
              </a:spcBef>
              <a:spcAft>
                <a:spcPts val="0"/>
              </a:spcAft>
              <a:buClr>
                <a:srgbClr val="FFFFFF"/>
              </a:buClr>
              <a:buSzPts val="2400"/>
              <a:buChar char="•"/>
            </a:pPr>
            <a:r>
              <a:rPr lang="en-US" sz="2400">
                <a:solidFill>
                  <a:srgbClr val="FFFFFF"/>
                </a:solidFill>
              </a:rPr>
              <a:t>Organization</a:t>
            </a:r>
            <a:endParaRPr/>
          </a:p>
          <a:p>
            <a:pPr marL="228600" lvl="0" indent="-228600" algn="l" rtl="0">
              <a:lnSpc>
                <a:spcPct val="80000"/>
              </a:lnSpc>
              <a:spcBef>
                <a:spcPts val="1000"/>
              </a:spcBef>
              <a:spcAft>
                <a:spcPts val="0"/>
              </a:spcAft>
              <a:buClr>
                <a:srgbClr val="FFFFFF"/>
              </a:buClr>
              <a:buSzPts val="2400"/>
              <a:buChar char="•"/>
            </a:pPr>
            <a:r>
              <a:rPr lang="en-US" sz="2400">
                <a:solidFill>
                  <a:srgbClr val="FFFFFF"/>
                </a:solidFill>
              </a:rPr>
              <a:t>Employee</a:t>
            </a:r>
            <a:endParaRPr/>
          </a:p>
          <a:p>
            <a:pPr marL="0" lvl="0" indent="0" algn="l" rtl="0">
              <a:lnSpc>
                <a:spcPct val="80000"/>
              </a:lnSpc>
              <a:spcBef>
                <a:spcPts val="1000"/>
              </a:spcBef>
              <a:spcAft>
                <a:spcPts val="0"/>
              </a:spcAft>
              <a:buClr>
                <a:schemeClr val="dk1"/>
              </a:buClr>
              <a:buSzPts val="2400"/>
              <a:buNone/>
            </a:pPr>
            <a:endParaRPr sz="2400">
              <a:solidFill>
                <a:srgbClr val="FFFFFF"/>
              </a:solidFill>
            </a:endParaRPr>
          </a:p>
          <a:p>
            <a:pPr marL="0" lvl="0" indent="0" algn="l" rtl="0">
              <a:lnSpc>
                <a:spcPct val="80000"/>
              </a:lnSpc>
              <a:spcBef>
                <a:spcPts val="1000"/>
              </a:spcBef>
              <a:spcAft>
                <a:spcPts val="0"/>
              </a:spcAft>
              <a:buClr>
                <a:srgbClr val="FFFFFF"/>
              </a:buClr>
              <a:buSzPts val="2400"/>
              <a:buNone/>
            </a:pPr>
            <a:r>
              <a:rPr lang="en-US" sz="2400">
                <a:solidFill>
                  <a:srgbClr val="FFFFFF"/>
                </a:solidFill>
              </a:rPr>
              <a:t>Has:</a:t>
            </a:r>
            <a:endParaRPr/>
          </a:p>
          <a:p>
            <a:pPr marL="457200" lvl="0" indent="-457200" algn="l" rtl="0">
              <a:lnSpc>
                <a:spcPct val="80000"/>
              </a:lnSpc>
              <a:spcBef>
                <a:spcPts val="1000"/>
              </a:spcBef>
              <a:spcAft>
                <a:spcPts val="0"/>
              </a:spcAft>
              <a:buClr>
                <a:srgbClr val="FFFFFF"/>
              </a:buClr>
              <a:buSzPts val="2400"/>
              <a:buFont typeface="Calibri"/>
              <a:buAutoNum type="arabicPeriod"/>
            </a:pPr>
            <a:r>
              <a:rPr lang="en-US" sz="2400">
                <a:solidFill>
                  <a:srgbClr val="FFFFFF"/>
                </a:solidFill>
              </a:rPr>
              <a:t>Opportunities</a:t>
            </a:r>
            <a:endParaRPr/>
          </a:p>
          <a:p>
            <a:pPr marL="457200" lvl="0" indent="-457200" algn="l" rtl="0">
              <a:lnSpc>
                <a:spcPct val="80000"/>
              </a:lnSpc>
              <a:spcBef>
                <a:spcPts val="1000"/>
              </a:spcBef>
              <a:spcAft>
                <a:spcPts val="0"/>
              </a:spcAft>
              <a:buClr>
                <a:srgbClr val="FFFFFF"/>
              </a:buClr>
              <a:buSzPts val="2400"/>
              <a:buFont typeface="Calibri"/>
              <a:buAutoNum type="arabicPeriod"/>
            </a:pPr>
            <a:r>
              <a:rPr lang="en-US" sz="2400">
                <a:solidFill>
                  <a:srgbClr val="FFFFFF"/>
                </a:solidFill>
              </a:rPr>
              <a:t>Values</a:t>
            </a:r>
            <a:endParaRPr/>
          </a:p>
          <a:p>
            <a:pPr marL="457200" lvl="0" indent="-457200" algn="l" rtl="0">
              <a:lnSpc>
                <a:spcPct val="80000"/>
              </a:lnSpc>
              <a:spcBef>
                <a:spcPts val="1000"/>
              </a:spcBef>
              <a:spcAft>
                <a:spcPts val="0"/>
              </a:spcAft>
              <a:buClr>
                <a:srgbClr val="FFFFFF"/>
              </a:buClr>
              <a:buSzPts val="2400"/>
              <a:buFont typeface="Calibri"/>
              <a:buAutoNum type="arabicPeriod"/>
            </a:pPr>
            <a:r>
              <a:rPr lang="en-US" sz="2400">
                <a:solidFill>
                  <a:srgbClr val="FFFFFF"/>
                </a:solidFill>
              </a:rPr>
              <a:t>Risks</a:t>
            </a:r>
            <a:endParaRPr/>
          </a:p>
          <a:p>
            <a:pPr marL="457200" lvl="0" indent="-457200" algn="l" rtl="0">
              <a:lnSpc>
                <a:spcPct val="80000"/>
              </a:lnSpc>
              <a:spcBef>
                <a:spcPts val="1000"/>
              </a:spcBef>
              <a:spcAft>
                <a:spcPts val="0"/>
              </a:spcAft>
              <a:buClr>
                <a:srgbClr val="FFFFFF"/>
              </a:buClr>
              <a:buSzPts val="2400"/>
              <a:buFont typeface="Calibri"/>
              <a:buAutoNum type="arabicPeriod"/>
            </a:pPr>
            <a:r>
              <a:rPr lang="en-US" sz="2400" strike="sngStrike">
                <a:solidFill>
                  <a:srgbClr val="FFFFFF"/>
                </a:solidFill>
              </a:rPr>
              <a:t>Rules</a:t>
            </a:r>
            <a:r>
              <a:rPr lang="en-US" sz="2400">
                <a:solidFill>
                  <a:srgbClr val="FFFFFF"/>
                </a:solidFill>
              </a:rPr>
              <a:t> Standards</a:t>
            </a:r>
            <a:endParaRPr/>
          </a:p>
        </p:txBody>
      </p:sp>
      <p:sp>
        <p:nvSpPr>
          <p:cNvPr id="321" name="Google Shape;321;p14"/>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22" name="Google Shape;322;p14" descr="Brain in head"/>
          <p:cNvPicPr preferRelativeResize="0"/>
          <p:nvPr/>
        </p:nvPicPr>
        <p:blipFill rotWithShape="1">
          <a:blip r:embed="rId4">
            <a:alphaModFix/>
          </a:blip>
          <a:srcRect/>
          <a:stretch/>
        </p:blipFill>
        <p:spPr>
          <a:xfrm>
            <a:off x="553798" y="5030846"/>
            <a:ext cx="1000951" cy="1000951"/>
          </a:xfrm>
          <a:prstGeom prst="rect">
            <a:avLst/>
          </a:prstGeom>
          <a:noFill/>
          <a:ln>
            <a:noFill/>
          </a:ln>
        </p:spPr>
      </p:pic>
      <p:sp>
        <p:nvSpPr>
          <p:cNvPr id="323" name="Google Shape;323;p14"/>
          <p:cNvSpPr txBox="1"/>
          <p:nvPr/>
        </p:nvSpPr>
        <p:spPr>
          <a:xfrm>
            <a:off x="1554749" y="4742094"/>
            <a:ext cx="5666600" cy="1625210"/>
          </a:xfrm>
          <a:prstGeom prst="rect">
            <a:avLst/>
          </a:prstGeom>
          <a:noFill/>
          <a:ln>
            <a:noFill/>
          </a:ln>
        </p:spPr>
        <p:txBody>
          <a:bodyPr spcFirstLastPara="1" wrap="square" lIns="91425" tIns="45700" rIns="91425" bIns="45700" anchor="ctr" anchorCtr="0">
            <a:normAutofit/>
          </a:bodyPr>
          <a:lstStyle/>
          <a:p>
            <a:pPr marL="571500" marR="0" lvl="0" indent="-571500" algn="l" rtl="0">
              <a:lnSpc>
                <a:spcPct val="90000"/>
              </a:lnSpc>
              <a:spcBef>
                <a:spcPts val="0"/>
              </a:spcBef>
              <a:spcAft>
                <a:spcPts val="0"/>
              </a:spcAft>
              <a:buClr>
                <a:srgbClr val="FFFFFF"/>
              </a:buClr>
              <a:buSzPts val="4070"/>
              <a:buFont typeface="Arial"/>
              <a:buChar char="•"/>
            </a:pPr>
            <a:r>
              <a:rPr lang="en-US" sz="4070" b="0" i="0" u="none" strike="noStrike" cap="none">
                <a:solidFill>
                  <a:srgbClr val="FFFFFF"/>
                </a:solidFill>
                <a:latin typeface="Calibri"/>
                <a:ea typeface="Calibri"/>
                <a:cs typeface="Calibri"/>
                <a:sym typeface="Calibri"/>
              </a:rPr>
              <a:t>Everybody has a movie</a:t>
            </a:r>
            <a:endParaRPr sz="1400" b="0" i="0" u="none" strike="noStrike" cap="none">
              <a:solidFill>
                <a:srgbClr val="000000"/>
              </a:solidFill>
              <a:latin typeface="Arial"/>
              <a:ea typeface="Arial"/>
              <a:cs typeface="Arial"/>
              <a:sym typeface="Arial"/>
            </a:endParaRPr>
          </a:p>
          <a:p>
            <a:pPr marL="571500" marR="0" lvl="0" indent="-571500" algn="l" rtl="0">
              <a:lnSpc>
                <a:spcPct val="90000"/>
              </a:lnSpc>
              <a:spcBef>
                <a:spcPts val="0"/>
              </a:spcBef>
              <a:spcAft>
                <a:spcPts val="0"/>
              </a:spcAft>
              <a:buClr>
                <a:srgbClr val="FFFFFF"/>
              </a:buClr>
              <a:buSzPts val="4070"/>
              <a:buFont typeface="Arial"/>
              <a:buChar char="•"/>
            </a:pPr>
            <a:r>
              <a:rPr lang="en-US" sz="4070" b="0" i="0" u="none" strike="noStrike" cap="none">
                <a:solidFill>
                  <a:srgbClr val="FFFFFF"/>
                </a:solidFill>
                <a:latin typeface="Calibri"/>
                <a:ea typeface="Calibri"/>
                <a:cs typeface="Calibri"/>
                <a:sym typeface="Calibri"/>
              </a:rPr>
              <a:t>Criteria (dis-)alignment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7"/>
        <p:cNvGrpSpPr/>
        <p:nvPr/>
      </p:nvGrpSpPr>
      <p:grpSpPr>
        <a:xfrm>
          <a:off x="0" y="0"/>
          <a:ext cx="0" cy="0"/>
          <a:chOff x="0" y="0"/>
          <a:chExt cx="0" cy="0"/>
        </a:xfrm>
      </p:grpSpPr>
      <p:sp>
        <p:nvSpPr>
          <p:cNvPr id="328" name="Google Shape;328;p15"/>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29" name="Google Shape;329;p15"/>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Change</a:t>
            </a:r>
            <a:br>
              <a:rPr lang="en-US">
                <a:solidFill>
                  <a:srgbClr val="FFFFFF"/>
                </a:solidFill>
              </a:rPr>
            </a:br>
            <a:br>
              <a:rPr lang="en-US">
                <a:solidFill>
                  <a:srgbClr val="FFFFFF"/>
                </a:solidFill>
              </a:rPr>
            </a:br>
            <a:endParaRPr>
              <a:solidFill>
                <a:srgbClr val="FFFFFF"/>
              </a:solidFill>
            </a:endParaRPr>
          </a:p>
        </p:txBody>
      </p:sp>
      <p:sp>
        <p:nvSpPr>
          <p:cNvPr id="330" name="Google Shape;330;p15"/>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331" name="Google Shape;331;p15"/>
          <p:cNvGrpSpPr/>
          <p:nvPr/>
        </p:nvGrpSpPr>
        <p:grpSpPr>
          <a:xfrm>
            <a:off x="6013035" y="529879"/>
            <a:ext cx="4876133" cy="5767515"/>
            <a:chOff x="818735" y="58955"/>
            <a:chExt cx="4876133" cy="5767515"/>
          </a:xfrm>
        </p:grpSpPr>
        <p:sp>
          <p:nvSpPr>
            <p:cNvPr id="332" name="Google Shape;332;p15"/>
            <p:cNvSpPr/>
            <p:nvPr/>
          </p:nvSpPr>
          <p:spPr>
            <a:xfrm>
              <a:off x="1255905" y="58955"/>
              <a:ext cx="1367559" cy="1367559"/>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15"/>
            <p:cNvSpPr/>
            <p:nvPr/>
          </p:nvSpPr>
          <p:spPr>
            <a:xfrm>
              <a:off x="1547352" y="350402"/>
              <a:ext cx="784665" cy="784665"/>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15"/>
            <p:cNvSpPr/>
            <p:nvPr/>
          </p:nvSpPr>
          <p:spPr>
            <a:xfrm>
              <a:off x="818735" y="1852475"/>
              <a:ext cx="2241900" cy="81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15"/>
            <p:cNvSpPr txBox="1"/>
            <p:nvPr/>
          </p:nvSpPr>
          <p:spPr>
            <a:xfrm>
              <a:off x="818735" y="1852475"/>
              <a:ext cx="2241900" cy="81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2400"/>
                <a:buFont typeface="Calibri"/>
                <a:buNone/>
              </a:pPr>
              <a:r>
                <a:rPr lang="en-US" sz="2400" b="1" i="0" u="none" strike="noStrike" cap="none">
                  <a:solidFill>
                    <a:schemeClr val="dk1"/>
                  </a:solidFill>
                  <a:latin typeface="Calibri"/>
                  <a:ea typeface="Calibri"/>
                  <a:cs typeface="Calibri"/>
                  <a:sym typeface="Calibri"/>
                </a:rPr>
                <a:t>CULTURE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84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(OF SERVICE)</a:t>
              </a:r>
              <a:endParaRPr sz="1400" b="0" i="0" u="none" strike="noStrike" cap="none">
                <a:solidFill>
                  <a:srgbClr val="000000"/>
                </a:solidFill>
                <a:latin typeface="Arial"/>
                <a:ea typeface="Arial"/>
                <a:cs typeface="Arial"/>
                <a:sym typeface="Arial"/>
              </a:endParaRPr>
            </a:p>
          </p:txBody>
        </p:sp>
        <p:sp>
          <p:nvSpPr>
            <p:cNvPr id="336" name="Google Shape;336;p15"/>
            <p:cNvSpPr/>
            <p:nvPr/>
          </p:nvSpPr>
          <p:spPr>
            <a:xfrm>
              <a:off x="3890138" y="58955"/>
              <a:ext cx="1367559" cy="1367559"/>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15"/>
            <p:cNvSpPr/>
            <p:nvPr/>
          </p:nvSpPr>
          <p:spPr>
            <a:xfrm>
              <a:off x="4181585" y="350402"/>
              <a:ext cx="784665" cy="784665"/>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15"/>
            <p:cNvSpPr/>
            <p:nvPr/>
          </p:nvSpPr>
          <p:spPr>
            <a:xfrm>
              <a:off x="3452968" y="1852475"/>
              <a:ext cx="2241900" cy="81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15"/>
            <p:cNvSpPr txBox="1"/>
            <p:nvPr/>
          </p:nvSpPr>
          <p:spPr>
            <a:xfrm>
              <a:off x="3452968" y="1852475"/>
              <a:ext cx="2241900" cy="81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2100"/>
                <a:buFont typeface="Calibri"/>
                <a:buNone/>
              </a:pPr>
              <a:r>
                <a:rPr lang="en-US" sz="2100" b="1" i="0" u="none" strike="noStrike" cap="none">
                  <a:solidFill>
                    <a:schemeClr val="dk1"/>
                  </a:solidFill>
                  <a:latin typeface="Calibri"/>
                  <a:ea typeface="Calibri"/>
                  <a:cs typeface="Calibri"/>
                  <a:sym typeface="Calibri"/>
                </a:rPr>
                <a:t>BI-MODAL</a:t>
              </a:r>
              <a:endParaRPr sz="2100" b="1" i="0" u="none" strike="noStrike" cap="none">
                <a:solidFill>
                  <a:schemeClr val="dk1"/>
                </a:solidFill>
                <a:latin typeface="Calibri"/>
                <a:ea typeface="Calibri"/>
                <a:cs typeface="Calibri"/>
                <a:sym typeface="Calibri"/>
              </a:endParaRPr>
            </a:p>
            <a:p>
              <a:pPr marL="0" marR="0" lvl="0" indent="0" algn="ctr" rtl="0">
                <a:lnSpc>
                  <a:spcPct val="100000"/>
                </a:lnSpc>
                <a:spcBef>
                  <a:spcPts val="735"/>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(VERSATILITY)</a:t>
              </a:r>
              <a:endParaRPr sz="1400" b="0" i="0" u="none" strike="noStrike" cap="none">
                <a:solidFill>
                  <a:srgbClr val="000000"/>
                </a:solidFill>
                <a:latin typeface="Arial"/>
                <a:ea typeface="Arial"/>
                <a:cs typeface="Arial"/>
                <a:sym typeface="Arial"/>
              </a:endParaRPr>
            </a:p>
          </p:txBody>
        </p:sp>
        <p:sp>
          <p:nvSpPr>
            <p:cNvPr id="340" name="Google Shape;340;p15"/>
            <p:cNvSpPr/>
            <p:nvPr/>
          </p:nvSpPr>
          <p:spPr>
            <a:xfrm>
              <a:off x="1255905" y="3222950"/>
              <a:ext cx="1367559" cy="1367559"/>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15"/>
            <p:cNvSpPr/>
            <p:nvPr/>
          </p:nvSpPr>
          <p:spPr>
            <a:xfrm>
              <a:off x="1547352" y="3514397"/>
              <a:ext cx="784665" cy="784665"/>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15"/>
            <p:cNvSpPr/>
            <p:nvPr/>
          </p:nvSpPr>
          <p:spPr>
            <a:xfrm>
              <a:off x="818735" y="5016470"/>
              <a:ext cx="2241900" cy="81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15"/>
            <p:cNvSpPr txBox="1"/>
            <p:nvPr/>
          </p:nvSpPr>
          <p:spPr>
            <a:xfrm>
              <a:off x="818735" y="5016470"/>
              <a:ext cx="2241900" cy="81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2100"/>
                <a:buFont typeface="Calibri"/>
                <a:buNone/>
              </a:pPr>
              <a:r>
                <a:rPr lang="en-US" sz="2100" b="1" i="0" u="none" strike="noStrike" cap="none">
                  <a:solidFill>
                    <a:schemeClr val="dk1"/>
                  </a:solidFill>
                  <a:latin typeface="Calibri"/>
                  <a:ea typeface="Calibri"/>
                  <a:cs typeface="Calibri"/>
                  <a:sym typeface="Calibri"/>
                </a:rPr>
                <a:t>WAYS OF WORKING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35"/>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(ME / YOU / ALL)</a:t>
              </a:r>
              <a:endParaRPr sz="1400" b="0" i="0" u="none" strike="noStrike" cap="none">
                <a:solidFill>
                  <a:srgbClr val="000000"/>
                </a:solidFill>
                <a:latin typeface="Arial"/>
                <a:ea typeface="Arial"/>
                <a:cs typeface="Arial"/>
                <a:sym typeface="Arial"/>
              </a:endParaRPr>
            </a:p>
          </p:txBody>
        </p:sp>
        <p:sp>
          <p:nvSpPr>
            <p:cNvPr id="344" name="Google Shape;344;p15"/>
            <p:cNvSpPr/>
            <p:nvPr/>
          </p:nvSpPr>
          <p:spPr>
            <a:xfrm>
              <a:off x="3890138" y="3222950"/>
              <a:ext cx="1367559" cy="1367559"/>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15"/>
            <p:cNvSpPr/>
            <p:nvPr/>
          </p:nvSpPr>
          <p:spPr>
            <a:xfrm>
              <a:off x="4181585" y="3514397"/>
              <a:ext cx="784665" cy="784665"/>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15"/>
            <p:cNvSpPr/>
            <p:nvPr/>
          </p:nvSpPr>
          <p:spPr>
            <a:xfrm>
              <a:off x="3452968" y="5016470"/>
              <a:ext cx="2241900" cy="81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15"/>
            <p:cNvSpPr txBox="1"/>
            <p:nvPr/>
          </p:nvSpPr>
          <p:spPr>
            <a:xfrm>
              <a:off x="3452968" y="5016470"/>
              <a:ext cx="2241900" cy="81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2100"/>
                <a:buFont typeface="Calibri"/>
                <a:buNone/>
              </a:pPr>
              <a:r>
                <a:rPr lang="en-US" sz="2100" b="1" i="0" u="none" strike="noStrike" cap="none">
                  <a:solidFill>
                    <a:schemeClr val="dk1"/>
                  </a:solidFill>
                  <a:latin typeface="Calibri"/>
                  <a:ea typeface="Calibri"/>
                  <a:cs typeface="Calibri"/>
                  <a:sym typeface="Calibri"/>
                </a:rPr>
                <a:t>LEGACY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35"/>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(HR / IT)</a:t>
              </a:r>
              <a:endParaRPr sz="1400" b="0" i="0" u="none" strike="noStrike" cap="none">
                <a:solidFill>
                  <a:srgbClr val="000000"/>
                </a:solidFill>
                <a:latin typeface="Arial"/>
                <a:ea typeface="Arial"/>
                <a:cs typeface="Arial"/>
                <a:sym typeface="Arial"/>
              </a:endParaRPr>
            </a:p>
          </p:txBody>
        </p:sp>
      </p:grpSp>
      <p:sp>
        <p:nvSpPr>
          <p:cNvPr id="348" name="Google Shape;348;p15"/>
          <p:cNvSpPr txBox="1"/>
          <p:nvPr/>
        </p:nvSpPr>
        <p:spPr>
          <a:xfrm>
            <a:off x="863029" y="3006022"/>
            <a:ext cx="2887168" cy="1569660"/>
          </a:xfrm>
          <a:prstGeom prst="rect">
            <a:avLst/>
          </a:prstGeom>
          <a:noFill/>
          <a:ln>
            <a:noFill/>
          </a:ln>
        </p:spPr>
        <p:txBody>
          <a:bodyPr spcFirstLastPara="1" wrap="square" lIns="91425" tIns="45700" rIns="91425" bIns="45700" anchor="t" anchorCtr="0">
            <a:spAutoFit/>
          </a:bodyPr>
          <a:lstStyle/>
          <a:p>
            <a:pPr marL="285750" marR="0" lvl="0" indent="-133350" algn="l" rtl="0">
              <a:lnSpc>
                <a:spcPct val="100000"/>
              </a:lnSpc>
              <a:spcBef>
                <a:spcPts val="0"/>
              </a:spcBef>
              <a:spcAft>
                <a:spcPts val="0"/>
              </a:spcAft>
              <a:buClr>
                <a:schemeClr val="dk1"/>
              </a:buClr>
              <a:buSzPts val="2400"/>
              <a:buFont typeface="Arial"/>
              <a:buNone/>
            </a:pPr>
            <a:endParaRPr sz="2400" b="0" i="0" u="none" strike="noStrike" cap="none">
              <a:solidFill>
                <a:schemeClr val="lt1"/>
              </a:solidFill>
              <a:latin typeface="Calibri"/>
              <a:ea typeface="Calibri"/>
              <a:cs typeface="Calibri"/>
              <a:sym typeface="Calibri"/>
            </a:endParaRPr>
          </a:p>
          <a:p>
            <a:pPr marL="285750" marR="0" lvl="0" indent="-285750" algn="l" rtl="0">
              <a:lnSpc>
                <a:spcPct val="100000"/>
              </a:lnSpc>
              <a:spcBef>
                <a:spcPts val="0"/>
              </a:spcBef>
              <a:spcAft>
                <a:spcPts val="0"/>
              </a:spcAft>
              <a:buClr>
                <a:schemeClr val="lt1"/>
              </a:buClr>
              <a:buSzPts val="2400"/>
              <a:buFont typeface="Arial"/>
              <a:buChar char="•"/>
            </a:pPr>
            <a:r>
              <a:rPr lang="en-US" sz="2400" b="0" i="0" u="none" strike="noStrike" cap="none">
                <a:solidFill>
                  <a:schemeClr val="lt1"/>
                </a:solidFill>
                <a:latin typeface="Calibri"/>
                <a:ea typeface="Calibri"/>
                <a:cs typeface="Calibri"/>
                <a:sym typeface="Calibri"/>
              </a:rPr>
              <a:t>Incremental</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lt1"/>
              </a:buClr>
              <a:buSzPts val="2400"/>
              <a:buFont typeface="Arial"/>
              <a:buChar char="•"/>
            </a:pPr>
            <a:r>
              <a:rPr lang="en-US" sz="2400" b="0" i="0" u="none" strike="noStrike" cap="none">
                <a:solidFill>
                  <a:schemeClr val="lt1"/>
                </a:solidFill>
                <a:latin typeface="Calibri"/>
                <a:ea typeface="Calibri"/>
                <a:cs typeface="Calibri"/>
                <a:sym typeface="Calibri"/>
              </a:rPr>
              <a:t>Iterative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lt1"/>
              </a:buClr>
              <a:buSzPts val="2400"/>
              <a:buFont typeface="Arial"/>
              <a:buChar char="•"/>
            </a:pPr>
            <a:r>
              <a:rPr lang="en-US" sz="2400" b="0" i="0" u="none" strike="noStrike" cap="none">
                <a:solidFill>
                  <a:schemeClr val="lt1"/>
                </a:solidFill>
                <a:latin typeface="Calibri"/>
                <a:ea typeface="Calibri"/>
                <a:cs typeface="Calibri"/>
                <a:sym typeface="Calibri"/>
              </a:rPr>
              <a:t>Agreed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2"/>
        <p:cNvGrpSpPr/>
        <p:nvPr/>
      </p:nvGrpSpPr>
      <p:grpSpPr>
        <a:xfrm>
          <a:off x="0" y="0"/>
          <a:ext cx="0" cy="0"/>
          <a:chOff x="0" y="0"/>
          <a:chExt cx="0" cy="0"/>
        </a:xfrm>
      </p:grpSpPr>
      <p:sp>
        <p:nvSpPr>
          <p:cNvPr id="353" name="Google Shape;353;p16"/>
          <p:cNvSpPr/>
          <p:nvPr/>
        </p:nvSpPr>
        <p:spPr>
          <a:xfrm>
            <a:off x="0" y="0"/>
            <a:ext cx="12192000" cy="6858000"/>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4" name="Google Shape;354;p16"/>
          <p:cNvSpPr txBox="1">
            <a:spLocks noGrp="1"/>
          </p:cNvSpPr>
          <p:nvPr>
            <p:ph type="title"/>
          </p:nvPr>
        </p:nvSpPr>
        <p:spPr>
          <a:xfrm>
            <a:off x="6746628" y="1783959"/>
            <a:ext cx="4645250" cy="2889114"/>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lt1"/>
              </a:buClr>
              <a:buSzPts val="5400"/>
              <a:buFont typeface="Calibri"/>
              <a:buNone/>
            </a:pP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Change</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Culture </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of</a:t>
            </a:r>
            <a:r>
              <a:rPr lang="en-US" sz="5400">
                <a:solidFill>
                  <a:schemeClr val="lt1"/>
                </a:solidFill>
              </a:rPr>
              <a:t> </a:t>
            </a:r>
            <a:r>
              <a:rPr lang="en-US" sz="5400">
                <a:solidFill>
                  <a:schemeClr val="lt1"/>
                </a:solidFill>
                <a:latin typeface="Calibri"/>
                <a:ea typeface="Calibri"/>
                <a:cs typeface="Calibri"/>
                <a:sym typeface="Calibri"/>
              </a:rPr>
              <a:t>Service</a:t>
            </a:r>
            <a:endParaRPr/>
          </a:p>
        </p:txBody>
      </p:sp>
      <p:sp>
        <p:nvSpPr>
          <p:cNvPr id="355" name="Google Shape;355;p16"/>
          <p:cNvSpPr/>
          <p:nvPr/>
        </p:nvSpPr>
        <p:spPr>
          <a:xfrm flipH="1">
            <a:off x="0" y="0"/>
            <a:ext cx="6172782"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lt1">
              <a:alpha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56" name="Google Shape;356;p16"/>
          <p:cNvSpPr/>
          <p:nvPr/>
        </p:nvSpPr>
        <p:spPr>
          <a:xfrm>
            <a:off x="0" y="0"/>
            <a:ext cx="6024154" cy="6858000"/>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357" name="Google Shape;357;p16" descr="Books"/>
          <p:cNvPicPr preferRelativeResize="0"/>
          <p:nvPr/>
        </p:nvPicPr>
        <p:blipFill rotWithShape="1">
          <a:blip r:embed="rId3">
            <a:alphaModFix/>
          </a:blip>
          <a:srcRect/>
          <a:stretch/>
        </p:blipFill>
        <p:spPr>
          <a:xfrm>
            <a:off x="419382" y="720993"/>
            <a:ext cx="4047843" cy="404784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17"/>
          <p:cNvSpPr txBox="1">
            <a:spLocks noGrp="1"/>
          </p:cNvSpPr>
          <p:nvPr>
            <p:ph type="title"/>
          </p:nvPr>
        </p:nvSpPr>
        <p:spPr>
          <a:xfrm>
            <a:off x="838200" y="365125"/>
            <a:ext cx="10515600" cy="1325563"/>
          </a:xfrm>
          <a:prstGeom prst="rect">
            <a:avLst/>
          </a:prstGeom>
          <a:solidFill>
            <a:srgbClr val="262626"/>
          </a:soli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400"/>
              <a:buFont typeface="Calibri"/>
              <a:buNone/>
            </a:pPr>
            <a:r>
              <a:rPr lang="en-US">
                <a:solidFill>
                  <a:schemeClr val="lt1"/>
                </a:solidFill>
              </a:rPr>
              <a:t>User Experience =&gt; Every Interaction Counts</a:t>
            </a:r>
            <a:endParaRPr/>
          </a:p>
        </p:txBody>
      </p:sp>
      <p:sp>
        <p:nvSpPr>
          <p:cNvPr id="363" name="Google Shape;363;p17"/>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64" name="Google Shape;364;p17" descr="Related image"/>
          <p:cNvPicPr preferRelativeResize="0"/>
          <p:nvPr/>
        </p:nvPicPr>
        <p:blipFill rotWithShape="1">
          <a:blip r:embed="rId3">
            <a:alphaModFix/>
          </a:blip>
          <a:srcRect/>
          <a:stretch/>
        </p:blipFill>
        <p:spPr>
          <a:xfrm>
            <a:off x="838199" y="1790849"/>
            <a:ext cx="10515599" cy="4140200"/>
          </a:xfrm>
          <a:prstGeom prst="rect">
            <a:avLst/>
          </a:prstGeom>
          <a:noFill/>
          <a:ln>
            <a:noFill/>
          </a:ln>
        </p:spPr>
      </p:pic>
      <p:sp>
        <p:nvSpPr>
          <p:cNvPr id="365" name="Google Shape;365;p17"/>
          <p:cNvSpPr txBox="1"/>
          <p:nvPr/>
        </p:nvSpPr>
        <p:spPr>
          <a:xfrm>
            <a:off x="1838871" y="6031210"/>
            <a:ext cx="88455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Customers </a:t>
            </a:r>
            <a:r>
              <a:rPr lang="en-US" sz="2400" b="0" i="0" u="none" strike="noStrike" cap="none">
                <a:solidFill>
                  <a:schemeClr val="dk1"/>
                </a:solidFill>
                <a:latin typeface="Calibri"/>
                <a:ea typeface="Calibri"/>
                <a:cs typeface="Calibri"/>
                <a:sym typeface="Calibri"/>
              </a:rPr>
              <a:t>⬄ Team / Group / Member / Partner (Internal &amp; External)</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18"/>
          <p:cNvSpPr txBox="1">
            <a:spLocks noGrp="1"/>
          </p:cNvSpPr>
          <p:nvPr>
            <p:ph type="title"/>
          </p:nvPr>
        </p:nvSpPr>
        <p:spPr>
          <a:xfrm>
            <a:off x="838200" y="365125"/>
            <a:ext cx="10515600" cy="1325563"/>
          </a:xfrm>
          <a:prstGeom prst="rect">
            <a:avLst/>
          </a:prstGeom>
          <a:solidFill>
            <a:srgbClr val="262626"/>
          </a:soli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400"/>
              <a:buFont typeface="Calibri"/>
              <a:buNone/>
            </a:pPr>
            <a:r>
              <a:rPr lang="en-US">
                <a:solidFill>
                  <a:schemeClr val="lt1"/>
                </a:solidFill>
              </a:rPr>
              <a:t>Service De</a:t>
            </a:r>
            <a:r>
              <a:rPr lang="en-US" b="1">
                <a:solidFill>
                  <a:schemeClr val="lt1"/>
                </a:solidFill>
              </a:rPr>
              <a:t>liver</a:t>
            </a:r>
            <a:r>
              <a:rPr lang="en-US">
                <a:solidFill>
                  <a:schemeClr val="lt1"/>
                </a:solidFill>
              </a:rPr>
              <a:t>y Orientation </a:t>
            </a:r>
            <a:endParaRPr/>
          </a:p>
        </p:txBody>
      </p:sp>
      <p:sp>
        <p:nvSpPr>
          <p:cNvPr id="371" name="Google Shape;371;p18"/>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72" name="Google Shape;372;p18" descr="Image result for service delivery"/>
          <p:cNvPicPr preferRelativeResize="0"/>
          <p:nvPr/>
        </p:nvPicPr>
        <p:blipFill rotWithShape="1">
          <a:blip r:embed="rId3">
            <a:alphaModFix/>
          </a:blip>
          <a:srcRect/>
          <a:stretch/>
        </p:blipFill>
        <p:spPr>
          <a:xfrm>
            <a:off x="7312771" y="3710596"/>
            <a:ext cx="4143654" cy="2760696"/>
          </a:xfrm>
          <a:prstGeom prst="rect">
            <a:avLst/>
          </a:prstGeom>
          <a:noFill/>
          <a:ln>
            <a:noFill/>
          </a:ln>
        </p:spPr>
      </p:pic>
      <p:grpSp>
        <p:nvGrpSpPr>
          <p:cNvPr id="373" name="Google Shape;373;p18"/>
          <p:cNvGrpSpPr/>
          <p:nvPr/>
        </p:nvGrpSpPr>
        <p:grpSpPr>
          <a:xfrm>
            <a:off x="1631026" y="1985017"/>
            <a:ext cx="5555848" cy="4486275"/>
            <a:chOff x="1631026" y="1985017"/>
            <a:chExt cx="5555848" cy="4486275"/>
          </a:xfrm>
        </p:grpSpPr>
        <p:grpSp>
          <p:nvGrpSpPr>
            <p:cNvPr id="374" name="Google Shape;374;p18"/>
            <p:cNvGrpSpPr/>
            <p:nvPr/>
          </p:nvGrpSpPr>
          <p:grpSpPr>
            <a:xfrm>
              <a:off x="1631026" y="1985017"/>
              <a:ext cx="5555848" cy="4486275"/>
              <a:chOff x="4757195" y="1690688"/>
              <a:chExt cx="5555848" cy="4486275"/>
            </a:xfrm>
          </p:grpSpPr>
          <p:cxnSp>
            <p:nvCxnSpPr>
              <p:cNvPr id="375" name="Google Shape;375;p18"/>
              <p:cNvCxnSpPr/>
              <p:nvPr/>
            </p:nvCxnSpPr>
            <p:spPr>
              <a:xfrm>
                <a:off x="7558268" y="1690688"/>
                <a:ext cx="0" cy="4486275"/>
              </a:xfrm>
              <a:prstGeom prst="straightConnector1">
                <a:avLst/>
              </a:prstGeom>
              <a:noFill/>
              <a:ln w="9525" cap="flat" cmpd="sng">
                <a:solidFill>
                  <a:srgbClr val="7F7F7F"/>
                </a:solidFill>
                <a:prstDash val="dash"/>
                <a:miter lim="800000"/>
                <a:headEnd type="none" w="sm" len="sm"/>
                <a:tailEnd type="none" w="sm" len="sm"/>
              </a:ln>
            </p:spPr>
          </p:cxnSp>
          <p:cxnSp>
            <p:nvCxnSpPr>
              <p:cNvPr id="376" name="Google Shape;376;p18"/>
              <p:cNvCxnSpPr/>
              <p:nvPr/>
            </p:nvCxnSpPr>
            <p:spPr>
              <a:xfrm>
                <a:off x="4757195" y="3912243"/>
                <a:ext cx="5555848" cy="0"/>
              </a:xfrm>
              <a:prstGeom prst="straightConnector1">
                <a:avLst/>
              </a:prstGeom>
              <a:noFill/>
              <a:ln w="9525" cap="flat" cmpd="sng">
                <a:solidFill>
                  <a:srgbClr val="7F7F7F"/>
                </a:solidFill>
                <a:prstDash val="dash"/>
                <a:miter lim="800000"/>
                <a:headEnd type="none" w="sm" len="sm"/>
                <a:tailEnd type="none" w="sm" len="sm"/>
              </a:ln>
            </p:spPr>
          </p:cxnSp>
          <p:sp>
            <p:nvSpPr>
              <p:cNvPr id="377" name="Google Shape;377;p18"/>
              <p:cNvSpPr/>
              <p:nvPr/>
            </p:nvSpPr>
            <p:spPr>
              <a:xfrm>
                <a:off x="7684168" y="1690689"/>
                <a:ext cx="2628875" cy="2086618"/>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Efficient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Kind</a:t>
                </a:r>
                <a:endParaRPr sz="1400" b="0" i="0" u="none" strike="noStrike" cap="none">
                  <a:solidFill>
                    <a:srgbClr val="000000"/>
                  </a:solidFill>
                  <a:latin typeface="Arial"/>
                  <a:ea typeface="Arial"/>
                  <a:cs typeface="Arial"/>
                  <a:sym typeface="Arial"/>
                </a:endParaRPr>
              </a:p>
            </p:txBody>
          </p:sp>
          <p:sp>
            <p:nvSpPr>
              <p:cNvPr id="378" name="Google Shape;378;p18"/>
              <p:cNvSpPr/>
              <p:nvPr/>
            </p:nvSpPr>
            <p:spPr>
              <a:xfrm>
                <a:off x="4803494" y="4049420"/>
                <a:ext cx="2628875" cy="2086618"/>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Inefficient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Unkind</a:t>
                </a:r>
                <a:endParaRPr sz="1400" b="0" i="0" u="none" strike="noStrike" cap="none">
                  <a:solidFill>
                    <a:srgbClr val="000000"/>
                  </a:solidFill>
                  <a:latin typeface="Arial"/>
                  <a:ea typeface="Arial"/>
                  <a:cs typeface="Arial"/>
                  <a:sym typeface="Arial"/>
                </a:endParaRPr>
              </a:p>
            </p:txBody>
          </p:sp>
          <p:sp>
            <p:nvSpPr>
              <p:cNvPr id="379" name="Google Shape;379;p18"/>
              <p:cNvSpPr/>
              <p:nvPr/>
            </p:nvSpPr>
            <p:spPr>
              <a:xfrm>
                <a:off x="4803494" y="1690689"/>
                <a:ext cx="2628875" cy="2086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Inefficient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Kind</a:t>
                </a:r>
                <a:endParaRPr sz="1400" b="0" i="0" u="none" strike="noStrike" cap="none">
                  <a:solidFill>
                    <a:srgbClr val="000000"/>
                  </a:solidFill>
                  <a:latin typeface="Arial"/>
                  <a:ea typeface="Arial"/>
                  <a:cs typeface="Arial"/>
                  <a:sym typeface="Arial"/>
                </a:endParaRPr>
              </a:p>
            </p:txBody>
          </p:sp>
          <p:sp>
            <p:nvSpPr>
              <p:cNvPr id="380" name="Google Shape;380;p18"/>
              <p:cNvSpPr/>
              <p:nvPr/>
            </p:nvSpPr>
            <p:spPr>
              <a:xfrm>
                <a:off x="7684167" y="4058596"/>
                <a:ext cx="2628875" cy="2086618"/>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Efficient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Unkind</a:t>
                </a:r>
                <a:endParaRPr sz="1400" b="0" i="0" u="none" strike="noStrike" cap="none">
                  <a:solidFill>
                    <a:srgbClr val="000000"/>
                  </a:solidFill>
                  <a:latin typeface="Arial"/>
                  <a:ea typeface="Arial"/>
                  <a:cs typeface="Arial"/>
                  <a:sym typeface="Arial"/>
                </a:endParaRPr>
              </a:p>
            </p:txBody>
          </p:sp>
        </p:grpSp>
        <p:pic>
          <p:nvPicPr>
            <p:cNvPr id="381" name="Google Shape;381;p18" descr="Related image"/>
            <p:cNvPicPr preferRelativeResize="0"/>
            <p:nvPr/>
          </p:nvPicPr>
          <p:blipFill rotWithShape="1">
            <a:blip r:embed="rId4">
              <a:alphaModFix/>
            </a:blip>
            <a:srcRect/>
            <a:stretch/>
          </p:blipFill>
          <p:spPr>
            <a:xfrm rot="2609908">
              <a:off x="3509130" y="3341622"/>
              <a:ext cx="1767886" cy="1728280"/>
            </a:xfrm>
            <a:prstGeom prst="rect">
              <a:avLst/>
            </a:prstGeom>
            <a:noFill/>
            <a:ln>
              <a:noFill/>
            </a:ln>
          </p:spPr>
        </p:pic>
      </p:grpSp>
      <p:sp>
        <p:nvSpPr>
          <p:cNvPr id="382" name="Google Shape;382;p18"/>
          <p:cNvSpPr txBox="1"/>
          <p:nvPr/>
        </p:nvSpPr>
        <p:spPr>
          <a:xfrm>
            <a:off x="7969482" y="2014448"/>
            <a:ext cx="2997844" cy="175432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548135"/>
              </a:buClr>
              <a:buSzPts val="3600"/>
              <a:buFont typeface="Calibri"/>
              <a:buAutoNum type="arabicPeriod"/>
            </a:pPr>
            <a:r>
              <a:rPr lang="en-US" sz="3600" b="1" i="0" u="none" strike="noStrike" cap="none" dirty="0">
                <a:solidFill>
                  <a:srgbClr val="548135"/>
                </a:solidFill>
                <a:latin typeface="Calibri"/>
                <a:ea typeface="Calibri"/>
                <a:cs typeface="Calibri"/>
                <a:sym typeface="Calibri"/>
              </a:rPr>
              <a:t>Developers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548135"/>
              </a:buClr>
              <a:buSzPts val="3600"/>
              <a:buFont typeface="Calibri"/>
              <a:buAutoNum type="arabicPeriod"/>
            </a:pPr>
            <a:r>
              <a:rPr lang="en-US" sz="3600" b="1" i="0" u="none" strike="noStrike" cap="none" dirty="0">
                <a:solidFill>
                  <a:srgbClr val="548135"/>
                </a:solidFill>
                <a:latin typeface="Calibri"/>
                <a:ea typeface="Calibri"/>
                <a:cs typeface="Calibri"/>
                <a:sym typeface="Calibri"/>
              </a:rPr>
              <a:t>DevOps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3600"/>
              <a:buFont typeface="Calibri"/>
              <a:buAutoNum type="arabicPeriod"/>
            </a:pPr>
            <a:r>
              <a:rPr lang="en-US" sz="3600" b="1" i="0" u="none" strike="noStrike" cap="none" dirty="0">
                <a:solidFill>
                  <a:schemeClr val="dk1"/>
                </a:solidFill>
                <a:latin typeface="Calibri"/>
                <a:ea typeface="Calibri"/>
                <a:cs typeface="Calibri"/>
                <a:sym typeface="Calibri"/>
              </a:rPr>
              <a:t>SysOps</a:t>
            </a:r>
            <a:endParaRPr sz="1400" b="0" i="0" u="none" strike="noStrike" cap="none" dirty="0">
              <a:solidFill>
                <a:srgbClr val="000000"/>
              </a:solidFill>
              <a:latin typeface="Arial"/>
              <a:ea typeface="Arial"/>
              <a:cs typeface="Arial"/>
              <a:sym typeface="Arial"/>
            </a:endParaRPr>
          </a:p>
        </p:txBody>
      </p:sp>
      <p:pic>
        <p:nvPicPr>
          <p:cNvPr id="383" name="Google Shape;383;p18" descr="Bullseye"/>
          <p:cNvPicPr preferRelativeResize="0"/>
          <p:nvPr/>
        </p:nvPicPr>
        <p:blipFill rotWithShape="1">
          <a:blip r:embed="rId5">
            <a:alphaModFix/>
          </a:blip>
          <a:srcRect/>
          <a:stretch/>
        </p:blipFill>
        <p:spPr>
          <a:xfrm>
            <a:off x="6855580" y="1679236"/>
            <a:ext cx="630188" cy="63018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7"/>
        <p:cNvGrpSpPr/>
        <p:nvPr/>
      </p:nvGrpSpPr>
      <p:grpSpPr>
        <a:xfrm>
          <a:off x="0" y="0"/>
          <a:ext cx="0" cy="0"/>
          <a:chOff x="0" y="0"/>
          <a:chExt cx="0" cy="0"/>
        </a:xfrm>
      </p:grpSpPr>
      <p:sp>
        <p:nvSpPr>
          <p:cNvPr id="388" name="Google Shape;388;p19"/>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89" name="Google Shape;389;p19"/>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Emotional Intelligence</a:t>
            </a:r>
            <a:br>
              <a:rPr lang="en-US">
                <a:solidFill>
                  <a:srgbClr val="FFFFFF"/>
                </a:solidFill>
              </a:rPr>
            </a:br>
            <a:endParaRPr>
              <a:solidFill>
                <a:srgbClr val="FFFFFF"/>
              </a:solidFill>
            </a:endParaRPr>
          </a:p>
        </p:txBody>
      </p:sp>
      <p:sp>
        <p:nvSpPr>
          <p:cNvPr id="390" name="Google Shape;390;p19"/>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391" name="Google Shape;391;p19"/>
          <p:cNvGrpSpPr/>
          <p:nvPr/>
        </p:nvGrpSpPr>
        <p:grpSpPr>
          <a:xfrm>
            <a:off x="5852846" y="483626"/>
            <a:ext cx="5196511" cy="5860021"/>
            <a:chOff x="658546" y="12702"/>
            <a:chExt cx="5196511" cy="5860021"/>
          </a:xfrm>
        </p:grpSpPr>
        <p:sp>
          <p:nvSpPr>
            <p:cNvPr id="392" name="Google Shape;392;p19"/>
            <p:cNvSpPr/>
            <p:nvPr/>
          </p:nvSpPr>
          <p:spPr>
            <a:xfrm>
              <a:off x="1124440" y="12702"/>
              <a:ext cx="1457412" cy="1457412"/>
            </a:xfrm>
            <a:prstGeom prst="round2DiagRect">
              <a:avLst>
                <a:gd name="adj1" fmla="val 29727"/>
                <a:gd name="adj2" fmla="val 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19"/>
            <p:cNvSpPr/>
            <p:nvPr/>
          </p:nvSpPr>
          <p:spPr>
            <a:xfrm>
              <a:off x="1435036" y="323298"/>
              <a:ext cx="836220" cy="83622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19"/>
            <p:cNvSpPr/>
            <p:nvPr/>
          </p:nvSpPr>
          <p:spPr>
            <a:xfrm>
              <a:off x="658546" y="1924062"/>
              <a:ext cx="23892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19"/>
            <p:cNvSpPr txBox="1"/>
            <p:nvPr/>
          </p:nvSpPr>
          <p:spPr>
            <a:xfrm>
              <a:off x="658546" y="1924062"/>
              <a:ext cx="23892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2300"/>
                <a:buFont typeface="Calibri"/>
                <a:buNone/>
              </a:pPr>
              <a:r>
                <a:rPr lang="en-US" sz="2300" b="0" i="0" u="none" strike="noStrike" cap="none">
                  <a:solidFill>
                    <a:schemeClr val="dk1"/>
                  </a:solidFill>
                  <a:latin typeface="Calibri"/>
                  <a:ea typeface="Calibri"/>
                  <a:cs typeface="Calibri"/>
                  <a:sym typeface="Calibri"/>
                </a:rPr>
                <a:t>KEY FOR PEOPLE RELATIONS</a:t>
              </a:r>
              <a:endParaRPr sz="1400" b="0" i="0" u="none" strike="noStrike" cap="none">
                <a:solidFill>
                  <a:srgbClr val="000000"/>
                </a:solidFill>
                <a:latin typeface="Arial"/>
                <a:ea typeface="Arial"/>
                <a:cs typeface="Arial"/>
                <a:sym typeface="Arial"/>
              </a:endParaRPr>
            </a:p>
          </p:txBody>
        </p:sp>
        <p:sp>
          <p:nvSpPr>
            <p:cNvPr id="396" name="Google Shape;396;p19"/>
            <p:cNvSpPr/>
            <p:nvPr/>
          </p:nvSpPr>
          <p:spPr>
            <a:xfrm>
              <a:off x="3931751" y="12702"/>
              <a:ext cx="1457412" cy="1457412"/>
            </a:xfrm>
            <a:prstGeom prst="round2DiagRect">
              <a:avLst>
                <a:gd name="adj1" fmla="val 29727"/>
                <a:gd name="adj2" fmla="val 0"/>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19"/>
            <p:cNvSpPr/>
            <p:nvPr/>
          </p:nvSpPr>
          <p:spPr>
            <a:xfrm>
              <a:off x="4242347" y="323298"/>
              <a:ext cx="836220" cy="83622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19"/>
            <p:cNvSpPr/>
            <p:nvPr/>
          </p:nvSpPr>
          <p:spPr>
            <a:xfrm>
              <a:off x="3465857" y="1924062"/>
              <a:ext cx="23892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19"/>
            <p:cNvSpPr txBox="1"/>
            <p:nvPr/>
          </p:nvSpPr>
          <p:spPr>
            <a:xfrm>
              <a:off x="3465857" y="1924062"/>
              <a:ext cx="23892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2300"/>
                <a:buFont typeface="Calibri"/>
                <a:buNone/>
              </a:pPr>
              <a:r>
                <a:rPr lang="en-US" sz="2300" b="0" i="0" u="none" strike="noStrike" cap="none">
                  <a:solidFill>
                    <a:schemeClr val="dk1"/>
                  </a:solidFill>
                  <a:latin typeface="Calibri"/>
                  <a:ea typeface="Calibri"/>
                  <a:cs typeface="Calibri"/>
                  <a:sym typeface="Calibri"/>
                </a:rPr>
                <a:t>KEY FOR WORK RELATIONS</a:t>
              </a:r>
              <a:endParaRPr sz="1400" b="0" i="0" u="none" strike="noStrike" cap="none">
                <a:solidFill>
                  <a:srgbClr val="000000"/>
                </a:solidFill>
                <a:latin typeface="Arial"/>
                <a:ea typeface="Arial"/>
                <a:cs typeface="Arial"/>
                <a:sym typeface="Arial"/>
              </a:endParaRPr>
            </a:p>
          </p:txBody>
        </p:sp>
        <p:sp>
          <p:nvSpPr>
            <p:cNvPr id="400" name="Google Shape;400;p19"/>
            <p:cNvSpPr/>
            <p:nvPr/>
          </p:nvSpPr>
          <p:spPr>
            <a:xfrm>
              <a:off x="1124440" y="3241363"/>
              <a:ext cx="1457412" cy="1457412"/>
            </a:xfrm>
            <a:prstGeom prst="round2DiagRect">
              <a:avLst>
                <a:gd name="adj1" fmla="val 29727"/>
                <a:gd name="adj2" fmla="val 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19"/>
            <p:cNvSpPr/>
            <p:nvPr/>
          </p:nvSpPr>
          <p:spPr>
            <a:xfrm>
              <a:off x="1435036" y="3551959"/>
              <a:ext cx="836220" cy="83622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19"/>
            <p:cNvSpPr/>
            <p:nvPr/>
          </p:nvSpPr>
          <p:spPr>
            <a:xfrm>
              <a:off x="658546" y="5152723"/>
              <a:ext cx="23892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p19"/>
            <p:cNvSpPr txBox="1"/>
            <p:nvPr/>
          </p:nvSpPr>
          <p:spPr>
            <a:xfrm>
              <a:off x="658546" y="5152723"/>
              <a:ext cx="23892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2300"/>
                <a:buFont typeface="Calibri"/>
                <a:buNone/>
              </a:pPr>
              <a:r>
                <a:rPr lang="en-US" sz="2300" b="0" i="0" u="none" strike="noStrike" cap="none">
                  <a:solidFill>
                    <a:schemeClr val="dk1"/>
                  </a:solidFill>
                  <a:latin typeface="Calibri"/>
                  <a:ea typeface="Calibri"/>
                  <a:cs typeface="Calibri"/>
                  <a:sym typeface="Calibri"/>
                </a:rPr>
                <a:t>TRI-ONE BRAIN</a:t>
              </a:r>
              <a:endParaRPr sz="1400" b="0" i="0" u="none" strike="noStrike" cap="none">
                <a:solidFill>
                  <a:srgbClr val="000000"/>
                </a:solidFill>
                <a:latin typeface="Arial"/>
                <a:ea typeface="Arial"/>
                <a:cs typeface="Arial"/>
                <a:sym typeface="Arial"/>
              </a:endParaRPr>
            </a:p>
          </p:txBody>
        </p:sp>
        <p:sp>
          <p:nvSpPr>
            <p:cNvPr id="404" name="Google Shape;404;p19"/>
            <p:cNvSpPr/>
            <p:nvPr/>
          </p:nvSpPr>
          <p:spPr>
            <a:xfrm>
              <a:off x="3931751" y="3241363"/>
              <a:ext cx="1457412" cy="1457412"/>
            </a:xfrm>
            <a:prstGeom prst="round2DiagRect">
              <a:avLst>
                <a:gd name="adj1" fmla="val 29727"/>
                <a:gd name="adj2" fmla="val 0"/>
              </a:avLst>
            </a:prstGeom>
            <a:solidFill>
              <a:srgbClr val="599BD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19"/>
            <p:cNvSpPr/>
            <p:nvPr/>
          </p:nvSpPr>
          <p:spPr>
            <a:xfrm>
              <a:off x="4242347" y="3551959"/>
              <a:ext cx="836220" cy="836220"/>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19"/>
            <p:cNvSpPr/>
            <p:nvPr/>
          </p:nvSpPr>
          <p:spPr>
            <a:xfrm>
              <a:off x="3465857" y="5152723"/>
              <a:ext cx="23892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19"/>
            <p:cNvSpPr txBox="1"/>
            <p:nvPr/>
          </p:nvSpPr>
          <p:spPr>
            <a:xfrm>
              <a:off x="3465857" y="5152723"/>
              <a:ext cx="23892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2300"/>
                <a:buFont typeface="Calibri"/>
                <a:buNone/>
              </a:pPr>
              <a:r>
                <a:rPr lang="en-US" sz="2300" b="0" i="0" u="none" strike="noStrike" cap="none">
                  <a:solidFill>
                    <a:schemeClr val="dk1"/>
                  </a:solidFill>
                  <a:latin typeface="Calibri"/>
                  <a:ea typeface="Calibri"/>
                  <a:cs typeface="Calibri"/>
                  <a:sym typeface="Calibri"/>
                </a:rPr>
                <a:t>SYSTEM 1/2</a:t>
              </a:r>
              <a:endParaRPr sz="1400" b="0" i="0" u="none" strike="noStrike" cap="none">
                <a:solidFill>
                  <a:srgbClr val="000000"/>
                </a:solidFill>
                <a:latin typeface="Arial"/>
                <a:ea typeface="Arial"/>
                <a:cs typeface="Arial"/>
                <a:sym typeface="Arial"/>
              </a:endParaRPr>
            </a:p>
          </p:txBody>
        </p:sp>
      </p:grpSp>
      <p:sp>
        <p:nvSpPr>
          <p:cNvPr id="408" name="Google Shape;408;p19"/>
          <p:cNvSpPr txBox="1"/>
          <p:nvPr/>
        </p:nvSpPr>
        <p:spPr>
          <a:xfrm>
            <a:off x="996389" y="3914453"/>
            <a:ext cx="3020603" cy="369332"/>
          </a:xfrm>
          <a:prstGeom prst="rect">
            <a:avLst/>
          </a:prstGeom>
          <a:solidFill>
            <a:srgbClr val="00B050"/>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1" u="none" strike="noStrike" cap="none">
                <a:solidFill>
                  <a:schemeClr val="lt1"/>
                </a:solidFill>
                <a:latin typeface="Calibri"/>
                <a:ea typeface="Calibri"/>
                <a:cs typeface="Calibri"/>
                <a:sym typeface="Calibri"/>
              </a:rPr>
              <a:t>Conflict &lt;=&gt; Negotiation</a:t>
            </a:r>
            <a:endParaRPr sz="1400" b="0" i="0" u="none" strike="noStrike" cap="none">
              <a:solidFill>
                <a:srgbClr val="000000"/>
              </a:solidFill>
              <a:latin typeface="Arial"/>
              <a:ea typeface="Arial"/>
              <a:cs typeface="Arial"/>
              <a:sym typeface="Arial"/>
            </a:endParaRPr>
          </a:p>
        </p:txBody>
      </p:sp>
      <p:sp>
        <p:nvSpPr>
          <p:cNvPr id="409" name="Google Shape;409;p19"/>
          <p:cNvSpPr txBox="1"/>
          <p:nvPr/>
        </p:nvSpPr>
        <p:spPr>
          <a:xfrm>
            <a:off x="999708" y="4388211"/>
            <a:ext cx="3020603" cy="369332"/>
          </a:xfrm>
          <a:prstGeom prst="rect">
            <a:avLst/>
          </a:prstGeom>
          <a:solidFill>
            <a:srgbClr val="FF0000"/>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1" u="none" strike="noStrike" cap="none">
                <a:solidFill>
                  <a:schemeClr val="lt1"/>
                </a:solidFill>
                <a:latin typeface="Calibri"/>
                <a:ea typeface="Calibri"/>
                <a:cs typeface="Calibri"/>
                <a:sym typeface="Calibri"/>
              </a:rPr>
              <a:t>Tension &lt;=&gt; Nothing</a:t>
            </a:r>
            <a:endParaRPr sz="1400" b="0" i="0" u="none" strike="noStrike" cap="none">
              <a:solidFill>
                <a:srgbClr val="000000"/>
              </a:solidFill>
              <a:latin typeface="Arial"/>
              <a:ea typeface="Arial"/>
              <a:cs typeface="Arial"/>
              <a:sym typeface="Arial"/>
            </a:endParaRPr>
          </a:p>
        </p:txBody>
      </p:sp>
      <p:sp>
        <p:nvSpPr>
          <p:cNvPr id="410" name="Google Shape;410;p19"/>
          <p:cNvSpPr txBox="1"/>
          <p:nvPr/>
        </p:nvSpPr>
        <p:spPr>
          <a:xfrm>
            <a:off x="996388" y="4860932"/>
            <a:ext cx="3020603" cy="369332"/>
          </a:xfrm>
          <a:prstGeom prst="rect">
            <a:avLst/>
          </a:prstGeom>
          <a:solidFill>
            <a:srgbClr val="7030A0"/>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1" u="none" strike="noStrike" cap="none">
                <a:solidFill>
                  <a:schemeClr val="lt1"/>
                </a:solidFill>
                <a:latin typeface="Calibri"/>
                <a:ea typeface="Calibri"/>
                <a:cs typeface="Calibri"/>
                <a:sym typeface="Calibri"/>
              </a:rPr>
              <a:t>Conflict != Fight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5"/>
        <p:cNvGrpSpPr/>
        <p:nvPr/>
      </p:nvGrpSpPr>
      <p:grpSpPr>
        <a:xfrm>
          <a:off x="0" y="0"/>
          <a:ext cx="0" cy="0"/>
          <a:chOff x="0" y="0"/>
          <a:chExt cx="0" cy="0"/>
        </a:xfrm>
      </p:grpSpPr>
      <p:sp>
        <p:nvSpPr>
          <p:cNvPr id="416" name="Google Shape;416;p20"/>
          <p:cNvSpPr/>
          <p:nvPr/>
        </p:nvSpPr>
        <p:spPr>
          <a:xfrm>
            <a:off x="336884" y="311449"/>
            <a:ext cx="4332307" cy="6179552"/>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7" name="Google Shape;417;p20"/>
          <p:cNvSpPr txBox="1">
            <a:spLocks noGrp="1"/>
          </p:cNvSpPr>
          <p:nvPr>
            <p:ph type="title"/>
          </p:nvPr>
        </p:nvSpPr>
        <p:spPr>
          <a:xfrm>
            <a:off x="742950" y="742951"/>
            <a:ext cx="3476625" cy="496252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800"/>
              <a:buFont typeface="Calibri"/>
              <a:buNone/>
            </a:pPr>
            <a:r>
              <a:rPr lang="en-US" sz="4800">
                <a:solidFill>
                  <a:srgbClr val="FFFFFF"/>
                </a:solidFill>
                <a:latin typeface="Calibri"/>
                <a:ea typeface="Calibri"/>
                <a:cs typeface="Calibri"/>
                <a:sym typeface="Calibri"/>
              </a:rPr>
              <a:t>Triune Brain</a:t>
            </a:r>
            <a:br>
              <a:rPr lang="en-US" sz="4800">
                <a:solidFill>
                  <a:srgbClr val="FFFFFF"/>
                </a:solidFill>
                <a:latin typeface="Calibri"/>
                <a:ea typeface="Calibri"/>
                <a:cs typeface="Calibri"/>
                <a:sym typeface="Calibri"/>
              </a:rPr>
            </a:br>
            <a:r>
              <a:rPr lang="en-US" sz="2400">
                <a:solidFill>
                  <a:srgbClr val="FFFFFF"/>
                </a:solidFill>
                <a:latin typeface="Calibri"/>
                <a:ea typeface="Calibri"/>
                <a:cs typeface="Calibri"/>
                <a:sym typeface="Calibri"/>
              </a:rPr>
              <a:t>(Thinking/(Re-)Acting)</a:t>
            </a:r>
            <a:endParaRPr sz="4800">
              <a:solidFill>
                <a:srgbClr val="FFFFFF"/>
              </a:solidFill>
              <a:latin typeface="Calibri"/>
              <a:ea typeface="Calibri"/>
              <a:cs typeface="Calibri"/>
              <a:sym typeface="Calibri"/>
            </a:endParaRPr>
          </a:p>
        </p:txBody>
      </p:sp>
      <p:pic>
        <p:nvPicPr>
          <p:cNvPr id="418" name="Google Shape;418;p20" descr="Image result for triune brain"/>
          <p:cNvPicPr preferRelativeResize="0"/>
          <p:nvPr/>
        </p:nvPicPr>
        <p:blipFill rotWithShape="1">
          <a:blip r:embed="rId3">
            <a:alphaModFix/>
          </a:blip>
          <a:srcRect/>
          <a:stretch/>
        </p:blipFill>
        <p:spPr>
          <a:xfrm>
            <a:off x="4881787" y="311449"/>
            <a:ext cx="6984672" cy="4487651"/>
          </a:xfrm>
          <a:prstGeom prst="rect">
            <a:avLst/>
          </a:prstGeom>
          <a:noFill/>
          <a:ln>
            <a:noFill/>
          </a:ln>
        </p:spPr>
      </p:pic>
      <p:sp>
        <p:nvSpPr>
          <p:cNvPr id="419" name="Google Shape;419;p20"/>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0" name="Google Shape;420;p20"/>
          <p:cNvSpPr txBox="1"/>
          <p:nvPr/>
        </p:nvSpPr>
        <p:spPr>
          <a:xfrm>
            <a:off x="5230368" y="5013870"/>
            <a:ext cx="6218682" cy="1200329"/>
          </a:xfrm>
          <a:prstGeom prst="rect">
            <a:avLst/>
          </a:prstGeom>
          <a:solidFill>
            <a:schemeClr val="lt2"/>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400"/>
              <a:buFont typeface="Arial"/>
              <a:buNone/>
            </a:pPr>
            <a:r>
              <a:rPr lang="en-US" sz="2400" b="0" i="1" u="none" strike="noStrike" cap="none">
                <a:solidFill>
                  <a:schemeClr val="dk1"/>
                </a:solidFill>
                <a:latin typeface="Calibri"/>
                <a:ea typeface="Calibri"/>
                <a:cs typeface="Calibri"/>
                <a:sym typeface="Calibri"/>
              </a:rPr>
              <a:t>With time habits (good/bad) becomes reptilian bias, without noticing you loose reasoning skills and ability to change at all.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5"/>
        <p:cNvGrpSpPr/>
        <p:nvPr/>
      </p:nvGrpSpPr>
      <p:grpSpPr>
        <a:xfrm>
          <a:off x="0" y="0"/>
          <a:ext cx="0" cy="0"/>
          <a:chOff x="0" y="0"/>
          <a:chExt cx="0" cy="0"/>
        </a:xfrm>
      </p:grpSpPr>
      <p:sp>
        <p:nvSpPr>
          <p:cNvPr id="426" name="Google Shape;426;p21"/>
          <p:cNvSpPr/>
          <p:nvPr/>
        </p:nvSpPr>
        <p:spPr>
          <a:xfrm>
            <a:off x="336884" y="311449"/>
            <a:ext cx="4332307" cy="6179552"/>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7" name="Google Shape;427;p21"/>
          <p:cNvSpPr txBox="1">
            <a:spLocks noGrp="1"/>
          </p:cNvSpPr>
          <p:nvPr>
            <p:ph type="title"/>
          </p:nvPr>
        </p:nvSpPr>
        <p:spPr>
          <a:xfrm>
            <a:off x="742950" y="742951"/>
            <a:ext cx="3476625" cy="496252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Calibri"/>
              <a:buNone/>
            </a:pPr>
            <a:r>
              <a:rPr lang="en-US" sz="4000">
                <a:solidFill>
                  <a:srgbClr val="FFFFFF"/>
                </a:solidFill>
                <a:latin typeface="Calibri"/>
                <a:ea typeface="Calibri"/>
                <a:cs typeface="Calibri"/>
                <a:sym typeface="Calibri"/>
              </a:rPr>
              <a:t>System 1 and 2</a:t>
            </a:r>
            <a:br>
              <a:rPr lang="en-US" sz="4800">
                <a:solidFill>
                  <a:srgbClr val="FFFFFF"/>
                </a:solidFill>
                <a:latin typeface="Calibri"/>
                <a:ea typeface="Calibri"/>
                <a:cs typeface="Calibri"/>
                <a:sym typeface="Calibri"/>
              </a:rPr>
            </a:br>
            <a:r>
              <a:rPr lang="en-US" sz="2400">
                <a:solidFill>
                  <a:srgbClr val="FFFFFF"/>
                </a:solidFill>
              </a:rPr>
              <a:t>(Thinking/(Re-)Acting)</a:t>
            </a:r>
            <a:endParaRPr sz="4800">
              <a:solidFill>
                <a:srgbClr val="FFFFFF"/>
              </a:solidFill>
              <a:latin typeface="Calibri"/>
              <a:ea typeface="Calibri"/>
              <a:cs typeface="Calibri"/>
              <a:sym typeface="Calibri"/>
            </a:endParaRPr>
          </a:p>
        </p:txBody>
      </p:sp>
      <p:sp>
        <p:nvSpPr>
          <p:cNvPr id="428" name="Google Shape;428;p21"/>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429" name="Google Shape;429;p21" descr="Image result for system 1 and system 2 thinking"/>
          <p:cNvPicPr preferRelativeResize="0"/>
          <p:nvPr/>
        </p:nvPicPr>
        <p:blipFill rotWithShape="1">
          <a:blip r:embed="rId3">
            <a:alphaModFix/>
          </a:blip>
          <a:srcRect/>
          <a:stretch/>
        </p:blipFill>
        <p:spPr>
          <a:xfrm>
            <a:off x="5548046" y="131610"/>
            <a:ext cx="5195299" cy="5195299"/>
          </a:xfrm>
          <a:prstGeom prst="rect">
            <a:avLst/>
          </a:prstGeom>
          <a:noFill/>
          <a:ln>
            <a:noFill/>
          </a:ln>
        </p:spPr>
      </p:pic>
      <p:sp>
        <p:nvSpPr>
          <p:cNvPr id="430" name="Google Shape;430;p21"/>
          <p:cNvSpPr txBox="1"/>
          <p:nvPr/>
        </p:nvSpPr>
        <p:spPr>
          <a:xfrm>
            <a:off x="5548046" y="5182255"/>
            <a:ext cx="5113143"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7030A0"/>
                </a:solidFill>
                <a:latin typeface="Calibri"/>
                <a:ea typeface="Calibri"/>
                <a:cs typeface="Calibri"/>
                <a:sym typeface="Calibri"/>
              </a:rPr>
              <a:t>Stimulation</a:t>
            </a:r>
            <a:r>
              <a:rPr lang="en-US" sz="2800" b="1" i="0" u="none" strike="noStrike" cap="none">
                <a:solidFill>
                  <a:srgbClr val="C00000"/>
                </a:solidFill>
                <a:latin typeface="Calibri"/>
                <a:ea typeface="Calibri"/>
                <a:cs typeface="Calibri"/>
                <a:sym typeface="Calibri"/>
              </a:rPr>
              <a:t> </a:t>
            </a:r>
            <a:r>
              <a:rPr lang="en-US" sz="2800" b="1" i="0" u="none" strike="noStrike" cap="none">
                <a:solidFill>
                  <a:schemeClr val="dk1"/>
                </a:solidFill>
                <a:latin typeface="Calibri"/>
                <a:ea typeface="Calibri"/>
                <a:cs typeface="Calibri"/>
                <a:sym typeface="Calibri"/>
              </a:rPr>
              <a:t>-&gt;</a:t>
            </a:r>
            <a:r>
              <a:rPr lang="en-US" sz="2800" b="1" i="0" u="none" strike="noStrike" cap="none">
                <a:solidFill>
                  <a:srgbClr val="C00000"/>
                </a:solidFill>
                <a:latin typeface="Calibri"/>
                <a:ea typeface="Calibri"/>
                <a:cs typeface="Calibri"/>
                <a:sym typeface="Calibri"/>
              </a:rPr>
              <a:t> </a:t>
            </a:r>
            <a:r>
              <a:rPr lang="en-US" sz="2800" b="1" i="0" u="sng" strike="noStrike" cap="none">
                <a:solidFill>
                  <a:srgbClr val="C00000"/>
                </a:solidFill>
                <a:latin typeface="Calibri"/>
                <a:ea typeface="Calibri"/>
                <a:cs typeface="Calibri"/>
                <a:sym typeface="Calibri"/>
              </a:rPr>
              <a:t>Time</a:t>
            </a:r>
            <a:r>
              <a:rPr lang="en-US" sz="2800" b="1" i="0" u="none" strike="noStrike" cap="none">
                <a:solidFill>
                  <a:schemeClr val="dk1"/>
                </a:solidFill>
                <a:latin typeface="Calibri"/>
                <a:ea typeface="Calibri"/>
                <a:cs typeface="Calibri"/>
                <a:sym typeface="Calibri"/>
              </a:rPr>
              <a:t> -&gt; </a:t>
            </a:r>
            <a:r>
              <a:rPr lang="en-US" sz="2800" b="1" i="0" u="none" strike="noStrike" cap="none">
                <a:solidFill>
                  <a:srgbClr val="385623"/>
                </a:solidFill>
                <a:latin typeface="Calibri"/>
                <a:ea typeface="Calibri"/>
                <a:cs typeface="Calibri"/>
                <a:sym typeface="Calibri"/>
              </a:rPr>
              <a:t>Reaction</a:t>
            </a:r>
            <a:endParaRPr sz="1400" b="0" i="0" u="none" strike="noStrike" cap="none">
              <a:solidFill>
                <a:srgbClr val="000000"/>
              </a:solidFill>
              <a:latin typeface="Arial"/>
              <a:ea typeface="Arial"/>
              <a:cs typeface="Arial"/>
              <a:sym typeface="Arial"/>
            </a:endParaRPr>
          </a:p>
        </p:txBody>
      </p:sp>
      <p:sp>
        <p:nvSpPr>
          <p:cNvPr id="431" name="Google Shape;431;p21"/>
          <p:cNvSpPr txBox="1"/>
          <p:nvPr/>
        </p:nvSpPr>
        <p:spPr>
          <a:xfrm>
            <a:off x="6010410" y="5705475"/>
            <a:ext cx="4188413"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1" u="none" strike="noStrike" cap="none">
                <a:solidFill>
                  <a:schemeClr val="dk1"/>
                </a:solidFill>
                <a:latin typeface="Calibri"/>
                <a:ea typeface="Calibri"/>
                <a:cs typeface="Calibri"/>
                <a:sym typeface="Calibri"/>
              </a:rPr>
              <a:t>“People gather together with people </a:t>
            </a:r>
            <a:br>
              <a:rPr lang="en-US" sz="1600" b="0" i="1" u="none" strike="noStrike" cap="none">
                <a:solidFill>
                  <a:schemeClr val="dk1"/>
                </a:solidFill>
                <a:latin typeface="Calibri"/>
                <a:ea typeface="Calibri"/>
                <a:cs typeface="Calibri"/>
                <a:sym typeface="Calibri"/>
              </a:rPr>
            </a:br>
            <a:r>
              <a:rPr lang="en-US" sz="1600" b="0" i="1" u="none" strike="noStrike" cap="none">
                <a:solidFill>
                  <a:schemeClr val="dk1"/>
                </a:solidFill>
                <a:latin typeface="Calibri"/>
                <a:ea typeface="Calibri"/>
                <a:cs typeface="Calibri"/>
                <a:sym typeface="Calibri"/>
              </a:rPr>
              <a:t>that make the work easier”.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6"/>
        <p:cNvGrpSpPr/>
        <p:nvPr/>
      </p:nvGrpSpPr>
      <p:grpSpPr>
        <a:xfrm>
          <a:off x="0" y="0"/>
          <a:ext cx="0" cy="0"/>
          <a:chOff x="0" y="0"/>
          <a:chExt cx="0" cy="0"/>
        </a:xfrm>
      </p:grpSpPr>
      <p:sp>
        <p:nvSpPr>
          <p:cNvPr id="437" name="Google Shape;437;p22"/>
          <p:cNvSpPr/>
          <p:nvPr/>
        </p:nvSpPr>
        <p:spPr>
          <a:xfrm>
            <a:off x="336884" y="321177"/>
            <a:ext cx="4332307" cy="6179552"/>
          </a:xfrm>
          <a:prstGeom prst="rect">
            <a:avLst/>
          </a:prstGeom>
          <a:solidFill>
            <a:srgbClr val="404040">
              <a:alpha val="89411"/>
            </a:srgbClr>
          </a:solidFill>
          <a:ln w="127000" cap="sq" cmpd="thinThick">
            <a:solidFill>
              <a:srgbClr val="595959">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 name="Google Shape;438;p22"/>
          <p:cNvSpPr txBox="1">
            <a:spLocks noGrp="1"/>
          </p:cNvSpPr>
          <p:nvPr>
            <p:ph type="title"/>
          </p:nvPr>
        </p:nvSpPr>
        <p:spPr>
          <a:xfrm>
            <a:off x="674237" y="914400"/>
            <a:ext cx="3657600" cy="288757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4800"/>
              <a:buFont typeface="Calibri"/>
              <a:buNone/>
            </a:pPr>
            <a:r>
              <a:rPr lang="en-US" sz="4800">
                <a:solidFill>
                  <a:srgbClr val="FFFFFF"/>
                </a:solidFill>
                <a:latin typeface="Calibri"/>
                <a:ea typeface="Calibri"/>
                <a:cs typeface="Calibri"/>
                <a:sym typeface="Calibri"/>
              </a:rPr>
              <a:t>Empathy</a:t>
            </a:r>
            <a:endParaRPr/>
          </a:p>
        </p:txBody>
      </p:sp>
      <p:cxnSp>
        <p:nvCxnSpPr>
          <p:cNvPr id="439" name="Google Shape;439;p22"/>
          <p:cNvCxnSpPr/>
          <p:nvPr/>
        </p:nvCxnSpPr>
        <p:spPr>
          <a:xfrm>
            <a:off x="1191126" y="3910267"/>
            <a:ext cx="2586790" cy="0"/>
          </a:xfrm>
          <a:prstGeom prst="straightConnector1">
            <a:avLst/>
          </a:prstGeom>
          <a:noFill/>
          <a:ln w="22225" cap="flat" cmpd="sng">
            <a:solidFill>
              <a:srgbClr val="D9D9D9"/>
            </a:solidFill>
            <a:prstDash val="solid"/>
            <a:miter lim="800000"/>
            <a:headEnd type="none" w="sm" len="sm"/>
            <a:tailEnd type="none" w="sm" len="sm"/>
          </a:ln>
        </p:spPr>
      </p:cxnSp>
      <p:pic>
        <p:nvPicPr>
          <p:cNvPr id="440" name="Google Shape;440;p22" descr="Related image"/>
          <p:cNvPicPr preferRelativeResize="0"/>
          <p:nvPr/>
        </p:nvPicPr>
        <p:blipFill rotWithShape="1">
          <a:blip r:embed="rId3">
            <a:alphaModFix/>
          </a:blip>
          <a:srcRect/>
          <a:stretch/>
        </p:blipFill>
        <p:spPr>
          <a:xfrm>
            <a:off x="5542338" y="321177"/>
            <a:ext cx="5691471" cy="3204759"/>
          </a:xfrm>
          <a:prstGeom prst="rect">
            <a:avLst/>
          </a:prstGeom>
          <a:noFill/>
          <a:ln>
            <a:noFill/>
          </a:ln>
        </p:spPr>
      </p:pic>
      <p:pic>
        <p:nvPicPr>
          <p:cNvPr id="441" name="Google Shape;441;p22" descr="Image result for in my shoes"/>
          <p:cNvPicPr preferRelativeResize="0"/>
          <p:nvPr/>
        </p:nvPicPr>
        <p:blipFill rotWithShape="1">
          <a:blip r:embed="rId4">
            <a:alphaModFix/>
          </a:blip>
          <a:srcRect/>
          <a:stretch/>
        </p:blipFill>
        <p:spPr>
          <a:xfrm>
            <a:off x="5542338" y="3525936"/>
            <a:ext cx="5716856" cy="2858428"/>
          </a:xfrm>
          <a:prstGeom prst="rect">
            <a:avLst/>
          </a:prstGeom>
          <a:noFill/>
          <a:ln>
            <a:noFill/>
          </a:ln>
        </p:spPr>
      </p:pic>
      <p:sp>
        <p:nvSpPr>
          <p:cNvPr id="442" name="Google Shape;442;p22"/>
          <p:cNvSpPr txBox="1"/>
          <p:nvPr/>
        </p:nvSpPr>
        <p:spPr>
          <a:xfrm>
            <a:off x="655721" y="4018556"/>
            <a:ext cx="3657600" cy="944475"/>
          </a:xfrm>
          <a:prstGeom prst="rect">
            <a:avLst/>
          </a:prstGeom>
          <a:noFill/>
          <a:ln>
            <a:noFill/>
          </a:ln>
        </p:spPr>
        <p:txBody>
          <a:bodyPr spcFirstLastPara="1" wrap="square" lIns="91425" tIns="45700" rIns="91425" bIns="45700" anchor="b" anchorCtr="0">
            <a:normAutofit/>
          </a:bodyPr>
          <a:lstStyle/>
          <a:p>
            <a:pPr marL="0" marR="0" lvl="0" indent="0" algn="ctr" rtl="0">
              <a:lnSpc>
                <a:spcPct val="70000"/>
              </a:lnSpc>
              <a:spcBef>
                <a:spcPts val="0"/>
              </a:spcBef>
              <a:spcAft>
                <a:spcPts val="0"/>
              </a:spcAft>
              <a:buClr>
                <a:srgbClr val="FFFFFF"/>
              </a:buClr>
              <a:buSzPts val="1979"/>
              <a:buFont typeface="Calibri"/>
              <a:buNone/>
            </a:pPr>
            <a:r>
              <a:rPr lang="en-US" sz="1979" b="0" i="0" u="none" strike="noStrike" cap="none">
                <a:solidFill>
                  <a:srgbClr val="FFFFFF"/>
                </a:solidFill>
                <a:latin typeface="Calibri"/>
                <a:ea typeface="Calibri"/>
                <a:cs typeface="Calibri"/>
                <a:sym typeface="Calibri"/>
              </a:rPr>
              <a:t>“Put yourself in the other shoes”</a:t>
            </a:r>
            <a:endParaRPr sz="1400" b="0" i="0" u="none" strike="noStrike" cap="none">
              <a:solidFill>
                <a:srgbClr val="000000"/>
              </a:solidFill>
              <a:latin typeface="Arial"/>
              <a:ea typeface="Arial"/>
              <a:cs typeface="Arial"/>
              <a:sym typeface="Arial"/>
            </a:endParaRPr>
          </a:p>
          <a:p>
            <a:pPr marL="0" marR="0" lvl="0" indent="0" algn="ctr" rtl="0">
              <a:lnSpc>
                <a:spcPct val="70000"/>
              </a:lnSpc>
              <a:spcBef>
                <a:spcPts val="0"/>
              </a:spcBef>
              <a:spcAft>
                <a:spcPts val="0"/>
              </a:spcAft>
              <a:buClr>
                <a:schemeClr val="dk1"/>
              </a:buClr>
              <a:buSzPts val="1980"/>
              <a:buFont typeface="Calibri"/>
              <a:buNone/>
            </a:pPr>
            <a:endParaRPr sz="1979" b="0" i="0" u="none" strike="noStrike" cap="none">
              <a:solidFill>
                <a:srgbClr val="FFFFFF"/>
              </a:solidFill>
              <a:latin typeface="Calibri"/>
              <a:ea typeface="Calibri"/>
              <a:cs typeface="Calibri"/>
              <a:sym typeface="Calibri"/>
            </a:endParaRPr>
          </a:p>
          <a:p>
            <a:pPr marL="0" marR="0" lvl="0" indent="0" algn="ctr" rtl="0">
              <a:lnSpc>
                <a:spcPct val="70000"/>
              </a:lnSpc>
              <a:spcBef>
                <a:spcPts val="0"/>
              </a:spcBef>
              <a:spcAft>
                <a:spcPts val="0"/>
              </a:spcAft>
              <a:buClr>
                <a:srgbClr val="FFFFFF"/>
              </a:buClr>
              <a:buSzPts val="1979"/>
              <a:buFont typeface="Calibri"/>
              <a:buNone/>
            </a:pPr>
            <a:r>
              <a:rPr lang="en-US" sz="1979" b="0" i="0" u="none" strike="noStrike" cap="none">
                <a:solidFill>
                  <a:srgbClr val="FFFFFF"/>
                </a:solidFill>
                <a:latin typeface="Calibri"/>
                <a:ea typeface="Calibri"/>
                <a:cs typeface="Calibri"/>
                <a:sym typeface="Calibri"/>
              </a:rPr>
              <a:t>“Ask for reciprocity about it”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7"/>
        <p:cNvGrpSpPr/>
        <p:nvPr/>
      </p:nvGrpSpPr>
      <p:grpSpPr>
        <a:xfrm>
          <a:off x="0" y="0"/>
          <a:ext cx="0" cy="0"/>
          <a:chOff x="0" y="0"/>
          <a:chExt cx="0" cy="0"/>
        </a:xfrm>
      </p:grpSpPr>
      <p:sp>
        <p:nvSpPr>
          <p:cNvPr id="448" name="Google Shape;448;p23"/>
          <p:cNvSpPr/>
          <p:nvPr/>
        </p:nvSpPr>
        <p:spPr>
          <a:xfrm>
            <a:off x="336884" y="321177"/>
            <a:ext cx="4332307" cy="6179552"/>
          </a:xfrm>
          <a:prstGeom prst="rect">
            <a:avLst/>
          </a:prstGeom>
          <a:solidFill>
            <a:srgbClr val="404040">
              <a:alpha val="89411"/>
            </a:srgbClr>
          </a:solidFill>
          <a:ln w="127000" cap="sq" cmpd="thinThick">
            <a:solidFill>
              <a:srgbClr val="595959">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9" name="Google Shape;449;p23"/>
          <p:cNvSpPr txBox="1">
            <a:spLocks noGrp="1"/>
          </p:cNvSpPr>
          <p:nvPr>
            <p:ph type="title"/>
          </p:nvPr>
        </p:nvSpPr>
        <p:spPr>
          <a:xfrm>
            <a:off x="674237" y="914400"/>
            <a:ext cx="3657600" cy="288757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4800"/>
              <a:buFont typeface="Calibri"/>
              <a:buNone/>
            </a:pPr>
            <a:r>
              <a:rPr lang="en-US" sz="4800">
                <a:solidFill>
                  <a:srgbClr val="FFFFFF"/>
                </a:solidFill>
                <a:latin typeface="Calibri"/>
                <a:ea typeface="Calibri"/>
                <a:cs typeface="Calibri"/>
                <a:sym typeface="Calibri"/>
              </a:rPr>
              <a:t>Resilience</a:t>
            </a:r>
            <a:endParaRPr/>
          </a:p>
        </p:txBody>
      </p:sp>
      <p:cxnSp>
        <p:nvCxnSpPr>
          <p:cNvPr id="450" name="Google Shape;450;p23"/>
          <p:cNvCxnSpPr/>
          <p:nvPr/>
        </p:nvCxnSpPr>
        <p:spPr>
          <a:xfrm>
            <a:off x="1191126" y="3910267"/>
            <a:ext cx="2586790" cy="0"/>
          </a:xfrm>
          <a:prstGeom prst="straightConnector1">
            <a:avLst/>
          </a:prstGeom>
          <a:noFill/>
          <a:ln w="22225" cap="flat" cmpd="sng">
            <a:solidFill>
              <a:srgbClr val="D9D9D9"/>
            </a:solidFill>
            <a:prstDash val="solid"/>
            <a:miter lim="800000"/>
            <a:headEnd type="none" w="sm" len="sm"/>
            <a:tailEnd type="none" w="sm" len="sm"/>
          </a:ln>
        </p:spPr>
      </p:cxnSp>
      <p:pic>
        <p:nvPicPr>
          <p:cNvPr id="451" name="Google Shape;451;p23" descr="https://www.jcaglobal.com/mediatogotolive/wp-content/uploads/2018/04/Resilience-Model-768x550.png"/>
          <p:cNvPicPr preferRelativeResize="0"/>
          <p:nvPr/>
        </p:nvPicPr>
        <p:blipFill rotWithShape="1">
          <a:blip r:embed="rId3">
            <a:alphaModFix/>
          </a:blip>
          <a:srcRect/>
          <a:stretch/>
        </p:blipFill>
        <p:spPr>
          <a:xfrm>
            <a:off x="5186079" y="1068062"/>
            <a:ext cx="6553545" cy="4685782"/>
          </a:xfrm>
          <a:prstGeom prst="rect">
            <a:avLst/>
          </a:prstGeom>
          <a:noFill/>
          <a:ln>
            <a:noFill/>
          </a:ln>
        </p:spPr>
      </p:pic>
      <p:sp>
        <p:nvSpPr>
          <p:cNvPr id="452" name="Google Shape;452;p23"/>
          <p:cNvSpPr txBox="1"/>
          <p:nvPr/>
        </p:nvSpPr>
        <p:spPr>
          <a:xfrm>
            <a:off x="6563691" y="5906780"/>
            <a:ext cx="379873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Self – Esteem / Empathy / Positiveness</a:t>
            </a:r>
            <a:endParaRPr sz="1400" b="0" i="0" u="none" strike="noStrike" cap="none">
              <a:solidFill>
                <a:srgbClr val="000000"/>
              </a:solidFill>
              <a:latin typeface="Arial"/>
              <a:ea typeface="Arial"/>
              <a:cs typeface="Arial"/>
              <a:sym typeface="Arial"/>
            </a:endParaRPr>
          </a:p>
        </p:txBody>
      </p:sp>
      <p:sp>
        <p:nvSpPr>
          <p:cNvPr id="453" name="Google Shape;453;p23"/>
          <p:cNvSpPr txBox="1"/>
          <p:nvPr/>
        </p:nvSpPr>
        <p:spPr>
          <a:xfrm>
            <a:off x="6729203" y="558801"/>
            <a:ext cx="346729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Goals / Challenges / Opportunities </a:t>
            </a:r>
            <a:endParaRPr sz="1400" b="0" i="0" u="none" strike="noStrike" cap="none">
              <a:solidFill>
                <a:srgbClr val="000000"/>
              </a:solidFill>
              <a:latin typeface="Arial"/>
              <a:ea typeface="Arial"/>
              <a:cs typeface="Arial"/>
              <a:sym typeface="Arial"/>
            </a:endParaRPr>
          </a:p>
        </p:txBody>
      </p:sp>
      <p:sp>
        <p:nvSpPr>
          <p:cNvPr id="454" name="Google Shape;454;p23"/>
          <p:cNvSpPr txBox="1"/>
          <p:nvPr/>
        </p:nvSpPr>
        <p:spPr>
          <a:xfrm>
            <a:off x="655721" y="4018556"/>
            <a:ext cx="3657600" cy="944475"/>
          </a:xfrm>
          <a:prstGeom prst="rect">
            <a:avLst/>
          </a:prstGeom>
          <a:noFill/>
          <a:ln>
            <a:noFill/>
          </a:ln>
        </p:spPr>
        <p:txBody>
          <a:bodyPr spcFirstLastPara="1" wrap="square" lIns="91425" tIns="45700" rIns="91425" bIns="45700" anchor="b" anchorCtr="0">
            <a:normAutofit/>
          </a:bodyPr>
          <a:lstStyle/>
          <a:p>
            <a:pPr marL="0" marR="0" lvl="0" indent="0" algn="ctr" rtl="0">
              <a:lnSpc>
                <a:spcPct val="70000"/>
              </a:lnSpc>
              <a:spcBef>
                <a:spcPts val="0"/>
              </a:spcBef>
              <a:spcAft>
                <a:spcPts val="0"/>
              </a:spcAft>
              <a:buClr>
                <a:srgbClr val="FFFFFF"/>
              </a:buClr>
              <a:buSzPts val="2280"/>
              <a:buFont typeface="Calibri"/>
              <a:buNone/>
            </a:pPr>
            <a:r>
              <a:rPr lang="en-US" sz="2280" b="0" i="0" u="none" strike="noStrike" cap="none">
                <a:solidFill>
                  <a:srgbClr val="FFFFFF"/>
                </a:solidFill>
                <a:latin typeface="Calibri"/>
                <a:ea typeface="Calibri"/>
                <a:cs typeface="Calibri"/>
                <a:sym typeface="Calibri"/>
              </a:rPr>
              <a:t>Capacity to recover or thrive from any kind of difficulties in work and personal life</a:t>
            </a:r>
            <a:endParaRPr sz="1400" b="0" i="0" u="none" strike="noStrike" cap="none">
              <a:solidFill>
                <a:srgbClr val="000000"/>
              </a:solidFill>
              <a:latin typeface="Arial"/>
              <a:ea typeface="Arial"/>
              <a:cs typeface="Arial"/>
              <a:sym typeface="Arial"/>
            </a:endParaRPr>
          </a:p>
        </p:txBody>
      </p:sp>
      <p:sp>
        <p:nvSpPr>
          <p:cNvPr id="455" name="Google Shape;455;p23"/>
          <p:cNvSpPr txBox="1"/>
          <p:nvPr/>
        </p:nvSpPr>
        <p:spPr>
          <a:xfrm>
            <a:off x="7796665" y="3244334"/>
            <a:ext cx="117949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Difficulties</a:t>
            </a:r>
            <a:endParaRPr sz="1400" b="0" i="0" u="none" strike="noStrike" cap="none">
              <a:solidFill>
                <a:srgbClr val="000000"/>
              </a:solidFill>
              <a:latin typeface="Arial"/>
              <a:ea typeface="Arial"/>
              <a:cs typeface="Arial"/>
              <a:sym typeface="Arial"/>
            </a:endParaRPr>
          </a:p>
        </p:txBody>
      </p:sp>
      <p:sp>
        <p:nvSpPr>
          <p:cNvPr id="456" name="Google Shape;456;p23"/>
          <p:cNvSpPr/>
          <p:nvPr/>
        </p:nvSpPr>
        <p:spPr>
          <a:xfrm>
            <a:off x="8395965" y="2358189"/>
            <a:ext cx="414175" cy="369332"/>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457" name="Google Shape;457;p23"/>
          <p:cNvCxnSpPr>
            <a:stCxn id="456" idx="4"/>
            <a:endCxn id="455" idx="0"/>
          </p:cNvCxnSpPr>
          <p:nvPr/>
        </p:nvCxnSpPr>
        <p:spPr>
          <a:xfrm flipH="1">
            <a:off x="8386452" y="2727521"/>
            <a:ext cx="216600" cy="5169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1"/>
        <p:cNvGrpSpPr/>
        <p:nvPr/>
      </p:nvGrpSpPr>
      <p:grpSpPr>
        <a:xfrm>
          <a:off x="0" y="0"/>
          <a:ext cx="0" cy="0"/>
          <a:chOff x="0" y="0"/>
          <a:chExt cx="0" cy="0"/>
        </a:xfrm>
      </p:grpSpPr>
      <p:sp>
        <p:nvSpPr>
          <p:cNvPr id="462" name="Google Shape;462;p24"/>
          <p:cNvSpPr/>
          <p:nvPr/>
        </p:nvSpPr>
        <p:spPr>
          <a:xfrm>
            <a:off x="0" y="0"/>
            <a:ext cx="12192000" cy="6858000"/>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3" name="Google Shape;463;p24"/>
          <p:cNvSpPr txBox="1">
            <a:spLocks noGrp="1"/>
          </p:cNvSpPr>
          <p:nvPr>
            <p:ph type="title"/>
          </p:nvPr>
        </p:nvSpPr>
        <p:spPr>
          <a:xfrm>
            <a:off x="6746628" y="1783959"/>
            <a:ext cx="4645250" cy="2889114"/>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lt1"/>
              </a:buClr>
              <a:buSzPts val="5400"/>
              <a:buFont typeface="Calibri"/>
              <a:buNone/>
            </a:pPr>
            <a:r>
              <a:rPr lang="en-US" sz="5400">
                <a:solidFill>
                  <a:schemeClr val="lt1"/>
                </a:solidFill>
                <a:latin typeface="Calibri"/>
                <a:ea typeface="Calibri"/>
                <a:cs typeface="Calibri"/>
                <a:sym typeface="Calibri"/>
              </a:rPr>
              <a:t>Change</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Bi-Modality</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Awareness</a:t>
            </a:r>
            <a:endParaRPr/>
          </a:p>
        </p:txBody>
      </p:sp>
      <p:sp>
        <p:nvSpPr>
          <p:cNvPr id="464" name="Google Shape;464;p24"/>
          <p:cNvSpPr/>
          <p:nvPr/>
        </p:nvSpPr>
        <p:spPr>
          <a:xfrm flipH="1">
            <a:off x="0" y="0"/>
            <a:ext cx="6172782"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lt1">
              <a:alpha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65" name="Google Shape;465;p24"/>
          <p:cNvSpPr/>
          <p:nvPr/>
        </p:nvSpPr>
        <p:spPr>
          <a:xfrm>
            <a:off x="0" y="0"/>
            <a:ext cx="6024154" cy="6858000"/>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466" name="Google Shape;466;p24" descr="Books"/>
          <p:cNvPicPr preferRelativeResize="0"/>
          <p:nvPr/>
        </p:nvPicPr>
        <p:blipFill rotWithShape="1">
          <a:blip r:embed="rId3">
            <a:alphaModFix/>
          </a:blip>
          <a:srcRect/>
          <a:stretch/>
        </p:blipFill>
        <p:spPr>
          <a:xfrm>
            <a:off x="419382" y="720993"/>
            <a:ext cx="4047843" cy="404784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0"/>
        <p:cNvGrpSpPr/>
        <p:nvPr/>
      </p:nvGrpSpPr>
      <p:grpSpPr>
        <a:xfrm>
          <a:off x="0" y="0"/>
          <a:ext cx="0" cy="0"/>
          <a:chOff x="0" y="0"/>
          <a:chExt cx="0" cy="0"/>
        </a:xfrm>
      </p:grpSpPr>
      <p:sp>
        <p:nvSpPr>
          <p:cNvPr id="471" name="Google Shape;471;p25"/>
          <p:cNvSpPr/>
          <p:nvPr/>
        </p:nvSpPr>
        <p:spPr>
          <a:xfrm>
            <a:off x="0" y="0"/>
            <a:ext cx="12192000" cy="6858000"/>
          </a:xfrm>
          <a:prstGeom prst="rect">
            <a:avLst/>
          </a:prstGeom>
          <a:solidFill>
            <a:srgbClr val="65564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2" name="Google Shape;472;p25"/>
          <p:cNvSpPr/>
          <p:nvPr/>
        </p:nvSpPr>
        <p:spPr>
          <a:xfrm>
            <a:off x="477012" y="480060"/>
            <a:ext cx="11237976" cy="589788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73" name="Google Shape;473;p25" descr="Image result for bimodal it"/>
          <p:cNvPicPr preferRelativeResize="0"/>
          <p:nvPr/>
        </p:nvPicPr>
        <p:blipFill rotWithShape="1">
          <a:blip r:embed="rId3">
            <a:alphaModFix/>
          </a:blip>
          <a:srcRect/>
          <a:stretch/>
        </p:blipFill>
        <p:spPr>
          <a:xfrm>
            <a:off x="2387702" y="551806"/>
            <a:ext cx="7428088" cy="5571066"/>
          </a:xfrm>
          <a:prstGeom prst="rect">
            <a:avLst/>
          </a:prstGeom>
          <a:noFill/>
          <a:ln>
            <a:noFill/>
          </a:ln>
        </p:spPr>
      </p:pic>
      <p:sp>
        <p:nvSpPr>
          <p:cNvPr id="474" name="Google Shape;474;p25"/>
          <p:cNvSpPr txBox="1"/>
          <p:nvPr/>
        </p:nvSpPr>
        <p:spPr>
          <a:xfrm>
            <a:off x="9751508" y="3179214"/>
            <a:ext cx="1947553" cy="400110"/>
          </a:xfrm>
          <a:prstGeom prst="rect">
            <a:avLst/>
          </a:prstGeom>
          <a:solidFill>
            <a:srgbClr val="00B050"/>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Calibri"/>
                <a:ea typeface="Calibri"/>
                <a:cs typeface="Calibri"/>
                <a:sym typeface="Calibri"/>
              </a:rPr>
              <a:t>Code</a:t>
            </a:r>
            <a:endParaRPr sz="1400" b="0" i="0" u="none" strike="noStrike" cap="none">
              <a:solidFill>
                <a:srgbClr val="000000"/>
              </a:solidFill>
              <a:latin typeface="Arial"/>
              <a:ea typeface="Arial"/>
              <a:cs typeface="Arial"/>
              <a:sym typeface="Arial"/>
            </a:endParaRPr>
          </a:p>
        </p:txBody>
      </p:sp>
      <p:sp>
        <p:nvSpPr>
          <p:cNvPr id="475" name="Google Shape;475;p25"/>
          <p:cNvSpPr txBox="1"/>
          <p:nvPr/>
        </p:nvSpPr>
        <p:spPr>
          <a:xfrm>
            <a:off x="477012" y="3139239"/>
            <a:ext cx="1947553" cy="461665"/>
          </a:xfrm>
          <a:prstGeom prst="rect">
            <a:avLst/>
          </a:prstGeom>
          <a:solidFill>
            <a:srgbClr val="262626"/>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Infrastructure</a:t>
            </a:r>
            <a:endParaRPr sz="1400" b="0" i="0" u="none" strike="noStrike" cap="none">
              <a:solidFill>
                <a:srgbClr val="000000"/>
              </a:solidFill>
              <a:latin typeface="Arial"/>
              <a:ea typeface="Arial"/>
              <a:cs typeface="Arial"/>
              <a:sym typeface="Arial"/>
            </a:endParaRPr>
          </a:p>
        </p:txBody>
      </p:sp>
      <p:sp>
        <p:nvSpPr>
          <p:cNvPr id="476" name="Google Shape;476;p25"/>
          <p:cNvSpPr txBox="1"/>
          <p:nvPr/>
        </p:nvSpPr>
        <p:spPr>
          <a:xfrm>
            <a:off x="477012" y="2440932"/>
            <a:ext cx="1947553" cy="646331"/>
          </a:xfrm>
          <a:prstGeom prst="rect">
            <a:avLst/>
          </a:prstGeom>
          <a:solidFill>
            <a:srgbClr val="0070C0"/>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Calibri"/>
                <a:ea typeface="Calibri"/>
                <a:cs typeface="Calibri"/>
                <a:sym typeface="Calibri"/>
              </a:rPr>
              <a:t>Sys/Ops</a:t>
            </a:r>
            <a:endParaRPr sz="1400" b="0" i="0" u="none" strike="noStrike" cap="none" dirty="0">
              <a:solidFill>
                <a:srgbClr val="000000"/>
              </a:solidFill>
              <a:latin typeface="Arial"/>
              <a:ea typeface="Arial"/>
              <a:cs typeface="Arial"/>
              <a:sym typeface="Arial"/>
            </a:endParaRPr>
          </a:p>
        </p:txBody>
      </p:sp>
      <p:sp>
        <p:nvSpPr>
          <p:cNvPr id="477" name="Google Shape;477;p25"/>
          <p:cNvSpPr txBox="1"/>
          <p:nvPr/>
        </p:nvSpPr>
        <p:spPr>
          <a:xfrm>
            <a:off x="9752473" y="2492908"/>
            <a:ext cx="1947553" cy="646331"/>
          </a:xfrm>
          <a:prstGeom prst="rect">
            <a:avLst/>
          </a:prstGeom>
          <a:solidFill>
            <a:srgbClr val="C55A1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Calibri"/>
                <a:ea typeface="Calibri"/>
                <a:cs typeface="Calibri"/>
                <a:sym typeface="Calibri"/>
              </a:rPr>
              <a:t>Dev</a:t>
            </a:r>
            <a:endParaRPr sz="1400" b="0" i="0" u="none" strike="noStrike" cap="none">
              <a:solidFill>
                <a:srgbClr val="000000"/>
              </a:solidFill>
              <a:latin typeface="Arial"/>
              <a:ea typeface="Arial"/>
              <a:cs typeface="Arial"/>
              <a:sym typeface="Arial"/>
            </a:endParaRPr>
          </a:p>
        </p:txBody>
      </p:sp>
      <p:sp>
        <p:nvSpPr>
          <p:cNvPr id="478" name="Google Shape;478;p25"/>
          <p:cNvSpPr txBox="1"/>
          <p:nvPr/>
        </p:nvSpPr>
        <p:spPr>
          <a:xfrm>
            <a:off x="9751961" y="1863059"/>
            <a:ext cx="1947553" cy="584775"/>
          </a:xfrm>
          <a:prstGeom prst="rect">
            <a:avLst/>
          </a:prstGeom>
          <a:solidFill>
            <a:srgbClr val="FF2F92"/>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Bussiness</a:t>
            </a:r>
            <a:endParaRPr sz="3200" b="1" i="0" u="none" strike="noStrike" cap="none">
              <a:solidFill>
                <a:schemeClr val="lt1"/>
              </a:solidFill>
              <a:latin typeface="Calibri"/>
              <a:ea typeface="Calibri"/>
              <a:cs typeface="Calibri"/>
              <a:sym typeface="Calibri"/>
            </a:endParaRPr>
          </a:p>
        </p:txBody>
      </p:sp>
      <p:sp>
        <p:nvSpPr>
          <p:cNvPr id="479" name="Google Shape;479;p25"/>
          <p:cNvSpPr txBox="1"/>
          <p:nvPr/>
        </p:nvSpPr>
        <p:spPr>
          <a:xfrm>
            <a:off x="455707" y="1787622"/>
            <a:ext cx="1947553" cy="584775"/>
          </a:xfrm>
          <a:prstGeom prst="rect">
            <a:avLst/>
          </a:prstGeom>
          <a:solidFill>
            <a:srgbClr val="7030A0"/>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IT</a:t>
            </a:r>
            <a:endParaRPr sz="1400" b="0" i="0" u="none" strike="noStrike" cap="none">
              <a:solidFill>
                <a:srgbClr val="000000"/>
              </a:solidFill>
              <a:latin typeface="Arial"/>
              <a:ea typeface="Arial"/>
              <a:cs typeface="Arial"/>
              <a:sym typeface="Arial"/>
            </a:endParaRPr>
          </a:p>
        </p:txBody>
      </p:sp>
      <p:sp>
        <p:nvSpPr>
          <p:cNvPr id="480" name="Google Shape;480;p25"/>
          <p:cNvSpPr txBox="1"/>
          <p:nvPr/>
        </p:nvSpPr>
        <p:spPr>
          <a:xfrm>
            <a:off x="445408" y="4524938"/>
            <a:ext cx="1988164"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Maintenance, Support</a:t>
            </a:r>
            <a:endParaRPr sz="1400" b="0" i="0" u="none" strike="noStrike" cap="none">
              <a:solidFill>
                <a:srgbClr val="000000"/>
              </a:solidFill>
              <a:latin typeface="Arial"/>
              <a:ea typeface="Arial"/>
              <a:cs typeface="Arial"/>
              <a:sym typeface="Arial"/>
            </a:endParaRPr>
          </a:p>
        </p:txBody>
      </p:sp>
      <p:sp>
        <p:nvSpPr>
          <p:cNvPr id="481" name="Google Shape;481;p25"/>
          <p:cNvSpPr txBox="1"/>
          <p:nvPr/>
        </p:nvSpPr>
        <p:spPr>
          <a:xfrm>
            <a:off x="4247042" y="5849687"/>
            <a:ext cx="3906260" cy="523220"/>
          </a:xfrm>
          <a:prstGeom prst="rect">
            <a:avLst/>
          </a:prstGeom>
          <a:solidFill>
            <a:srgbClr val="3F3F3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dirty="0" err="1">
                <a:solidFill>
                  <a:schemeClr val="lt1"/>
                </a:solidFill>
                <a:latin typeface="Calibri"/>
                <a:ea typeface="Calibri"/>
                <a:cs typeface="Calibri"/>
                <a:sym typeface="Calibri"/>
              </a:rPr>
              <a:t>IaaCode</a:t>
            </a:r>
            <a:r>
              <a:rPr lang="en-US" sz="2800" b="1" i="0" u="none" strike="noStrike" cap="none" dirty="0">
                <a:solidFill>
                  <a:schemeClr val="lt1"/>
                </a:solidFill>
                <a:latin typeface="Calibri"/>
                <a:ea typeface="Calibri"/>
                <a:cs typeface="Calibri"/>
                <a:sym typeface="Calibri"/>
              </a:rPr>
              <a:t>, Cloud, DevOps</a:t>
            </a:r>
            <a:endParaRPr sz="1400" b="0" i="0" u="none" strike="noStrike" cap="none" dirty="0">
              <a:solidFill>
                <a:srgbClr val="000000"/>
              </a:solidFill>
              <a:latin typeface="Arial"/>
              <a:ea typeface="Arial"/>
              <a:cs typeface="Arial"/>
              <a:sym typeface="Arial"/>
            </a:endParaRPr>
          </a:p>
        </p:txBody>
      </p:sp>
      <p:sp>
        <p:nvSpPr>
          <p:cNvPr id="482" name="Google Shape;482;p25"/>
          <p:cNvSpPr txBox="1"/>
          <p:nvPr/>
        </p:nvSpPr>
        <p:spPr>
          <a:xfrm>
            <a:off x="9737442" y="4674287"/>
            <a:ext cx="1988164"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Innovation</a:t>
            </a:r>
            <a:endParaRPr sz="1400" b="0" i="0" u="none" strike="noStrike" cap="none">
              <a:solidFill>
                <a:srgbClr val="000000"/>
              </a:solidFill>
              <a:latin typeface="Arial"/>
              <a:ea typeface="Arial"/>
              <a:cs typeface="Arial"/>
              <a:sym typeface="Arial"/>
            </a:endParaRPr>
          </a:p>
        </p:txBody>
      </p:sp>
      <p:pic>
        <p:nvPicPr>
          <p:cNvPr id="483" name="Google Shape;483;p25" descr="Branching diagram"/>
          <p:cNvPicPr preferRelativeResize="0"/>
          <p:nvPr/>
        </p:nvPicPr>
        <p:blipFill rotWithShape="1">
          <a:blip r:embed="rId4">
            <a:alphaModFix/>
          </a:blip>
          <a:srcRect/>
          <a:stretch/>
        </p:blipFill>
        <p:spPr>
          <a:xfrm>
            <a:off x="996290" y="3770738"/>
            <a:ext cx="914400" cy="914400"/>
          </a:xfrm>
          <a:prstGeom prst="rect">
            <a:avLst/>
          </a:prstGeom>
          <a:noFill/>
          <a:ln>
            <a:noFill/>
          </a:ln>
        </p:spPr>
      </p:pic>
      <p:pic>
        <p:nvPicPr>
          <p:cNvPr id="484" name="Google Shape;484;p25" descr="Branching diagram"/>
          <p:cNvPicPr preferRelativeResize="0"/>
          <p:nvPr/>
        </p:nvPicPr>
        <p:blipFill rotWithShape="1">
          <a:blip r:embed="rId4">
            <a:alphaModFix/>
          </a:blip>
          <a:srcRect/>
          <a:stretch/>
        </p:blipFill>
        <p:spPr>
          <a:xfrm rot="10800000">
            <a:off x="10281310" y="3802132"/>
            <a:ext cx="914400" cy="914400"/>
          </a:xfrm>
          <a:prstGeom prst="rect">
            <a:avLst/>
          </a:prstGeom>
          <a:noFill/>
          <a:ln>
            <a:noFill/>
          </a:ln>
        </p:spPr>
      </p:pic>
      <p:sp>
        <p:nvSpPr>
          <p:cNvPr id="485" name="Google Shape;485;p25"/>
          <p:cNvSpPr txBox="1"/>
          <p:nvPr/>
        </p:nvSpPr>
        <p:spPr>
          <a:xfrm>
            <a:off x="825392" y="5461057"/>
            <a:ext cx="1577868"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chemeClr val="dk1"/>
                </a:solidFill>
                <a:latin typeface="Calibri"/>
                <a:ea typeface="Calibri"/>
                <a:cs typeface="Calibri"/>
                <a:sym typeface="Calibri"/>
              </a:rPr>
              <a:t>Mr. No</a:t>
            </a:r>
            <a:endParaRPr sz="1400" b="0" i="0" u="none" strike="noStrike" cap="none" dirty="0">
              <a:solidFill>
                <a:srgbClr val="000000"/>
              </a:solidFill>
              <a:latin typeface="Arial"/>
              <a:ea typeface="Arial"/>
              <a:cs typeface="Arial"/>
              <a:sym typeface="Arial"/>
            </a:endParaRPr>
          </a:p>
        </p:txBody>
      </p:sp>
      <p:sp>
        <p:nvSpPr>
          <p:cNvPr id="486" name="Google Shape;486;p25"/>
          <p:cNvSpPr txBox="1"/>
          <p:nvPr/>
        </p:nvSpPr>
        <p:spPr>
          <a:xfrm>
            <a:off x="10062343" y="5461056"/>
            <a:ext cx="1636718"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chemeClr val="dk1"/>
                </a:solidFill>
                <a:latin typeface="Calibri"/>
                <a:ea typeface="Calibri"/>
                <a:cs typeface="Calibri"/>
                <a:sym typeface="Calibri"/>
              </a:rPr>
              <a:t>Mr. Yes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1"/>
        <p:cNvGrpSpPr/>
        <p:nvPr/>
      </p:nvGrpSpPr>
      <p:grpSpPr>
        <a:xfrm>
          <a:off x="0" y="0"/>
          <a:ext cx="0" cy="0"/>
          <a:chOff x="0" y="0"/>
          <a:chExt cx="0" cy="0"/>
        </a:xfrm>
      </p:grpSpPr>
      <p:sp>
        <p:nvSpPr>
          <p:cNvPr id="492" name="Google Shape;492;p26"/>
          <p:cNvSpPr/>
          <p:nvPr/>
        </p:nvSpPr>
        <p:spPr>
          <a:xfrm>
            <a:off x="378068" y="343486"/>
            <a:ext cx="11438793" cy="1844256"/>
          </a:xfrm>
          <a:prstGeom prst="rect">
            <a:avLst/>
          </a:prstGeom>
          <a:solidFill>
            <a:srgbClr val="404040"/>
          </a:solidFill>
          <a:ln w="127000" cap="sq" cmpd="thinThick">
            <a:solidFill>
              <a:srgbClr val="4040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93" name="Google Shape;493;p26"/>
          <p:cNvSpPr txBox="1">
            <a:spLocks noGrp="1"/>
          </p:cNvSpPr>
          <p:nvPr>
            <p:ph type="title"/>
          </p:nvPr>
        </p:nvSpPr>
        <p:spPr>
          <a:xfrm>
            <a:off x="526073" y="466578"/>
            <a:ext cx="11139854" cy="93044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400"/>
              <a:buFont typeface="Calibri"/>
              <a:buNone/>
            </a:pPr>
            <a:r>
              <a:rPr lang="en-US" sz="5400">
                <a:solidFill>
                  <a:srgbClr val="FFFFFF"/>
                </a:solidFill>
                <a:latin typeface="Calibri"/>
                <a:ea typeface="Calibri"/>
                <a:cs typeface="Calibri"/>
                <a:sym typeface="Calibri"/>
              </a:rPr>
              <a:t>Infrastructure vs. Code</a:t>
            </a:r>
            <a:endParaRPr/>
          </a:p>
        </p:txBody>
      </p:sp>
      <p:cxnSp>
        <p:nvCxnSpPr>
          <p:cNvPr id="494" name="Google Shape;494;p26"/>
          <p:cNvCxnSpPr/>
          <p:nvPr/>
        </p:nvCxnSpPr>
        <p:spPr>
          <a:xfrm>
            <a:off x="2209800" y="1448631"/>
            <a:ext cx="7772400" cy="0"/>
          </a:xfrm>
          <a:prstGeom prst="straightConnector1">
            <a:avLst/>
          </a:prstGeom>
          <a:noFill/>
          <a:ln w="22225" cap="flat" cmpd="sng">
            <a:solidFill>
              <a:srgbClr val="D9D9D9"/>
            </a:solidFill>
            <a:prstDash val="solid"/>
            <a:miter lim="800000"/>
            <a:headEnd type="none" w="sm" len="sm"/>
            <a:tailEnd type="none" w="sm" len="sm"/>
          </a:ln>
        </p:spPr>
      </p:cxnSp>
      <p:sp>
        <p:nvSpPr>
          <p:cNvPr id="495" name="Google Shape;495;p26"/>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aphicFrame>
        <p:nvGraphicFramePr>
          <p:cNvPr id="496" name="Google Shape;496;p26"/>
          <p:cNvGraphicFramePr/>
          <p:nvPr/>
        </p:nvGraphicFramePr>
        <p:xfrm>
          <a:off x="320040" y="2418051"/>
          <a:ext cx="11496825" cy="3380975"/>
        </p:xfrm>
        <a:graphic>
          <a:graphicData uri="http://schemas.openxmlformats.org/drawingml/2006/table">
            <a:tbl>
              <a:tblPr firstRow="1" bandRow="1">
                <a:noFill/>
                <a:tableStyleId>{D689F681-0F0E-44B9-8252-B848BFD299B1}</a:tableStyleId>
              </a:tblPr>
              <a:tblGrid>
                <a:gridCol w="5787175">
                  <a:extLst>
                    <a:ext uri="{9D8B030D-6E8A-4147-A177-3AD203B41FA5}">
                      <a16:colId xmlns:a16="http://schemas.microsoft.com/office/drawing/2014/main" val="20000"/>
                    </a:ext>
                  </a:extLst>
                </a:gridCol>
                <a:gridCol w="5709650">
                  <a:extLst>
                    <a:ext uri="{9D8B030D-6E8A-4147-A177-3AD203B41FA5}">
                      <a16:colId xmlns:a16="http://schemas.microsoft.com/office/drawing/2014/main" val="20001"/>
                    </a:ext>
                  </a:extLst>
                </a:gridCol>
              </a:tblGrid>
              <a:tr h="558025">
                <a:tc>
                  <a:txBody>
                    <a:bodyPr/>
                    <a:lstStyle/>
                    <a:p>
                      <a:pPr marL="0" marR="0" lvl="0" indent="0" algn="ctr" rtl="0">
                        <a:lnSpc>
                          <a:spcPct val="100000"/>
                        </a:lnSpc>
                        <a:spcBef>
                          <a:spcPts val="0"/>
                        </a:spcBef>
                        <a:spcAft>
                          <a:spcPts val="0"/>
                        </a:spcAft>
                        <a:buClr>
                          <a:srgbClr val="000000"/>
                        </a:buClr>
                        <a:buSzPts val="2500"/>
                        <a:buFont typeface="Arial"/>
                        <a:buNone/>
                      </a:pPr>
                      <a:r>
                        <a:rPr lang="en-US" sz="2500" u="none" strike="noStrike" cap="none"/>
                        <a:t>Infrastructure</a:t>
                      </a:r>
                      <a:endParaRPr sz="1400" u="none" strike="noStrike" cap="none"/>
                    </a:p>
                  </a:txBody>
                  <a:tcPr marL="126825" marR="126825" marT="63425" marB="63425"/>
                </a:tc>
                <a:tc>
                  <a:txBody>
                    <a:bodyPr/>
                    <a:lstStyle/>
                    <a:p>
                      <a:pPr marL="0" marR="0" lvl="0" indent="0" algn="ctr" rtl="0">
                        <a:lnSpc>
                          <a:spcPct val="100000"/>
                        </a:lnSpc>
                        <a:spcBef>
                          <a:spcPts val="0"/>
                        </a:spcBef>
                        <a:spcAft>
                          <a:spcPts val="0"/>
                        </a:spcAft>
                        <a:buClr>
                          <a:srgbClr val="000000"/>
                        </a:buClr>
                        <a:buSzPts val="2500"/>
                        <a:buFont typeface="Arial"/>
                        <a:buNone/>
                      </a:pPr>
                      <a:r>
                        <a:rPr lang="en-US" sz="2500" u="none" strike="noStrike" cap="none"/>
                        <a:t>Code</a:t>
                      </a:r>
                      <a:endParaRPr sz="1400" u="none" strike="noStrike" cap="none"/>
                    </a:p>
                  </a:txBody>
                  <a:tcPr marL="126825" marR="126825" marT="63425" marB="63425"/>
                </a:tc>
                <a:extLst>
                  <a:ext uri="{0D108BD9-81ED-4DB2-BD59-A6C34878D82A}">
                    <a16:rowId xmlns:a16="http://schemas.microsoft.com/office/drawing/2014/main" val="10000"/>
                  </a:ext>
                </a:extLst>
              </a:tr>
              <a:tr h="558025">
                <a:tc>
                  <a:txBody>
                    <a:bodyPr/>
                    <a:lstStyle/>
                    <a:p>
                      <a:pPr marL="0" marR="0" lvl="0" indent="0" algn="ctr" rtl="0">
                        <a:lnSpc>
                          <a:spcPct val="100000"/>
                        </a:lnSpc>
                        <a:spcBef>
                          <a:spcPts val="0"/>
                        </a:spcBef>
                        <a:spcAft>
                          <a:spcPts val="0"/>
                        </a:spcAft>
                        <a:buClr>
                          <a:srgbClr val="000000"/>
                        </a:buClr>
                        <a:buSzPts val="2500"/>
                        <a:buFont typeface="Arial"/>
                        <a:buNone/>
                      </a:pPr>
                      <a:r>
                        <a:rPr lang="en-US" sz="2500" u="none" strike="noStrike" cap="none"/>
                        <a:t>Hardware / Software</a:t>
                      </a:r>
                      <a:endParaRPr sz="1400" u="none" strike="noStrike" cap="none"/>
                    </a:p>
                  </a:txBody>
                  <a:tcPr marL="126825" marR="126825" marT="63425" marB="63425"/>
                </a:tc>
                <a:tc>
                  <a:txBody>
                    <a:bodyPr/>
                    <a:lstStyle/>
                    <a:p>
                      <a:pPr marL="0" marR="0" lvl="0" indent="0" algn="ctr" rtl="0">
                        <a:lnSpc>
                          <a:spcPct val="100000"/>
                        </a:lnSpc>
                        <a:spcBef>
                          <a:spcPts val="0"/>
                        </a:spcBef>
                        <a:spcAft>
                          <a:spcPts val="0"/>
                        </a:spcAft>
                        <a:buClr>
                          <a:srgbClr val="000000"/>
                        </a:buClr>
                        <a:buSzPts val="2500"/>
                        <a:buFont typeface="Arial"/>
                        <a:buNone/>
                      </a:pPr>
                      <a:r>
                        <a:rPr lang="en-US" sz="2500" u="none" strike="noStrike" cap="none"/>
                        <a:t>Software</a:t>
                      </a:r>
                      <a:endParaRPr sz="1400" u="none" strike="noStrike" cap="none"/>
                    </a:p>
                  </a:txBody>
                  <a:tcPr marL="126825" marR="126825" marT="63425" marB="63425"/>
                </a:tc>
                <a:extLst>
                  <a:ext uri="{0D108BD9-81ED-4DB2-BD59-A6C34878D82A}">
                    <a16:rowId xmlns:a16="http://schemas.microsoft.com/office/drawing/2014/main" val="10001"/>
                  </a:ext>
                </a:extLst>
              </a:tr>
              <a:tr h="558025">
                <a:tc>
                  <a:txBody>
                    <a:bodyPr/>
                    <a:lstStyle/>
                    <a:p>
                      <a:pPr marL="0" marR="0" lvl="0" indent="0" algn="ctr" rtl="0">
                        <a:lnSpc>
                          <a:spcPct val="100000"/>
                        </a:lnSpc>
                        <a:spcBef>
                          <a:spcPts val="0"/>
                        </a:spcBef>
                        <a:spcAft>
                          <a:spcPts val="0"/>
                        </a:spcAft>
                        <a:buClr>
                          <a:srgbClr val="000000"/>
                        </a:buClr>
                        <a:buSzPts val="2500"/>
                        <a:buFont typeface="Arial"/>
                        <a:buNone/>
                      </a:pPr>
                      <a:r>
                        <a:rPr lang="en-US" sz="2500" u="none" strike="noStrike" cap="none"/>
                        <a:t>Static / Inmutable / Un-versioned</a:t>
                      </a:r>
                      <a:endParaRPr sz="1400" u="none" strike="noStrike" cap="none"/>
                    </a:p>
                  </a:txBody>
                  <a:tcPr marL="126825" marR="126825" marT="63425" marB="63425"/>
                </a:tc>
                <a:tc>
                  <a:txBody>
                    <a:bodyPr/>
                    <a:lstStyle/>
                    <a:p>
                      <a:pPr marL="0" marR="0" lvl="0" indent="0" algn="ctr" rtl="0">
                        <a:lnSpc>
                          <a:spcPct val="100000"/>
                        </a:lnSpc>
                        <a:spcBef>
                          <a:spcPts val="0"/>
                        </a:spcBef>
                        <a:spcAft>
                          <a:spcPts val="0"/>
                        </a:spcAft>
                        <a:buClr>
                          <a:srgbClr val="000000"/>
                        </a:buClr>
                        <a:buSzPts val="2500"/>
                        <a:buFont typeface="Arial"/>
                        <a:buNone/>
                      </a:pPr>
                      <a:r>
                        <a:rPr lang="en-US" sz="2500" u="none" strike="noStrike" cap="none"/>
                        <a:t>Dynamic / Mutable / Versioned</a:t>
                      </a:r>
                      <a:endParaRPr sz="1400" u="none" strike="noStrike" cap="none"/>
                    </a:p>
                  </a:txBody>
                  <a:tcPr marL="126825" marR="126825" marT="63425" marB="63425"/>
                </a:tc>
                <a:extLst>
                  <a:ext uri="{0D108BD9-81ED-4DB2-BD59-A6C34878D82A}">
                    <a16:rowId xmlns:a16="http://schemas.microsoft.com/office/drawing/2014/main" val="10002"/>
                  </a:ext>
                </a:extLst>
              </a:tr>
              <a:tr h="590850">
                <a:tc>
                  <a:txBody>
                    <a:bodyPr/>
                    <a:lstStyle/>
                    <a:p>
                      <a:pPr marL="0" marR="0" lvl="0" indent="0" algn="ctr" rtl="0">
                        <a:lnSpc>
                          <a:spcPct val="100000"/>
                        </a:lnSpc>
                        <a:spcBef>
                          <a:spcPts val="0"/>
                        </a:spcBef>
                        <a:spcAft>
                          <a:spcPts val="0"/>
                        </a:spcAft>
                        <a:buClr>
                          <a:srgbClr val="000000"/>
                        </a:buClr>
                        <a:buSzPts val="2500"/>
                        <a:buFont typeface="Arial"/>
                        <a:buNone/>
                      </a:pPr>
                      <a:r>
                        <a:rPr lang="en-US" sz="2500" u="none" strike="noStrike" cap="none"/>
                        <a:t>Moore’s Law (Faster)</a:t>
                      </a:r>
                      <a:endParaRPr sz="1400" u="none" strike="noStrike" cap="none"/>
                    </a:p>
                  </a:txBody>
                  <a:tcPr marL="126825" marR="126825" marT="63425" marB="63425"/>
                </a:tc>
                <a:tc>
                  <a:txBody>
                    <a:bodyPr/>
                    <a:lstStyle/>
                    <a:p>
                      <a:pPr marL="0" marR="0" lvl="0" indent="0" algn="ctr" rtl="0">
                        <a:lnSpc>
                          <a:spcPct val="100000"/>
                        </a:lnSpc>
                        <a:spcBef>
                          <a:spcPts val="0"/>
                        </a:spcBef>
                        <a:spcAft>
                          <a:spcPts val="0"/>
                        </a:spcAft>
                        <a:buClr>
                          <a:srgbClr val="000000"/>
                        </a:buClr>
                        <a:buSzPts val="2500"/>
                        <a:buFont typeface="Arial"/>
                        <a:buNone/>
                      </a:pPr>
                      <a:r>
                        <a:rPr lang="en-US" sz="2500" u="none" strike="noStrike" cap="none"/>
                        <a:t>Wirth’s Law (Slower)</a:t>
                      </a:r>
                      <a:endParaRPr sz="1400" u="none" strike="noStrike" cap="none"/>
                    </a:p>
                  </a:txBody>
                  <a:tcPr marL="126825" marR="126825" marT="63425" marB="63425"/>
                </a:tc>
                <a:extLst>
                  <a:ext uri="{0D108BD9-81ED-4DB2-BD59-A6C34878D82A}">
                    <a16:rowId xmlns:a16="http://schemas.microsoft.com/office/drawing/2014/main" val="10003"/>
                  </a:ext>
                </a:extLst>
              </a:tr>
              <a:tr h="558025">
                <a:tc>
                  <a:txBody>
                    <a:bodyPr/>
                    <a:lstStyle/>
                    <a:p>
                      <a:pPr marL="0" marR="0" lvl="0" indent="0" algn="ctr" rtl="0">
                        <a:lnSpc>
                          <a:spcPct val="100000"/>
                        </a:lnSpc>
                        <a:spcBef>
                          <a:spcPts val="0"/>
                        </a:spcBef>
                        <a:spcAft>
                          <a:spcPts val="0"/>
                        </a:spcAft>
                        <a:buClr>
                          <a:srgbClr val="000000"/>
                        </a:buClr>
                        <a:buSzPts val="2500"/>
                        <a:buFont typeface="Arial"/>
                        <a:buNone/>
                      </a:pPr>
                      <a:r>
                        <a:rPr lang="en-US" sz="2500" u="none" strike="noStrike" cap="none"/>
                        <a:t>Extrinsic Documentation</a:t>
                      </a:r>
                      <a:endParaRPr sz="1400" u="none" strike="noStrike" cap="none"/>
                    </a:p>
                  </a:txBody>
                  <a:tcPr marL="126825" marR="126825" marT="63425" marB="63425"/>
                </a:tc>
                <a:tc>
                  <a:txBody>
                    <a:bodyPr/>
                    <a:lstStyle/>
                    <a:p>
                      <a:pPr marL="0" marR="0" lvl="0" indent="0" algn="ctr" rtl="0">
                        <a:lnSpc>
                          <a:spcPct val="100000"/>
                        </a:lnSpc>
                        <a:spcBef>
                          <a:spcPts val="0"/>
                        </a:spcBef>
                        <a:spcAft>
                          <a:spcPts val="0"/>
                        </a:spcAft>
                        <a:buClr>
                          <a:srgbClr val="000000"/>
                        </a:buClr>
                        <a:buSzPts val="2500"/>
                        <a:buFont typeface="Arial"/>
                        <a:buNone/>
                      </a:pPr>
                      <a:r>
                        <a:rPr lang="en-US" sz="2500" u="none" strike="noStrike" cap="none"/>
                        <a:t>Intrinsic Documentation</a:t>
                      </a:r>
                      <a:endParaRPr sz="1400" u="none" strike="noStrike" cap="none"/>
                    </a:p>
                  </a:txBody>
                  <a:tcPr marL="126825" marR="126825" marT="63425" marB="63425"/>
                </a:tc>
                <a:extLst>
                  <a:ext uri="{0D108BD9-81ED-4DB2-BD59-A6C34878D82A}">
                    <a16:rowId xmlns:a16="http://schemas.microsoft.com/office/drawing/2014/main" val="10004"/>
                  </a:ext>
                </a:extLst>
              </a:tr>
              <a:tr h="558025">
                <a:tc>
                  <a:txBody>
                    <a:bodyPr/>
                    <a:lstStyle/>
                    <a:p>
                      <a:pPr marL="0" marR="0" lvl="0" indent="0" algn="ctr" rtl="0">
                        <a:lnSpc>
                          <a:spcPct val="100000"/>
                        </a:lnSpc>
                        <a:spcBef>
                          <a:spcPts val="0"/>
                        </a:spcBef>
                        <a:spcAft>
                          <a:spcPts val="0"/>
                        </a:spcAft>
                        <a:buClr>
                          <a:srgbClr val="000000"/>
                        </a:buClr>
                        <a:buSzPts val="2500"/>
                        <a:buFont typeface="Arial"/>
                        <a:buNone/>
                      </a:pPr>
                      <a:r>
                        <a:rPr lang="en-US" sz="2500" u="none" strike="noStrike" cap="none"/>
                        <a:t>Administrator Driven (Indirect)</a:t>
                      </a:r>
                      <a:endParaRPr sz="1400" u="none" strike="noStrike" cap="none"/>
                    </a:p>
                  </a:txBody>
                  <a:tcPr marL="126825" marR="126825" marT="63425" marB="63425"/>
                </a:tc>
                <a:tc>
                  <a:txBody>
                    <a:bodyPr/>
                    <a:lstStyle/>
                    <a:p>
                      <a:pPr marL="0" marR="0" lvl="0" indent="0" algn="ctr" rtl="0">
                        <a:lnSpc>
                          <a:spcPct val="100000"/>
                        </a:lnSpc>
                        <a:spcBef>
                          <a:spcPts val="0"/>
                        </a:spcBef>
                        <a:spcAft>
                          <a:spcPts val="0"/>
                        </a:spcAft>
                        <a:buClr>
                          <a:srgbClr val="000000"/>
                        </a:buClr>
                        <a:buSzPts val="2500"/>
                        <a:buFont typeface="Arial"/>
                        <a:buNone/>
                      </a:pPr>
                      <a:r>
                        <a:rPr lang="en-US" sz="2500" u="none" strike="noStrike" cap="none"/>
                        <a:t>User Driven (Direct)</a:t>
                      </a:r>
                      <a:endParaRPr sz="1400" u="none" strike="noStrike" cap="none"/>
                    </a:p>
                  </a:txBody>
                  <a:tcPr marL="126825" marR="126825" marT="63425" marB="63425"/>
                </a:tc>
                <a:extLst>
                  <a:ext uri="{0D108BD9-81ED-4DB2-BD59-A6C34878D82A}">
                    <a16:rowId xmlns:a16="http://schemas.microsoft.com/office/drawing/2014/main" val="10005"/>
                  </a:ext>
                </a:extLst>
              </a:tr>
            </a:tbl>
          </a:graphicData>
        </a:graphic>
      </p:graphicFrame>
      <p:sp>
        <p:nvSpPr>
          <p:cNvPr id="497" name="Google Shape;497;p26"/>
          <p:cNvSpPr/>
          <p:nvPr/>
        </p:nvSpPr>
        <p:spPr>
          <a:xfrm>
            <a:off x="2939849" y="5799073"/>
            <a:ext cx="2816352" cy="804672"/>
          </a:xfrm>
          <a:prstGeom prst="stripedRightArrow">
            <a:avLst>
              <a:gd name="adj1" fmla="val 50000"/>
              <a:gd name="adj2" fmla="val 50000"/>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lt1"/>
                </a:solidFill>
                <a:latin typeface="Calibri"/>
                <a:ea typeface="Calibri"/>
                <a:cs typeface="Calibri"/>
                <a:sym typeface="Calibri"/>
              </a:rPr>
              <a:t>Software Defined Anything</a:t>
            </a:r>
            <a:endParaRPr sz="1400" b="0" i="0" u="none" strike="noStrike" cap="none">
              <a:solidFill>
                <a:srgbClr val="000000"/>
              </a:solidFill>
              <a:latin typeface="Arial"/>
              <a:ea typeface="Arial"/>
              <a:cs typeface="Arial"/>
              <a:sym typeface="Arial"/>
            </a:endParaRPr>
          </a:p>
        </p:txBody>
      </p:sp>
      <p:sp>
        <p:nvSpPr>
          <p:cNvPr id="498" name="Google Shape;498;p26"/>
          <p:cNvSpPr/>
          <p:nvPr/>
        </p:nvSpPr>
        <p:spPr>
          <a:xfrm>
            <a:off x="722376" y="5799073"/>
            <a:ext cx="2217473" cy="804672"/>
          </a:xfrm>
          <a:prstGeom prst="stripedRightArrow">
            <a:avLst>
              <a:gd name="adj1" fmla="val 50000"/>
              <a:gd name="adj2" fmla="val 50000"/>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Virtualization</a:t>
            </a:r>
            <a:endParaRPr sz="1400" b="0" i="0" u="none" strike="noStrike" cap="none">
              <a:solidFill>
                <a:srgbClr val="000000"/>
              </a:solidFill>
              <a:latin typeface="Arial"/>
              <a:ea typeface="Arial"/>
              <a:cs typeface="Arial"/>
              <a:sym typeface="Arial"/>
            </a:endParaRPr>
          </a:p>
        </p:txBody>
      </p:sp>
      <p:sp>
        <p:nvSpPr>
          <p:cNvPr id="499" name="Google Shape;499;p26"/>
          <p:cNvSpPr/>
          <p:nvPr/>
        </p:nvSpPr>
        <p:spPr>
          <a:xfrm>
            <a:off x="5756201" y="5799073"/>
            <a:ext cx="2816352" cy="804672"/>
          </a:xfrm>
          <a:prstGeom prst="stripedRightArrow">
            <a:avLst>
              <a:gd name="adj1" fmla="val 50000"/>
              <a:gd name="adj2" fmla="val 50000"/>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Cloud Native Solutions</a:t>
            </a:r>
            <a:endParaRPr sz="1400" b="0" i="0" u="none" strike="noStrike" cap="none">
              <a:solidFill>
                <a:srgbClr val="000000"/>
              </a:solidFill>
              <a:latin typeface="Arial"/>
              <a:ea typeface="Arial"/>
              <a:cs typeface="Arial"/>
              <a:sym typeface="Arial"/>
            </a:endParaRPr>
          </a:p>
        </p:txBody>
      </p:sp>
      <p:sp>
        <p:nvSpPr>
          <p:cNvPr id="500" name="Google Shape;500;p26"/>
          <p:cNvSpPr/>
          <p:nvPr/>
        </p:nvSpPr>
        <p:spPr>
          <a:xfrm>
            <a:off x="8572553" y="5800382"/>
            <a:ext cx="2816352" cy="804672"/>
          </a:xfrm>
          <a:prstGeom prst="stripedRightArrow">
            <a:avLst>
              <a:gd name="adj1" fmla="val 50000"/>
              <a:gd name="adj2" fmla="val 50000"/>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Serverless</a:t>
            </a:r>
            <a:endParaRPr sz="1400" b="0" i="0" u="none" strike="noStrike" cap="none">
              <a:solidFill>
                <a:srgbClr val="000000"/>
              </a:solidFill>
              <a:latin typeface="Arial"/>
              <a:ea typeface="Arial"/>
              <a:cs typeface="Arial"/>
              <a:sym typeface="Arial"/>
            </a:endParaRPr>
          </a:p>
        </p:txBody>
      </p:sp>
      <p:sp>
        <p:nvSpPr>
          <p:cNvPr id="501" name="Google Shape;501;p26"/>
          <p:cNvSpPr txBox="1"/>
          <p:nvPr/>
        </p:nvSpPr>
        <p:spPr>
          <a:xfrm>
            <a:off x="4804366" y="1581914"/>
            <a:ext cx="32437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Still slow, really slow, transition…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5"/>
        <p:cNvGrpSpPr/>
        <p:nvPr/>
      </p:nvGrpSpPr>
      <p:grpSpPr>
        <a:xfrm>
          <a:off x="0" y="0"/>
          <a:ext cx="0" cy="0"/>
          <a:chOff x="0" y="0"/>
          <a:chExt cx="0" cy="0"/>
        </a:xfrm>
      </p:grpSpPr>
      <p:sp>
        <p:nvSpPr>
          <p:cNvPr id="506" name="Google Shape;506;p27"/>
          <p:cNvSpPr/>
          <p:nvPr/>
        </p:nvSpPr>
        <p:spPr>
          <a:xfrm>
            <a:off x="0" y="0"/>
            <a:ext cx="12192000" cy="6858000"/>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7" name="Google Shape;507;p27"/>
          <p:cNvSpPr txBox="1">
            <a:spLocks noGrp="1"/>
          </p:cNvSpPr>
          <p:nvPr>
            <p:ph type="title"/>
          </p:nvPr>
        </p:nvSpPr>
        <p:spPr>
          <a:xfrm>
            <a:off x="6746628" y="1783959"/>
            <a:ext cx="4645250" cy="288911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alibri"/>
              <a:buNone/>
            </a:pPr>
            <a:r>
              <a:rPr lang="en-US" sz="6000">
                <a:solidFill>
                  <a:schemeClr val="lt1"/>
                </a:solidFill>
                <a:latin typeface="Calibri"/>
                <a:ea typeface="Calibri"/>
                <a:cs typeface="Calibri"/>
                <a:sym typeface="Calibri"/>
              </a:rPr>
              <a:t>Changes</a:t>
            </a:r>
            <a:br>
              <a:rPr lang="en-US" sz="6000">
                <a:solidFill>
                  <a:schemeClr val="lt1"/>
                </a:solidFill>
                <a:latin typeface="Calibri"/>
                <a:ea typeface="Calibri"/>
                <a:cs typeface="Calibri"/>
                <a:sym typeface="Calibri"/>
              </a:rPr>
            </a:br>
            <a:r>
              <a:rPr lang="en-US" sz="6000">
                <a:solidFill>
                  <a:schemeClr val="lt1"/>
                </a:solidFill>
                <a:latin typeface="Calibri"/>
                <a:ea typeface="Calibri"/>
                <a:cs typeface="Calibri"/>
                <a:sym typeface="Calibri"/>
              </a:rPr>
              <a:t>|</a:t>
            </a:r>
            <a:br>
              <a:rPr lang="en-US" sz="6000">
                <a:solidFill>
                  <a:schemeClr val="lt1"/>
                </a:solidFill>
                <a:latin typeface="Calibri"/>
                <a:ea typeface="Calibri"/>
                <a:cs typeface="Calibri"/>
                <a:sym typeface="Calibri"/>
              </a:rPr>
            </a:br>
            <a:r>
              <a:rPr lang="en-US" sz="6000">
                <a:solidFill>
                  <a:schemeClr val="lt1"/>
                </a:solidFill>
                <a:latin typeface="Calibri"/>
                <a:ea typeface="Calibri"/>
                <a:cs typeface="Calibri"/>
                <a:sym typeface="Calibri"/>
              </a:rPr>
              <a:t>Way of Work</a:t>
            </a:r>
            <a:endParaRPr/>
          </a:p>
        </p:txBody>
      </p:sp>
      <p:sp>
        <p:nvSpPr>
          <p:cNvPr id="508" name="Google Shape;508;p27"/>
          <p:cNvSpPr/>
          <p:nvPr/>
        </p:nvSpPr>
        <p:spPr>
          <a:xfrm flipH="1">
            <a:off x="0" y="0"/>
            <a:ext cx="6172782"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lt1">
              <a:alpha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09" name="Google Shape;509;p27"/>
          <p:cNvSpPr/>
          <p:nvPr/>
        </p:nvSpPr>
        <p:spPr>
          <a:xfrm>
            <a:off x="0" y="0"/>
            <a:ext cx="6024154" cy="6858000"/>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510" name="Google Shape;510;p27" descr="Books"/>
          <p:cNvPicPr preferRelativeResize="0"/>
          <p:nvPr/>
        </p:nvPicPr>
        <p:blipFill rotWithShape="1">
          <a:blip r:embed="rId3">
            <a:alphaModFix/>
          </a:blip>
          <a:srcRect/>
          <a:stretch/>
        </p:blipFill>
        <p:spPr>
          <a:xfrm>
            <a:off x="419382" y="720993"/>
            <a:ext cx="4047843" cy="404784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4"/>
        <p:cNvGrpSpPr/>
        <p:nvPr/>
      </p:nvGrpSpPr>
      <p:grpSpPr>
        <a:xfrm>
          <a:off x="0" y="0"/>
          <a:ext cx="0" cy="0"/>
          <a:chOff x="0" y="0"/>
          <a:chExt cx="0" cy="0"/>
        </a:xfrm>
      </p:grpSpPr>
      <p:sp>
        <p:nvSpPr>
          <p:cNvPr id="515" name="Google Shape;515;p28"/>
          <p:cNvSpPr/>
          <p:nvPr/>
        </p:nvSpPr>
        <p:spPr>
          <a:xfrm>
            <a:off x="0" y="0"/>
            <a:ext cx="12192000" cy="6858000"/>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6" name="Google Shape;516;p28"/>
          <p:cNvSpPr txBox="1">
            <a:spLocks noGrp="1"/>
          </p:cNvSpPr>
          <p:nvPr>
            <p:ph type="title"/>
          </p:nvPr>
        </p:nvSpPr>
        <p:spPr>
          <a:xfrm>
            <a:off x="6746628" y="1520576"/>
            <a:ext cx="4645250" cy="3811712"/>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lt1"/>
              </a:buClr>
              <a:buSzPts val="5400"/>
              <a:buFont typeface="Calibri"/>
              <a:buNone/>
            </a:pP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Changes</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 |</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Way of Work</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 |</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Organization</a:t>
            </a:r>
            <a:endParaRPr/>
          </a:p>
        </p:txBody>
      </p:sp>
      <p:sp>
        <p:nvSpPr>
          <p:cNvPr id="517" name="Google Shape;517;p28"/>
          <p:cNvSpPr/>
          <p:nvPr/>
        </p:nvSpPr>
        <p:spPr>
          <a:xfrm flipH="1">
            <a:off x="0" y="0"/>
            <a:ext cx="6172782"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lt1">
              <a:alpha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18" name="Google Shape;518;p28"/>
          <p:cNvSpPr/>
          <p:nvPr/>
        </p:nvSpPr>
        <p:spPr>
          <a:xfrm>
            <a:off x="0" y="0"/>
            <a:ext cx="6024154" cy="6858000"/>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519" name="Google Shape;519;p28" descr="Books"/>
          <p:cNvPicPr preferRelativeResize="0"/>
          <p:nvPr/>
        </p:nvPicPr>
        <p:blipFill rotWithShape="1">
          <a:blip r:embed="rId3">
            <a:alphaModFix/>
          </a:blip>
          <a:srcRect/>
          <a:stretch/>
        </p:blipFill>
        <p:spPr>
          <a:xfrm>
            <a:off x="419382" y="720993"/>
            <a:ext cx="4047843" cy="404784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3"/>
        <p:cNvGrpSpPr/>
        <p:nvPr/>
      </p:nvGrpSpPr>
      <p:grpSpPr>
        <a:xfrm>
          <a:off x="0" y="0"/>
          <a:ext cx="0" cy="0"/>
          <a:chOff x="0" y="0"/>
          <a:chExt cx="0" cy="0"/>
        </a:xfrm>
      </p:grpSpPr>
      <p:sp>
        <p:nvSpPr>
          <p:cNvPr id="524" name="Google Shape;524;p29"/>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25" name="Google Shape;525;p29"/>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Technician vs. Engineer vs. Manager</a:t>
            </a:r>
            <a:endParaRPr/>
          </a:p>
        </p:txBody>
      </p:sp>
      <p:sp>
        <p:nvSpPr>
          <p:cNvPr id="526" name="Google Shape;526;p29"/>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527" name="Google Shape;527;p29"/>
          <p:cNvGrpSpPr/>
          <p:nvPr/>
        </p:nvGrpSpPr>
        <p:grpSpPr>
          <a:xfrm>
            <a:off x="5194300" y="473366"/>
            <a:ext cx="6513603" cy="5880540"/>
            <a:chOff x="0" y="2442"/>
            <a:chExt cx="6513603" cy="5880540"/>
          </a:xfrm>
        </p:grpSpPr>
        <p:sp>
          <p:nvSpPr>
            <p:cNvPr id="528" name="Google Shape;528;p29"/>
            <p:cNvSpPr/>
            <p:nvPr/>
          </p:nvSpPr>
          <p:spPr>
            <a:xfrm>
              <a:off x="0" y="2442"/>
              <a:ext cx="6513603" cy="1238008"/>
            </a:xfrm>
            <a:prstGeom prst="roundRect">
              <a:avLst>
                <a:gd name="adj" fmla="val 10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29"/>
            <p:cNvSpPr/>
            <p:nvPr/>
          </p:nvSpPr>
          <p:spPr>
            <a:xfrm>
              <a:off x="374497" y="280994"/>
              <a:ext cx="680904" cy="680904"/>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29"/>
            <p:cNvSpPr/>
            <p:nvPr/>
          </p:nvSpPr>
          <p:spPr>
            <a:xfrm>
              <a:off x="1429899" y="2442"/>
              <a:ext cx="5083704" cy="123800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29"/>
            <p:cNvSpPr txBox="1"/>
            <p:nvPr/>
          </p:nvSpPr>
          <p:spPr>
            <a:xfrm>
              <a:off x="1429899" y="2442"/>
              <a:ext cx="5083704" cy="1238008"/>
            </a:xfrm>
            <a:prstGeom prst="rect">
              <a:avLst/>
            </a:prstGeom>
            <a:noFill/>
            <a:ln>
              <a:noFill/>
            </a:ln>
          </p:spPr>
          <p:txBody>
            <a:bodyPr spcFirstLastPara="1" wrap="square" lIns="131000" tIns="131000" rIns="131000" bIns="131000" anchor="ctr" anchorCtr="0">
              <a:noAutofit/>
            </a:bodyPr>
            <a:lstStyle/>
            <a:p>
              <a:pPr marL="0" marR="0" lvl="0" indent="0" algn="l" rtl="0">
                <a:lnSpc>
                  <a:spcPct val="90000"/>
                </a:lnSpc>
                <a:spcBef>
                  <a:spcPts val="0"/>
                </a:spcBef>
                <a:spcAft>
                  <a:spcPts val="0"/>
                </a:spcAft>
                <a:buClr>
                  <a:schemeClr val="dk1"/>
                </a:buClr>
                <a:buSzPts val="2200"/>
                <a:buFont typeface="Calibri"/>
                <a:buNone/>
              </a:pPr>
              <a:r>
                <a:rPr lang="en-US" sz="2200" b="0" i="0" u="none" strike="noStrike" cap="none">
                  <a:solidFill>
                    <a:schemeClr val="dk1"/>
                  </a:solidFill>
                  <a:latin typeface="Calibri"/>
                  <a:ea typeface="Calibri"/>
                  <a:cs typeface="Calibri"/>
                  <a:sym typeface="Calibri"/>
                </a:rPr>
                <a:t>Solves different problems</a:t>
              </a:r>
              <a:endParaRPr sz="1400" b="0" i="0" u="none" strike="noStrike" cap="none">
                <a:solidFill>
                  <a:srgbClr val="000000"/>
                </a:solidFill>
                <a:latin typeface="Arial"/>
                <a:ea typeface="Arial"/>
                <a:cs typeface="Arial"/>
                <a:sym typeface="Arial"/>
              </a:endParaRPr>
            </a:p>
          </p:txBody>
        </p:sp>
        <p:sp>
          <p:nvSpPr>
            <p:cNvPr id="532" name="Google Shape;532;p29"/>
            <p:cNvSpPr/>
            <p:nvPr/>
          </p:nvSpPr>
          <p:spPr>
            <a:xfrm>
              <a:off x="0" y="1549953"/>
              <a:ext cx="6513603" cy="1238008"/>
            </a:xfrm>
            <a:prstGeom prst="roundRect">
              <a:avLst>
                <a:gd name="adj" fmla="val 10000"/>
              </a:avLst>
            </a:prstGeom>
            <a:solidFill>
              <a:srgbClr val="7030A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29"/>
            <p:cNvSpPr/>
            <p:nvPr/>
          </p:nvSpPr>
          <p:spPr>
            <a:xfrm>
              <a:off x="374497" y="1828505"/>
              <a:ext cx="680904" cy="680904"/>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29"/>
            <p:cNvSpPr/>
            <p:nvPr/>
          </p:nvSpPr>
          <p:spPr>
            <a:xfrm>
              <a:off x="1429899" y="1549953"/>
              <a:ext cx="5083704" cy="123800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5" name="Google Shape;535;p29"/>
            <p:cNvSpPr txBox="1"/>
            <p:nvPr/>
          </p:nvSpPr>
          <p:spPr>
            <a:xfrm>
              <a:off x="1429899" y="1549953"/>
              <a:ext cx="5083704" cy="1238008"/>
            </a:xfrm>
            <a:prstGeom prst="rect">
              <a:avLst/>
            </a:prstGeom>
            <a:noFill/>
            <a:ln>
              <a:noFill/>
            </a:ln>
          </p:spPr>
          <p:txBody>
            <a:bodyPr spcFirstLastPara="1" wrap="square" lIns="131000" tIns="131000" rIns="131000" bIns="131000" anchor="ctr" anchorCtr="0">
              <a:noAutofit/>
            </a:bodyPr>
            <a:lstStyle/>
            <a:p>
              <a:pPr marL="0" marR="0" lvl="0" indent="0" algn="l" rtl="0">
                <a:lnSpc>
                  <a:spcPct val="90000"/>
                </a:lnSpc>
                <a:spcBef>
                  <a:spcPts val="0"/>
                </a:spcBef>
                <a:spcAft>
                  <a:spcPts val="0"/>
                </a:spcAft>
                <a:buClr>
                  <a:schemeClr val="dk1"/>
                </a:buClr>
                <a:buSzPts val="2200"/>
                <a:buFont typeface="Calibri"/>
                <a:buNone/>
              </a:pPr>
              <a:r>
                <a:rPr lang="en-US" sz="2200" b="0" i="0" u="none" strike="noStrike" cap="none">
                  <a:solidFill>
                    <a:schemeClr val="dk1"/>
                  </a:solidFill>
                  <a:latin typeface="Calibri"/>
                  <a:ea typeface="Calibri"/>
                  <a:cs typeface="Calibri"/>
                  <a:sym typeface="Calibri"/>
                </a:rPr>
                <a:t>From technical to the business language</a:t>
              </a:r>
              <a:endParaRPr sz="1400" b="0" i="0" u="none" strike="noStrike" cap="none">
                <a:solidFill>
                  <a:srgbClr val="000000"/>
                </a:solidFill>
                <a:latin typeface="Arial"/>
                <a:ea typeface="Arial"/>
                <a:cs typeface="Arial"/>
                <a:sym typeface="Arial"/>
              </a:endParaRPr>
            </a:p>
          </p:txBody>
        </p:sp>
        <p:sp>
          <p:nvSpPr>
            <p:cNvPr id="536" name="Google Shape;536;p29"/>
            <p:cNvSpPr/>
            <p:nvPr/>
          </p:nvSpPr>
          <p:spPr>
            <a:xfrm>
              <a:off x="0" y="3097464"/>
              <a:ext cx="6513603" cy="1238008"/>
            </a:xfrm>
            <a:prstGeom prst="roundRect">
              <a:avLst>
                <a:gd name="adj" fmla="val 10000"/>
              </a:avLst>
            </a:prstGeom>
            <a:solidFill>
              <a:srgbClr val="54813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29"/>
            <p:cNvSpPr/>
            <p:nvPr/>
          </p:nvSpPr>
          <p:spPr>
            <a:xfrm>
              <a:off x="374497" y="3376015"/>
              <a:ext cx="680904" cy="680904"/>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29"/>
            <p:cNvSpPr/>
            <p:nvPr/>
          </p:nvSpPr>
          <p:spPr>
            <a:xfrm>
              <a:off x="1429899" y="3097464"/>
              <a:ext cx="5083704" cy="123800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29"/>
            <p:cNvSpPr txBox="1"/>
            <p:nvPr/>
          </p:nvSpPr>
          <p:spPr>
            <a:xfrm>
              <a:off x="1429899" y="3097464"/>
              <a:ext cx="5083704" cy="1238008"/>
            </a:xfrm>
            <a:prstGeom prst="rect">
              <a:avLst/>
            </a:prstGeom>
            <a:noFill/>
            <a:ln>
              <a:noFill/>
            </a:ln>
          </p:spPr>
          <p:txBody>
            <a:bodyPr spcFirstLastPara="1" wrap="square" lIns="131000" tIns="131000" rIns="131000" bIns="131000" anchor="ctr" anchorCtr="0">
              <a:noAutofit/>
            </a:bodyPr>
            <a:lstStyle/>
            <a:p>
              <a:pPr marL="0" marR="0" lvl="0" indent="0" algn="l" rtl="0">
                <a:lnSpc>
                  <a:spcPct val="90000"/>
                </a:lnSpc>
                <a:spcBef>
                  <a:spcPts val="0"/>
                </a:spcBef>
                <a:spcAft>
                  <a:spcPts val="0"/>
                </a:spcAft>
                <a:buClr>
                  <a:schemeClr val="dk1"/>
                </a:buClr>
                <a:buSzPts val="2200"/>
                <a:buFont typeface="Calibri"/>
                <a:buNone/>
              </a:pPr>
              <a:r>
                <a:rPr lang="en-US" sz="2200" b="0" i="0" u="none" strike="noStrike" cap="none">
                  <a:solidFill>
                    <a:schemeClr val="dk1"/>
                  </a:solidFill>
                  <a:latin typeface="Calibri"/>
                  <a:ea typeface="Calibri"/>
                  <a:cs typeface="Calibri"/>
                  <a:sym typeface="Calibri"/>
                </a:rPr>
                <a:t>Doing, thinking or organizing people</a:t>
              </a:r>
              <a:br>
                <a:rPr lang="en-US" sz="2200" b="0" i="0" u="none" strike="noStrike" cap="none">
                  <a:solidFill>
                    <a:schemeClr val="dk1"/>
                  </a:solidFill>
                  <a:latin typeface="Calibri"/>
                  <a:ea typeface="Calibri"/>
                  <a:cs typeface="Calibri"/>
                  <a:sym typeface="Calibri"/>
                </a:rPr>
              </a:br>
              <a:r>
                <a:rPr lang="en-US" sz="2000" b="0" i="1" u="none" strike="noStrike" cap="none">
                  <a:solidFill>
                    <a:schemeClr val="dk1"/>
                  </a:solidFill>
                  <a:latin typeface="Calibri"/>
                  <a:ea typeface="Calibri"/>
                  <a:cs typeface="Calibri"/>
                  <a:sym typeface="Calibri"/>
                </a:rPr>
                <a:t>(Hardly done in parallel by the same person)</a:t>
              </a:r>
              <a:endParaRPr sz="2200" b="0" i="1" u="none" strike="noStrike" cap="none">
                <a:solidFill>
                  <a:schemeClr val="dk1"/>
                </a:solidFill>
                <a:latin typeface="Calibri"/>
                <a:ea typeface="Calibri"/>
                <a:cs typeface="Calibri"/>
                <a:sym typeface="Calibri"/>
              </a:endParaRPr>
            </a:p>
          </p:txBody>
        </p:sp>
        <p:sp>
          <p:nvSpPr>
            <p:cNvPr id="540" name="Google Shape;540;p29"/>
            <p:cNvSpPr/>
            <p:nvPr/>
          </p:nvSpPr>
          <p:spPr>
            <a:xfrm>
              <a:off x="0" y="4644974"/>
              <a:ext cx="6513603" cy="1238008"/>
            </a:xfrm>
            <a:prstGeom prst="roundRect">
              <a:avLst>
                <a:gd name="adj" fmla="val 10000"/>
              </a:avLst>
            </a:prstGeom>
            <a:solidFill>
              <a:srgbClr val="0070C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29"/>
            <p:cNvSpPr/>
            <p:nvPr/>
          </p:nvSpPr>
          <p:spPr>
            <a:xfrm>
              <a:off x="374497" y="4923526"/>
              <a:ext cx="680904" cy="680904"/>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p29"/>
            <p:cNvSpPr/>
            <p:nvPr/>
          </p:nvSpPr>
          <p:spPr>
            <a:xfrm>
              <a:off x="1429899" y="4644974"/>
              <a:ext cx="5083704" cy="123800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3" name="Google Shape;543;p29"/>
            <p:cNvSpPr txBox="1"/>
            <p:nvPr/>
          </p:nvSpPr>
          <p:spPr>
            <a:xfrm>
              <a:off x="1429899" y="4644974"/>
              <a:ext cx="5083704" cy="1238008"/>
            </a:xfrm>
            <a:prstGeom prst="rect">
              <a:avLst/>
            </a:prstGeom>
            <a:noFill/>
            <a:ln>
              <a:noFill/>
            </a:ln>
          </p:spPr>
          <p:txBody>
            <a:bodyPr spcFirstLastPara="1" wrap="square" lIns="131000" tIns="131000" rIns="131000" bIns="131000" anchor="ctr" anchorCtr="0">
              <a:noAutofit/>
            </a:bodyPr>
            <a:lstStyle/>
            <a:p>
              <a:pPr marL="0" marR="0" lvl="0" indent="0" algn="l" rtl="0">
                <a:lnSpc>
                  <a:spcPct val="90000"/>
                </a:lnSpc>
                <a:spcBef>
                  <a:spcPts val="0"/>
                </a:spcBef>
                <a:spcAft>
                  <a:spcPts val="0"/>
                </a:spcAft>
                <a:buClr>
                  <a:schemeClr val="dk1"/>
                </a:buClr>
                <a:buSzPts val="2200"/>
                <a:buFont typeface="Calibri"/>
                <a:buNone/>
              </a:pPr>
              <a:r>
                <a:rPr lang="en-US" sz="2200" b="0" i="0" u="none" strike="noStrike" cap="none">
                  <a:solidFill>
                    <a:schemeClr val="dk1"/>
                  </a:solidFill>
                  <a:latin typeface="Calibri"/>
                  <a:ea typeface="Calibri"/>
                  <a:cs typeface="Calibri"/>
                  <a:sym typeface="Calibri"/>
                </a:rPr>
                <a:t>From nothing to a book of knowledge</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7"/>
        <p:cNvGrpSpPr/>
        <p:nvPr/>
      </p:nvGrpSpPr>
      <p:grpSpPr>
        <a:xfrm>
          <a:off x="0" y="0"/>
          <a:ext cx="0" cy="0"/>
          <a:chOff x="0" y="0"/>
          <a:chExt cx="0" cy="0"/>
        </a:xfrm>
      </p:grpSpPr>
      <p:sp>
        <p:nvSpPr>
          <p:cNvPr id="548" name="Google Shape;548;p30"/>
          <p:cNvSpPr/>
          <p:nvPr/>
        </p:nvSpPr>
        <p:spPr>
          <a:xfrm>
            <a:off x="0" y="0"/>
            <a:ext cx="4654293" cy="6858000"/>
          </a:xfrm>
          <a:prstGeom prst="rect">
            <a:avLst/>
          </a:pr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49" name="Google Shape;549;p30"/>
          <p:cNvSpPr txBox="1">
            <a:spLocks noGrp="1"/>
          </p:cNvSpPr>
          <p:nvPr>
            <p:ph type="title"/>
          </p:nvPr>
        </p:nvSpPr>
        <p:spPr>
          <a:xfrm>
            <a:off x="838200" y="811161"/>
            <a:ext cx="3335594" cy="54033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800"/>
              <a:buFont typeface="Calibri"/>
              <a:buNone/>
            </a:pPr>
            <a:r>
              <a:rPr lang="en-US" sz="4800">
                <a:solidFill>
                  <a:srgbClr val="FFFFFF"/>
                </a:solidFill>
              </a:rPr>
              <a:t>Managers</a:t>
            </a:r>
            <a:br>
              <a:rPr lang="en-US" sz="4800">
                <a:solidFill>
                  <a:srgbClr val="FFFFFF"/>
                </a:solidFill>
              </a:rPr>
            </a:br>
            <a:r>
              <a:rPr lang="en-US" sz="4000">
                <a:solidFill>
                  <a:srgbClr val="FFFFFF"/>
                </a:solidFill>
              </a:rPr>
              <a:t>(aka Coachs)</a:t>
            </a:r>
            <a:endParaRPr sz="4800">
              <a:solidFill>
                <a:srgbClr val="FFFFFF"/>
              </a:solidFill>
            </a:endParaRPr>
          </a:p>
        </p:txBody>
      </p:sp>
      <p:sp>
        <p:nvSpPr>
          <p:cNvPr id="550" name="Google Shape;550;p30"/>
          <p:cNvSpPr/>
          <p:nvPr/>
        </p:nvSpPr>
        <p:spPr>
          <a:xfrm>
            <a:off x="4654293" y="0"/>
            <a:ext cx="142074" cy="6858000"/>
          </a:xfrm>
          <a:prstGeom prst="rect">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51" name="Google Shape;551;p30"/>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552" name="Google Shape;552;p30"/>
          <p:cNvGrpSpPr/>
          <p:nvPr/>
        </p:nvGrpSpPr>
        <p:grpSpPr>
          <a:xfrm>
            <a:off x="5459413" y="643006"/>
            <a:ext cx="6089649" cy="5571988"/>
            <a:chOff x="0" y="68"/>
            <a:chExt cx="6089649" cy="5571988"/>
          </a:xfrm>
        </p:grpSpPr>
        <p:sp>
          <p:nvSpPr>
            <p:cNvPr id="553" name="Google Shape;553;p30"/>
            <p:cNvSpPr/>
            <p:nvPr/>
          </p:nvSpPr>
          <p:spPr>
            <a:xfrm rot="5400000">
              <a:off x="3053744" y="-589598"/>
              <a:ext cx="2174434" cy="3897376"/>
            </a:xfrm>
            <a:prstGeom prst="round2SameRect">
              <a:avLst>
                <a:gd name="adj1" fmla="val 16667"/>
                <a:gd name="adj2" fmla="val 0"/>
              </a:avLst>
            </a:prstGeom>
            <a:solidFill>
              <a:srgbClr val="CFDEEF">
                <a:alpha val="89411"/>
              </a:srgbClr>
            </a:solidFill>
            <a:ln w="12700" cap="flat" cmpd="sng">
              <a:solidFill>
                <a:srgbClr val="CFDEEF">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30"/>
            <p:cNvSpPr txBox="1"/>
            <p:nvPr/>
          </p:nvSpPr>
          <p:spPr>
            <a:xfrm>
              <a:off x="2192274" y="378019"/>
              <a:ext cx="3791229" cy="1962140"/>
            </a:xfrm>
            <a:prstGeom prst="rect">
              <a:avLst/>
            </a:prstGeom>
            <a:noFill/>
            <a:ln>
              <a:noFill/>
            </a:ln>
          </p:spPr>
          <p:txBody>
            <a:bodyPr spcFirstLastPara="1" wrap="square" lIns="80000" tIns="40000" rIns="80000" bIns="40000" anchor="ctr" anchorCtr="0">
              <a:noAutofit/>
            </a:bodyPr>
            <a:lstStyle/>
            <a:p>
              <a:pPr marL="228600" marR="0" lvl="1" indent="-228600" algn="l" rtl="0">
                <a:lnSpc>
                  <a:spcPct val="90000"/>
                </a:lnSpc>
                <a:spcBef>
                  <a:spcPts val="0"/>
                </a:spcBef>
                <a:spcAft>
                  <a:spcPts val="0"/>
                </a:spcAft>
                <a:buClr>
                  <a:schemeClr val="dk1"/>
                </a:buClr>
                <a:buSzPts val="2100"/>
                <a:buFont typeface="Calibri"/>
                <a:buChar char="•"/>
              </a:pPr>
              <a:r>
                <a:rPr lang="en-US" sz="2100" b="0" i="0" u="none" strike="noStrike" cap="none">
                  <a:solidFill>
                    <a:schemeClr val="dk1"/>
                  </a:solidFill>
                  <a:latin typeface="Calibri"/>
                  <a:ea typeface="Calibri"/>
                  <a:cs typeface="Calibri"/>
                  <a:sym typeface="Calibri"/>
                </a:rPr>
                <a:t>Helps team members</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15"/>
                </a:spcBef>
                <a:spcAft>
                  <a:spcPts val="0"/>
                </a:spcAft>
                <a:buClr>
                  <a:schemeClr val="dk1"/>
                </a:buClr>
                <a:buSzPts val="2100"/>
                <a:buFont typeface="Calibri"/>
                <a:buChar char="•"/>
              </a:pPr>
              <a:r>
                <a:rPr lang="en-US" sz="2100" b="0" i="0" u="none" strike="noStrike" cap="none">
                  <a:solidFill>
                    <a:schemeClr val="dk1"/>
                  </a:solidFill>
                  <a:latin typeface="Calibri"/>
                  <a:ea typeface="Calibri"/>
                  <a:cs typeface="Calibri"/>
                  <a:sym typeface="Calibri"/>
                </a:rPr>
                <a:t>Drive the team to improve</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15"/>
                </a:spcBef>
                <a:spcAft>
                  <a:spcPts val="0"/>
                </a:spcAft>
                <a:buClr>
                  <a:schemeClr val="dk1"/>
                </a:buClr>
                <a:buSzPts val="2100"/>
                <a:buFont typeface="Calibri"/>
                <a:buChar char="•"/>
              </a:pPr>
              <a:r>
                <a:rPr lang="en-US" sz="2100" b="0" i="0" u="none" strike="noStrike" cap="none">
                  <a:solidFill>
                    <a:schemeClr val="dk1"/>
                  </a:solidFill>
                  <a:latin typeface="Calibri"/>
                  <a:ea typeface="Calibri"/>
                  <a:cs typeface="Calibri"/>
                  <a:sym typeface="Calibri"/>
                </a:rPr>
                <a:t>Support team good/bad times</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15"/>
                </a:spcBef>
                <a:spcAft>
                  <a:spcPts val="0"/>
                </a:spcAft>
                <a:buClr>
                  <a:schemeClr val="dk1"/>
                </a:buClr>
                <a:buSzPts val="2100"/>
                <a:buFont typeface="Calibri"/>
                <a:buChar char="•"/>
              </a:pPr>
              <a:r>
                <a:rPr lang="en-US" sz="2100" b="0" i="0" u="none" strike="noStrike" cap="none">
                  <a:solidFill>
                    <a:schemeClr val="dk1"/>
                  </a:solidFill>
                  <a:latin typeface="Calibri"/>
                  <a:ea typeface="Calibri"/>
                  <a:cs typeface="Calibri"/>
                  <a:sym typeface="Calibri"/>
                </a:rPr>
                <a:t>Organization, planification and auditing of the work progress</a:t>
              </a:r>
              <a:endParaRPr sz="1400" b="0" i="0" u="none" strike="noStrike" cap="none">
                <a:solidFill>
                  <a:srgbClr val="000000"/>
                </a:solidFill>
                <a:latin typeface="Arial"/>
                <a:ea typeface="Arial"/>
                <a:cs typeface="Arial"/>
                <a:sym typeface="Arial"/>
              </a:endParaRPr>
            </a:p>
          </p:txBody>
        </p:sp>
        <p:sp>
          <p:nvSpPr>
            <p:cNvPr id="555" name="Google Shape;555;p30"/>
            <p:cNvSpPr/>
            <p:nvPr/>
          </p:nvSpPr>
          <p:spPr>
            <a:xfrm>
              <a:off x="0" y="68"/>
              <a:ext cx="2192274" cy="2718043"/>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30"/>
            <p:cNvSpPr txBox="1"/>
            <p:nvPr/>
          </p:nvSpPr>
          <p:spPr>
            <a:xfrm>
              <a:off x="107018" y="107086"/>
              <a:ext cx="1978238" cy="2504007"/>
            </a:xfrm>
            <a:prstGeom prst="rect">
              <a:avLst/>
            </a:prstGeom>
            <a:noFill/>
            <a:ln>
              <a:noFill/>
            </a:ln>
          </p:spPr>
          <p:txBody>
            <a:bodyPr spcFirstLastPara="1" wrap="square" lIns="148575" tIns="74275" rIns="148575" bIns="74275" anchor="ctr" anchorCtr="0">
              <a:noAutofit/>
            </a:bodyPr>
            <a:lstStyle/>
            <a:p>
              <a:pPr marL="0" marR="0" lvl="0" indent="0" algn="ctr" rtl="0">
                <a:lnSpc>
                  <a:spcPct val="90000"/>
                </a:lnSpc>
                <a:spcBef>
                  <a:spcPts val="0"/>
                </a:spcBef>
                <a:spcAft>
                  <a:spcPts val="0"/>
                </a:spcAft>
                <a:buClr>
                  <a:schemeClr val="lt1"/>
                </a:buClr>
                <a:buSzPts val="3900"/>
                <a:buFont typeface="Calibri"/>
                <a:buNone/>
              </a:pPr>
              <a:r>
                <a:rPr lang="en-US" sz="3900" b="0" i="0" u="none" strike="noStrike" cap="none">
                  <a:solidFill>
                    <a:schemeClr val="lt1"/>
                  </a:solidFill>
                  <a:latin typeface="Calibri"/>
                  <a:ea typeface="Calibri"/>
                  <a:cs typeface="Calibri"/>
                  <a:sym typeface="Calibri"/>
                </a:rPr>
                <a:t>Deliver:</a:t>
              </a:r>
              <a:endParaRPr sz="1400" b="0" i="0" u="none" strike="noStrike" cap="none">
                <a:solidFill>
                  <a:srgbClr val="000000"/>
                </a:solidFill>
                <a:latin typeface="Arial"/>
                <a:ea typeface="Arial"/>
                <a:cs typeface="Arial"/>
                <a:sym typeface="Arial"/>
              </a:endParaRPr>
            </a:p>
          </p:txBody>
        </p:sp>
        <p:sp>
          <p:nvSpPr>
            <p:cNvPr id="557" name="Google Shape;557;p30"/>
            <p:cNvSpPr/>
            <p:nvPr/>
          </p:nvSpPr>
          <p:spPr>
            <a:xfrm rot="5400000">
              <a:off x="3053744" y="2264347"/>
              <a:ext cx="2174434" cy="3897376"/>
            </a:xfrm>
            <a:prstGeom prst="round2SameRect">
              <a:avLst>
                <a:gd name="adj1" fmla="val 16667"/>
                <a:gd name="adj2" fmla="val 0"/>
              </a:avLst>
            </a:prstGeom>
            <a:solidFill>
              <a:srgbClr val="D3E1CC">
                <a:alpha val="89411"/>
              </a:srgbClr>
            </a:solidFill>
            <a:ln w="12700" cap="flat" cmpd="sng">
              <a:solidFill>
                <a:srgbClr val="D3E1CC">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8" name="Google Shape;558;p30"/>
            <p:cNvSpPr txBox="1"/>
            <p:nvPr/>
          </p:nvSpPr>
          <p:spPr>
            <a:xfrm>
              <a:off x="2192274" y="3231965"/>
              <a:ext cx="3791229" cy="1962140"/>
            </a:xfrm>
            <a:prstGeom prst="rect">
              <a:avLst/>
            </a:prstGeom>
            <a:noFill/>
            <a:ln>
              <a:noFill/>
            </a:ln>
          </p:spPr>
          <p:txBody>
            <a:bodyPr spcFirstLastPara="1" wrap="square" lIns="80000" tIns="40000" rIns="80000" bIns="40000" anchor="ctr" anchorCtr="0">
              <a:noAutofit/>
            </a:bodyPr>
            <a:lstStyle/>
            <a:p>
              <a:pPr marL="228600" marR="0" lvl="1" indent="-228600" algn="l" rtl="0">
                <a:lnSpc>
                  <a:spcPct val="90000"/>
                </a:lnSpc>
                <a:spcBef>
                  <a:spcPts val="0"/>
                </a:spcBef>
                <a:spcAft>
                  <a:spcPts val="0"/>
                </a:spcAft>
                <a:buClr>
                  <a:schemeClr val="dk1"/>
                </a:buClr>
                <a:buSzPts val="2100"/>
                <a:buFont typeface="Calibri"/>
                <a:buChar char="•"/>
              </a:pPr>
              <a:r>
                <a:rPr lang="en-US" sz="2100" b="0" i="0" u="none" strike="noStrike" cap="none">
                  <a:solidFill>
                    <a:schemeClr val="dk1"/>
                  </a:solidFill>
                  <a:latin typeface="Calibri"/>
                  <a:ea typeface="Calibri"/>
                  <a:cs typeface="Calibri"/>
                  <a:sym typeface="Calibri"/>
                </a:rPr>
                <a:t>Proactive progress reporting</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15"/>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Active participation in solutions</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00"/>
                </a:spcBef>
                <a:spcAft>
                  <a:spcPts val="0"/>
                </a:spcAft>
                <a:buClr>
                  <a:schemeClr val="dk1"/>
                </a:buClr>
                <a:buSzPts val="2100"/>
                <a:buFont typeface="Calibri"/>
                <a:buChar char="•"/>
              </a:pPr>
              <a:r>
                <a:rPr lang="en-US" sz="2100" b="0" i="0" u="none" strike="noStrike" cap="none">
                  <a:solidFill>
                    <a:schemeClr val="dk1"/>
                  </a:solidFill>
                  <a:latin typeface="Calibri"/>
                  <a:ea typeface="Calibri"/>
                  <a:cs typeface="Calibri"/>
                  <a:sym typeface="Calibri"/>
                </a:rPr>
                <a:t>Answers for follow-up question</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15"/>
                </a:spcBef>
                <a:spcAft>
                  <a:spcPts val="0"/>
                </a:spcAft>
                <a:buClr>
                  <a:schemeClr val="dk1"/>
                </a:buClr>
                <a:buSzPts val="2100"/>
                <a:buFont typeface="Calibri"/>
                <a:buChar char="•"/>
              </a:pPr>
              <a:r>
                <a:rPr lang="en-US" sz="2100" b="0" i="0" u="none" strike="noStrike" cap="none">
                  <a:solidFill>
                    <a:schemeClr val="dk1"/>
                  </a:solidFill>
                  <a:latin typeface="Calibri"/>
                  <a:ea typeface="Calibri"/>
                  <a:cs typeface="Calibri"/>
                  <a:sym typeface="Calibri"/>
                </a:rPr>
                <a:t>Ensure the job is done in time</a:t>
              </a:r>
              <a:endParaRPr sz="1400" b="0" i="0" u="none" strike="noStrike" cap="none">
                <a:solidFill>
                  <a:srgbClr val="000000"/>
                </a:solidFill>
                <a:latin typeface="Arial"/>
                <a:ea typeface="Arial"/>
                <a:cs typeface="Arial"/>
                <a:sym typeface="Arial"/>
              </a:endParaRPr>
            </a:p>
          </p:txBody>
        </p:sp>
        <p:sp>
          <p:nvSpPr>
            <p:cNvPr id="559" name="Google Shape;559;p30"/>
            <p:cNvSpPr/>
            <p:nvPr/>
          </p:nvSpPr>
          <p:spPr>
            <a:xfrm>
              <a:off x="0" y="2854013"/>
              <a:ext cx="2192274" cy="2718043"/>
            </a:xfrm>
            <a:prstGeom prst="roundRect">
              <a:avLst>
                <a:gd name="adj" fmla="val 16667"/>
              </a:avLst>
            </a:prstGeom>
            <a:solidFill>
              <a:srgbClr val="6FAB4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30"/>
            <p:cNvSpPr txBox="1"/>
            <p:nvPr/>
          </p:nvSpPr>
          <p:spPr>
            <a:xfrm>
              <a:off x="107018" y="2961031"/>
              <a:ext cx="1978238" cy="2504007"/>
            </a:xfrm>
            <a:prstGeom prst="rect">
              <a:avLst/>
            </a:prstGeom>
            <a:noFill/>
            <a:ln>
              <a:noFill/>
            </a:ln>
          </p:spPr>
          <p:txBody>
            <a:bodyPr spcFirstLastPara="1" wrap="square" lIns="148575" tIns="74275" rIns="148575" bIns="74275" anchor="ctr" anchorCtr="0">
              <a:noAutofit/>
            </a:bodyPr>
            <a:lstStyle/>
            <a:p>
              <a:pPr marL="0" marR="0" lvl="0" indent="0" algn="ctr" rtl="0">
                <a:lnSpc>
                  <a:spcPct val="90000"/>
                </a:lnSpc>
                <a:spcBef>
                  <a:spcPts val="0"/>
                </a:spcBef>
                <a:spcAft>
                  <a:spcPts val="0"/>
                </a:spcAft>
                <a:buClr>
                  <a:schemeClr val="lt1"/>
                </a:buClr>
                <a:buSzPts val="3900"/>
                <a:buFont typeface="Calibri"/>
                <a:buNone/>
              </a:pPr>
              <a:r>
                <a:rPr lang="en-US" sz="3900" b="0" i="0" u="none" strike="noStrike" cap="none">
                  <a:solidFill>
                    <a:schemeClr val="lt1"/>
                  </a:solidFill>
                  <a:latin typeface="Calibri"/>
                  <a:ea typeface="Calibri"/>
                  <a:cs typeface="Calibri"/>
                  <a:sym typeface="Calibri"/>
                </a:rPr>
                <a:t>Expects:</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4"/>
        <p:cNvGrpSpPr/>
        <p:nvPr/>
      </p:nvGrpSpPr>
      <p:grpSpPr>
        <a:xfrm>
          <a:off x="0" y="0"/>
          <a:ext cx="0" cy="0"/>
          <a:chOff x="0" y="0"/>
          <a:chExt cx="0" cy="0"/>
        </a:xfrm>
      </p:grpSpPr>
      <p:sp>
        <p:nvSpPr>
          <p:cNvPr id="565" name="Google Shape;565;p31"/>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66" name="Google Shape;566;p31"/>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Performance</a:t>
            </a:r>
            <a:endParaRPr/>
          </a:p>
        </p:txBody>
      </p:sp>
      <p:sp>
        <p:nvSpPr>
          <p:cNvPr id="567" name="Google Shape;567;p31"/>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568" name="Google Shape;568;p31"/>
          <p:cNvGrpSpPr/>
          <p:nvPr/>
        </p:nvGrpSpPr>
        <p:grpSpPr>
          <a:xfrm>
            <a:off x="5194300" y="471642"/>
            <a:ext cx="6513603" cy="5883988"/>
            <a:chOff x="0" y="718"/>
            <a:chExt cx="6513603" cy="5883988"/>
          </a:xfrm>
        </p:grpSpPr>
        <p:sp>
          <p:nvSpPr>
            <p:cNvPr id="569" name="Google Shape;569;p31"/>
            <p:cNvSpPr/>
            <p:nvPr/>
          </p:nvSpPr>
          <p:spPr>
            <a:xfrm>
              <a:off x="0" y="718"/>
              <a:ext cx="6513603" cy="1681139"/>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p31"/>
            <p:cNvSpPr/>
            <p:nvPr/>
          </p:nvSpPr>
          <p:spPr>
            <a:xfrm>
              <a:off x="508544" y="378974"/>
              <a:ext cx="924626" cy="924626"/>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1" name="Google Shape;571;p31"/>
            <p:cNvSpPr/>
            <p:nvPr/>
          </p:nvSpPr>
          <p:spPr>
            <a:xfrm>
              <a:off x="1941716" y="718"/>
              <a:ext cx="2931121"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2" name="Google Shape;572;p31"/>
            <p:cNvSpPr txBox="1"/>
            <p:nvPr/>
          </p:nvSpPr>
          <p:spPr>
            <a:xfrm>
              <a:off x="1941716" y="718"/>
              <a:ext cx="2931121"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100000"/>
                </a:lnSpc>
                <a:spcBef>
                  <a:spcPts val="0"/>
                </a:spcBef>
                <a:spcAft>
                  <a:spcPts val="0"/>
                </a:spcAft>
                <a:buClr>
                  <a:schemeClr val="dk1"/>
                </a:buClr>
                <a:buSzPts val="2500"/>
                <a:buFont typeface="Calibri"/>
                <a:buNone/>
              </a:pPr>
              <a:r>
                <a:rPr lang="en-US" sz="2500" b="0" i="0" u="none" strike="noStrike" cap="none">
                  <a:solidFill>
                    <a:schemeClr val="dk1"/>
                  </a:solidFill>
                  <a:latin typeface="Calibri"/>
                  <a:ea typeface="Calibri"/>
                  <a:cs typeface="Calibri"/>
                  <a:sym typeface="Calibri"/>
                </a:rPr>
                <a:t>Classification</a:t>
              </a:r>
              <a:endParaRPr sz="1400" b="0" i="0" u="none" strike="noStrike" cap="none">
                <a:solidFill>
                  <a:srgbClr val="000000"/>
                </a:solidFill>
                <a:latin typeface="Arial"/>
                <a:ea typeface="Arial"/>
                <a:cs typeface="Arial"/>
                <a:sym typeface="Arial"/>
              </a:endParaRPr>
            </a:p>
          </p:txBody>
        </p:sp>
        <p:sp>
          <p:nvSpPr>
            <p:cNvPr id="573" name="Google Shape;573;p31"/>
            <p:cNvSpPr/>
            <p:nvPr/>
          </p:nvSpPr>
          <p:spPr>
            <a:xfrm>
              <a:off x="4872838" y="718"/>
              <a:ext cx="1640765"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p31"/>
            <p:cNvSpPr txBox="1"/>
            <p:nvPr/>
          </p:nvSpPr>
          <p:spPr>
            <a:xfrm>
              <a:off x="4644918" y="718"/>
              <a:ext cx="1868685"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strike="noStrike" cap="none" dirty="0">
                  <a:solidFill>
                    <a:schemeClr val="dk1"/>
                  </a:solidFill>
                  <a:latin typeface="Calibri"/>
                  <a:ea typeface="Calibri"/>
                  <a:cs typeface="Calibri"/>
                  <a:sym typeface="Calibri"/>
                </a:rPr>
                <a:t>Autonomy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30"/>
                </a:spcBef>
                <a:spcAft>
                  <a:spcPts val="0"/>
                </a:spcAft>
                <a:buClr>
                  <a:schemeClr val="dk1"/>
                </a:buClr>
                <a:buSzPts val="1800"/>
                <a:buFont typeface="Calibri"/>
                <a:buNone/>
              </a:pPr>
              <a:r>
                <a:rPr lang="en-US" sz="1800" b="0" i="0" u="none" strike="noStrike" cap="none" dirty="0">
                  <a:solidFill>
                    <a:schemeClr val="dk1"/>
                  </a:solidFill>
                  <a:latin typeface="Calibri"/>
                  <a:ea typeface="Calibri"/>
                  <a:cs typeface="Calibri"/>
                  <a:sym typeface="Calibri"/>
                </a:rPr>
                <a:t>Seniority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30"/>
                </a:spcBef>
                <a:spcAft>
                  <a:spcPts val="0"/>
                </a:spcAft>
                <a:buClr>
                  <a:schemeClr val="dk1"/>
                </a:buClr>
                <a:buSzPts val="1800"/>
                <a:buFont typeface="Calibri"/>
                <a:buNone/>
              </a:pPr>
              <a:r>
                <a:rPr lang="en-US" sz="1800" b="0" i="0" u="none" strike="noStrike" cap="none" dirty="0">
                  <a:solidFill>
                    <a:schemeClr val="dk1"/>
                  </a:solidFill>
                  <a:latin typeface="Calibri"/>
                  <a:ea typeface="Calibri"/>
                  <a:cs typeface="Calibri"/>
                  <a:sym typeface="Calibri"/>
                </a:rPr>
                <a:t>Delegation</a:t>
              </a:r>
              <a:endParaRPr sz="1400" b="0" i="0" u="none" strike="noStrike" cap="none" dirty="0">
                <a:solidFill>
                  <a:srgbClr val="000000"/>
                </a:solidFill>
                <a:latin typeface="Arial"/>
                <a:ea typeface="Arial"/>
                <a:cs typeface="Arial"/>
                <a:sym typeface="Arial"/>
              </a:endParaRPr>
            </a:p>
          </p:txBody>
        </p:sp>
        <p:sp>
          <p:nvSpPr>
            <p:cNvPr id="575" name="Google Shape;575;p31"/>
            <p:cNvSpPr/>
            <p:nvPr/>
          </p:nvSpPr>
          <p:spPr>
            <a:xfrm>
              <a:off x="0" y="2102143"/>
              <a:ext cx="6513603" cy="1681139"/>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31"/>
            <p:cNvSpPr/>
            <p:nvPr/>
          </p:nvSpPr>
          <p:spPr>
            <a:xfrm>
              <a:off x="508544" y="2480399"/>
              <a:ext cx="924626" cy="924626"/>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7" name="Google Shape;577;p31"/>
            <p:cNvSpPr/>
            <p:nvPr/>
          </p:nvSpPr>
          <p:spPr>
            <a:xfrm>
              <a:off x="1941716" y="2102143"/>
              <a:ext cx="2931121"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8" name="Google Shape;578;p31"/>
            <p:cNvSpPr txBox="1"/>
            <p:nvPr/>
          </p:nvSpPr>
          <p:spPr>
            <a:xfrm>
              <a:off x="1941716" y="2102143"/>
              <a:ext cx="2931121"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100000"/>
                </a:lnSpc>
                <a:spcBef>
                  <a:spcPts val="0"/>
                </a:spcBef>
                <a:spcAft>
                  <a:spcPts val="0"/>
                </a:spcAft>
                <a:buClr>
                  <a:schemeClr val="dk1"/>
                </a:buClr>
                <a:buSzPts val="2500"/>
                <a:buFont typeface="Calibri"/>
                <a:buNone/>
              </a:pPr>
              <a:r>
                <a:rPr lang="en-US" sz="2500" b="0" i="0" u="none" strike="noStrike" cap="none">
                  <a:solidFill>
                    <a:schemeClr val="dk1"/>
                  </a:solidFill>
                  <a:latin typeface="Calibri"/>
                  <a:ea typeface="Calibri"/>
                  <a:cs typeface="Calibri"/>
                  <a:sym typeface="Calibri"/>
                </a:rPr>
                <a:t>Operation</a:t>
              </a:r>
              <a:endParaRPr sz="1400" b="0" i="0" u="none" strike="noStrike" cap="none">
                <a:solidFill>
                  <a:srgbClr val="000000"/>
                </a:solidFill>
                <a:latin typeface="Arial"/>
                <a:ea typeface="Arial"/>
                <a:cs typeface="Arial"/>
                <a:sym typeface="Arial"/>
              </a:endParaRPr>
            </a:p>
          </p:txBody>
        </p:sp>
        <p:sp>
          <p:nvSpPr>
            <p:cNvPr id="579" name="Google Shape;579;p31"/>
            <p:cNvSpPr/>
            <p:nvPr/>
          </p:nvSpPr>
          <p:spPr>
            <a:xfrm>
              <a:off x="4872838" y="2102143"/>
              <a:ext cx="1640765"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31"/>
            <p:cNvSpPr txBox="1"/>
            <p:nvPr/>
          </p:nvSpPr>
          <p:spPr>
            <a:xfrm>
              <a:off x="4593512" y="2102143"/>
              <a:ext cx="1920091"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strike="noStrike" cap="none" dirty="0">
                  <a:solidFill>
                    <a:schemeClr val="dk1"/>
                  </a:solidFill>
                  <a:latin typeface="Calibri"/>
                  <a:ea typeface="Calibri"/>
                  <a:cs typeface="Calibri"/>
                  <a:sym typeface="Calibri"/>
                </a:rPr>
                <a:t>Infrastructure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30"/>
                </a:spcBef>
                <a:spcAft>
                  <a:spcPts val="0"/>
                </a:spcAft>
                <a:buClr>
                  <a:schemeClr val="dk1"/>
                </a:buClr>
                <a:buSzPts val="1800"/>
                <a:buFont typeface="Calibri"/>
                <a:buNone/>
              </a:pPr>
              <a:r>
                <a:rPr lang="en-US" sz="1800" b="0" i="0" u="none" strike="noStrike" cap="none" dirty="0">
                  <a:solidFill>
                    <a:schemeClr val="dk1"/>
                  </a:solidFill>
                  <a:latin typeface="Calibri"/>
                  <a:ea typeface="Calibri"/>
                  <a:cs typeface="Calibri"/>
                  <a:sym typeface="Calibri"/>
                </a:rPr>
                <a:t>Code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30"/>
                </a:spcBef>
                <a:spcAft>
                  <a:spcPts val="0"/>
                </a:spcAft>
                <a:buClr>
                  <a:schemeClr val="dk1"/>
                </a:buClr>
                <a:buSzPts val="1800"/>
                <a:buFont typeface="Calibri"/>
                <a:buNone/>
              </a:pPr>
              <a:r>
                <a:rPr lang="en-US" sz="1800" b="0" i="0" u="none" strike="noStrike" cap="none" dirty="0">
                  <a:solidFill>
                    <a:schemeClr val="dk1"/>
                  </a:solidFill>
                  <a:latin typeface="Calibri"/>
                  <a:ea typeface="Calibri"/>
                  <a:cs typeface="Calibri"/>
                  <a:sym typeface="Calibri"/>
                </a:rPr>
                <a:t>Legacy</a:t>
              </a:r>
              <a:endParaRPr sz="1400" b="0" i="0" u="none" strike="noStrike" cap="none" dirty="0">
                <a:solidFill>
                  <a:srgbClr val="000000"/>
                </a:solidFill>
                <a:latin typeface="Arial"/>
                <a:ea typeface="Arial"/>
                <a:cs typeface="Arial"/>
                <a:sym typeface="Arial"/>
              </a:endParaRPr>
            </a:p>
          </p:txBody>
        </p:sp>
        <p:sp>
          <p:nvSpPr>
            <p:cNvPr id="581" name="Google Shape;581;p31"/>
            <p:cNvSpPr/>
            <p:nvPr/>
          </p:nvSpPr>
          <p:spPr>
            <a:xfrm>
              <a:off x="0" y="4203567"/>
              <a:ext cx="6513603" cy="1681139"/>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2" name="Google Shape;582;p31"/>
            <p:cNvSpPr/>
            <p:nvPr/>
          </p:nvSpPr>
          <p:spPr>
            <a:xfrm>
              <a:off x="508544" y="4581824"/>
              <a:ext cx="924626" cy="924626"/>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3" name="Google Shape;583;p31"/>
            <p:cNvSpPr/>
            <p:nvPr/>
          </p:nvSpPr>
          <p:spPr>
            <a:xfrm>
              <a:off x="1941716" y="4203567"/>
              <a:ext cx="2931121"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4" name="Google Shape;584;p31"/>
            <p:cNvSpPr txBox="1"/>
            <p:nvPr/>
          </p:nvSpPr>
          <p:spPr>
            <a:xfrm>
              <a:off x="1941716" y="4203567"/>
              <a:ext cx="2931121"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100000"/>
                </a:lnSpc>
                <a:spcBef>
                  <a:spcPts val="0"/>
                </a:spcBef>
                <a:spcAft>
                  <a:spcPts val="0"/>
                </a:spcAft>
                <a:buClr>
                  <a:schemeClr val="dk1"/>
                </a:buClr>
                <a:buSzPts val="2500"/>
                <a:buFont typeface="Calibri"/>
                <a:buNone/>
              </a:pPr>
              <a:r>
                <a:rPr lang="en-US" sz="2500" b="0" i="0" u="none" strike="noStrike" cap="none">
                  <a:solidFill>
                    <a:schemeClr val="dk1"/>
                  </a:solidFill>
                  <a:latin typeface="Calibri"/>
                  <a:ea typeface="Calibri"/>
                  <a:cs typeface="Calibri"/>
                  <a:sym typeface="Calibri"/>
                </a:rPr>
                <a:t>Documentation</a:t>
              </a:r>
              <a:endParaRPr sz="1400" b="0" i="0" u="none" strike="noStrike" cap="none">
                <a:solidFill>
                  <a:srgbClr val="000000"/>
                </a:solidFill>
                <a:latin typeface="Arial"/>
                <a:ea typeface="Arial"/>
                <a:cs typeface="Arial"/>
                <a:sym typeface="Arial"/>
              </a:endParaRPr>
            </a:p>
          </p:txBody>
        </p:sp>
        <p:sp>
          <p:nvSpPr>
            <p:cNvPr id="585" name="Google Shape;585;p31"/>
            <p:cNvSpPr/>
            <p:nvPr/>
          </p:nvSpPr>
          <p:spPr>
            <a:xfrm>
              <a:off x="4872838" y="4203567"/>
              <a:ext cx="1640765"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6" name="Google Shape;586;p31"/>
            <p:cNvSpPr txBox="1"/>
            <p:nvPr/>
          </p:nvSpPr>
          <p:spPr>
            <a:xfrm>
              <a:off x="4644918" y="4203567"/>
              <a:ext cx="1868685"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strike="noStrike" cap="none" dirty="0">
                  <a:solidFill>
                    <a:schemeClr val="dk1"/>
                  </a:solidFill>
                  <a:latin typeface="Calibri"/>
                  <a:ea typeface="Calibri"/>
                  <a:cs typeface="Calibri"/>
                  <a:sym typeface="Calibri"/>
                </a:rPr>
                <a:t>Training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30"/>
                </a:spcBef>
                <a:spcAft>
                  <a:spcPts val="0"/>
                </a:spcAft>
                <a:buClr>
                  <a:schemeClr val="dk1"/>
                </a:buClr>
                <a:buSzPts val="1800"/>
                <a:buFont typeface="Calibri"/>
                <a:buNone/>
              </a:pPr>
              <a:r>
                <a:rPr lang="en-US" sz="1800" b="0" i="0" u="none" strike="noStrike" cap="none" dirty="0">
                  <a:solidFill>
                    <a:schemeClr val="dk1"/>
                  </a:solidFill>
                  <a:latin typeface="Calibri"/>
                  <a:ea typeface="Calibri"/>
                  <a:cs typeface="Calibri"/>
                  <a:sym typeface="Calibri"/>
                </a:rPr>
                <a:t>(Re-)usability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30"/>
                </a:spcBef>
                <a:spcAft>
                  <a:spcPts val="0"/>
                </a:spcAft>
                <a:buClr>
                  <a:schemeClr val="dk1"/>
                </a:buClr>
                <a:buSzPts val="1800"/>
                <a:buFont typeface="Calibri"/>
                <a:buNone/>
              </a:pPr>
              <a:r>
                <a:rPr lang="en-US" sz="1800" b="0" i="0" u="none" strike="noStrike" cap="none" dirty="0">
                  <a:solidFill>
                    <a:schemeClr val="dk1"/>
                  </a:solidFill>
                  <a:latin typeface="Calibri"/>
                  <a:ea typeface="Calibri"/>
                  <a:cs typeface="Calibri"/>
                  <a:sym typeface="Calibri"/>
                </a:rPr>
                <a:t>Auditability</a:t>
              </a:r>
              <a:endParaRPr sz="1400" b="0" i="0" u="none" strike="noStrike" cap="none" dirty="0">
                <a:solidFill>
                  <a:srgbClr val="000000"/>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0"/>
        <p:cNvGrpSpPr/>
        <p:nvPr/>
      </p:nvGrpSpPr>
      <p:grpSpPr>
        <a:xfrm>
          <a:off x="0" y="0"/>
          <a:ext cx="0" cy="0"/>
          <a:chOff x="0" y="0"/>
          <a:chExt cx="0" cy="0"/>
        </a:xfrm>
      </p:grpSpPr>
      <p:sp>
        <p:nvSpPr>
          <p:cNvPr id="591" name="Google Shape;591;p32"/>
          <p:cNvSpPr/>
          <p:nvPr/>
        </p:nvSpPr>
        <p:spPr>
          <a:xfrm rot="-5400000">
            <a:off x="5662795" y="-3745097"/>
            <a:ext cx="1354979" cy="10750169"/>
          </a:xfrm>
          <a:prstGeom prst="downArrow">
            <a:avLst>
              <a:gd name="adj1" fmla="val 100000"/>
              <a:gd name="adj2" fmla="val 22582"/>
            </a:avLst>
          </a:pr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92" name="Google Shape;592;p32"/>
          <p:cNvSpPr txBox="1">
            <a:spLocks noGrp="1"/>
          </p:cNvSpPr>
          <p:nvPr>
            <p:ph type="title"/>
          </p:nvPr>
        </p:nvSpPr>
        <p:spPr>
          <a:xfrm>
            <a:off x="1286932" y="1204109"/>
            <a:ext cx="10023398" cy="857894"/>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FFFF"/>
              </a:buClr>
              <a:buSzPts val="3600"/>
              <a:buFont typeface="Calibri"/>
              <a:buNone/>
            </a:pPr>
            <a:r>
              <a:rPr lang="en-US" sz="3600">
                <a:solidFill>
                  <a:srgbClr val="FFFFFF"/>
                </a:solidFill>
              </a:rPr>
              <a:t>Autonomy</a:t>
            </a:r>
            <a:br>
              <a:rPr lang="en-US" sz="2250">
                <a:solidFill>
                  <a:srgbClr val="FFFFFF"/>
                </a:solidFill>
              </a:rPr>
            </a:br>
            <a:r>
              <a:rPr lang="en-US" sz="2250">
                <a:solidFill>
                  <a:srgbClr val="FFFFFF"/>
                </a:solidFill>
              </a:rPr>
              <a:t>(Freedom to innovate)</a:t>
            </a:r>
            <a:endParaRPr/>
          </a:p>
        </p:txBody>
      </p:sp>
      <p:sp>
        <p:nvSpPr>
          <p:cNvPr id="593" name="Google Shape;593;p32"/>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594" name="Google Shape;594;p32"/>
          <p:cNvGrpSpPr/>
          <p:nvPr/>
        </p:nvGrpSpPr>
        <p:grpSpPr>
          <a:xfrm>
            <a:off x="1780746" y="2974082"/>
            <a:ext cx="9398759" cy="2795785"/>
            <a:chOff x="493283" y="11807"/>
            <a:chExt cx="9398759" cy="2795785"/>
          </a:xfrm>
        </p:grpSpPr>
        <p:sp>
          <p:nvSpPr>
            <p:cNvPr id="595" name="Google Shape;595;p32"/>
            <p:cNvSpPr/>
            <p:nvPr/>
          </p:nvSpPr>
          <p:spPr>
            <a:xfrm>
              <a:off x="493283" y="11807"/>
              <a:ext cx="1158243" cy="1158243"/>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6" name="Google Shape;596;p32"/>
            <p:cNvSpPr/>
            <p:nvPr/>
          </p:nvSpPr>
          <p:spPr>
            <a:xfrm>
              <a:off x="736514" y="255038"/>
              <a:ext cx="671781" cy="671781"/>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32"/>
            <p:cNvSpPr/>
            <p:nvPr/>
          </p:nvSpPr>
          <p:spPr>
            <a:xfrm>
              <a:off x="1899722" y="11807"/>
              <a:ext cx="2730145" cy="1158243"/>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8" name="Google Shape;598;p32"/>
            <p:cNvSpPr txBox="1"/>
            <p:nvPr/>
          </p:nvSpPr>
          <p:spPr>
            <a:xfrm>
              <a:off x="1899722" y="11807"/>
              <a:ext cx="2730145" cy="115824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You work within a </a:t>
              </a:r>
              <a:r>
                <a:rPr lang="en-US" sz="1900" b="1" i="0" u="none" strike="noStrike" cap="none">
                  <a:solidFill>
                    <a:schemeClr val="dk1"/>
                  </a:solidFill>
                  <a:latin typeface="Calibri"/>
                  <a:ea typeface="Calibri"/>
                  <a:cs typeface="Calibri"/>
                  <a:sym typeface="Calibri"/>
                </a:rPr>
                <a:t>team</a:t>
              </a:r>
              <a:r>
                <a:rPr lang="en-US" sz="1900" b="0" i="0" u="none" strike="noStrike" cap="none">
                  <a:solidFill>
                    <a:schemeClr val="dk1"/>
                  </a:solidFill>
                  <a:latin typeface="Calibri"/>
                  <a:ea typeface="Calibri"/>
                  <a:cs typeface="Calibri"/>
                  <a:sym typeface="Calibri"/>
                </a:rPr>
                <a:t> (not alone) for good &amp; bad</a:t>
              </a:r>
              <a:endParaRPr sz="1400" b="0" i="0" u="none" strike="noStrike" cap="none">
                <a:solidFill>
                  <a:srgbClr val="000000"/>
                </a:solidFill>
                <a:latin typeface="Arial"/>
                <a:ea typeface="Arial"/>
                <a:cs typeface="Arial"/>
                <a:sym typeface="Arial"/>
              </a:endParaRPr>
            </a:p>
          </p:txBody>
        </p:sp>
        <p:sp>
          <p:nvSpPr>
            <p:cNvPr id="599" name="Google Shape;599;p32"/>
            <p:cNvSpPr/>
            <p:nvPr/>
          </p:nvSpPr>
          <p:spPr>
            <a:xfrm>
              <a:off x="5105575" y="11807"/>
              <a:ext cx="1158243" cy="1158243"/>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0" name="Google Shape;600;p32"/>
            <p:cNvSpPr/>
            <p:nvPr/>
          </p:nvSpPr>
          <p:spPr>
            <a:xfrm>
              <a:off x="5348806" y="255038"/>
              <a:ext cx="671781" cy="671781"/>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1" name="Google Shape;601;p32"/>
            <p:cNvSpPr/>
            <p:nvPr/>
          </p:nvSpPr>
          <p:spPr>
            <a:xfrm>
              <a:off x="6512013" y="11807"/>
              <a:ext cx="2730145" cy="1158243"/>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2" name="Google Shape;602;p32"/>
            <p:cNvSpPr txBox="1"/>
            <p:nvPr/>
          </p:nvSpPr>
          <p:spPr>
            <a:xfrm>
              <a:off x="6512013" y="11807"/>
              <a:ext cx="2730145" cy="115824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You implement and support </a:t>
              </a:r>
              <a:r>
                <a:rPr lang="en-US" sz="1900" b="1" i="0" u="none" strike="noStrike" cap="none">
                  <a:solidFill>
                    <a:schemeClr val="dk1"/>
                  </a:solidFill>
                  <a:latin typeface="Calibri"/>
                  <a:ea typeface="Calibri"/>
                  <a:cs typeface="Calibri"/>
                  <a:sym typeface="Calibri"/>
                </a:rPr>
                <a:t>high-available</a:t>
              </a:r>
              <a:r>
                <a:rPr lang="en-US" sz="1900" b="0" i="0" u="none" strike="noStrike" cap="none">
                  <a:solidFill>
                    <a:schemeClr val="dk1"/>
                  </a:solidFill>
                  <a:latin typeface="Calibri"/>
                  <a:ea typeface="Calibri"/>
                  <a:cs typeface="Calibri"/>
                  <a:sym typeface="Calibri"/>
                </a:rPr>
                <a:t> solutions (whenever is possible)</a:t>
              </a:r>
              <a:endParaRPr sz="1400" b="0" i="0" u="none" strike="noStrike" cap="none">
                <a:solidFill>
                  <a:srgbClr val="000000"/>
                </a:solidFill>
                <a:latin typeface="Arial"/>
                <a:ea typeface="Arial"/>
                <a:cs typeface="Arial"/>
                <a:sym typeface="Arial"/>
              </a:endParaRPr>
            </a:p>
          </p:txBody>
        </p:sp>
        <p:sp>
          <p:nvSpPr>
            <p:cNvPr id="603" name="Google Shape;603;p32"/>
            <p:cNvSpPr/>
            <p:nvPr/>
          </p:nvSpPr>
          <p:spPr>
            <a:xfrm>
              <a:off x="493283" y="1649349"/>
              <a:ext cx="1158243" cy="1158243"/>
            </a:xfrm>
            <a:prstGeom prst="ellipse">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4" name="Google Shape;604;p32"/>
            <p:cNvSpPr/>
            <p:nvPr/>
          </p:nvSpPr>
          <p:spPr>
            <a:xfrm>
              <a:off x="736514" y="1892580"/>
              <a:ext cx="671781" cy="671781"/>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5" name="Google Shape;605;p32"/>
            <p:cNvSpPr/>
            <p:nvPr/>
          </p:nvSpPr>
          <p:spPr>
            <a:xfrm>
              <a:off x="1899722" y="1649349"/>
              <a:ext cx="2730145" cy="1158243"/>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6" name="Google Shape;606;p32"/>
            <p:cNvSpPr txBox="1"/>
            <p:nvPr/>
          </p:nvSpPr>
          <p:spPr>
            <a:xfrm>
              <a:off x="1899722" y="1649349"/>
              <a:ext cx="2730145" cy="115824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You foster </a:t>
              </a:r>
              <a:r>
                <a:rPr lang="en-US" sz="1900" b="1" i="0" u="none" strike="noStrike" cap="none">
                  <a:solidFill>
                    <a:schemeClr val="dk1"/>
                  </a:solidFill>
                  <a:latin typeface="Calibri"/>
                  <a:ea typeface="Calibri"/>
                  <a:cs typeface="Calibri"/>
                  <a:sym typeface="Calibri"/>
                </a:rPr>
                <a:t>automation </a:t>
              </a:r>
              <a:r>
                <a:rPr lang="en-US" sz="1900" b="0" i="0" u="none" strike="noStrike" cap="none">
                  <a:solidFill>
                    <a:schemeClr val="dk1"/>
                  </a:solidFill>
                  <a:latin typeface="Calibri"/>
                  <a:ea typeface="Calibri"/>
                  <a:cs typeface="Calibri"/>
                  <a:sym typeface="Calibri"/>
                </a:rPr>
                <a:t>instead of manual task (wherever is possible)</a:t>
              </a:r>
              <a:endParaRPr sz="1400" b="0" i="0" u="none" strike="noStrike" cap="none">
                <a:solidFill>
                  <a:srgbClr val="000000"/>
                </a:solidFill>
                <a:latin typeface="Arial"/>
                <a:ea typeface="Arial"/>
                <a:cs typeface="Arial"/>
                <a:sym typeface="Arial"/>
              </a:endParaRPr>
            </a:p>
          </p:txBody>
        </p:sp>
        <p:sp>
          <p:nvSpPr>
            <p:cNvPr id="607" name="Google Shape;607;p32"/>
            <p:cNvSpPr/>
            <p:nvPr/>
          </p:nvSpPr>
          <p:spPr>
            <a:xfrm>
              <a:off x="5105575" y="1649349"/>
              <a:ext cx="1158243" cy="1158243"/>
            </a:xfrm>
            <a:prstGeom prst="ellipse">
              <a:avLst/>
            </a:prstGeom>
            <a:solidFill>
              <a:srgbClr val="599BD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32"/>
            <p:cNvSpPr/>
            <p:nvPr/>
          </p:nvSpPr>
          <p:spPr>
            <a:xfrm>
              <a:off x="5348806" y="1892580"/>
              <a:ext cx="671781" cy="671781"/>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32"/>
            <p:cNvSpPr/>
            <p:nvPr/>
          </p:nvSpPr>
          <p:spPr>
            <a:xfrm>
              <a:off x="6500110" y="1620149"/>
              <a:ext cx="3391932" cy="1158243"/>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32"/>
            <p:cNvSpPr txBox="1"/>
            <p:nvPr/>
          </p:nvSpPr>
          <p:spPr>
            <a:xfrm>
              <a:off x="6500110" y="1620149"/>
              <a:ext cx="3391932" cy="115824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You look for </a:t>
              </a:r>
              <a:r>
                <a:rPr lang="en-US" sz="1900" b="1" i="0" u="none" strike="noStrike" cap="none">
                  <a:solidFill>
                    <a:schemeClr val="dk1"/>
                  </a:solidFill>
                  <a:latin typeface="Calibri"/>
                  <a:ea typeface="Calibri"/>
                  <a:cs typeface="Calibri"/>
                  <a:sym typeface="Calibri"/>
                </a:rPr>
                <a:t>strategic approval</a:t>
              </a:r>
              <a:r>
                <a:rPr lang="en-US" sz="1900" b="0" i="0" u="none" strike="noStrike" cap="none">
                  <a:solidFill>
                    <a:schemeClr val="dk1"/>
                  </a:solidFill>
                  <a:latin typeface="Calibri"/>
                  <a:ea typeface="Calibri"/>
                  <a:cs typeface="Calibri"/>
                  <a:sym typeface="Calibri"/>
                </a:rPr>
                <a:t> (specially for new projects / </a:t>
              </a:r>
              <a:br>
                <a:rPr lang="en-US" sz="1900" b="0" i="0" u="none" strike="noStrike" cap="none">
                  <a:solidFill>
                    <a:schemeClr val="dk1"/>
                  </a:solidFill>
                  <a:latin typeface="Calibri"/>
                  <a:ea typeface="Calibri"/>
                  <a:cs typeface="Calibri"/>
                  <a:sym typeface="Calibri"/>
                </a:rPr>
              </a:br>
              <a:r>
                <a:rPr lang="en-US" sz="1900" b="0" i="0" u="none" strike="noStrike" cap="none">
                  <a:solidFill>
                    <a:schemeClr val="dk1"/>
                  </a:solidFill>
                  <a:latin typeface="Calibri"/>
                  <a:ea typeface="Calibri"/>
                  <a:cs typeface="Calibri"/>
                  <a:sym typeface="Calibri"/>
                </a:rPr>
                <a:t>scope changes)</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4"/>
        <p:cNvGrpSpPr/>
        <p:nvPr/>
      </p:nvGrpSpPr>
      <p:grpSpPr>
        <a:xfrm>
          <a:off x="0" y="0"/>
          <a:ext cx="0" cy="0"/>
          <a:chOff x="0" y="0"/>
          <a:chExt cx="0" cy="0"/>
        </a:xfrm>
      </p:grpSpPr>
      <p:sp>
        <p:nvSpPr>
          <p:cNvPr id="615" name="Google Shape;615;p33"/>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16" name="Google Shape;616;p33"/>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Seniority</a:t>
            </a:r>
            <a:endParaRPr/>
          </a:p>
        </p:txBody>
      </p:sp>
      <p:grpSp>
        <p:nvGrpSpPr>
          <p:cNvPr id="617" name="Google Shape;617;p33"/>
          <p:cNvGrpSpPr/>
          <p:nvPr/>
        </p:nvGrpSpPr>
        <p:grpSpPr>
          <a:xfrm>
            <a:off x="5194300" y="475521"/>
            <a:ext cx="6513603" cy="5876230"/>
            <a:chOff x="0" y="4597"/>
            <a:chExt cx="6513603" cy="5876230"/>
          </a:xfrm>
        </p:grpSpPr>
        <p:sp>
          <p:nvSpPr>
            <p:cNvPr id="618" name="Google Shape;618;p33"/>
            <p:cNvSpPr/>
            <p:nvPr/>
          </p:nvSpPr>
          <p:spPr>
            <a:xfrm>
              <a:off x="0" y="4597"/>
              <a:ext cx="6513603" cy="97937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p33"/>
            <p:cNvSpPr/>
            <p:nvPr/>
          </p:nvSpPr>
          <p:spPr>
            <a:xfrm>
              <a:off x="296259" y="224956"/>
              <a:ext cx="538654" cy="538654"/>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0" name="Google Shape;620;p33"/>
            <p:cNvSpPr/>
            <p:nvPr/>
          </p:nvSpPr>
          <p:spPr>
            <a:xfrm>
              <a:off x="1131174" y="4597"/>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1" name="Google Shape;621;p33"/>
            <p:cNvSpPr txBox="1"/>
            <p:nvPr/>
          </p:nvSpPr>
          <p:spPr>
            <a:xfrm>
              <a:off x="1131174" y="4597"/>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Years doing same stuff → </a:t>
              </a:r>
              <a:r>
                <a:rPr lang="en-US" sz="1900" b="0" i="0" u="none" strike="noStrike" cap="none">
                  <a:solidFill>
                    <a:srgbClr val="FF2F92"/>
                  </a:solidFill>
                  <a:latin typeface="Calibri"/>
                  <a:ea typeface="Calibri"/>
                  <a:cs typeface="Calibri"/>
                  <a:sym typeface="Calibri"/>
                </a:rPr>
                <a:t>Changing on a daily basis</a:t>
              </a:r>
              <a:endParaRPr sz="1400" b="0" i="0" u="none" strike="noStrike" cap="none">
                <a:solidFill>
                  <a:srgbClr val="000000"/>
                </a:solidFill>
                <a:latin typeface="Arial"/>
                <a:ea typeface="Arial"/>
                <a:cs typeface="Arial"/>
                <a:sym typeface="Arial"/>
              </a:endParaRPr>
            </a:p>
          </p:txBody>
        </p:sp>
        <p:sp>
          <p:nvSpPr>
            <p:cNvPr id="622" name="Google Shape;622;p33"/>
            <p:cNvSpPr/>
            <p:nvPr/>
          </p:nvSpPr>
          <p:spPr>
            <a:xfrm>
              <a:off x="0" y="1228812"/>
              <a:ext cx="6513603" cy="97937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33"/>
            <p:cNvSpPr/>
            <p:nvPr/>
          </p:nvSpPr>
          <p:spPr>
            <a:xfrm>
              <a:off x="296259" y="1449171"/>
              <a:ext cx="538654" cy="538654"/>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4" name="Google Shape;624;p33"/>
            <p:cNvSpPr/>
            <p:nvPr/>
          </p:nvSpPr>
          <p:spPr>
            <a:xfrm>
              <a:off x="1131174" y="1228812"/>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33"/>
            <p:cNvSpPr txBox="1"/>
            <p:nvPr/>
          </p:nvSpPr>
          <p:spPr>
            <a:xfrm>
              <a:off x="1131174" y="1228812"/>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Just being different → </a:t>
              </a:r>
              <a:r>
                <a:rPr lang="en-US" sz="1900" b="0" i="0" u="none" strike="noStrike" cap="none">
                  <a:solidFill>
                    <a:srgbClr val="FF2F92"/>
                  </a:solidFill>
                  <a:latin typeface="Calibri"/>
                  <a:ea typeface="Calibri"/>
                  <a:cs typeface="Calibri"/>
                  <a:sym typeface="Calibri"/>
                </a:rPr>
                <a:t>Making the difference</a:t>
              </a:r>
              <a:endParaRPr sz="1400" b="0" i="0" u="none" strike="noStrike" cap="none">
                <a:solidFill>
                  <a:srgbClr val="000000"/>
                </a:solidFill>
                <a:latin typeface="Arial"/>
                <a:ea typeface="Arial"/>
                <a:cs typeface="Arial"/>
                <a:sym typeface="Arial"/>
              </a:endParaRPr>
            </a:p>
          </p:txBody>
        </p:sp>
        <p:sp>
          <p:nvSpPr>
            <p:cNvPr id="626" name="Google Shape;626;p33"/>
            <p:cNvSpPr/>
            <p:nvPr/>
          </p:nvSpPr>
          <p:spPr>
            <a:xfrm>
              <a:off x="0" y="2453027"/>
              <a:ext cx="6513603" cy="97937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33"/>
            <p:cNvSpPr/>
            <p:nvPr/>
          </p:nvSpPr>
          <p:spPr>
            <a:xfrm>
              <a:off x="296259" y="2673385"/>
              <a:ext cx="538654" cy="538654"/>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8" name="Google Shape;628;p33"/>
            <p:cNvSpPr/>
            <p:nvPr/>
          </p:nvSpPr>
          <p:spPr>
            <a:xfrm>
              <a:off x="1131174" y="2453027"/>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33"/>
            <p:cNvSpPr txBox="1"/>
            <p:nvPr/>
          </p:nvSpPr>
          <p:spPr>
            <a:xfrm>
              <a:off x="1131174" y="2453027"/>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Smart person → </a:t>
              </a:r>
              <a:r>
                <a:rPr lang="en-US" sz="1900" b="0" i="0" u="none" strike="noStrike" cap="none">
                  <a:solidFill>
                    <a:srgbClr val="FF2F92"/>
                  </a:solidFill>
                  <a:latin typeface="Calibri"/>
                  <a:ea typeface="Calibri"/>
                  <a:cs typeface="Calibri"/>
                  <a:sym typeface="Calibri"/>
                </a:rPr>
                <a:t>Smart team</a:t>
              </a:r>
              <a:endParaRPr sz="1400" b="0" i="0" u="none" strike="noStrike" cap="none">
                <a:solidFill>
                  <a:srgbClr val="000000"/>
                </a:solidFill>
                <a:latin typeface="Arial"/>
                <a:ea typeface="Arial"/>
                <a:cs typeface="Arial"/>
                <a:sym typeface="Arial"/>
              </a:endParaRPr>
            </a:p>
          </p:txBody>
        </p:sp>
        <p:sp>
          <p:nvSpPr>
            <p:cNvPr id="630" name="Google Shape;630;p33"/>
            <p:cNvSpPr/>
            <p:nvPr/>
          </p:nvSpPr>
          <p:spPr>
            <a:xfrm>
              <a:off x="0" y="3677241"/>
              <a:ext cx="6513603" cy="97937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1" name="Google Shape;631;p33"/>
            <p:cNvSpPr/>
            <p:nvPr/>
          </p:nvSpPr>
          <p:spPr>
            <a:xfrm>
              <a:off x="296259" y="3897600"/>
              <a:ext cx="538654" cy="538654"/>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2" name="Google Shape;632;p33"/>
            <p:cNvSpPr/>
            <p:nvPr/>
          </p:nvSpPr>
          <p:spPr>
            <a:xfrm>
              <a:off x="1131174" y="3677241"/>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33"/>
            <p:cNvSpPr txBox="1"/>
            <p:nvPr/>
          </p:nvSpPr>
          <p:spPr>
            <a:xfrm>
              <a:off x="1131174" y="3677241"/>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A lot of Power → </a:t>
              </a:r>
              <a:r>
                <a:rPr lang="en-US" sz="1900" b="0" i="0" u="none" strike="noStrike" cap="none">
                  <a:solidFill>
                    <a:srgbClr val="FF2F92"/>
                  </a:solidFill>
                  <a:latin typeface="Calibri"/>
                  <a:ea typeface="Calibri"/>
                  <a:cs typeface="Calibri"/>
                  <a:sym typeface="Calibri"/>
                </a:rPr>
                <a:t>Responsibilities</a:t>
              </a:r>
              <a:endParaRPr sz="1400" b="0" i="0" u="none" strike="noStrike" cap="none">
                <a:solidFill>
                  <a:srgbClr val="000000"/>
                </a:solidFill>
                <a:latin typeface="Arial"/>
                <a:ea typeface="Arial"/>
                <a:cs typeface="Arial"/>
                <a:sym typeface="Arial"/>
              </a:endParaRPr>
            </a:p>
          </p:txBody>
        </p:sp>
        <p:sp>
          <p:nvSpPr>
            <p:cNvPr id="634" name="Google Shape;634;p33"/>
            <p:cNvSpPr/>
            <p:nvPr/>
          </p:nvSpPr>
          <p:spPr>
            <a:xfrm>
              <a:off x="0" y="4901456"/>
              <a:ext cx="6513603" cy="97937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5" name="Google Shape;635;p33"/>
            <p:cNvSpPr/>
            <p:nvPr/>
          </p:nvSpPr>
          <p:spPr>
            <a:xfrm>
              <a:off x="296259" y="5121814"/>
              <a:ext cx="538654" cy="538654"/>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6" name="Google Shape;636;p33"/>
            <p:cNvSpPr/>
            <p:nvPr/>
          </p:nvSpPr>
          <p:spPr>
            <a:xfrm>
              <a:off x="1131174" y="4901456"/>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7" name="Google Shape;637;p33"/>
            <p:cNvSpPr txBox="1"/>
            <p:nvPr/>
          </p:nvSpPr>
          <p:spPr>
            <a:xfrm>
              <a:off x="1131174" y="4901456"/>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Learning → </a:t>
              </a:r>
              <a:r>
                <a:rPr lang="en-US" sz="1900" b="0" i="0" u="none" strike="noStrike" cap="none">
                  <a:solidFill>
                    <a:srgbClr val="FF2F92"/>
                  </a:solidFill>
                  <a:latin typeface="Calibri"/>
                  <a:ea typeface="Calibri"/>
                  <a:cs typeface="Calibri"/>
                  <a:sym typeface="Calibri"/>
                </a:rPr>
                <a:t>Teaching</a:t>
              </a:r>
              <a:r>
                <a:rPr lang="en-US" sz="1900" b="0" i="0" u="none" strike="noStrike" cap="none">
                  <a:solidFill>
                    <a:schemeClr val="dk1"/>
                  </a:solidFill>
                  <a:latin typeface="Calibri"/>
                  <a:ea typeface="Calibri"/>
                  <a:cs typeface="Calibri"/>
                  <a:sym typeface="Calibri"/>
                </a:rPr>
                <a:t> </a:t>
              </a:r>
              <a:r>
                <a:rPr lang="en-US" sz="1600" b="0" i="1" u="none" strike="noStrike" cap="none">
                  <a:solidFill>
                    <a:schemeClr val="accent1"/>
                  </a:solidFill>
                  <a:latin typeface="Calibri"/>
                  <a:ea typeface="Calibri"/>
                  <a:cs typeface="Calibri"/>
                  <a:sym typeface="Calibri"/>
                </a:rPr>
                <a:t>(New senior engineers will need it!)</a:t>
              </a:r>
              <a:endParaRPr sz="1900" b="0" i="1" u="none" strike="noStrike" cap="none">
                <a:solidFill>
                  <a:schemeClr val="accent1"/>
                </a:solidFill>
                <a:latin typeface="Calibri"/>
                <a:ea typeface="Calibri"/>
                <a:cs typeface="Calibri"/>
                <a:sym typeface="Calibri"/>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2"/>
        <p:cNvGrpSpPr/>
        <p:nvPr/>
      </p:nvGrpSpPr>
      <p:grpSpPr>
        <a:xfrm>
          <a:off x="0" y="0"/>
          <a:ext cx="0" cy="0"/>
          <a:chOff x="0" y="0"/>
          <a:chExt cx="0" cy="0"/>
        </a:xfrm>
      </p:grpSpPr>
      <p:sp>
        <p:nvSpPr>
          <p:cNvPr id="643" name="Google Shape;643;p34"/>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44" name="Google Shape;644;p34"/>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Delegation</a:t>
            </a:r>
            <a:br>
              <a:rPr lang="en-US">
                <a:solidFill>
                  <a:srgbClr val="FFFFFF"/>
                </a:solidFill>
              </a:rPr>
            </a:br>
            <a:br>
              <a:rPr lang="en-US" sz="2000">
                <a:solidFill>
                  <a:srgbClr val="FFFFFF"/>
                </a:solidFill>
              </a:rPr>
            </a:br>
            <a:r>
              <a:rPr lang="en-US" sz="2000" i="1">
                <a:solidFill>
                  <a:srgbClr val="FFFFFF"/>
                </a:solidFill>
              </a:rPr>
              <a:t>Knowing what are your </a:t>
            </a:r>
            <a:r>
              <a:rPr lang="en-US" sz="2000" i="1" u="sng">
                <a:solidFill>
                  <a:srgbClr val="FFFFFF"/>
                </a:solidFill>
              </a:rPr>
              <a:t>responsibilities</a:t>
            </a:r>
            <a:r>
              <a:rPr lang="en-US" sz="2000" i="1">
                <a:solidFill>
                  <a:srgbClr val="FFFFFF"/>
                </a:solidFill>
              </a:rPr>
              <a:t> is important</a:t>
            </a:r>
            <a:br>
              <a:rPr lang="en-US" sz="2000" i="1">
                <a:solidFill>
                  <a:srgbClr val="FFFFFF"/>
                </a:solidFill>
              </a:rPr>
            </a:br>
            <a:br>
              <a:rPr lang="en-US" sz="2000">
                <a:solidFill>
                  <a:srgbClr val="FFFFFF"/>
                </a:solidFill>
              </a:rPr>
            </a:br>
            <a:r>
              <a:rPr lang="en-US" sz="2000" i="1">
                <a:solidFill>
                  <a:srgbClr val="FFFFFF"/>
                </a:solidFill>
              </a:rPr>
              <a:t>We are here because somebody let us make </a:t>
            </a:r>
            <a:r>
              <a:rPr lang="en-US" sz="2000" i="1" u="sng">
                <a:solidFill>
                  <a:srgbClr val="FFFFFF"/>
                </a:solidFill>
              </a:rPr>
              <a:t>mistakes</a:t>
            </a:r>
            <a:br>
              <a:rPr lang="en-US" sz="2000" i="1">
                <a:solidFill>
                  <a:srgbClr val="FFFFFF"/>
                </a:solidFill>
              </a:rPr>
            </a:br>
            <a:br>
              <a:rPr lang="en-US" sz="2000" i="1">
                <a:solidFill>
                  <a:srgbClr val="FFFFFF"/>
                </a:solidFill>
              </a:rPr>
            </a:br>
            <a:r>
              <a:rPr lang="en-US" sz="2000" i="1">
                <a:solidFill>
                  <a:srgbClr val="FFFFFF"/>
                </a:solidFill>
              </a:rPr>
              <a:t>Having time for innovation needs </a:t>
            </a:r>
            <a:r>
              <a:rPr lang="en-US" sz="2000" i="1" u="sng">
                <a:solidFill>
                  <a:srgbClr val="FFFFFF"/>
                </a:solidFill>
              </a:rPr>
              <a:t>delegation</a:t>
            </a:r>
            <a:r>
              <a:rPr lang="en-US" sz="2000" i="1">
                <a:solidFill>
                  <a:srgbClr val="FFFFFF"/>
                </a:solidFill>
              </a:rPr>
              <a:t> and </a:t>
            </a:r>
            <a:r>
              <a:rPr lang="en-US" sz="2000" i="1" u="sng">
                <a:solidFill>
                  <a:srgbClr val="FFFFFF"/>
                </a:solidFill>
              </a:rPr>
              <a:t>teaching</a:t>
            </a:r>
            <a:r>
              <a:rPr lang="en-US" sz="2000" i="1">
                <a:solidFill>
                  <a:srgbClr val="FFFFFF"/>
                </a:solidFill>
              </a:rPr>
              <a:t> to someone to be able to </a:t>
            </a:r>
            <a:r>
              <a:rPr lang="en-US" sz="2000" i="1" u="sng">
                <a:solidFill>
                  <a:srgbClr val="FFFFFF"/>
                </a:solidFill>
              </a:rPr>
              <a:t>scale</a:t>
            </a:r>
            <a:endParaRPr i="1">
              <a:solidFill>
                <a:srgbClr val="FFFFFF"/>
              </a:solidFill>
            </a:endParaRPr>
          </a:p>
        </p:txBody>
      </p:sp>
      <p:grpSp>
        <p:nvGrpSpPr>
          <p:cNvPr id="645" name="Google Shape;645;p34"/>
          <p:cNvGrpSpPr/>
          <p:nvPr/>
        </p:nvGrpSpPr>
        <p:grpSpPr>
          <a:xfrm>
            <a:off x="5194300" y="471642"/>
            <a:ext cx="6513603" cy="5883988"/>
            <a:chOff x="0" y="718"/>
            <a:chExt cx="6513603" cy="5883988"/>
          </a:xfrm>
        </p:grpSpPr>
        <p:sp>
          <p:nvSpPr>
            <p:cNvPr id="646" name="Google Shape;646;p34"/>
            <p:cNvSpPr/>
            <p:nvPr/>
          </p:nvSpPr>
          <p:spPr>
            <a:xfrm>
              <a:off x="0" y="718"/>
              <a:ext cx="6513603" cy="1681139"/>
            </a:xfrm>
            <a:prstGeom prst="roundRect">
              <a:avLst>
                <a:gd name="adj" fmla="val 10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7" name="Google Shape;647;p34"/>
            <p:cNvSpPr/>
            <p:nvPr/>
          </p:nvSpPr>
          <p:spPr>
            <a:xfrm>
              <a:off x="508544" y="378974"/>
              <a:ext cx="924626" cy="924626"/>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8" name="Google Shape;648;p34"/>
            <p:cNvSpPr/>
            <p:nvPr/>
          </p:nvSpPr>
          <p:spPr>
            <a:xfrm>
              <a:off x="1941716" y="718"/>
              <a:ext cx="4571887"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9" name="Google Shape;649;p34"/>
            <p:cNvSpPr txBox="1"/>
            <p:nvPr/>
          </p:nvSpPr>
          <p:spPr>
            <a:xfrm>
              <a:off x="1941716" y="718"/>
              <a:ext cx="4571887"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90000"/>
                </a:lnSpc>
                <a:spcBef>
                  <a:spcPts val="0"/>
                </a:spcBef>
                <a:spcAft>
                  <a:spcPts val="0"/>
                </a:spcAft>
                <a:buClr>
                  <a:schemeClr val="dk1"/>
                </a:buClr>
                <a:buSzPts val="2500"/>
                <a:buFont typeface="Calibri"/>
                <a:buNone/>
              </a:pPr>
              <a:r>
                <a:rPr lang="en-US" sz="2500" b="1" i="0" u="none" strike="noStrike" cap="none">
                  <a:solidFill>
                    <a:schemeClr val="dk1"/>
                  </a:solidFill>
                  <a:latin typeface="Calibri"/>
                  <a:ea typeface="Calibri"/>
                  <a:cs typeface="Calibri"/>
                  <a:sym typeface="Calibri"/>
                </a:rPr>
                <a:t>Senior</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875"/>
                </a:spcBef>
                <a:spcAft>
                  <a:spcPts val="0"/>
                </a:spcAft>
                <a:buClr>
                  <a:schemeClr val="dk1"/>
                </a:buClr>
                <a:buSzPts val="2500"/>
                <a:buFont typeface="Calibri"/>
                <a:buNone/>
              </a:pPr>
              <a:r>
                <a:rPr lang="en-US" sz="2500" b="0" i="0" u="none" strike="noStrike" cap="none">
                  <a:solidFill>
                    <a:schemeClr val="dk1"/>
                  </a:solidFill>
                  <a:latin typeface="Calibri"/>
                  <a:ea typeface="Calibri"/>
                  <a:cs typeface="Calibri"/>
                  <a:sym typeface="Calibri"/>
                </a:rPr>
                <a:t>Complex Tasks</a:t>
              </a:r>
              <a:endParaRPr sz="1400" b="0" i="0" u="none" strike="noStrike" cap="none">
                <a:solidFill>
                  <a:srgbClr val="000000"/>
                </a:solidFill>
                <a:latin typeface="Arial"/>
                <a:ea typeface="Arial"/>
                <a:cs typeface="Arial"/>
                <a:sym typeface="Arial"/>
              </a:endParaRPr>
            </a:p>
          </p:txBody>
        </p:sp>
        <p:sp>
          <p:nvSpPr>
            <p:cNvPr id="650" name="Google Shape;650;p34"/>
            <p:cNvSpPr/>
            <p:nvPr/>
          </p:nvSpPr>
          <p:spPr>
            <a:xfrm>
              <a:off x="0" y="2102143"/>
              <a:ext cx="6513603" cy="1681139"/>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1" name="Google Shape;651;p34"/>
            <p:cNvSpPr/>
            <p:nvPr/>
          </p:nvSpPr>
          <p:spPr>
            <a:xfrm>
              <a:off x="508544" y="2480399"/>
              <a:ext cx="924626" cy="924626"/>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2" name="Google Shape;652;p34"/>
            <p:cNvSpPr/>
            <p:nvPr/>
          </p:nvSpPr>
          <p:spPr>
            <a:xfrm>
              <a:off x="1941716" y="2102143"/>
              <a:ext cx="4571887"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3" name="Google Shape;653;p34"/>
            <p:cNvSpPr txBox="1"/>
            <p:nvPr/>
          </p:nvSpPr>
          <p:spPr>
            <a:xfrm>
              <a:off x="1941716" y="2102143"/>
              <a:ext cx="4571887"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90000"/>
                </a:lnSpc>
                <a:spcBef>
                  <a:spcPts val="0"/>
                </a:spcBef>
                <a:spcAft>
                  <a:spcPts val="0"/>
                </a:spcAft>
                <a:buClr>
                  <a:schemeClr val="dk1"/>
                </a:buClr>
                <a:buSzPts val="2500"/>
                <a:buFont typeface="Calibri"/>
                <a:buNone/>
              </a:pPr>
              <a:r>
                <a:rPr lang="en-US" sz="2500" b="1" i="0" u="none" strike="noStrike" cap="none">
                  <a:solidFill>
                    <a:schemeClr val="dk1"/>
                  </a:solidFill>
                  <a:latin typeface="Calibri"/>
                  <a:ea typeface="Calibri"/>
                  <a:cs typeface="Calibri"/>
                  <a:sym typeface="Calibri"/>
                </a:rPr>
                <a:t>Semi-Senior</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875"/>
                </a:spcBef>
                <a:spcAft>
                  <a:spcPts val="0"/>
                </a:spcAft>
                <a:buClr>
                  <a:schemeClr val="dk1"/>
                </a:buClr>
                <a:buSzPts val="2500"/>
                <a:buFont typeface="Calibri"/>
                <a:buNone/>
              </a:pPr>
              <a:r>
                <a:rPr lang="en-US" sz="2500" b="0" i="0" u="none" strike="noStrike" cap="none">
                  <a:solidFill>
                    <a:schemeClr val="dk1"/>
                  </a:solidFill>
                  <a:latin typeface="Calibri"/>
                  <a:ea typeface="Calibri"/>
                  <a:cs typeface="Calibri"/>
                  <a:sym typeface="Calibri"/>
                </a:rPr>
                <a:t>Medium Tasks</a:t>
              </a:r>
              <a:endParaRPr sz="1400" b="0" i="0" u="none" strike="noStrike" cap="none">
                <a:solidFill>
                  <a:srgbClr val="000000"/>
                </a:solidFill>
                <a:latin typeface="Arial"/>
                <a:ea typeface="Arial"/>
                <a:cs typeface="Arial"/>
                <a:sym typeface="Arial"/>
              </a:endParaRPr>
            </a:p>
          </p:txBody>
        </p:sp>
        <p:sp>
          <p:nvSpPr>
            <p:cNvPr id="654" name="Google Shape;654;p34"/>
            <p:cNvSpPr/>
            <p:nvPr/>
          </p:nvSpPr>
          <p:spPr>
            <a:xfrm>
              <a:off x="0" y="4203567"/>
              <a:ext cx="6513603" cy="1681139"/>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5" name="Google Shape;655;p34"/>
            <p:cNvSpPr/>
            <p:nvPr/>
          </p:nvSpPr>
          <p:spPr>
            <a:xfrm>
              <a:off x="508544" y="4581824"/>
              <a:ext cx="924626" cy="924626"/>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6" name="Google Shape;656;p34"/>
            <p:cNvSpPr/>
            <p:nvPr/>
          </p:nvSpPr>
          <p:spPr>
            <a:xfrm>
              <a:off x="1941716" y="4203567"/>
              <a:ext cx="4571887"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7" name="Google Shape;657;p34"/>
            <p:cNvSpPr txBox="1"/>
            <p:nvPr/>
          </p:nvSpPr>
          <p:spPr>
            <a:xfrm>
              <a:off x="1941716" y="4203567"/>
              <a:ext cx="4571887"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90000"/>
                </a:lnSpc>
                <a:spcBef>
                  <a:spcPts val="0"/>
                </a:spcBef>
                <a:spcAft>
                  <a:spcPts val="0"/>
                </a:spcAft>
                <a:buClr>
                  <a:schemeClr val="dk1"/>
                </a:buClr>
                <a:buSzPts val="2500"/>
                <a:buFont typeface="Calibri"/>
                <a:buNone/>
              </a:pPr>
              <a:r>
                <a:rPr lang="en-US" sz="2500" b="1" i="0" u="none" strike="noStrike" cap="none">
                  <a:solidFill>
                    <a:schemeClr val="dk1"/>
                  </a:solidFill>
                  <a:latin typeface="Calibri"/>
                  <a:ea typeface="Calibri"/>
                  <a:cs typeface="Calibri"/>
                  <a:sym typeface="Calibri"/>
                </a:rPr>
                <a:t>Entry</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875"/>
                </a:spcBef>
                <a:spcAft>
                  <a:spcPts val="0"/>
                </a:spcAft>
                <a:buClr>
                  <a:schemeClr val="dk1"/>
                </a:buClr>
                <a:buSzPts val="2500"/>
                <a:buFont typeface="Calibri"/>
                <a:buNone/>
              </a:pPr>
              <a:r>
                <a:rPr lang="en-US" sz="2500" b="0" i="0" u="none" strike="noStrike" cap="none">
                  <a:solidFill>
                    <a:schemeClr val="dk1"/>
                  </a:solidFill>
                  <a:latin typeface="Calibri"/>
                  <a:ea typeface="Calibri"/>
                  <a:cs typeface="Calibri"/>
                  <a:sym typeface="Calibri"/>
                </a:rPr>
                <a:t>Basic Tasks</a:t>
              </a:r>
              <a:endParaRPr sz="1400" b="0" i="0" u="none" strike="noStrike" cap="none">
                <a:solidFill>
                  <a:srgbClr val="000000"/>
                </a:solidFill>
                <a:latin typeface="Arial"/>
                <a:ea typeface="Arial"/>
                <a:cs typeface="Arial"/>
                <a:sym typeface="Arial"/>
              </a:endParaRPr>
            </a:p>
          </p:txBody>
        </p:sp>
      </p:grpSp>
      <p:sp>
        <p:nvSpPr>
          <p:cNvPr id="658" name="Google Shape;658;p34"/>
          <p:cNvSpPr/>
          <p:nvPr/>
        </p:nvSpPr>
        <p:spPr>
          <a:xfrm rot="10800000" flipH="1">
            <a:off x="9863191" y="3832261"/>
            <a:ext cx="1089061" cy="1202076"/>
          </a:xfrm>
          <a:prstGeom prst="downArrow">
            <a:avLst>
              <a:gd name="adj1" fmla="val 50000"/>
              <a:gd name="adj2" fmla="val 50000"/>
            </a:avLst>
          </a:prstGeom>
          <a:solidFill>
            <a:srgbClr val="3F3F3F"/>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4"/>
          <p:cNvSpPr/>
          <p:nvPr/>
        </p:nvSpPr>
        <p:spPr>
          <a:xfrm rot="10800000" flipH="1">
            <a:off x="9863191" y="1652427"/>
            <a:ext cx="1089061" cy="1202076"/>
          </a:xfrm>
          <a:prstGeom prst="downArrow">
            <a:avLst>
              <a:gd name="adj1" fmla="val 50000"/>
              <a:gd name="adj2" fmla="val 50000"/>
            </a:avLst>
          </a:prstGeom>
          <a:solidFill>
            <a:srgbClr val="3F3F3F"/>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63"/>
        <p:cNvGrpSpPr/>
        <p:nvPr/>
      </p:nvGrpSpPr>
      <p:grpSpPr>
        <a:xfrm>
          <a:off x="0" y="0"/>
          <a:ext cx="0" cy="0"/>
          <a:chOff x="0" y="0"/>
          <a:chExt cx="0" cy="0"/>
        </a:xfrm>
      </p:grpSpPr>
      <p:sp>
        <p:nvSpPr>
          <p:cNvPr id="664" name="Google Shape;664;p35"/>
          <p:cNvSpPr/>
          <p:nvPr/>
        </p:nvSpPr>
        <p:spPr>
          <a:xfrm>
            <a:off x="355601" y="0"/>
            <a:ext cx="11480494" cy="2753936"/>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65" name="Google Shape;665;p35"/>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66" name="Google Shape;666;p35"/>
          <p:cNvSpPr txBox="1">
            <a:spLocks noGrp="1"/>
          </p:cNvSpPr>
          <p:nvPr>
            <p:ph type="title"/>
          </p:nvPr>
        </p:nvSpPr>
        <p:spPr>
          <a:xfrm>
            <a:off x="1179226" y="826680"/>
            <a:ext cx="9833548"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Calibri"/>
              <a:buNone/>
            </a:pPr>
            <a:r>
              <a:rPr lang="en-US" sz="4000">
                <a:solidFill>
                  <a:srgbClr val="FFFFFF"/>
                </a:solidFill>
              </a:rPr>
              <a:t>2</a:t>
            </a:r>
            <a:r>
              <a:rPr lang="en-US" sz="4000" baseline="30000">
                <a:solidFill>
                  <a:srgbClr val="FFFFFF"/>
                </a:solidFill>
              </a:rPr>
              <a:t>nd</a:t>
            </a:r>
            <a:r>
              <a:rPr lang="en-US" sz="4000">
                <a:solidFill>
                  <a:srgbClr val="FFFFFF"/>
                </a:solidFill>
              </a:rPr>
              <a:t> in Command (Backup)</a:t>
            </a:r>
            <a:endParaRPr/>
          </a:p>
        </p:txBody>
      </p:sp>
      <p:sp>
        <p:nvSpPr>
          <p:cNvPr id="667" name="Google Shape;667;p35"/>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668" name="Google Shape;668;p35"/>
          <p:cNvGrpSpPr/>
          <p:nvPr/>
        </p:nvGrpSpPr>
        <p:grpSpPr>
          <a:xfrm>
            <a:off x="1385062" y="2913137"/>
            <a:ext cx="9421875" cy="3105001"/>
            <a:chOff x="348742" y="13181"/>
            <a:chExt cx="9421875" cy="3105001"/>
          </a:xfrm>
        </p:grpSpPr>
        <p:sp>
          <p:nvSpPr>
            <p:cNvPr id="669" name="Google Shape;669;p35"/>
            <p:cNvSpPr/>
            <p:nvPr/>
          </p:nvSpPr>
          <p:spPr>
            <a:xfrm>
              <a:off x="897179" y="13181"/>
              <a:ext cx="1715625" cy="1715625"/>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0" name="Google Shape;670;p35"/>
            <p:cNvSpPr/>
            <p:nvPr/>
          </p:nvSpPr>
          <p:spPr>
            <a:xfrm>
              <a:off x="1262804" y="378807"/>
              <a:ext cx="984375" cy="984375"/>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35"/>
            <p:cNvSpPr/>
            <p:nvPr/>
          </p:nvSpPr>
          <p:spPr>
            <a:xfrm>
              <a:off x="348742" y="2263182"/>
              <a:ext cx="2812500" cy="855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2" name="Google Shape;672;p35"/>
            <p:cNvSpPr txBox="1"/>
            <p:nvPr/>
          </p:nvSpPr>
          <p:spPr>
            <a:xfrm>
              <a:off x="348742" y="2263182"/>
              <a:ext cx="2812500" cy="855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RESPONSIBILITIES MATRIX</a:t>
              </a:r>
              <a:endParaRPr sz="1400" b="0" i="0" u="none" strike="noStrike" cap="none">
                <a:solidFill>
                  <a:srgbClr val="000000"/>
                </a:solidFill>
                <a:latin typeface="Arial"/>
                <a:ea typeface="Arial"/>
                <a:cs typeface="Arial"/>
                <a:sym typeface="Arial"/>
              </a:endParaRPr>
            </a:p>
          </p:txBody>
        </p:sp>
        <p:sp>
          <p:nvSpPr>
            <p:cNvPr id="673" name="Google Shape;673;p35"/>
            <p:cNvSpPr/>
            <p:nvPr/>
          </p:nvSpPr>
          <p:spPr>
            <a:xfrm>
              <a:off x="4201867" y="13181"/>
              <a:ext cx="1715625" cy="1715625"/>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35"/>
            <p:cNvSpPr/>
            <p:nvPr/>
          </p:nvSpPr>
          <p:spPr>
            <a:xfrm>
              <a:off x="4567492" y="378807"/>
              <a:ext cx="984375" cy="984375"/>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p35"/>
            <p:cNvSpPr/>
            <p:nvPr/>
          </p:nvSpPr>
          <p:spPr>
            <a:xfrm>
              <a:off x="3653429" y="2263182"/>
              <a:ext cx="2812500" cy="855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6" name="Google Shape;676;p35"/>
            <p:cNvSpPr txBox="1"/>
            <p:nvPr/>
          </p:nvSpPr>
          <p:spPr>
            <a:xfrm>
              <a:off x="3653429" y="2263182"/>
              <a:ext cx="2812500" cy="855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COUPLE OF YOUR SELECTION </a:t>
              </a:r>
              <a:br>
                <a:rPr lang="en-US" sz="1800" b="1"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(HIRE A NEW MEMBER?)</a:t>
              </a:r>
              <a:endParaRPr sz="1400" b="0" i="0" u="none" strike="noStrike" cap="none">
                <a:solidFill>
                  <a:srgbClr val="000000"/>
                </a:solidFill>
                <a:latin typeface="Arial"/>
                <a:ea typeface="Arial"/>
                <a:cs typeface="Arial"/>
                <a:sym typeface="Arial"/>
              </a:endParaRPr>
            </a:p>
          </p:txBody>
        </p:sp>
        <p:sp>
          <p:nvSpPr>
            <p:cNvPr id="677" name="Google Shape;677;p35"/>
            <p:cNvSpPr/>
            <p:nvPr/>
          </p:nvSpPr>
          <p:spPr>
            <a:xfrm>
              <a:off x="7506555" y="13181"/>
              <a:ext cx="1715625" cy="1715625"/>
            </a:xfrm>
            <a:prstGeom prst="ellipse">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35"/>
            <p:cNvSpPr/>
            <p:nvPr/>
          </p:nvSpPr>
          <p:spPr>
            <a:xfrm>
              <a:off x="7872180" y="378807"/>
              <a:ext cx="984375" cy="984375"/>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9" name="Google Shape;679;p35"/>
            <p:cNvSpPr/>
            <p:nvPr/>
          </p:nvSpPr>
          <p:spPr>
            <a:xfrm>
              <a:off x="6958117" y="2263182"/>
              <a:ext cx="2812500" cy="855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0" name="Google Shape;680;p35"/>
            <p:cNvSpPr txBox="1"/>
            <p:nvPr/>
          </p:nvSpPr>
          <p:spPr>
            <a:xfrm>
              <a:off x="6958117" y="2263182"/>
              <a:ext cx="2812500" cy="855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PROMOTES SHARING </a:t>
              </a:r>
              <a:r>
                <a:rPr lang="en-US" sz="1800" b="0" i="0" u="none" strike="noStrike" cap="none">
                  <a:solidFill>
                    <a:schemeClr val="dk1"/>
                  </a:solidFill>
                  <a:latin typeface="Calibri"/>
                  <a:ea typeface="Calibri"/>
                  <a:cs typeface="Calibri"/>
                  <a:sym typeface="Calibri"/>
                </a:rPr>
                <a:t>OF CRITICAL DOCUMENTATION AND KNOWLEDGE</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36"/>
          <p:cNvSpPr txBox="1">
            <a:spLocks noGrp="1"/>
          </p:cNvSpPr>
          <p:nvPr>
            <p:ph type="title"/>
          </p:nvPr>
        </p:nvSpPr>
        <p:spPr>
          <a:xfrm>
            <a:off x="838200" y="365125"/>
            <a:ext cx="10515600" cy="1325563"/>
          </a:xfrm>
          <a:prstGeom prst="rect">
            <a:avLst/>
          </a:prstGeom>
          <a:solidFill>
            <a:srgbClr val="262626"/>
          </a:soli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400"/>
              <a:buFont typeface="Calibri"/>
              <a:buNone/>
            </a:pPr>
            <a:r>
              <a:rPr lang="en-US" b="1">
                <a:solidFill>
                  <a:schemeClr val="lt1"/>
                </a:solidFill>
              </a:rPr>
              <a:t>Update Responsibility Matrix</a:t>
            </a:r>
            <a:endParaRPr/>
          </a:p>
        </p:txBody>
      </p:sp>
      <p:sp>
        <p:nvSpPr>
          <p:cNvPr id="687" name="Google Shape;687;p36"/>
          <p:cNvSpPr txBox="1"/>
          <p:nvPr/>
        </p:nvSpPr>
        <p:spPr>
          <a:xfrm>
            <a:off x="838200" y="1882063"/>
            <a:ext cx="8206946" cy="45243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Calibri"/>
                <a:ea typeface="Calibri"/>
                <a:cs typeface="Calibri"/>
                <a:sym typeface="Calibri"/>
              </a:rPr>
              <a:t>Infrastructure: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Network</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Compute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Storage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Management Systems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Security/Identity Devices/Systems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Backup System and Disaster Recovery</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Monitoring / Alerting (NPM, ITM, APM)</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Supporting Business Applications</a:t>
            </a:r>
            <a:endParaRPr sz="1400" b="0" i="0" u="none" strike="noStrike" cap="none">
              <a:solidFill>
                <a:srgbClr val="000000"/>
              </a:solidFill>
              <a:latin typeface="Arial"/>
              <a:ea typeface="Arial"/>
              <a:cs typeface="Arial"/>
              <a:sym typeface="Arial"/>
            </a:endParaRPr>
          </a:p>
        </p:txBody>
      </p:sp>
      <p:pic>
        <p:nvPicPr>
          <p:cNvPr id="688" name="Google Shape;688;p36" descr="Image result for fibonacci square"/>
          <p:cNvPicPr preferRelativeResize="0"/>
          <p:nvPr/>
        </p:nvPicPr>
        <p:blipFill rotWithShape="1">
          <a:blip r:embed="rId3">
            <a:alphaModFix/>
          </a:blip>
          <a:srcRect/>
          <a:stretch/>
        </p:blipFill>
        <p:spPr>
          <a:xfrm>
            <a:off x="7438765" y="1976653"/>
            <a:ext cx="3923013" cy="2464257"/>
          </a:xfrm>
          <a:prstGeom prst="rect">
            <a:avLst/>
          </a:prstGeom>
          <a:noFill/>
          <a:ln>
            <a:noFill/>
          </a:ln>
        </p:spPr>
      </p:pic>
      <p:pic>
        <p:nvPicPr>
          <p:cNvPr id="689" name="Google Shape;689;p36" descr="Related image"/>
          <p:cNvPicPr preferRelativeResize="0"/>
          <p:nvPr/>
        </p:nvPicPr>
        <p:blipFill rotWithShape="1">
          <a:blip r:embed="rId4">
            <a:alphaModFix/>
          </a:blip>
          <a:srcRect/>
          <a:stretch/>
        </p:blipFill>
        <p:spPr>
          <a:xfrm flipH="1">
            <a:off x="9667875" y="2570206"/>
            <a:ext cx="814244" cy="1050324"/>
          </a:xfrm>
          <a:prstGeom prst="rect">
            <a:avLst/>
          </a:prstGeom>
          <a:noFill/>
          <a:ln>
            <a:noFill/>
          </a:ln>
        </p:spPr>
      </p:pic>
      <p:pic>
        <p:nvPicPr>
          <p:cNvPr id="690" name="Google Shape;690;p36" descr="Related image"/>
          <p:cNvPicPr preferRelativeResize="0"/>
          <p:nvPr/>
        </p:nvPicPr>
        <p:blipFill rotWithShape="1">
          <a:blip r:embed="rId4">
            <a:alphaModFix/>
          </a:blip>
          <a:srcRect/>
          <a:stretch/>
        </p:blipFill>
        <p:spPr>
          <a:xfrm flipH="1">
            <a:off x="7855550" y="3161858"/>
            <a:ext cx="814244" cy="1050324"/>
          </a:xfrm>
          <a:prstGeom prst="rect">
            <a:avLst/>
          </a:prstGeom>
          <a:noFill/>
          <a:ln>
            <a:noFill/>
          </a:ln>
        </p:spPr>
      </p:pic>
      <p:pic>
        <p:nvPicPr>
          <p:cNvPr id="691" name="Google Shape;691;p36" descr="Related image"/>
          <p:cNvPicPr preferRelativeResize="0"/>
          <p:nvPr/>
        </p:nvPicPr>
        <p:blipFill rotWithShape="1">
          <a:blip r:embed="rId4">
            <a:alphaModFix/>
          </a:blip>
          <a:srcRect/>
          <a:stretch/>
        </p:blipFill>
        <p:spPr>
          <a:xfrm flipH="1">
            <a:off x="8265482" y="2160961"/>
            <a:ext cx="460949" cy="594596"/>
          </a:xfrm>
          <a:prstGeom prst="rect">
            <a:avLst/>
          </a:prstGeom>
          <a:noFill/>
          <a:ln>
            <a:noFill/>
          </a:ln>
        </p:spPr>
      </p:pic>
      <p:pic>
        <p:nvPicPr>
          <p:cNvPr id="692" name="Google Shape;692;p36" descr="Related image"/>
          <p:cNvPicPr preferRelativeResize="0"/>
          <p:nvPr/>
        </p:nvPicPr>
        <p:blipFill rotWithShape="1">
          <a:blip r:embed="rId4">
            <a:alphaModFix/>
          </a:blip>
          <a:srcRect/>
          <a:stretch/>
        </p:blipFill>
        <p:spPr>
          <a:xfrm flipH="1">
            <a:off x="7642753" y="2441628"/>
            <a:ext cx="336656" cy="434265"/>
          </a:xfrm>
          <a:prstGeom prst="rect">
            <a:avLst/>
          </a:prstGeom>
          <a:noFill/>
          <a:ln>
            <a:noFill/>
          </a:ln>
        </p:spPr>
      </p:pic>
      <p:pic>
        <p:nvPicPr>
          <p:cNvPr id="693" name="Google Shape;693;p36" descr="Image result for underconstruction"/>
          <p:cNvPicPr preferRelativeResize="0"/>
          <p:nvPr/>
        </p:nvPicPr>
        <p:blipFill rotWithShape="1">
          <a:blip r:embed="rId5">
            <a:alphaModFix/>
          </a:blip>
          <a:srcRect/>
          <a:stretch/>
        </p:blipFill>
        <p:spPr>
          <a:xfrm>
            <a:off x="7979409" y="4625218"/>
            <a:ext cx="2852517" cy="149634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7"/>
        <p:cNvGrpSpPr/>
        <p:nvPr/>
      </p:nvGrpSpPr>
      <p:grpSpPr>
        <a:xfrm>
          <a:off x="0" y="0"/>
          <a:ext cx="0" cy="0"/>
          <a:chOff x="0" y="0"/>
          <a:chExt cx="0" cy="0"/>
        </a:xfrm>
      </p:grpSpPr>
      <p:sp>
        <p:nvSpPr>
          <p:cNvPr id="698" name="Google Shape;698;p37"/>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99" name="Google Shape;699;p37"/>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3700"/>
              <a:buFont typeface="Calibri"/>
              <a:buNone/>
            </a:pPr>
            <a:r>
              <a:rPr lang="en-US" sz="3700">
                <a:solidFill>
                  <a:srgbClr val="FFFFFF"/>
                </a:solidFill>
              </a:rPr>
              <a:t>Documentation</a:t>
            </a:r>
            <a:br>
              <a:rPr lang="en-US" sz="3700">
                <a:solidFill>
                  <a:srgbClr val="FFFFFF"/>
                </a:solidFill>
              </a:rPr>
            </a:br>
            <a:r>
              <a:rPr lang="en-US" sz="2800">
                <a:solidFill>
                  <a:srgbClr val="FFFFFF"/>
                </a:solidFill>
              </a:rPr>
              <a:t>(The Critical One)</a:t>
            </a:r>
            <a:endParaRPr sz="3700">
              <a:solidFill>
                <a:srgbClr val="FFFFFF"/>
              </a:solidFill>
            </a:endParaRPr>
          </a:p>
        </p:txBody>
      </p:sp>
      <p:sp>
        <p:nvSpPr>
          <p:cNvPr id="700" name="Google Shape;700;p37"/>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701" name="Google Shape;701;p37"/>
          <p:cNvGrpSpPr/>
          <p:nvPr/>
        </p:nvGrpSpPr>
        <p:grpSpPr>
          <a:xfrm>
            <a:off x="5194300" y="475521"/>
            <a:ext cx="6513603" cy="5876230"/>
            <a:chOff x="0" y="4597"/>
            <a:chExt cx="6513603" cy="5876230"/>
          </a:xfrm>
        </p:grpSpPr>
        <p:sp>
          <p:nvSpPr>
            <p:cNvPr id="702" name="Google Shape;702;p37"/>
            <p:cNvSpPr/>
            <p:nvPr/>
          </p:nvSpPr>
          <p:spPr>
            <a:xfrm>
              <a:off x="0" y="4597"/>
              <a:ext cx="6513603" cy="97937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3" name="Google Shape;703;p37"/>
            <p:cNvSpPr/>
            <p:nvPr/>
          </p:nvSpPr>
          <p:spPr>
            <a:xfrm>
              <a:off x="296259" y="224956"/>
              <a:ext cx="538654" cy="538654"/>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4" name="Google Shape;704;p37"/>
            <p:cNvSpPr/>
            <p:nvPr/>
          </p:nvSpPr>
          <p:spPr>
            <a:xfrm>
              <a:off x="1131174" y="4597"/>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5" name="Google Shape;705;p37"/>
            <p:cNvSpPr txBox="1"/>
            <p:nvPr/>
          </p:nvSpPr>
          <p:spPr>
            <a:xfrm>
              <a:off x="1131174" y="4597"/>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Alive (always change)</a:t>
              </a:r>
              <a:endParaRPr sz="1400" b="0" i="0" u="none" strike="noStrike" cap="none">
                <a:solidFill>
                  <a:srgbClr val="000000"/>
                </a:solidFill>
                <a:latin typeface="Arial"/>
                <a:ea typeface="Arial"/>
                <a:cs typeface="Arial"/>
                <a:sym typeface="Arial"/>
              </a:endParaRPr>
            </a:p>
          </p:txBody>
        </p:sp>
        <p:sp>
          <p:nvSpPr>
            <p:cNvPr id="706" name="Google Shape;706;p37"/>
            <p:cNvSpPr/>
            <p:nvPr/>
          </p:nvSpPr>
          <p:spPr>
            <a:xfrm>
              <a:off x="0" y="1228812"/>
              <a:ext cx="6513603" cy="97937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p37"/>
            <p:cNvSpPr/>
            <p:nvPr/>
          </p:nvSpPr>
          <p:spPr>
            <a:xfrm>
              <a:off x="296259" y="1449171"/>
              <a:ext cx="538654" cy="538654"/>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37"/>
            <p:cNvSpPr/>
            <p:nvPr/>
          </p:nvSpPr>
          <p:spPr>
            <a:xfrm>
              <a:off x="1131174" y="1228812"/>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37"/>
            <p:cNvSpPr txBox="1"/>
            <p:nvPr/>
          </p:nvSpPr>
          <p:spPr>
            <a:xfrm>
              <a:off x="1131174" y="1228812"/>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Challenging for everyone (a lot of reasons)</a:t>
              </a:r>
              <a:endParaRPr sz="1400" b="0" i="0" u="none" strike="noStrike" cap="none">
                <a:solidFill>
                  <a:srgbClr val="000000"/>
                </a:solidFill>
                <a:latin typeface="Arial"/>
                <a:ea typeface="Arial"/>
                <a:cs typeface="Arial"/>
                <a:sym typeface="Arial"/>
              </a:endParaRPr>
            </a:p>
          </p:txBody>
        </p:sp>
        <p:sp>
          <p:nvSpPr>
            <p:cNvPr id="710" name="Google Shape;710;p37"/>
            <p:cNvSpPr/>
            <p:nvPr/>
          </p:nvSpPr>
          <p:spPr>
            <a:xfrm>
              <a:off x="0" y="2453027"/>
              <a:ext cx="6513603" cy="97937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37"/>
            <p:cNvSpPr/>
            <p:nvPr/>
          </p:nvSpPr>
          <p:spPr>
            <a:xfrm>
              <a:off x="296259" y="2673385"/>
              <a:ext cx="538654" cy="538654"/>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37"/>
            <p:cNvSpPr/>
            <p:nvPr/>
          </p:nvSpPr>
          <p:spPr>
            <a:xfrm>
              <a:off x="1131174" y="2453027"/>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37"/>
            <p:cNvSpPr txBox="1"/>
            <p:nvPr/>
          </p:nvSpPr>
          <p:spPr>
            <a:xfrm>
              <a:off x="1131174" y="2453027"/>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Boring because it is not for you but for others</a:t>
              </a:r>
              <a:endParaRPr sz="1400" b="0" i="0" u="none" strike="noStrike" cap="none">
                <a:solidFill>
                  <a:srgbClr val="000000"/>
                </a:solidFill>
                <a:latin typeface="Arial"/>
                <a:ea typeface="Arial"/>
                <a:cs typeface="Arial"/>
                <a:sym typeface="Arial"/>
              </a:endParaRPr>
            </a:p>
          </p:txBody>
        </p:sp>
        <p:sp>
          <p:nvSpPr>
            <p:cNvPr id="714" name="Google Shape;714;p37"/>
            <p:cNvSpPr/>
            <p:nvPr/>
          </p:nvSpPr>
          <p:spPr>
            <a:xfrm>
              <a:off x="0" y="3677241"/>
              <a:ext cx="6513603" cy="97937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37"/>
            <p:cNvSpPr/>
            <p:nvPr/>
          </p:nvSpPr>
          <p:spPr>
            <a:xfrm>
              <a:off x="296259" y="3897600"/>
              <a:ext cx="538654" cy="538654"/>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6" name="Google Shape;716;p37"/>
            <p:cNvSpPr/>
            <p:nvPr/>
          </p:nvSpPr>
          <p:spPr>
            <a:xfrm>
              <a:off x="1131174" y="3677241"/>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37"/>
            <p:cNvSpPr txBox="1"/>
            <p:nvPr/>
          </p:nvSpPr>
          <p:spPr>
            <a:xfrm>
              <a:off x="1131174" y="3677241"/>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Needed for delegation to others (i.e. newcomers, leftovers when vacation, sickness, renounce).</a:t>
              </a:r>
              <a:endParaRPr sz="1400" b="0" i="0" u="none" strike="noStrike" cap="none">
                <a:solidFill>
                  <a:srgbClr val="000000"/>
                </a:solidFill>
                <a:latin typeface="Arial"/>
                <a:ea typeface="Arial"/>
                <a:cs typeface="Arial"/>
                <a:sym typeface="Arial"/>
              </a:endParaRPr>
            </a:p>
          </p:txBody>
        </p:sp>
        <p:sp>
          <p:nvSpPr>
            <p:cNvPr id="718" name="Google Shape;718;p37"/>
            <p:cNvSpPr/>
            <p:nvPr/>
          </p:nvSpPr>
          <p:spPr>
            <a:xfrm>
              <a:off x="0" y="4901456"/>
              <a:ext cx="6513603" cy="97937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9" name="Google Shape;719;p37"/>
            <p:cNvSpPr/>
            <p:nvPr/>
          </p:nvSpPr>
          <p:spPr>
            <a:xfrm>
              <a:off x="296259" y="5121814"/>
              <a:ext cx="538654" cy="538654"/>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0" name="Google Shape;720;p37"/>
            <p:cNvSpPr/>
            <p:nvPr/>
          </p:nvSpPr>
          <p:spPr>
            <a:xfrm>
              <a:off x="1131174" y="4901456"/>
              <a:ext cx="2931121"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1" name="Google Shape;721;p37"/>
            <p:cNvSpPr txBox="1"/>
            <p:nvPr/>
          </p:nvSpPr>
          <p:spPr>
            <a:xfrm>
              <a:off x="1131174" y="4901456"/>
              <a:ext cx="2931121"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100000"/>
                </a:lnSpc>
                <a:spcBef>
                  <a:spcPts val="0"/>
                </a:spcBef>
                <a:spcAft>
                  <a:spcPts val="0"/>
                </a:spcAft>
                <a:buClr>
                  <a:schemeClr val="dk1"/>
                </a:buClr>
                <a:buSzPts val="1900"/>
                <a:buFont typeface="Calibri"/>
                <a:buNone/>
              </a:pPr>
              <a:r>
                <a:rPr lang="en-US" sz="1900" b="0" i="0" u="none" strike="noStrike" cap="none">
                  <a:solidFill>
                    <a:schemeClr val="dk1"/>
                  </a:solidFill>
                  <a:latin typeface="Calibri"/>
                  <a:ea typeface="Calibri"/>
                  <a:cs typeface="Calibri"/>
                  <a:sym typeface="Calibri"/>
                </a:rPr>
                <a:t>Important when companies  growth up in time</a:t>
              </a:r>
              <a:endParaRPr sz="1400" b="0" i="0" u="none" strike="noStrike" cap="none">
                <a:solidFill>
                  <a:srgbClr val="000000"/>
                </a:solidFill>
                <a:latin typeface="Arial"/>
                <a:ea typeface="Arial"/>
                <a:cs typeface="Arial"/>
                <a:sym typeface="Arial"/>
              </a:endParaRPr>
            </a:p>
          </p:txBody>
        </p:sp>
        <p:sp>
          <p:nvSpPr>
            <p:cNvPr id="722" name="Google Shape;722;p37"/>
            <p:cNvSpPr/>
            <p:nvPr/>
          </p:nvSpPr>
          <p:spPr>
            <a:xfrm>
              <a:off x="4062296" y="4901456"/>
              <a:ext cx="2451307"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3" name="Google Shape;723;p37"/>
            <p:cNvSpPr txBox="1"/>
            <p:nvPr/>
          </p:nvSpPr>
          <p:spPr>
            <a:xfrm>
              <a:off x="4062296" y="4901456"/>
              <a:ext cx="2451307"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100000"/>
                </a:lnSpc>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Reduce tribal knowledge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55"/>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Raise quality levels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55"/>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Allow auditing</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38"/>
          <p:cNvSpPr txBox="1">
            <a:spLocks noGrp="1"/>
          </p:cNvSpPr>
          <p:nvPr>
            <p:ph type="title"/>
          </p:nvPr>
        </p:nvSpPr>
        <p:spPr>
          <a:xfrm>
            <a:off x="838200" y="365126"/>
            <a:ext cx="10515600" cy="1152344"/>
          </a:xfrm>
          <a:prstGeom prst="rect">
            <a:avLst/>
          </a:prstGeom>
          <a:solidFill>
            <a:srgbClr val="3F3F3F"/>
          </a:soli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400"/>
              <a:buFont typeface="Calibri"/>
              <a:buNone/>
            </a:pPr>
            <a:r>
              <a:rPr lang="en-US">
                <a:solidFill>
                  <a:schemeClr val="lt1"/>
                </a:solidFill>
              </a:rPr>
              <a:t>Documentation: Layered / Trimmed / Useful</a:t>
            </a:r>
            <a:endParaRPr/>
          </a:p>
        </p:txBody>
      </p:sp>
      <p:pic>
        <p:nvPicPr>
          <p:cNvPr id="730" name="Google Shape;730;p38"/>
          <p:cNvPicPr preferRelativeResize="0"/>
          <p:nvPr/>
        </p:nvPicPr>
        <p:blipFill rotWithShape="1">
          <a:blip r:embed="rId3">
            <a:alphaModFix/>
          </a:blip>
          <a:srcRect/>
          <a:stretch/>
        </p:blipFill>
        <p:spPr>
          <a:xfrm>
            <a:off x="4160133" y="1586527"/>
            <a:ext cx="3212053" cy="2290522"/>
          </a:xfrm>
          <a:prstGeom prst="rect">
            <a:avLst/>
          </a:prstGeom>
          <a:noFill/>
          <a:ln>
            <a:noFill/>
          </a:ln>
        </p:spPr>
      </p:pic>
      <p:pic>
        <p:nvPicPr>
          <p:cNvPr id="731" name="Google Shape;731;p38"/>
          <p:cNvPicPr preferRelativeResize="0"/>
          <p:nvPr/>
        </p:nvPicPr>
        <p:blipFill rotWithShape="1">
          <a:blip r:embed="rId4">
            <a:alphaModFix/>
          </a:blip>
          <a:srcRect/>
          <a:stretch/>
        </p:blipFill>
        <p:spPr>
          <a:xfrm>
            <a:off x="4160132" y="3934531"/>
            <a:ext cx="3212053" cy="2209338"/>
          </a:xfrm>
          <a:prstGeom prst="rect">
            <a:avLst/>
          </a:prstGeom>
          <a:noFill/>
          <a:ln>
            <a:noFill/>
          </a:ln>
        </p:spPr>
      </p:pic>
      <p:pic>
        <p:nvPicPr>
          <p:cNvPr id="732" name="Google Shape;732;p38" descr="Image result for eye"/>
          <p:cNvPicPr preferRelativeResize="0"/>
          <p:nvPr/>
        </p:nvPicPr>
        <p:blipFill rotWithShape="1">
          <a:blip r:embed="rId5">
            <a:alphaModFix/>
          </a:blip>
          <a:srcRect/>
          <a:stretch/>
        </p:blipFill>
        <p:spPr>
          <a:xfrm>
            <a:off x="1075559" y="1574951"/>
            <a:ext cx="2859833" cy="2290522"/>
          </a:xfrm>
          <a:prstGeom prst="rect">
            <a:avLst/>
          </a:prstGeom>
          <a:noFill/>
          <a:ln>
            <a:noFill/>
          </a:ln>
        </p:spPr>
      </p:pic>
      <p:pic>
        <p:nvPicPr>
          <p:cNvPr id="733" name="Google Shape;733;p38"/>
          <p:cNvPicPr preferRelativeResize="0"/>
          <p:nvPr/>
        </p:nvPicPr>
        <p:blipFill rotWithShape="1">
          <a:blip r:embed="rId6">
            <a:alphaModFix/>
          </a:blip>
          <a:srcRect/>
          <a:stretch/>
        </p:blipFill>
        <p:spPr>
          <a:xfrm>
            <a:off x="1075559" y="3934531"/>
            <a:ext cx="2859834" cy="2209339"/>
          </a:xfrm>
          <a:prstGeom prst="rect">
            <a:avLst/>
          </a:prstGeom>
          <a:noFill/>
          <a:ln>
            <a:noFill/>
          </a:ln>
        </p:spPr>
      </p:pic>
      <p:sp>
        <p:nvSpPr>
          <p:cNvPr id="734" name="Google Shape;734;p38"/>
          <p:cNvSpPr txBox="1"/>
          <p:nvPr/>
        </p:nvSpPr>
        <p:spPr>
          <a:xfrm>
            <a:off x="1470456" y="6286877"/>
            <a:ext cx="194001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Abstraction</a:t>
            </a:r>
            <a:endParaRPr sz="1400" b="0" i="0" u="none" strike="noStrike" cap="none">
              <a:solidFill>
                <a:srgbClr val="000000"/>
              </a:solidFill>
              <a:latin typeface="Arial"/>
              <a:ea typeface="Arial"/>
              <a:cs typeface="Arial"/>
              <a:sym typeface="Arial"/>
            </a:endParaRPr>
          </a:p>
        </p:txBody>
      </p:sp>
      <p:sp>
        <p:nvSpPr>
          <p:cNvPr id="735" name="Google Shape;735;p38"/>
          <p:cNvSpPr txBox="1"/>
          <p:nvPr/>
        </p:nvSpPr>
        <p:spPr>
          <a:xfrm>
            <a:off x="5189835" y="6158133"/>
            <a:ext cx="210820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Update -&gt; Critical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Archive -&gt; Obsolete</a:t>
            </a:r>
            <a:endParaRPr sz="1400" b="0" i="0" u="none" strike="noStrike" cap="none">
              <a:solidFill>
                <a:srgbClr val="000000"/>
              </a:solidFill>
              <a:latin typeface="Arial"/>
              <a:ea typeface="Arial"/>
              <a:cs typeface="Arial"/>
              <a:sym typeface="Arial"/>
            </a:endParaRPr>
          </a:p>
        </p:txBody>
      </p:sp>
      <p:sp>
        <p:nvSpPr>
          <p:cNvPr id="736" name="Google Shape;736;p38"/>
          <p:cNvSpPr txBox="1"/>
          <p:nvPr/>
        </p:nvSpPr>
        <p:spPr>
          <a:xfrm>
            <a:off x="7710484" y="6160906"/>
            <a:ext cx="3406097"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Focused on Training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Discoverable (Searchable)</a:t>
            </a:r>
            <a:endParaRPr sz="1400" b="0" i="0" u="none" strike="noStrike" cap="none" dirty="0">
              <a:solidFill>
                <a:srgbClr val="000000"/>
              </a:solidFill>
              <a:latin typeface="Arial"/>
              <a:ea typeface="Arial"/>
              <a:cs typeface="Arial"/>
              <a:sym typeface="Arial"/>
            </a:endParaRPr>
          </a:p>
        </p:txBody>
      </p:sp>
      <p:pic>
        <p:nvPicPr>
          <p:cNvPr id="737" name="Google Shape;737;p38" descr="Image result for training"/>
          <p:cNvPicPr preferRelativeResize="0"/>
          <p:nvPr/>
        </p:nvPicPr>
        <p:blipFill rotWithShape="1">
          <a:blip r:embed="rId7">
            <a:alphaModFix/>
          </a:blip>
          <a:srcRect/>
          <a:stretch/>
        </p:blipFill>
        <p:spPr>
          <a:xfrm>
            <a:off x="7710485" y="1594742"/>
            <a:ext cx="3406097" cy="2270731"/>
          </a:xfrm>
          <a:prstGeom prst="rect">
            <a:avLst/>
          </a:prstGeom>
          <a:noFill/>
          <a:ln>
            <a:noFill/>
          </a:ln>
        </p:spPr>
      </p:pic>
      <p:pic>
        <p:nvPicPr>
          <p:cNvPr id="738" name="Google Shape;738;p38" descr="Image result for ask for help"/>
          <p:cNvPicPr preferRelativeResize="0"/>
          <p:nvPr/>
        </p:nvPicPr>
        <p:blipFill rotWithShape="1">
          <a:blip r:embed="rId8">
            <a:alphaModFix/>
          </a:blip>
          <a:srcRect/>
          <a:stretch/>
        </p:blipFill>
        <p:spPr>
          <a:xfrm>
            <a:off x="7710484" y="3942745"/>
            <a:ext cx="3406097" cy="2209337"/>
          </a:xfrm>
          <a:prstGeom prst="rect">
            <a:avLst/>
          </a:prstGeom>
          <a:noFill/>
          <a:ln>
            <a:noFill/>
          </a:ln>
        </p:spPr>
      </p:pic>
      <p:sp>
        <p:nvSpPr>
          <p:cNvPr id="739" name="Google Shape;739;p38"/>
          <p:cNvSpPr/>
          <p:nvPr/>
        </p:nvSpPr>
        <p:spPr>
          <a:xfrm>
            <a:off x="4935012" y="6214731"/>
            <a:ext cx="254823" cy="556286"/>
          </a:xfrm>
          <a:prstGeom prst="leftBrace">
            <a:avLst>
              <a:gd name="adj1" fmla="val 8333"/>
              <a:gd name="adj2" fmla="val 50000"/>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0" name="Google Shape;740;p38"/>
          <p:cNvSpPr txBox="1"/>
          <p:nvPr/>
        </p:nvSpPr>
        <p:spPr>
          <a:xfrm>
            <a:off x="4307305" y="6308208"/>
            <a:ext cx="578279" cy="369332"/>
          </a:xfrm>
          <a:prstGeom prst="rect">
            <a:avLst/>
          </a:prstGeom>
          <a:solidFill>
            <a:srgbClr val="0C0C0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FFFF00"/>
                </a:solidFill>
                <a:latin typeface="Calibri"/>
                <a:ea typeface="Calibri"/>
                <a:cs typeface="Calibri"/>
                <a:sym typeface="Calibri"/>
              </a:rPr>
              <a:t>KPI</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4"/>
        <p:cNvGrpSpPr/>
        <p:nvPr/>
      </p:nvGrpSpPr>
      <p:grpSpPr>
        <a:xfrm>
          <a:off x="0" y="0"/>
          <a:ext cx="0" cy="0"/>
          <a:chOff x="0" y="0"/>
          <a:chExt cx="0" cy="0"/>
        </a:xfrm>
      </p:grpSpPr>
      <p:sp>
        <p:nvSpPr>
          <p:cNvPr id="745" name="Google Shape;745;p39"/>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746" name="Google Shape;746;p39"/>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700"/>
              <a:buFont typeface="Calibri"/>
              <a:buNone/>
            </a:pPr>
            <a:r>
              <a:rPr lang="en-US" sz="3700" dirty="0">
                <a:solidFill>
                  <a:srgbClr val="FFFFFF"/>
                </a:solidFill>
              </a:rPr>
              <a:t>Documentation (Workshops)</a:t>
            </a:r>
            <a:endParaRPr dirty="0"/>
          </a:p>
        </p:txBody>
      </p:sp>
      <p:sp>
        <p:nvSpPr>
          <p:cNvPr id="747" name="Google Shape;747;p39"/>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748" name="Google Shape;748;p39"/>
          <p:cNvGrpSpPr/>
          <p:nvPr/>
        </p:nvGrpSpPr>
        <p:grpSpPr>
          <a:xfrm>
            <a:off x="5194300" y="475521"/>
            <a:ext cx="6513603" cy="5876230"/>
            <a:chOff x="0" y="4597"/>
            <a:chExt cx="6513603" cy="5876230"/>
          </a:xfrm>
        </p:grpSpPr>
        <p:sp>
          <p:nvSpPr>
            <p:cNvPr id="749" name="Google Shape;749;p39"/>
            <p:cNvSpPr/>
            <p:nvPr/>
          </p:nvSpPr>
          <p:spPr>
            <a:xfrm>
              <a:off x="0" y="4597"/>
              <a:ext cx="6513603" cy="979371"/>
            </a:xfrm>
            <a:prstGeom prst="roundRect">
              <a:avLst>
                <a:gd name="adj" fmla="val 10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0" name="Google Shape;750;p39"/>
            <p:cNvSpPr/>
            <p:nvPr/>
          </p:nvSpPr>
          <p:spPr>
            <a:xfrm>
              <a:off x="296259" y="224956"/>
              <a:ext cx="538654" cy="538654"/>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39"/>
            <p:cNvSpPr/>
            <p:nvPr/>
          </p:nvSpPr>
          <p:spPr>
            <a:xfrm>
              <a:off x="1131174" y="4597"/>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39"/>
            <p:cNvSpPr txBox="1"/>
            <p:nvPr/>
          </p:nvSpPr>
          <p:spPr>
            <a:xfrm>
              <a:off x="1131174" y="4597"/>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90000"/>
                </a:lnSpc>
                <a:spcBef>
                  <a:spcPts val="0"/>
                </a:spcBef>
                <a:spcAft>
                  <a:spcPts val="0"/>
                </a:spcAft>
                <a:buClr>
                  <a:schemeClr val="dk1"/>
                </a:buClr>
                <a:buSzPts val="1800"/>
                <a:buFont typeface="Calibri"/>
                <a:buNone/>
              </a:pPr>
              <a:r>
                <a:rPr lang="en-US" sz="1800" b="1" i="1" u="none" strike="noStrike" cap="none">
                  <a:solidFill>
                    <a:schemeClr val="dk1"/>
                  </a:solidFill>
                  <a:latin typeface="Calibri"/>
                  <a:ea typeface="Calibri"/>
                  <a:cs typeface="Calibri"/>
                  <a:sym typeface="Calibri"/>
                </a:rPr>
                <a:t>Resume:</a:t>
              </a:r>
              <a:r>
                <a:rPr lang="en-US" sz="1800" b="0" i="1" u="none" strike="noStrike" cap="none">
                  <a:solidFill>
                    <a:schemeClr val="dk1"/>
                  </a:solidFill>
                  <a:latin typeface="Calibri"/>
                  <a:ea typeface="Calibri"/>
                  <a:cs typeface="Calibri"/>
                  <a:sym typeface="Calibri"/>
                </a:rPr>
                <a:t> purpose, technology/vendor websites, external articles/references.</a:t>
              </a:r>
              <a:endParaRPr sz="1800" b="0" i="0" u="none" strike="noStrike" cap="none">
                <a:solidFill>
                  <a:schemeClr val="dk1"/>
                </a:solidFill>
                <a:latin typeface="Calibri"/>
                <a:ea typeface="Calibri"/>
                <a:cs typeface="Calibri"/>
                <a:sym typeface="Calibri"/>
              </a:endParaRPr>
            </a:p>
          </p:txBody>
        </p:sp>
        <p:sp>
          <p:nvSpPr>
            <p:cNvPr id="753" name="Google Shape;753;p39"/>
            <p:cNvSpPr/>
            <p:nvPr/>
          </p:nvSpPr>
          <p:spPr>
            <a:xfrm>
              <a:off x="0" y="1228812"/>
              <a:ext cx="6513603" cy="979371"/>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4" name="Google Shape;754;p39"/>
            <p:cNvSpPr/>
            <p:nvPr/>
          </p:nvSpPr>
          <p:spPr>
            <a:xfrm>
              <a:off x="296259" y="1449171"/>
              <a:ext cx="538654" cy="538654"/>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5" name="Google Shape;755;p39"/>
            <p:cNvSpPr/>
            <p:nvPr/>
          </p:nvSpPr>
          <p:spPr>
            <a:xfrm>
              <a:off x="1131174" y="1228812"/>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39"/>
            <p:cNvSpPr txBox="1"/>
            <p:nvPr/>
          </p:nvSpPr>
          <p:spPr>
            <a:xfrm>
              <a:off x="1131174" y="1228812"/>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90000"/>
                </a:lnSpc>
                <a:spcBef>
                  <a:spcPts val="0"/>
                </a:spcBef>
                <a:spcAft>
                  <a:spcPts val="0"/>
                </a:spcAft>
                <a:buClr>
                  <a:schemeClr val="dk1"/>
                </a:buClr>
                <a:buSzPts val="1800"/>
                <a:buFont typeface="Calibri"/>
                <a:buNone/>
              </a:pPr>
              <a:r>
                <a:rPr lang="en-US" sz="1800" b="1" i="1" u="none" strike="noStrike" cap="none">
                  <a:solidFill>
                    <a:schemeClr val="dk1"/>
                  </a:solidFill>
                  <a:latin typeface="Calibri"/>
                  <a:ea typeface="Calibri"/>
                  <a:cs typeface="Calibri"/>
                  <a:sym typeface="Calibri"/>
                </a:rPr>
                <a:t>Architecture:</a:t>
              </a:r>
              <a:r>
                <a:rPr lang="en-US" sz="1800" b="0" i="1" u="none" strike="noStrike" cap="none">
                  <a:solidFill>
                    <a:schemeClr val="dk1"/>
                  </a:solidFill>
                  <a:latin typeface="Calibri"/>
                  <a:ea typeface="Calibri"/>
                  <a:cs typeface="Calibri"/>
                  <a:sym typeface="Calibri"/>
                </a:rPr>
                <a:t> high level (at least) visual representation of the platform or system (i.e. draw.io, dot/graphviz).</a:t>
              </a:r>
              <a:endParaRPr sz="1800" b="0" i="0" u="none" strike="noStrike" cap="none">
                <a:solidFill>
                  <a:schemeClr val="dk1"/>
                </a:solidFill>
                <a:latin typeface="Calibri"/>
                <a:ea typeface="Calibri"/>
                <a:cs typeface="Calibri"/>
                <a:sym typeface="Calibri"/>
              </a:endParaRPr>
            </a:p>
          </p:txBody>
        </p:sp>
        <p:sp>
          <p:nvSpPr>
            <p:cNvPr id="757" name="Google Shape;757;p39"/>
            <p:cNvSpPr/>
            <p:nvPr/>
          </p:nvSpPr>
          <p:spPr>
            <a:xfrm>
              <a:off x="0" y="2453027"/>
              <a:ext cx="6513603" cy="979371"/>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8" name="Google Shape;758;p39"/>
            <p:cNvSpPr/>
            <p:nvPr/>
          </p:nvSpPr>
          <p:spPr>
            <a:xfrm>
              <a:off x="296259" y="2673385"/>
              <a:ext cx="538654" cy="538654"/>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39"/>
            <p:cNvSpPr/>
            <p:nvPr/>
          </p:nvSpPr>
          <p:spPr>
            <a:xfrm>
              <a:off x="1131174" y="2453027"/>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39"/>
            <p:cNvSpPr txBox="1"/>
            <p:nvPr/>
          </p:nvSpPr>
          <p:spPr>
            <a:xfrm>
              <a:off x="1131174" y="2453027"/>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90000"/>
                </a:lnSpc>
                <a:spcBef>
                  <a:spcPts val="0"/>
                </a:spcBef>
                <a:spcAft>
                  <a:spcPts val="0"/>
                </a:spcAft>
                <a:buClr>
                  <a:schemeClr val="dk1"/>
                </a:buClr>
                <a:buSzPts val="1800"/>
                <a:buFont typeface="Calibri"/>
                <a:buNone/>
              </a:pPr>
              <a:r>
                <a:rPr lang="en-US" sz="1800" b="1" i="1" u="none" strike="noStrike" cap="none">
                  <a:solidFill>
                    <a:schemeClr val="dk1"/>
                  </a:solidFill>
                  <a:latin typeface="Calibri"/>
                  <a:ea typeface="Calibri"/>
                  <a:cs typeface="Calibri"/>
                  <a:sym typeface="Calibri"/>
                </a:rPr>
                <a:t>Assets: </a:t>
              </a:r>
              <a:r>
                <a:rPr lang="en-US" sz="1800" b="0" i="1" u="none" strike="noStrike" cap="none">
                  <a:solidFill>
                    <a:schemeClr val="dk1"/>
                  </a:solidFill>
                  <a:latin typeface="Calibri"/>
                  <a:ea typeface="Calibri"/>
                  <a:cs typeface="Calibri"/>
                  <a:sym typeface="Calibri"/>
                </a:rPr>
                <a:t>resources inventory labeling (not naming), links (URL) and credentials (e.g. Vault, SSO).</a:t>
              </a:r>
              <a:endParaRPr sz="1800" b="0" i="0" u="none" strike="noStrike" cap="none">
                <a:solidFill>
                  <a:schemeClr val="dk1"/>
                </a:solidFill>
                <a:latin typeface="Calibri"/>
                <a:ea typeface="Calibri"/>
                <a:cs typeface="Calibri"/>
                <a:sym typeface="Calibri"/>
              </a:endParaRPr>
            </a:p>
          </p:txBody>
        </p:sp>
        <p:sp>
          <p:nvSpPr>
            <p:cNvPr id="761" name="Google Shape;761;p39"/>
            <p:cNvSpPr/>
            <p:nvPr/>
          </p:nvSpPr>
          <p:spPr>
            <a:xfrm>
              <a:off x="0" y="3677241"/>
              <a:ext cx="6513603" cy="979371"/>
            </a:xfrm>
            <a:prstGeom prst="roundRect">
              <a:avLst>
                <a:gd name="adj" fmla="val 10000"/>
              </a:avLst>
            </a:prstGeom>
            <a:solidFill>
              <a:srgbClr val="599BD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2" name="Google Shape;762;p39"/>
            <p:cNvSpPr/>
            <p:nvPr/>
          </p:nvSpPr>
          <p:spPr>
            <a:xfrm>
              <a:off x="296259" y="3897600"/>
              <a:ext cx="538654" cy="538654"/>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39"/>
            <p:cNvSpPr/>
            <p:nvPr/>
          </p:nvSpPr>
          <p:spPr>
            <a:xfrm>
              <a:off x="1131174" y="3677241"/>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p39"/>
            <p:cNvSpPr txBox="1"/>
            <p:nvPr/>
          </p:nvSpPr>
          <p:spPr>
            <a:xfrm>
              <a:off x="1131174" y="3677241"/>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90000"/>
                </a:lnSpc>
                <a:spcBef>
                  <a:spcPts val="0"/>
                </a:spcBef>
                <a:spcAft>
                  <a:spcPts val="0"/>
                </a:spcAft>
                <a:buClr>
                  <a:schemeClr val="dk1"/>
                </a:buClr>
                <a:buSzPts val="1800"/>
                <a:buFont typeface="Calibri"/>
                <a:buNone/>
              </a:pPr>
              <a:r>
                <a:rPr lang="en-US" sz="1800" b="1" i="1" u="none" strike="noStrike" cap="none">
                  <a:solidFill>
                    <a:schemeClr val="dk1"/>
                  </a:solidFill>
                  <a:latin typeface="Calibri"/>
                  <a:ea typeface="Calibri"/>
                  <a:cs typeface="Calibri"/>
                  <a:sym typeface="Calibri"/>
                </a:rPr>
                <a:t>How-To’s:</a:t>
              </a:r>
              <a:r>
                <a:rPr lang="en-US" sz="1800" b="0" i="1" u="none" strike="noStrike" cap="none">
                  <a:solidFill>
                    <a:schemeClr val="dk1"/>
                  </a:solidFill>
                  <a:latin typeface="Calibri"/>
                  <a:ea typeface="Calibri"/>
                  <a:cs typeface="Calibri"/>
                  <a:sym typeface="Calibri"/>
                </a:rPr>
                <a:t> about (re-)install and configure with</a:t>
              </a:r>
              <a:r>
                <a:rPr lang="en-US" sz="1800" b="1" i="1" u="none" strike="noStrike" cap="none">
                  <a:solidFill>
                    <a:schemeClr val="dk1"/>
                  </a:solidFill>
                  <a:latin typeface="Calibri"/>
                  <a:ea typeface="Calibri"/>
                  <a:cs typeface="Calibri"/>
                  <a:sym typeface="Calibri"/>
                </a:rPr>
                <a:t> </a:t>
              </a:r>
              <a:r>
                <a:rPr lang="en-US" sz="1800" b="0" i="1" u="none" strike="noStrike" cap="none">
                  <a:solidFill>
                    <a:schemeClr val="dk1"/>
                  </a:solidFill>
                  <a:latin typeface="Calibri"/>
                  <a:ea typeface="Calibri"/>
                  <a:cs typeface="Calibri"/>
                  <a:sym typeface="Calibri"/>
                </a:rPr>
                <a:t>focus on critical and tricky in-house customizations.</a:t>
              </a:r>
              <a:endParaRPr sz="1800" b="0" i="0" u="none" strike="noStrike" cap="none">
                <a:solidFill>
                  <a:schemeClr val="dk1"/>
                </a:solidFill>
                <a:latin typeface="Calibri"/>
                <a:ea typeface="Calibri"/>
                <a:cs typeface="Calibri"/>
                <a:sym typeface="Calibri"/>
              </a:endParaRPr>
            </a:p>
          </p:txBody>
        </p:sp>
        <p:sp>
          <p:nvSpPr>
            <p:cNvPr id="765" name="Google Shape;765;p39"/>
            <p:cNvSpPr/>
            <p:nvPr/>
          </p:nvSpPr>
          <p:spPr>
            <a:xfrm>
              <a:off x="0" y="4901456"/>
              <a:ext cx="6513603" cy="979371"/>
            </a:xfrm>
            <a:prstGeom prst="roundRect">
              <a:avLst>
                <a:gd name="adj" fmla="val 10000"/>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6" name="Google Shape;766;p39"/>
            <p:cNvSpPr/>
            <p:nvPr/>
          </p:nvSpPr>
          <p:spPr>
            <a:xfrm>
              <a:off x="296259" y="5121814"/>
              <a:ext cx="538654" cy="538654"/>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7" name="Google Shape;767;p39"/>
            <p:cNvSpPr/>
            <p:nvPr/>
          </p:nvSpPr>
          <p:spPr>
            <a:xfrm>
              <a:off x="1131174" y="4901456"/>
              <a:ext cx="5382429" cy="9793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8" name="Google Shape;768;p39"/>
            <p:cNvSpPr txBox="1"/>
            <p:nvPr/>
          </p:nvSpPr>
          <p:spPr>
            <a:xfrm>
              <a:off x="1131174" y="4901456"/>
              <a:ext cx="5382429" cy="979371"/>
            </a:xfrm>
            <a:prstGeom prst="rect">
              <a:avLst/>
            </a:prstGeom>
            <a:noFill/>
            <a:ln>
              <a:noFill/>
            </a:ln>
          </p:spPr>
          <p:txBody>
            <a:bodyPr spcFirstLastPara="1" wrap="square" lIns="103650" tIns="103650" rIns="103650" bIns="103650" anchor="ctr" anchorCtr="0">
              <a:noAutofit/>
            </a:bodyPr>
            <a:lstStyle/>
            <a:p>
              <a:pPr marL="0" marR="0" lvl="0" indent="0" algn="l" rtl="0">
                <a:lnSpc>
                  <a:spcPct val="90000"/>
                </a:lnSpc>
                <a:spcBef>
                  <a:spcPts val="0"/>
                </a:spcBef>
                <a:spcAft>
                  <a:spcPts val="0"/>
                </a:spcAft>
                <a:buClr>
                  <a:schemeClr val="dk1"/>
                </a:buClr>
                <a:buSzPts val="1800"/>
                <a:buFont typeface="Calibri"/>
                <a:buNone/>
              </a:pPr>
              <a:r>
                <a:rPr lang="en-US" sz="1800" b="1" i="1" u="none" strike="noStrike" cap="none">
                  <a:solidFill>
                    <a:schemeClr val="dk1"/>
                  </a:solidFill>
                  <a:latin typeface="Calibri"/>
                  <a:ea typeface="Calibri"/>
                  <a:cs typeface="Calibri"/>
                  <a:sym typeface="Calibri"/>
                </a:rPr>
                <a:t>Basic administration and troubleshooting: </a:t>
              </a:r>
              <a:r>
                <a:rPr lang="en-US" sz="1800" b="0" i="1" u="none" strike="noStrike" cap="none">
                  <a:solidFill>
                    <a:schemeClr val="dk1"/>
                  </a:solidFill>
                  <a:latin typeface="Calibri"/>
                  <a:ea typeface="Calibri"/>
                  <a:cs typeface="Calibri"/>
                  <a:sym typeface="Calibri"/>
                </a:rPr>
                <a:t>standard procedures, know errors with brief solution explained, references to article/tickets and similars.</a:t>
              </a: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2"/>
        <p:cNvGrpSpPr/>
        <p:nvPr/>
      </p:nvGrpSpPr>
      <p:grpSpPr>
        <a:xfrm>
          <a:off x="0" y="0"/>
          <a:ext cx="0" cy="0"/>
          <a:chOff x="0" y="0"/>
          <a:chExt cx="0" cy="0"/>
        </a:xfrm>
      </p:grpSpPr>
      <p:sp>
        <p:nvSpPr>
          <p:cNvPr id="773" name="Google Shape;773;p40"/>
          <p:cNvSpPr/>
          <p:nvPr/>
        </p:nvSpPr>
        <p:spPr>
          <a:xfrm>
            <a:off x="0" y="0"/>
            <a:ext cx="12192000" cy="6858000"/>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4" name="Google Shape;774;p40"/>
          <p:cNvSpPr txBox="1">
            <a:spLocks noGrp="1"/>
          </p:cNvSpPr>
          <p:nvPr>
            <p:ph type="title"/>
          </p:nvPr>
        </p:nvSpPr>
        <p:spPr>
          <a:xfrm>
            <a:off x="6746628" y="1520576"/>
            <a:ext cx="4645250" cy="3811712"/>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lt1"/>
              </a:buClr>
              <a:buSzPts val="5400"/>
              <a:buFont typeface="Calibri"/>
              <a:buNone/>
            </a:pP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Changes</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 |</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Way of Work</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 |</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Innovation</a:t>
            </a:r>
            <a:endParaRPr/>
          </a:p>
        </p:txBody>
      </p:sp>
      <p:sp>
        <p:nvSpPr>
          <p:cNvPr id="775" name="Google Shape;775;p40"/>
          <p:cNvSpPr/>
          <p:nvPr/>
        </p:nvSpPr>
        <p:spPr>
          <a:xfrm flipH="1">
            <a:off x="0" y="0"/>
            <a:ext cx="6172782"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lt1">
              <a:alpha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776" name="Google Shape;776;p40"/>
          <p:cNvSpPr/>
          <p:nvPr/>
        </p:nvSpPr>
        <p:spPr>
          <a:xfrm>
            <a:off x="0" y="0"/>
            <a:ext cx="6024154" cy="6858000"/>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777" name="Google Shape;777;p40" descr="Books"/>
          <p:cNvPicPr preferRelativeResize="0"/>
          <p:nvPr/>
        </p:nvPicPr>
        <p:blipFill rotWithShape="1">
          <a:blip r:embed="rId3">
            <a:alphaModFix/>
          </a:blip>
          <a:srcRect/>
          <a:stretch/>
        </p:blipFill>
        <p:spPr>
          <a:xfrm>
            <a:off x="419382" y="720993"/>
            <a:ext cx="4047843" cy="404784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781"/>
        <p:cNvGrpSpPr/>
        <p:nvPr/>
      </p:nvGrpSpPr>
      <p:grpSpPr>
        <a:xfrm>
          <a:off x="0" y="0"/>
          <a:ext cx="0" cy="0"/>
          <a:chOff x="0" y="0"/>
          <a:chExt cx="0" cy="0"/>
        </a:xfrm>
      </p:grpSpPr>
      <p:sp>
        <p:nvSpPr>
          <p:cNvPr id="782" name="Google Shape;782;p41"/>
          <p:cNvSpPr/>
          <p:nvPr/>
        </p:nvSpPr>
        <p:spPr>
          <a:xfrm>
            <a:off x="0" y="0"/>
            <a:ext cx="12192000" cy="68580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83" name="Google Shape;783;p41" descr="Image result for legacy it"/>
          <p:cNvPicPr preferRelativeResize="0"/>
          <p:nvPr/>
        </p:nvPicPr>
        <p:blipFill rotWithShape="1">
          <a:blip r:embed="rId3">
            <a:alphaModFix amt="35000"/>
          </a:blip>
          <a:srcRect t="10116" b="5296"/>
          <a:stretch/>
        </p:blipFill>
        <p:spPr>
          <a:xfrm>
            <a:off x="0" y="10"/>
            <a:ext cx="12192000" cy="6857990"/>
          </a:xfrm>
          <a:prstGeom prst="rect">
            <a:avLst/>
          </a:prstGeom>
          <a:noFill/>
          <a:ln>
            <a:noFill/>
          </a:ln>
        </p:spPr>
      </p:pic>
      <p:sp>
        <p:nvSpPr>
          <p:cNvPr id="784" name="Google Shape;784;p41"/>
          <p:cNvSpPr txBox="1">
            <a:spLocks noGrp="1"/>
          </p:cNvSpPr>
          <p:nvPr>
            <p:ph type="title"/>
          </p:nvPr>
        </p:nvSpPr>
        <p:spPr>
          <a:xfrm>
            <a:off x="838201" y="1065862"/>
            <a:ext cx="3313164" cy="4726276"/>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FFFFFF"/>
              </a:buClr>
              <a:buSzPts val="6600"/>
              <a:buFont typeface="Calibri"/>
              <a:buNone/>
            </a:pPr>
            <a:r>
              <a:rPr lang="en-US" sz="6600">
                <a:solidFill>
                  <a:srgbClr val="FFFFFF"/>
                </a:solidFill>
              </a:rPr>
              <a:t>Legacy</a:t>
            </a:r>
            <a:endParaRPr/>
          </a:p>
        </p:txBody>
      </p:sp>
      <p:cxnSp>
        <p:nvCxnSpPr>
          <p:cNvPr id="785" name="Google Shape;785;p41"/>
          <p:cNvCxnSpPr/>
          <p:nvPr/>
        </p:nvCxnSpPr>
        <p:spPr>
          <a:xfrm>
            <a:off x="4653372" y="2286000"/>
            <a:ext cx="0" cy="2286000"/>
          </a:xfrm>
          <a:prstGeom prst="straightConnector1">
            <a:avLst/>
          </a:prstGeom>
          <a:noFill/>
          <a:ln w="15875" cap="flat" cmpd="sng">
            <a:solidFill>
              <a:srgbClr val="FFFFFF"/>
            </a:solidFill>
            <a:prstDash val="solid"/>
            <a:miter lim="800000"/>
            <a:headEnd type="none" w="sm" len="sm"/>
            <a:tailEnd type="none" w="sm" len="sm"/>
          </a:ln>
        </p:spPr>
      </p:cxnSp>
      <p:sp>
        <p:nvSpPr>
          <p:cNvPr id="786" name="Google Shape;786;p41"/>
          <p:cNvSpPr txBox="1">
            <a:spLocks noGrp="1"/>
          </p:cNvSpPr>
          <p:nvPr>
            <p:ph type="body" idx="1"/>
          </p:nvPr>
        </p:nvSpPr>
        <p:spPr>
          <a:xfrm>
            <a:off x="5155380" y="1285781"/>
            <a:ext cx="6198417" cy="4726276"/>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rgbClr val="FFFFFF"/>
              </a:buClr>
              <a:buSzPts val="2400"/>
              <a:buChar char="•"/>
            </a:pPr>
            <a:r>
              <a:rPr lang="en-US" sz="2400">
                <a:solidFill>
                  <a:srgbClr val="FFFFFF"/>
                </a:solidFill>
              </a:rPr>
              <a:t>There was, there is and there will be</a:t>
            </a:r>
            <a:endParaRPr/>
          </a:p>
          <a:p>
            <a:pPr marL="228600" lvl="0" indent="-228600" algn="l" rtl="0">
              <a:lnSpc>
                <a:spcPct val="90000"/>
              </a:lnSpc>
              <a:spcBef>
                <a:spcPts val="1000"/>
              </a:spcBef>
              <a:spcAft>
                <a:spcPts val="0"/>
              </a:spcAft>
              <a:buClr>
                <a:srgbClr val="FFFFFF"/>
              </a:buClr>
              <a:buSzPts val="2400"/>
              <a:buChar char="•"/>
            </a:pPr>
            <a:r>
              <a:rPr lang="en-US" sz="2400">
                <a:solidFill>
                  <a:srgbClr val="FFFFFF"/>
                </a:solidFill>
              </a:rPr>
              <a:t>It’s a matter of time, but it is important</a:t>
            </a:r>
            <a:endParaRPr/>
          </a:p>
          <a:p>
            <a:pPr marL="228600" lvl="0" indent="-228600" algn="l" rtl="0">
              <a:lnSpc>
                <a:spcPct val="90000"/>
              </a:lnSpc>
              <a:spcBef>
                <a:spcPts val="1000"/>
              </a:spcBef>
              <a:spcAft>
                <a:spcPts val="0"/>
              </a:spcAft>
              <a:buClr>
                <a:srgbClr val="FFFFFF"/>
              </a:buClr>
              <a:buSzPts val="2400"/>
              <a:buChar char="•"/>
            </a:pPr>
            <a:r>
              <a:rPr lang="en-US" sz="2400">
                <a:solidFill>
                  <a:srgbClr val="FFFFFF"/>
                </a:solidFill>
              </a:rPr>
              <a:t>It is not neither bad nor good is just legacy</a:t>
            </a:r>
            <a:endParaRPr/>
          </a:p>
          <a:p>
            <a:pPr marL="228600" lvl="0" indent="-228600" algn="l" rtl="0">
              <a:lnSpc>
                <a:spcPct val="90000"/>
              </a:lnSpc>
              <a:spcBef>
                <a:spcPts val="1000"/>
              </a:spcBef>
              <a:spcAft>
                <a:spcPts val="0"/>
              </a:spcAft>
              <a:buClr>
                <a:srgbClr val="FFFFFF"/>
              </a:buClr>
              <a:buSzPts val="2400"/>
              <a:buChar char="•"/>
            </a:pPr>
            <a:r>
              <a:rPr lang="en-US" sz="2400">
                <a:solidFill>
                  <a:srgbClr val="FFFFFF"/>
                </a:solidFill>
              </a:rPr>
              <a:t>Innovation is needed, but maintenance also</a:t>
            </a:r>
            <a:endParaRPr/>
          </a:p>
          <a:p>
            <a:pPr marL="228600" lvl="0" indent="-88900" algn="l" rtl="0">
              <a:lnSpc>
                <a:spcPct val="90000"/>
              </a:lnSpc>
              <a:spcBef>
                <a:spcPts val="1000"/>
              </a:spcBef>
              <a:spcAft>
                <a:spcPts val="0"/>
              </a:spcAft>
              <a:buClr>
                <a:schemeClr val="lt1"/>
              </a:buClr>
              <a:buSzPts val="2200"/>
              <a:buNone/>
            </a:pPr>
            <a:endParaRPr sz="2200">
              <a:solidFill>
                <a:srgbClr val="FFFFFF"/>
              </a:solidFill>
            </a:endParaRPr>
          </a:p>
        </p:txBody>
      </p:sp>
      <p:sp>
        <p:nvSpPr>
          <p:cNvPr id="787" name="Google Shape;787;p41"/>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8" name="Google Shape;788;p41"/>
          <p:cNvSpPr txBox="1"/>
          <p:nvPr/>
        </p:nvSpPr>
        <p:spPr>
          <a:xfrm>
            <a:off x="2616544" y="5191780"/>
            <a:ext cx="6958912" cy="523220"/>
          </a:xfrm>
          <a:prstGeom prst="rect">
            <a:avLst/>
          </a:prstGeom>
          <a:solidFill>
            <a:srgbClr val="FFFF00"/>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alibri"/>
                <a:ea typeface="Calibri"/>
                <a:cs typeface="Calibri"/>
                <a:sym typeface="Calibri"/>
              </a:rPr>
              <a:t>99% of the things are legacy since its go live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2"/>
        <p:cNvGrpSpPr/>
        <p:nvPr/>
      </p:nvGrpSpPr>
      <p:grpSpPr>
        <a:xfrm>
          <a:off x="0" y="0"/>
          <a:ext cx="0" cy="0"/>
          <a:chOff x="0" y="0"/>
          <a:chExt cx="0" cy="0"/>
        </a:xfrm>
      </p:grpSpPr>
      <p:sp>
        <p:nvSpPr>
          <p:cNvPr id="793" name="Google Shape;793;p42"/>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794" name="Google Shape;794;p42"/>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Innovation</a:t>
            </a:r>
            <a:br>
              <a:rPr lang="en-US">
                <a:solidFill>
                  <a:srgbClr val="FFFFFF"/>
                </a:solidFill>
              </a:rPr>
            </a:br>
            <a:r>
              <a:rPr lang="en-US" sz="2800">
                <a:solidFill>
                  <a:srgbClr val="FFFFFF"/>
                </a:solidFill>
              </a:rPr>
              <a:t>(&amp; Investigation)</a:t>
            </a:r>
            <a:endParaRPr>
              <a:solidFill>
                <a:srgbClr val="FFFFFF"/>
              </a:solidFill>
            </a:endParaRPr>
          </a:p>
        </p:txBody>
      </p:sp>
      <p:sp>
        <p:nvSpPr>
          <p:cNvPr id="795" name="Google Shape;795;p42"/>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796" name="Google Shape;796;p42"/>
          <p:cNvGrpSpPr/>
          <p:nvPr/>
        </p:nvGrpSpPr>
        <p:grpSpPr>
          <a:xfrm>
            <a:off x="5194300" y="471642"/>
            <a:ext cx="6513603" cy="5883988"/>
            <a:chOff x="0" y="718"/>
            <a:chExt cx="6513603" cy="5883988"/>
          </a:xfrm>
        </p:grpSpPr>
        <p:sp>
          <p:nvSpPr>
            <p:cNvPr id="797" name="Google Shape;797;p42"/>
            <p:cNvSpPr/>
            <p:nvPr/>
          </p:nvSpPr>
          <p:spPr>
            <a:xfrm>
              <a:off x="0" y="718"/>
              <a:ext cx="6513603" cy="1681139"/>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8" name="Google Shape;798;p42"/>
            <p:cNvSpPr/>
            <p:nvPr/>
          </p:nvSpPr>
          <p:spPr>
            <a:xfrm>
              <a:off x="508544" y="378974"/>
              <a:ext cx="924626" cy="924626"/>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9" name="Google Shape;799;p42"/>
            <p:cNvSpPr/>
            <p:nvPr/>
          </p:nvSpPr>
          <p:spPr>
            <a:xfrm>
              <a:off x="1941716" y="718"/>
              <a:ext cx="2931121"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0" name="Google Shape;800;p42"/>
            <p:cNvSpPr txBox="1"/>
            <p:nvPr/>
          </p:nvSpPr>
          <p:spPr>
            <a:xfrm>
              <a:off x="1941716" y="718"/>
              <a:ext cx="2931121"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100000"/>
                </a:lnSpc>
                <a:spcBef>
                  <a:spcPts val="0"/>
                </a:spcBef>
                <a:spcAft>
                  <a:spcPts val="0"/>
                </a:spcAft>
                <a:buClr>
                  <a:schemeClr val="dk1"/>
                </a:buClr>
                <a:buSzPts val="2500"/>
                <a:buFont typeface="Calibri"/>
                <a:buNone/>
              </a:pPr>
              <a:r>
                <a:rPr lang="en-US" sz="2500" b="0" i="0" u="none" strike="noStrike" cap="none">
                  <a:solidFill>
                    <a:schemeClr val="dk1"/>
                  </a:solidFill>
                  <a:latin typeface="Calibri"/>
                  <a:ea typeface="Calibri"/>
                  <a:cs typeface="Calibri"/>
                  <a:sym typeface="Calibri"/>
                </a:rPr>
                <a:t>Must be focused</a:t>
              </a:r>
              <a:endParaRPr sz="1400" b="0" i="0" u="none" strike="noStrike" cap="none">
                <a:solidFill>
                  <a:srgbClr val="000000"/>
                </a:solidFill>
                <a:latin typeface="Arial"/>
                <a:ea typeface="Arial"/>
                <a:cs typeface="Arial"/>
                <a:sym typeface="Arial"/>
              </a:endParaRPr>
            </a:p>
          </p:txBody>
        </p:sp>
        <p:sp>
          <p:nvSpPr>
            <p:cNvPr id="801" name="Google Shape;801;p42"/>
            <p:cNvSpPr/>
            <p:nvPr/>
          </p:nvSpPr>
          <p:spPr>
            <a:xfrm>
              <a:off x="4872838" y="718"/>
              <a:ext cx="1640765"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42"/>
            <p:cNvSpPr txBox="1"/>
            <p:nvPr/>
          </p:nvSpPr>
          <p:spPr>
            <a:xfrm>
              <a:off x="4872838" y="718"/>
              <a:ext cx="1640765"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100000"/>
                </a:lnSpc>
                <a:spcBef>
                  <a:spcPts val="0"/>
                </a:spcBef>
                <a:spcAft>
                  <a:spcPts val="0"/>
                </a:spcAft>
                <a:buClr>
                  <a:schemeClr val="dk1"/>
                </a:buClr>
                <a:buSzPts val="1700"/>
                <a:buFont typeface="Calibri"/>
                <a:buNone/>
              </a:pPr>
              <a:r>
                <a:rPr lang="en-US" sz="1700" b="0" i="0" u="none" strike="noStrike" cap="none">
                  <a:solidFill>
                    <a:schemeClr val="dk1"/>
                  </a:solidFill>
                  <a:latin typeface="Calibri"/>
                  <a:ea typeface="Calibri"/>
                  <a:cs typeface="Calibri"/>
                  <a:sym typeface="Calibri"/>
                </a:rPr>
                <a:t>Value (Customer)</a:t>
              </a:r>
              <a:endParaRPr sz="1400" b="0" i="0" u="none" strike="noStrike" cap="none">
                <a:solidFill>
                  <a:srgbClr val="000000"/>
                </a:solidFill>
                <a:latin typeface="Arial"/>
                <a:ea typeface="Arial"/>
                <a:cs typeface="Arial"/>
                <a:sym typeface="Arial"/>
              </a:endParaRPr>
            </a:p>
          </p:txBody>
        </p:sp>
        <p:sp>
          <p:nvSpPr>
            <p:cNvPr id="803" name="Google Shape;803;p42"/>
            <p:cNvSpPr/>
            <p:nvPr/>
          </p:nvSpPr>
          <p:spPr>
            <a:xfrm>
              <a:off x="0" y="2102143"/>
              <a:ext cx="6513603" cy="1681139"/>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4" name="Google Shape;804;p42"/>
            <p:cNvSpPr/>
            <p:nvPr/>
          </p:nvSpPr>
          <p:spPr>
            <a:xfrm>
              <a:off x="508544" y="2480399"/>
              <a:ext cx="924626" cy="924626"/>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42"/>
            <p:cNvSpPr/>
            <p:nvPr/>
          </p:nvSpPr>
          <p:spPr>
            <a:xfrm>
              <a:off x="1941716" y="2102143"/>
              <a:ext cx="2931121"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42"/>
            <p:cNvSpPr txBox="1"/>
            <p:nvPr/>
          </p:nvSpPr>
          <p:spPr>
            <a:xfrm>
              <a:off x="1941716" y="2102143"/>
              <a:ext cx="2931121"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100000"/>
                </a:lnSpc>
                <a:spcBef>
                  <a:spcPts val="0"/>
                </a:spcBef>
                <a:spcAft>
                  <a:spcPts val="0"/>
                </a:spcAft>
                <a:buClr>
                  <a:schemeClr val="dk1"/>
                </a:buClr>
                <a:buSzPts val="2500"/>
                <a:buFont typeface="Calibri"/>
                <a:buNone/>
              </a:pPr>
              <a:r>
                <a:rPr lang="en-US" sz="2500" b="0" i="0" u="none" strike="noStrike" cap="none">
                  <a:solidFill>
                    <a:schemeClr val="dk1"/>
                  </a:solidFill>
                  <a:latin typeface="Calibri"/>
                  <a:ea typeface="Calibri"/>
                  <a:cs typeface="Calibri"/>
                  <a:sym typeface="Calibri"/>
                </a:rPr>
                <a:t>Should be planned</a:t>
              </a:r>
              <a:br>
                <a:rPr lang="en-US" sz="25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(End/Start)</a:t>
              </a:r>
              <a:endParaRPr sz="2500" b="0" i="0" u="none" strike="noStrike" cap="none">
                <a:solidFill>
                  <a:schemeClr val="dk1"/>
                </a:solidFill>
                <a:latin typeface="Calibri"/>
                <a:ea typeface="Calibri"/>
                <a:cs typeface="Calibri"/>
                <a:sym typeface="Calibri"/>
              </a:endParaRPr>
            </a:p>
          </p:txBody>
        </p:sp>
        <p:sp>
          <p:nvSpPr>
            <p:cNvPr id="807" name="Google Shape;807;p42"/>
            <p:cNvSpPr/>
            <p:nvPr/>
          </p:nvSpPr>
          <p:spPr>
            <a:xfrm>
              <a:off x="4872838" y="2102143"/>
              <a:ext cx="1640765"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8" name="Google Shape;808;p42"/>
            <p:cNvSpPr txBox="1"/>
            <p:nvPr/>
          </p:nvSpPr>
          <p:spPr>
            <a:xfrm>
              <a:off x="4872838" y="2102143"/>
              <a:ext cx="1640765"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Trackable</a:t>
              </a:r>
              <a:br>
                <a:rPr lang="en-US" sz="1700" b="0" i="0" u="none" strike="noStrike" cap="none">
                  <a:solidFill>
                    <a:schemeClr val="dk1"/>
                  </a:solidFill>
                  <a:latin typeface="Calibri"/>
                  <a:ea typeface="Calibri"/>
                  <a:cs typeface="Calibri"/>
                  <a:sym typeface="Calibri"/>
                </a:rPr>
              </a:br>
              <a:r>
                <a:rPr lang="en-US" sz="1700" b="0" i="0" u="none" strike="noStrike" cap="none">
                  <a:solidFill>
                    <a:schemeClr val="dk1"/>
                  </a:solidFill>
                  <a:latin typeface="Calibri"/>
                  <a:ea typeface="Calibri"/>
                  <a:cs typeface="Calibri"/>
                  <a:sym typeface="Calibri"/>
                </a:rPr>
                <a:t>(Timeframe)</a:t>
              </a:r>
              <a:endParaRPr sz="1400" b="0" i="0" u="none" strike="noStrike" cap="none">
                <a:solidFill>
                  <a:srgbClr val="000000"/>
                </a:solidFill>
                <a:latin typeface="Arial"/>
                <a:ea typeface="Arial"/>
                <a:cs typeface="Arial"/>
                <a:sym typeface="Arial"/>
              </a:endParaRPr>
            </a:p>
          </p:txBody>
        </p:sp>
        <p:sp>
          <p:nvSpPr>
            <p:cNvPr id="809" name="Google Shape;809;p42"/>
            <p:cNvSpPr/>
            <p:nvPr/>
          </p:nvSpPr>
          <p:spPr>
            <a:xfrm>
              <a:off x="0" y="4203567"/>
              <a:ext cx="6513603" cy="1681139"/>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0" name="Google Shape;810;p42"/>
            <p:cNvSpPr/>
            <p:nvPr/>
          </p:nvSpPr>
          <p:spPr>
            <a:xfrm>
              <a:off x="508544" y="4581824"/>
              <a:ext cx="924626" cy="924626"/>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42"/>
            <p:cNvSpPr/>
            <p:nvPr/>
          </p:nvSpPr>
          <p:spPr>
            <a:xfrm>
              <a:off x="1941716" y="4203567"/>
              <a:ext cx="2931121"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2" name="Google Shape;812;p42"/>
            <p:cNvSpPr txBox="1"/>
            <p:nvPr/>
          </p:nvSpPr>
          <p:spPr>
            <a:xfrm>
              <a:off x="1941716" y="4203567"/>
              <a:ext cx="2931121"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100000"/>
                </a:lnSpc>
                <a:spcBef>
                  <a:spcPts val="0"/>
                </a:spcBef>
                <a:spcAft>
                  <a:spcPts val="0"/>
                </a:spcAft>
                <a:buClr>
                  <a:schemeClr val="dk1"/>
                </a:buClr>
                <a:buSzPts val="2500"/>
                <a:buFont typeface="Calibri"/>
                <a:buNone/>
              </a:pPr>
              <a:r>
                <a:rPr lang="en-US" sz="2500" b="0" i="0" u="none" strike="noStrike" cap="none">
                  <a:solidFill>
                    <a:schemeClr val="dk1"/>
                  </a:solidFill>
                  <a:latin typeface="Calibri"/>
                  <a:ea typeface="Calibri"/>
                  <a:cs typeface="Calibri"/>
                  <a:sym typeface="Calibri"/>
                </a:rPr>
                <a:t>Must be a process</a:t>
              </a:r>
              <a:br>
                <a:rPr lang="en-US" sz="25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(Success/Failure)</a:t>
              </a:r>
              <a:endParaRPr sz="2500" b="0" i="0" u="none" strike="noStrike" cap="none">
                <a:solidFill>
                  <a:schemeClr val="dk1"/>
                </a:solidFill>
                <a:latin typeface="Calibri"/>
                <a:ea typeface="Calibri"/>
                <a:cs typeface="Calibri"/>
                <a:sym typeface="Calibri"/>
              </a:endParaRPr>
            </a:p>
          </p:txBody>
        </p:sp>
        <p:sp>
          <p:nvSpPr>
            <p:cNvPr id="813" name="Google Shape;813;p42"/>
            <p:cNvSpPr/>
            <p:nvPr/>
          </p:nvSpPr>
          <p:spPr>
            <a:xfrm>
              <a:off x="4872838" y="4203567"/>
              <a:ext cx="1640765" cy="168113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4" name="Google Shape;814;p42"/>
            <p:cNvSpPr txBox="1"/>
            <p:nvPr/>
          </p:nvSpPr>
          <p:spPr>
            <a:xfrm>
              <a:off x="4872838" y="4203567"/>
              <a:ext cx="1640765" cy="1681139"/>
            </a:xfrm>
            <a:prstGeom prst="rect">
              <a:avLst/>
            </a:prstGeom>
            <a:noFill/>
            <a:ln>
              <a:noFill/>
            </a:ln>
          </p:spPr>
          <p:txBody>
            <a:bodyPr spcFirstLastPara="1" wrap="square" lIns="177900" tIns="177900" rIns="177900" bIns="177900" anchor="ctr" anchorCtr="0">
              <a:noAutofit/>
            </a:bodyPr>
            <a:lstStyle/>
            <a:p>
              <a:pPr marL="0" marR="0" lvl="0" indent="0" algn="l" rtl="0">
                <a:lnSpc>
                  <a:spcPct val="100000"/>
                </a:lnSpc>
                <a:spcBef>
                  <a:spcPts val="0"/>
                </a:spcBef>
                <a:spcAft>
                  <a:spcPts val="0"/>
                </a:spcAft>
                <a:buClr>
                  <a:schemeClr val="dk1"/>
                </a:buClr>
                <a:buSzPts val="1700"/>
                <a:buFont typeface="Calibri"/>
                <a:buNone/>
              </a:pPr>
              <a:r>
                <a:rPr lang="en-US" sz="1700" b="0" i="0" u="none" strike="noStrike" cap="none">
                  <a:solidFill>
                    <a:schemeClr val="dk1"/>
                  </a:solidFill>
                  <a:latin typeface="Calibri"/>
                  <a:ea typeface="Calibri"/>
                  <a:cs typeface="Calibri"/>
                  <a:sym typeface="Calibri"/>
                </a:rPr>
                <a:t>Measured</a:t>
              </a:r>
              <a:br>
                <a:rPr lang="en-US" sz="1700" b="0" i="0" u="none" strike="noStrike" cap="none">
                  <a:solidFill>
                    <a:schemeClr val="dk1"/>
                  </a:solidFill>
                  <a:latin typeface="Calibri"/>
                  <a:ea typeface="Calibri"/>
                  <a:cs typeface="Calibri"/>
                  <a:sym typeface="Calibri"/>
                </a:rPr>
              </a:br>
              <a:r>
                <a:rPr lang="en-US" sz="1700" b="0" i="0" u="none" strike="noStrike" cap="none">
                  <a:solidFill>
                    <a:schemeClr val="dk1"/>
                  </a:solidFill>
                  <a:latin typeface="Calibri"/>
                  <a:ea typeface="Calibri"/>
                  <a:cs typeface="Calibri"/>
                  <a:sym typeface="Calibri"/>
                </a:rPr>
                <a:t>(Deliverable)</a:t>
              </a:r>
              <a:endParaRPr sz="1400" b="0" i="0" u="none" strike="noStrike" cap="none">
                <a:solidFill>
                  <a:srgbClr val="000000"/>
                </a:solidFill>
                <a:latin typeface="Arial"/>
                <a:ea typeface="Arial"/>
                <a:cs typeface="Arial"/>
                <a:sym typeface="Arial"/>
              </a:endParaRPr>
            </a:p>
          </p:txBody>
        </p:sp>
      </p:grpSp>
      <p:pic>
        <p:nvPicPr>
          <p:cNvPr id="815" name="Google Shape;815;p42" descr="DNA"/>
          <p:cNvPicPr preferRelativeResize="0"/>
          <p:nvPr/>
        </p:nvPicPr>
        <p:blipFill rotWithShape="1">
          <a:blip r:embed="rId6">
            <a:alphaModFix/>
          </a:blip>
          <a:srcRect/>
          <a:stretch/>
        </p:blipFill>
        <p:spPr>
          <a:xfrm>
            <a:off x="2577457" y="4165082"/>
            <a:ext cx="800618" cy="800618"/>
          </a:xfrm>
          <a:prstGeom prst="rect">
            <a:avLst/>
          </a:prstGeom>
          <a:noFill/>
          <a:ln>
            <a:noFill/>
          </a:ln>
        </p:spPr>
      </p:pic>
      <p:pic>
        <p:nvPicPr>
          <p:cNvPr id="816" name="Google Shape;816;p42" descr="Computer"/>
          <p:cNvPicPr preferRelativeResize="0"/>
          <p:nvPr/>
        </p:nvPicPr>
        <p:blipFill rotWithShape="1">
          <a:blip r:embed="rId7">
            <a:alphaModFix/>
          </a:blip>
          <a:srcRect/>
          <a:stretch/>
        </p:blipFill>
        <p:spPr>
          <a:xfrm>
            <a:off x="1727145" y="4180499"/>
            <a:ext cx="800618" cy="800618"/>
          </a:xfrm>
          <a:prstGeom prst="rect">
            <a:avLst/>
          </a:prstGeom>
          <a:noFill/>
          <a:ln>
            <a:noFill/>
          </a:ln>
        </p:spPr>
      </p:pic>
      <p:pic>
        <p:nvPicPr>
          <p:cNvPr id="817" name="Google Shape;817;p42" descr="Lightbulb"/>
          <p:cNvPicPr preferRelativeResize="0"/>
          <p:nvPr/>
        </p:nvPicPr>
        <p:blipFill rotWithShape="1">
          <a:blip r:embed="rId8">
            <a:alphaModFix/>
          </a:blip>
          <a:srcRect/>
          <a:stretch/>
        </p:blipFill>
        <p:spPr>
          <a:xfrm>
            <a:off x="869993" y="4165082"/>
            <a:ext cx="800618" cy="80061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1"/>
        <p:cNvGrpSpPr/>
        <p:nvPr/>
      </p:nvGrpSpPr>
      <p:grpSpPr>
        <a:xfrm>
          <a:off x="0" y="0"/>
          <a:ext cx="0" cy="0"/>
          <a:chOff x="0" y="0"/>
          <a:chExt cx="0" cy="0"/>
        </a:xfrm>
      </p:grpSpPr>
      <p:sp>
        <p:nvSpPr>
          <p:cNvPr id="822" name="Google Shape;822;p43"/>
          <p:cNvSpPr/>
          <p:nvPr/>
        </p:nvSpPr>
        <p:spPr>
          <a:xfrm>
            <a:off x="0" y="0"/>
            <a:ext cx="12192000" cy="6858000"/>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3" name="Google Shape;823;p43"/>
          <p:cNvSpPr txBox="1">
            <a:spLocks noGrp="1"/>
          </p:cNvSpPr>
          <p:nvPr>
            <p:ph type="title"/>
          </p:nvPr>
        </p:nvSpPr>
        <p:spPr>
          <a:xfrm>
            <a:off x="6746628" y="1520576"/>
            <a:ext cx="4645250" cy="3811712"/>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lt1"/>
              </a:buClr>
              <a:buSzPts val="5400"/>
              <a:buFont typeface="Calibri"/>
              <a:buNone/>
            </a:pP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Changes</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 |</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Way of Work</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 |</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Communication</a:t>
            </a:r>
            <a:endParaRPr/>
          </a:p>
        </p:txBody>
      </p:sp>
      <p:sp>
        <p:nvSpPr>
          <p:cNvPr id="824" name="Google Shape;824;p43"/>
          <p:cNvSpPr/>
          <p:nvPr/>
        </p:nvSpPr>
        <p:spPr>
          <a:xfrm flipH="1">
            <a:off x="0" y="0"/>
            <a:ext cx="6172782"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lt1">
              <a:alpha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825" name="Google Shape;825;p43"/>
          <p:cNvSpPr/>
          <p:nvPr/>
        </p:nvSpPr>
        <p:spPr>
          <a:xfrm>
            <a:off x="0" y="0"/>
            <a:ext cx="6024154" cy="6858000"/>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826" name="Google Shape;826;p43" descr="Books"/>
          <p:cNvPicPr preferRelativeResize="0"/>
          <p:nvPr/>
        </p:nvPicPr>
        <p:blipFill rotWithShape="1">
          <a:blip r:embed="rId3">
            <a:alphaModFix/>
          </a:blip>
          <a:srcRect/>
          <a:stretch/>
        </p:blipFill>
        <p:spPr>
          <a:xfrm>
            <a:off x="419382" y="720993"/>
            <a:ext cx="4047843" cy="404784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44"/>
          <p:cNvSpPr txBox="1">
            <a:spLocks noGrp="1"/>
          </p:cNvSpPr>
          <p:nvPr>
            <p:ph type="title"/>
          </p:nvPr>
        </p:nvSpPr>
        <p:spPr>
          <a:xfrm>
            <a:off x="838200" y="365125"/>
            <a:ext cx="10515600" cy="1325563"/>
          </a:xfrm>
          <a:prstGeom prst="rect">
            <a:avLst/>
          </a:prstGeom>
          <a:solidFill>
            <a:srgbClr val="262626"/>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a:solidFill>
                  <a:schemeClr val="lt1"/>
                </a:solidFill>
              </a:rPr>
              <a:t>  Communication</a:t>
            </a:r>
            <a:endParaRPr/>
          </a:p>
        </p:txBody>
      </p:sp>
      <p:sp>
        <p:nvSpPr>
          <p:cNvPr id="833" name="Google Shape;833;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dirty="0">
                <a:solidFill>
                  <a:srgbClr val="0070C0"/>
                </a:solidFill>
              </a:rPr>
              <a:t>Notify:</a:t>
            </a:r>
            <a:endParaRPr dirty="0"/>
          </a:p>
          <a:p>
            <a:pPr marL="685800" lvl="1" indent="-228600" algn="l" rtl="0">
              <a:lnSpc>
                <a:spcPct val="90000"/>
              </a:lnSpc>
              <a:spcBef>
                <a:spcPts val="500"/>
              </a:spcBef>
              <a:spcAft>
                <a:spcPts val="0"/>
              </a:spcAft>
              <a:buClr>
                <a:schemeClr val="dk1"/>
              </a:buClr>
              <a:buSzPts val="2400"/>
              <a:buChar char="•"/>
            </a:pPr>
            <a:r>
              <a:rPr lang="en-US" dirty="0"/>
              <a:t>Live changes with enough anticipation to customers</a:t>
            </a:r>
          </a:p>
          <a:p>
            <a:pPr marL="685800" lvl="1" indent="-228600" algn="l" rtl="0">
              <a:lnSpc>
                <a:spcPct val="90000"/>
              </a:lnSpc>
              <a:spcBef>
                <a:spcPts val="500"/>
              </a:spcBef>
              <a:spcAft>
                <a:spcPts val="0"/>
              </a:spcAft>
              <a:buClr>
                <a:schemeClr val="dk1"/>
              </a:buClr>
              <a:buSzPts val="2400"/>
              <a:buChar char="•"/>
            </a:pPr>
            <a:r>
              <a:rPr lang="en-US" dirty="0"/>
              <a:t>Absence with anticipation (book and or block calendar) </a:t>
            </a:r>
            <a:endParaRPr dirty="0"/>
          </a:p>
          <a:p>
            <a:pPr marL="685800" lvl="1" indent="-228600" algn="l" rtl="0">
              <a:lnSpc>
                <a:spcPct val="90000"/>
              </a:lnSpc>
              <a:spcBef>
                <a:spcPts val="500"/>
              </a:spcBef>
              <a:spcAft>
                <a:spcPts val="0"/>
              </a:spcAft>
              <a:buClr>
                <a:schemeClr val="dk1"/>
              </a:buClr>
              <a:buSzPts val="2400"/>
              <a:buChar char="•"/>
            </a:pPr>
            <a:r>
              <a:rPr lang="en-US" dirty="0"/>
              <a:t>Delay/Leave to/from office to the team members</a:t>
            </a:r>
          </a:p>
          <a:p>
            <a:pPr marL="685800" lvl="1" indent="-228600" algn="l" rtl="0">
              <a:lnSpc>
                <a:spcPct val="90000"/>
              </a:lnSpc>
              <a:spcBef>
                <a:spcPts val="500"/>
              </a:spcBef>
              <a:spcAft>
                <a:spcPts val="0"/>
              </a:spcAft>
              <a:buClr>
                <a:schemeClr val="dk1"/>
              </a:buClr>
              <a:buSzPts val="2400"/>
              <a:buChar char="•"/>
            </a:pPr>
            <a:r>
              <a:rPr lang="en-US" dirty="0"/>
              <a:t>If you are working and applying changes on weekend </a:t>
            </a:r>
            <a:endParaRPr dirty="0"/>
          </a:p>
          <a:p>
            <a:pPr marL="228600" lvl="0" indent="-228600" algn="l" rtl="0">
              <a:lnSpc>
                <a:spcPct val="90000"/>
              </a:lnSpc>
              <a:spcBef>
                <a:spcPts val="1000"/>
              </a:spcBef>
              <a:spcAft>
                <a:spcPts val="0"/>
              </a:spcAft>
              <a:buClr>
                <a:srgbClr val="C55A11"/>
              </a:buClr>
              <a:buSzPts val="2800"/>
              <a:buChar char="•"/>
            </a:pPr>
            <a:r>
              <a:rPr lang="en-US" b="1" dirty="0">
                <a:solidFill>
                  <a:srgbClr val="C55A11"/>
                </a:solidFill>
              </a:rPr>
              <a:t>Avoid:</a:t>
            </a:r>
            <a:endParaRPr dirty="0"/>
          </a:p>
          <a:p>
            <a:pPr marL="685800" lvl="1" indent="-228600" algn="l" rtl="0">
              <a:lnSpc>
                <a:spcPct val="90000"/>
              </a:lnSpc>
              <a:spcBef>
                <a:spcPts val="500"/>
              </a:spcBef>
              <a:spcAft>
                <a:spcPts val="0"/>
              </a:spcAft>
              <a:buClr>
                <a:schemeClr val="dk1"/>
              </a:buClr>
              <a:buSzPts val="2400"/>
              <a:buChar char="•"/>
            </a:pPr>
            <a:r>
              <a:rPr lang="en-US" dirty="0"/>
              <a:t>Doing unplanned changes not related to live issues on “Fridays”</a:t>
            </a:r>
            <a:endParaRPr dirty="0"/>
          </a:p>
          <a:p>
            <a:pPr marL="685800" lvl="1" indent="-228600" algn="l" rtl="0">
              <a:lnSpc>
                <a:spcPct val="90000"/>
              </a:lnSpc>
              <a:spcBef>
                <a:spcPts val="500"/>
              </a:spcBef>
              <a:spcAft>
                <a:spcPts val="0"/>
              </a:spcAft>
              <a:buClr>
                <a:schemeClr val="dk1"/>
              </a:buClr>
              <a:buSzPts val="2400"/>
              <a:buChar char="•"/>
            </a:pPr>
            <a:r>
              <a:rPr lang="en-US" dirty="0"/>
              <a:t>Implementing new features near days you are on vacations (freeze)</a:t>
            </a:r>
            <a:endParaRPr dirty="0"/>
          </a:p>
          <a:p>
            <a:pPr marL="685800" lvl="1" indent="-228600" algn="l" rtl="0">
              <a:lnSpc>
                <a:spcPct val="90000"/>
              </a:lnSpc>
              <a:spcBef>
                <a:spcPts val="500"/>
              </a:spcBef>
              <a:spcAft>
                <a:spcPts val="0"/>
              </a:spcAft>
              <a:buClr>
                <a:schemeClr val="dk1"/>
              </a:buClr>
              <a:buSzPts val="2400"/>
              <a:buChar char="•"/>
            </a:pPr>
            <a:r>
              <a:rPr lang="en-US" dirty="0"/>
              <a:t>Mixing informal/formal communication </a:t>
            </a:r>
            <a:r>
              <a:rPr lang="en-US" sz="1800" dirty="0"/>
              <a:t>(e.g. me/x-team, misunderstanding, rumors)</a:t>
            </a:r>
            <a:endParaRPr dirty="0"/>
          </a:p>
          <a:p>
            <a:pPr marL="685800" lvl="1" indent="-228600" algn="l" rtl="0">
              <a:lnSpc>
                <a:spcPct val="90000"/>
              </a:lnSpc>
              <a:spcBef>
                <a:spcPts val="500"/>
              </a:spcBef>
              <a:spcAft>
                <a:spcPts val="0"/>
              </a:spcAft>
              <a:buClr>
                <a:schemeClr val="dk1"/>
              </a:buClr>
              <a:buSzPts val="2400"/>
              <a:buChar char="•"/>
            </a:pPr>
            <a:r>
              <a:rPr lang="en-US" dirty="0"/>
              <a:t>Overlapping vacations with your 2nd in command </a:t>
            </a:r>
            <a:r>
              <a:rPr lang="en-US" i="1" dirty="0"/>
              <a:t>(a.k.a. my backup)</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7"/>
        <p:cNvGrpSpPr/>
        <p:nvPr/>
      </p:nvGrpSpPr>
      <p:grpSpPr>
        <a:xfrm>
          <a:off x="0" y="0"/>
          <a:ext cx="0" cy="0"/>
          <a:chOff x="0" y="0"/>
          <a:chExt cx="0" cy="0"/>
        </a:xfrm>
      </p:grpSpPr>
      <p:sp>
        <p:nvSpPr>
          <p:cNvPr id="838" name="Google Shape;838;p45"/>
          <p:cNvSpPr/>
          <p:nvPr/>
        </p:nvSpPr>
        <p:spPr>
          <a:xfrm rot="-5400000">
            <a:off x="5662795" y="-3745097"/>
            <a:ext cx="1354979" cy="10750169"/>
          </a:xfrm>
          <a:prstGeom prst="downArrow">
            <a:avLst>
              <a:gd name="adj1" fmla="val 100000"/>
              <a:gd name="adj2" fmla="val 22582"/>
            </a:avLst>
          </a:pr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839" name="Google Shape;839;p45"/>
          <p:cNvSpPr txBox="1">
            <a:spLocks noGrp="1"/>
          </p:cNvSpPr>
          <p:nvPr>
            <p:ph type="title"/>
          </p:nvPr>
        </p:nvSpPr>
        <p:spPr>
          <a:xfrm>
            <a:off x="1286932" y="1204109"/>
            <a:ext cx="10023398" cy="85789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US" sz="4000">
                <a:solidFill>
                  <a:srgbClr val="FFFFFF"/>
                </a:solidFill>
              </a:rPr>
              <a:t>Estimated Time Ahead (ETA)</a:t>
            </a:r>
            <a:endParaRPr/>
          </a:p>
        </p:txBody>
      </p:sp>
      <p:sp>
        <p:nvSpPr>
          <p:cNvPr id="840" name="Google Shape;840;p45"/>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841" name="Google Shape;841;p45"/>
          <p:cNvGrpSpPr/>
          <p:nvPr/>
        </p:nvGrpSpPr>
        <p:grpSpPr>
          <a:xfrm>
            <a:off x="2283924" y="2963100"/>
            <a:ext cx="8073413" cy="2817749"/>
            <a:chOff x="996461" y="825"/>
            <a:chExt cx="8073413" cy="2817749"/>
          </a:xfrm>
        </p:grpSpPr>
        <p:sp>
          <p:nvSpPr>
            <p:cNvPr id="842" name="Google Shape;842;p45"/>
            <p:cNvSpPr/>
            <p:nvPr/>
          </p:nvSpPr>
          <p:spPr>
            <a:xfrm>
              <a:off x="1344376" y="825"/>
              <a:ext cx="1088349" cy="1088349"/>
            </a:xfrm>
            <a:prstGeom prst="round2DiagRect">
              <a:avLst>
                <a:gd name="adj1" fmla="val 29727"/>
                <a:gd name="adj2" fmla="val 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3" name="Google Shape;843;p45"/>
            <p:cNvSpPr/>
            <p:nvPr/>
          </p:nvSpPr>
          <p:spPr>
            <a:xfrm>
              <a:off x="1576320" y="232768"/>
              <a:ext cx="624462" cy="624462"/>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4" name="Google Shape;844;p45"/>
            <p:cNvSpPr/>
            <p:nvPr/>
          </p:nvSpPr>
          <p:spPr>
            <a:xfrm>
              <a:off x="996461" y="1428169"/>
              <a:ext cx="1784179" cy="13904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5" name="Google Shape;845;p45"/>
            <p:cNvSpPr txBox="1"/>
            <p:nvPr/>
          </p:nvSpPr>
          <p:spPr>
            <a:xfrm>
              <a:off x="996461" y="1428169"/>
              <a:ext cx="1784179" cy="139040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BROADCAST INFORMATION</a:t>
              </a:r>
              <a:br>
                <a:rPr lang="en-US" sz="1800" b="1"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START, PROGRESS, END, EVIDENCE</a:t>
              </a:r>
              <a:endParaRPr sz="1400" b="0" i="0" u="none" strike="noStrike" cap="none">
                <a:solidFill>
                  <a:srgbClr val="000000"/>
                </a:solidFill>
                <a:latin typeface="Arial"/>
                <a:ea typeface="Arial"/>
                <a:cs typeface="Arial"/>
                <a:sym typeface="Arial"/>
              </a:endParaRPr>
            </a:p>
          </p:txBody>
        </p:sp>
        <p:sp>
          <p:nvSpPr>
            <p:cNvPr id="846" name="Google Shape;846;p45"/>
            <p:cNvSpPr/>
            <p:nvPr/>
          </p:nvSpPr>
          <p:spPr>
            <a:xfrm>
              <a:off x="3440788" y="825"/>
              <a:ext cx="1088349" cy="1088349"/>
            </a:xfrm>
            <a:prstGeom prst="round2DiagRect">
              <a:avLst>
                <a:gd name="adj1" fmla="val 29727"/>
                <a:gd name="adj2" fmla="val 0"/>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7" name="Google Shape;847;p45"/>
            <p:cNvSpPr/>
            <p:nvPr/>
          </p:nvSpPr>
          <p:spPr>
            <a:xfrm>
              <a:off x="3672731" y="232768"/>
              <a:ext cx="624462" cy="624462"/>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8" name="Google Shape;848;p45"/>
            <p:cNvSpPr/>
            <p:nvPr/>
          </p:nvSpPr>
          <p:spPr>
            <a:xfrm>
              <a:off x="3092873" y="1428169"/>
              <a:ext cx="1784179" cy="13904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9" name="Google Shape;849;p45"/>
            <p:cNvSpPr txBox="1"/>
            <p:nvPr/>
          </p:nvSpPr>
          <p:spPr>
            <a:xfrm>
              <a:off x="3092873" y="1428169"/>
              <a:ext cx="1784179" cy="139040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REPORT CONTINUOUSLY </a:t>
              </a:r>
              <a:r>
                <a:rPr lang="en-US" sz="1800" b="0" i="0" u="none" strike="noStrike" cap="none">
                  <a:solidFill>
                    <a:schemeClr val="dk1"/>
                  </a:solidFill>
                  <a:latin typeface="Calibri"/>
                  <a:ea typeface="Calibri"/>
                  <a:cs typeface="Calibri"/>
                  <a:sym typeface="Calibri"/>
                </a:rPr>
                <a:t>DON’T EXPECT TO BE FOLLOW-UP</a:t>
              </a:r>
              <a:endParaRPr sz="1800" b="1" i="0" u="none" strike="noStrike" cap="none">
                <a:solidFill>
                  <a:schemeClr val="dk1"/>
                </a:solidFill>
                <a:latin typeface="Calibri"/>
                <a:ea typeface="Calibri"/>
                <a:cs typeface="Calibri"/>
                <a:sym typeface="Calibri"/>
              </a:endParaRPr>
            </a:p>
          </p:txBody>
        </p:sp>
        <p:sp>
          <p:nvSpPr>
            <p:cNvPr id="850" name="Google Shape;850;p45"/>
            <p:cNvSpPr/>
            <p:nvPr/>
          </p:nvSpPr>
          <p:spPr>
            <a:xfrm>
              <a:off x="5537199" y="825"/>
              <a:ext cx="1088349" cy="1088349"/>
            </a:xfrm>
            <a:prstGeom prst="round2DiagRect">
              <a:avLst>
                <a:gd name="adj1" fmla="val 29727"/>
                <a:gd name="adj2" fmla="val 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1" name="Google Shape;851;p45"/>
            <p:cNvSpPr/>
            <p:nvPr/>
          </p:nvSpPr>
          <p:spPr>
            <a:xfrm>
              <a:off x="5769142" y="232768"/>
              <a:ext cx="624462" cy="624462"/>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2" name="Google Shape;852;p45"/>
            <p:cNvSpPr/>
            <p:nvPr/>
          </p:nvSpPr>
          <p:spPr>
            <a:xfrm>
              <a:off x="5189284" y="1428169"/>
              <a:ext cx="1784179" cy="13904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3" name="Google Shape;853;p45"/>
            <p:cNvSpPr txBox="1"/>
            <p:nvPr/>
          </p:nvSpPr>
          <p:spPr>
            <a:xfrm>
              <a:off x="5189284" y="1428169"/>
              <a:ext cx="1784179" cy="139040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RESPONSE QUESTIONS </a:t>
              </a:r>
              <a:br>
                <a:rPr lang="en-US" sz="1800" b="1"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TO EASY CLARIFY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FOLLOW-UP</a:t>
              </a:r>
              <a:endParaRPr sz="1400" b="0" i="0" u="none" strike="noStrike" cap="none">
                <a:solidFill>
                  <a:srgbClr val="000000"/>
                </a:solidFill>
                <a:latin typeface="Arial"/>
                <a:ea typeface="Arial"/>
                <a:cs typeface="Arial"/>
                <a:sym typeface="Arial"/>
              </a:endParaRPr>
            </a:p>
          </p:txBody>
        </p:sp>
        <p:sp>
          <p:nvSpPr>
            <p:cNvPr id="854" name="Google Shape;854;p45"/>
            <p:cNvSpPr/>
            <p:nvPr/>
          </p:nvSpPr>
          <p:spPr>
            <a:xfrm>
              <a:off x="7633610" y="825"/>
              <a:ext cx="1088349" cy="1088349"/>
            </a:xfrm>
            <a:prstGeom prst="round2DiagRect">
              <a:avLst>
                <a:gd name="adj1" fmla="val 29727"/>
                <a:gd name="adj2" fmla="val 0"/>
              </a:avLst>
            </a:prstGeom>
            <a:solidFill>
              <a:srgbClr val="599BD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5" name="Google Shape;855;p45"/>
            <p:cNvSpPr/>
            <p:nvPr/>
          </p:nvSpPr>
          <p:spPr>
            <a:xfrm>
              <a:off x="7865553" y="232768"/>
              <a:ext cx="624462" cy="624462"/>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6" name="Google Shape;856;p45"/>
            <p:cNvSpPr/>
            <p:nvPr/>
          </p:nvSpPr>
          <p:spPr>
            <a:xfrm>
              <a:off x="7285695" y="1428169"/>
              <a:ext cx="1784179" cy="13904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7" name="Google Shape;857;p45"/>
            <p:cNvSpPr txBox="1"/>
            <p:nvPr/>
          </p:nvSpPr>
          <p:spPr>
            <a:xfrm>
              <a:off x="7285695" y="1428169"/>
              <a:ext cx="1784179" cy="139040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APPLY TO EVERYTHING</a:t>
              </a:r>
              <a:r>
                <a:rPr lang="en-US" sz="1800" b="0" i="0" u="none" strike="noStrike" cap="none">
                  <a:solidFill>
                    <a:schemeClr val="dk1"/>
                  </a:solidFill>
                  <a:latin typeface="Calibri"/>
                  <a:ea typeface="Calibri"/>
                  <a:cs typeface="Calibri"/>
                  <a:sym typeface="Calibri"/>
                </a:rPr>
                <a:t>: INCIDENT, PROBLEMS, REQUIREMENTS.</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1"/>
        <p:cNvGrpSpPr/>
        <p:nvPr/>
      </p:nvGrpSpPr>
      <p:grpSpPr>
        <a:xfrm>
          <a:off x="0" y="0"/>
          <a:ext cx="0" cy="0"/>
          <a:chOff x="0" y="0"/>
          <a:chExt cx="0" cy="0"/>
        </a:xfrm>
      </p:grpSpPr>
      <p:sp>
        <p:nvSpPr>
          <p:cNvPr id="862" name="Google Shape;862;p46"/>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863" name="Google Shape;863;p46"/>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600"/>
              <a:buFont typeface="Calibri"/>
              <a:buNone/>
            </a:pPr>
            <a:r>
              <a:rPr lang="en-US" sz="3600">
                <a:solidFill>
                  <a:srgbClr val="FFFFFF"/>
                </a:solidFill>
              </a:rPr>
              <a:t>Communication</a:t>
            </a:r>
            <a:br>
              <a:rPr lang="en-US" sz="3600">
                <a:solidFill>
                  <a:srgbClr val="FFFFFF"/>
                </a:solidFill>
              </a:rPr>
            </a:br>
            <a:r>
              <a:rPr lang="en-US" sz="3600">
                <a:solidFill>
                  <a:srgbClr val="FFFFFF"/>
                </a:solidFill>
              </a:rPr>
              <a:t>(Too many channels?)</a:t>
            </a:r>
            <a:endParaRPr/>
          </a:p>
        </p:txBody>
      </p:sp>
      <p:grpSp>
        <p:nvGrpSpPr>
          <p:cNvPr id="864" name="Google Shape;864;p46"/>
          <p:cNvGrpSpPr/>
          <p:nvPr/>
        </p:nvGrpSpPr>
        <p:grpSpPr>
          <a:xfrm>
            <a:off x="5194300" y="695276"/>
            <a:ext cx="6513603" cy="5436720"/>
            <a:chOff x="0" y="224352"/>
            <a:chExt cx="6513603" cy="5436720"/>
          </a:xfrm>
        </p:grpSpPr>
        <p:sp>
          <p:nvSpPr>
            <p:cNvPr id="865" name="Google Shape;865;p46"/>
            <p:cNvSpPr/>
            <p:nvPr/>
          </p:nvSpPr>
          <p:spPr>
            <a:xfrm>
              <a:off x="0" y="490032"/>
              <a:ext cx="6513603" cy="1105650"/>
            </a:xfrm>
            <a:prstGeom prst="rect">
              <a:avLst/>
            </a:prstGeom>
            <a:solidFill>
              <a:schemeClr val="lt1">
                <a:alpha val="89411"/>
              </a:schemeClr>
            </a:solid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6" name="Google Shape;866;p46"/>
            <p:cNvSpPr txBox="1"/>
            <p:nvPr/>
          </p:nvSpPr>
          <p:spPr>
            <a:xfrm>
              <a:off x="0" y="490032"/>
              <a:ext cx="6513603" cy="1105650"/>
            </a:xfrm>
            <a:prstGeom prst="rect">
              <a:avLst/>
            </a:prstGeom>
            <a:noFill/>
            <a:ln>
              <a:noFill/>
            </a:ln>
          </p:spPr>
          <p:txBody>
            <a:bodyPr spcFirstLastPara="1" wrap="square" lIns="505525" tIns="374900" rIns="505525" bIns="128000" anchor="t" anchorCtr="0">
              <a:noAutofit/>
            </a:bodyPr>
            <a:lstStyle/>
            <a:p>
              <a:pPr marL="171450" marR="0" lvl="1" indent="-171450" algn="l" rtl="0">
                <a:lnSpc>
                  <a:spcPct val="100000"/>
                </a:lnSpc>
                <a:spcBef>
                  <a:spcPts val="0"/>
                </a:spcBef>
                <a:spcAft>
                  <a:spcPts val="0"/>
                </a:spcAft>
                <a:buClr>
                  <a:schemeClr val="dk1"/>
                </a:buClr>
                <a:buSzPts val="1800"/>
                <a:buFont typeface="Calibri"/>
                <a:buChar char="•"/>
              </a:pPr>
              <a:r>
                <a:rPr lang="en-US" sz="1800" b="0" i="0" u="none" strike="noStrike" cap="none" dirty="0">
                  <a:solidFill>
                    <a:schemeClr val="dk1"/>
                  </a:solidFill>
                  <a:latin typeface="Calibri"/>
                  <a:ea typeface="Calibri"/>
                  <a:cs typeface="Calibri"/>
                  <a:sym typeface="Calibri"/>
                </a:rPr>
                <a:t>Many formals communications and calendaring</a:t>
              </a:r>
              <a:endParaRPr sz="1400" b="0" i="0" u="none" strike="noStrike" cap="none" dirty="0">
                <a:solidFill>
                  <a:srgbClr val="000000"/>
                </a:solidFill>
                <a:latin typeface="Arial"/>
                <a:ea typeface="Arial"/>
                <a:cs typeface="Arial"/>
                <a:sym typeface="Arial"/>
              </a:endParaRPr>
            </a:p>
            <a:p>
              <a:pPr marL="171450" marR="0" lvl="1" indent="-171450" algn="l" rtl="0">
                <a:lnSpc>
                  <a:spcPct val="100000"/>
                </a:lnSpc>
                <a:spcBef>
                  <a:spcPts val="270"/>
                </a:spcBef>
                <a:spcAft>
                  <a:spcPts val="0"/>
                </a:spcAft>
                <a:buClr>
                  <a:schemeClr val="dk1"/>
                </a:buClr>
                <a:buSzPts val="1800"/>
                <a:buFont typeface="Calibri"/>
                <a:buChar char="•"/>
              </a:pPr>
              <a:r>
                <a:rPr lang="en-US" sz="1800" b="0" i="0" u="none" strike="noStrike" cap="none" dirty="0">
                  <a:solidFill>
                    <a:schemeClr val="dk1"/>
                  </a:solidFill>
                  <a:latin typeface="Calibri"/>
                  <a:ea typeface="Calibri"/>
                  <a:cs typeface="Calibri"/>
                  <a:sym typeface="Calibri"/>
                </a:rPr>
                <a:t>Request to chats will be converted to tickets (as needed)</a:t>
              </a:r>
              <a:endParaRPr sz="1400" b="0" i="0" u="none" strike="noStrike" cap="none" dirty="0">
                <a:solidFill>
                  <a:srgbClr val="000000"/>
                </a:solidFill>
                <a:latin typeface="Arial"/>
                <a:ea typeface="Arial"/>
                <a:cs typeface="Arial"/>
                <a:sym typeface="Arial"/>
              </a:endParaRPr>
            </a:p>
          </p:txBody>
        </p:sp>
        <p:sp>
          <p:nvSpPr>
            <p:cNvPr id="867" name="Google Shape;867;p46"/>
            <p:cNvSpPr/>
            <p:nvPr/>
          </p:nvSpPr>
          <p:spPr>
            <a:xfrm>
              <a:off x="325680" y="224352"/>
              <a:ext cx="4559522" cy="53136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8" name="Google Shape;868;p46"/>
            <p:cNvSpPr txBox="1"/>
            <p:nvPr/>
          </p:nvSpPr>
          <p:spPr>
            <a:xfrm>
              <a:off x="351619" y="250291"/>
              <a:ext cx="4507644" cy="479482"/>
            </a:xfrm>
            <a:prstGeom prst="rect">
              <a:avLst/>
            </a:prstGeom>
            <a:noFill/>
            <a:ln>
              <a:noFill/>
            </a:ln>
          </p:spPr>
          <p:txBody>
            <a:bodyPr spcFirstLastPara="1" wrap="square" lIns="172325" tIns="0" rIns="172325" bIns="0" anchor="ctr" anchorCtr="0">
              <a:noAutofit/>
            </a:bodyPr>
            <a:lstStyle/>
            <a:p>
              <a:pPr marL="0" marR="0" lvl="0" indent="0" algn="l" rtl="0">
                <a:lnSpc>
                  <a:spcPct val="100000"/>
                </a:lnSpc>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@Email </a:t>
              </a:r>
              <a:endParaRPr sz="1800" b="0" i="0" u="none" strike="noStrike" cap="none">
                <a:solidFill>
                  <a:schemeClr val="lt1"/>
                </a:solidFill>
                <a:latin typeface="Calibri"/>
                <a:ea typeface="Calibri"/>
                <a:cs typeface="Calibri"/>
                <a:sym typeface="Calibri"/>
              </a:endParaRPr>
            </a:p>
          </p:txBody>
        </p:sp>
        <p:sp>
          <p:nvSpPr>
            <p:cNvPr id="869" name="Google Shape;869;p46"/>
            <p:cNvSpPr/>
            <p:nvPr/>
          </p:nvSpPr>
          <p:spPr>
            <a:xfrm>
              <a:off x="0" y="1958562"/>
              <a:ext cx="6513603" cy="1105650"/>
            </a:xfrm>
            <a:prstGeom prst="rect">
              <a:avLst/>
            </a:prstGeom>
            <a:solidFill>
              <a:schemeClr val="lt1">
                <a:alpha val="89411"/>
              </a:schemeClr>
            </a:solidFill>
            <a:ln w="12700" cap="flat" cmpd="sng">
              <a:solidFill>
                <a:schemeClr val="accent3"/>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46"/>
            <p:cNvSpPr txBox="1"/>
            <p:nvPr/>
          </p:nvSpPr>
          <p:spPr>
            <a:xfrm>
              <a:off x="0" y="1958562"/>
              <a:ext cx="6513603" cy="1105650"/>
            </a:xfrm>
            <a:prstGeom prst="rect">
              <a:avLst/>
            </a:prstGeom>
            <a:noFill/>
            <a:ln>
              <a:noFill/>
            </a:ln>
          </p:spPr>
          <p:txBody>
            <a:bodyPr spcFirstLastPara="1" wrap="square" lIns="505525" tIns="374900" rIns="505525" bIns="128000" anchor="t" anchorCtr="0">
              <a:noAutofit/>
            </a:bodyPr>
            <a:lstStyle/>
            <a:p>
              <a:pPr marL="171450" marR="0" lvl="1" indent="-171450" algn="l" rtl="0">
                <a:lnSpc>
                  <a:spcPct val="100000"/>
                </a:lnSpc>
                <a:spcBef>
                  <a:spcPts val="0"/>
                </a:spcBef>
                <a:spcAft>
                  <a:spcPts val="0"/>
                </a:spcAft>
                <a:buClr>
                  <a:schemeClr val="dk1"/>
                </a:buClr>
                <a:buSzPts val="1800"/>
                <a:buFont typeface="Calibri"/>
                <a:buChar char="•"/>
              </a:pPr>
              <a:r>
                <a:rPr lang="en-US" sz="1800" b="0" i="0" u="none" strike="noStrike" cap="none" dirty="0">
                  <a:solidFill>
                    <a:schemeClr val="dk1"/>
                  </a:solidFill>
                  <a:latin typeface="Calibri"/>
                  <a:ea typeface="Calibri"/>
                  <a:cs typeface="Calibri"/>
                  <a:sym typeface="Calibri"/>
                </a:rPr>
                <a:t>Live Issues and </a:t>
              </a:r>
              <a:r>
                <a:rPr lang="en-GB" sz="1800" b="0" i="0" u="none" strike="noStrike" cap="none" dirty="0">
                  <a:solidFill>
                    <a:schemeClr val="dk1"/>
                  </a:solidFill>
                  <a:latin typeface="Calibri"/>
                  <a:ea typeface="Calibri"/>
                  <a:cs typeface="Calibri"/>
                  <a:sym typeface="Calibri"/>
                </a:rPr>
                <a:t>News</a:t>
              </a:r>
              <a:endParaRPr sz="1400" b="0" i="0" u="none" strike="noStrike" cap="none" dirty="0">
                <a:solidFill>
                  <a:srgbClr val="000000"/>
                </a:solidFill>
                <a:latin typeface="Arial"/>
                <a:ea typeface="Arial"/>
                <a:cs typeface="Arial"/>
                <a:sym typeface="Arial"/>
              </a:endParaRPr>
            </a:p>
            <a:p>
              <a:pPr marL="171450" marR="0" lvl="1" indent="-171450" algn="l" rtl="0">
                <a:lnSpc>
                  <a:spcPct val="100000"/>
                </a:lnSpc>
                <a:spcBef>
                  <a:spcPts val="270"/>
                </a:spcBef>
                <a:spcAft>
                  <a:spcPts val="0"/>
                </a:spcAft>
                <a:buClr>
                  <a:schemeClr val="dk1"/>
                </a:buClr>
                <a:buSzPts val="1800"/>
                <a:buFont typeface="Calibri"/>
                <a:buChar char="•"/>
              </a:pPr>
              <a:r>
                <a:rPr lang="en-US" sz="1800" b="0" i="0" u="none" strike="noStrike" cap="none" dirty="0">
                  <a:solidFill>
                    <a:schemeClr val="dk1"/>
                  </a:solidFill>
                  <a:latin typeface="Calibri"/>
                  <a:ea typeface="Calibri"/>
                  <a:cs typeface="Calibri"/>
                  <a:sym typeface="Calibri"/>
                </a:rPr>
                <a:t>Daily/Weekly Slack-Up Trial (instead of Daily Stand-Up)</a:t>
              </a:r>
              <a:endParaRPr sz="1400" b="0" i="0" u="none" strike="noStrike" cap="none" dirty="0">
                <a:solidFill>
                  <a:srgbClr val="000000"/>
                </a:solidFill>
                <a:latin typeface="Arial"/>
                <a:ea typeface="Arial"/>
                <a:cs typeface="Arial"/>
                <a:sym typeface="Arial"/>
              </a:endParaRPr>
            </a:p>
          </p:txBody>
        </p:sp>
        <p:sp>
          <p:nvSpPr>
            <p:cNvPr id="871" name="Google Shape;871;p46"/>
            <p:cNvSpPr/>
            <p:nvPr/>
          </p:nvSpPr>
          <p:spPr>
            <a:xfrm>
              <a:off x="325680" y="1692882"/>
              <a:ext cx="4559522" cy="531360"/>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2" name="Google Shape;872;p46"/>
            <p:cNvSpPr txBox="1"/>
            <p:nvPr/>
          </p:nvSpPr>
          <p:spPr>
            <a:xfrm>
              <a:off x="351619" y="1718821"/>
              <a:ext cx="4507644" cy="479482"/>
            </a:xfrm>
            <a:prstGeom prst="rect">
              <a:avLst/>
            </a:prstGeom>
            <a:noFill/>
            <a:ln>
              <a:noFill/>
            </a:ln>
          </p:spPr>
          <p:txBody>
            <a:bodyPr spcFirstLastPara="1" wrap="square" lIns="172325" tIns="0" rIns="172325" bIns="0" anchor="ctr" anchorCtr="0">
              <a:noAutofit/>
            </a:bodyPr>
            <a:lstStyle/>
            <a:p>
              <a:pPr marL="0" marR="0" lvl="0" indent="0" algn="l" rtl="0">
                <a:lnSpc>
                  <a:spcPct val="100000"/>
                </a:lnSpc>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#Slack</a:t>
              </a:r>
              <a:endParaRPr sz="1800" b="0" i="0" u="none" strike="noStrike" cap="none">
                <a:solidFill>
                  <a:schemeClr val="lt1"/>
                </a:solidFill>
                <a:latin typeface="Calibri"/>
                <a:ea typeface="Calibri"/>
                <a:cs typeface="Calibri"/>
                <a:sym typeface="Calibri"/>
              </a:endParaRPr>
            </a:p>
          </p:txBody>
        </p:sp>
        <p:sp>
          <p:nvSpPr>
            <p:cNvPr id="873" name="Google Shape;873;p46"/>
            <p:cNvSpPr/>
            <p:nvPr/>
          </p:nvSpPr>
          <p:spPr>
            <a:xfrm>
              <a:off x="0" y="3427093"/>
              <a:ext cx="6513603" cy="1105650"/>
            </a:xfrm>
            <a:prstGeom prst="rect">
              <a:avLst/>
            </a:prstGeom>
            <a:solidFill>
              <a:schemeClr val="lt1">
                <a:alpha val="89411"/>
              </a:schemeClr>
            </a:solidFill>
            <a:ln w="12700"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4" name="Google Shape;874;p46"/>
            <p:cNvSpPr txBox="1"/>
            <p:nvPr/>
          </p:nvSpPr>
          <p:spPr>
            <a:xfrm>
              <a:off x="0" y="3427093"/>
              <a:ext cx="6513603" cy="1105650"/>
            </a:xfrm>
            <a:prstGeom prst="rect">
              <a:avLst/>
            </a:prstGeom>
            <a:noFill/>
            <a:ln>
              <a:noFill/>
            </a:ln>
          </p:spPr>
          <p:txBody>
            <a:bodyPr spcFirstLastPara="1" wrap="square" lIns="505525" tIns="374900" rIns="505525" bIns="128000" anchor="t" anchorCtr="0">
              <a:noAutofit/>
            </a:bodyPr>
            <a:lstStyle/>
            <a:p>
              <a:pPr marL="171450" marR="0" lvl="1" indent="-171450" algn="l" rtl="0">
                <a:lnSpc>
                  <a:spcPct val="100000"/>
                </a:lnSpc>
                <a:spcBef>
                  <a:spcPts val="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Kanban Board: Task/Requirements (Internal/External)</a:t>
              </a:r>
              <a:endParaRPr sz="1400" b="0" i="0" u="none" strike="noStrike" cap="none">
                <a:solidFill>
                  <a:srgbClr val="000000"/>
                </a:solidFill>
                <a:latin typeface="Arial"/>
                <a:ea typeface="Arial"/>
                <a:cs typeface="Arial"/>
                <a:sym typeface="Arial"/>
              </a:endParaRPr>
            </a:p>
            <a:p>
              <a:pPr marL="171450" marR="0" lvl="1" indent="-171450" algn="l" rtl="0">
                <a:lnSpc>
                  <a:spcPct val="100000"/>
                </a:lnSpc>
                <a:spcBef>
                  <a:spcPts val="27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Wiki: For publishing critical infrastructure information</a:t>
              </a:r>
              <a:endParaRPr sz="1400" b="0" i="0" u="none" strike="noStrike" cap="none">
                <a:solidFill>
                  <a:srgbClr val="000000"/>
                </a:solidFill>
                <a:latin typeface="Arial"/>
                <a:ea typeface="Arial"/>
                <a:cs typeface="Arial"/>
                <a:sym typeface="Arial"/>
              </a:endParaRPr>
            </a:p>
          </p:txBody>
        </p:sp>
        <p:sp>
          <p:nvSpPr>
            <p:cNvPr id="875" name="Google Shape;875;p46"/>
            <p:cNvSpPr/>
            <p:nvPr/>
          </p:nvSpPr>
          <p:spPr>
            <a:xfrm>
              <a:off x="325680" y="3161412"/>
              <a:ext cx="4559522" cy="531360"/>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6" name="Google Shape;876;p46"/>
            <p:cNvSpPr txBox="1"/>
            <p:nvPr/>
          </p:nvSpPr>
          <p:spPr>
            <a:xfrm>
              <a:off x="351619" y="3187351"/>
              <a:ext cx="4507644" cy="479482"/>
            </a:xfrm>
            <a:prstGeom prst="rect">
              <a:avLst/>
            </a:prstGeom>
            <a:noFill/>
            <a:ln>
              <a:noFill/>
            </a:ln>
          </p:spPr>
          <p:txBody>
            <a:bodyPr spcFirstLastPara="1" wrap="square" lIns="172325" tIns="0" rIns="172325" bIns="0" anchor="ctr" anchorCtr="0">
              <a:noAutofit/>
            </a:bodyPr>
            <a:lstStyle/>
            <a:p>
              <a:pPr marL="0" marR="0" lvl="0" indent="0" algn="l" rtl="0">
                <a:lnSpc>
                  <a:spcPct val="100000"/>
                </a:lnSpc>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JIRA (Tickets/Wiki)</a:t>
              </a:r>
              <a:endParaRPr sz="1800" b="0" i="0" u="none" strike="noStrike" cap="none">
                <a:solidFill>
                  <a:schemeClr val="lt1"/>
                </a:solidFill>
                <a:latin typeface="Calibri"/>
                <a:ea typeface="Calibri"/>
                <a:cs typeface="Calibri"/>
                <a:sym typeface="Calibri"/>
              </a:endParaRPr>
            </a:p>
          </p:txBody>
        </p:sp>
        <p:sp>
          <p:nvSpPr>
            <p:cNvPr id="877" name="Google Shape;877;p46"/>
            <p:cNvSpPr/>
            <p:nvPr/>
          </p:nvSpPr>
          <p:spPr>
            <a:xfrm>
              <a:off x="0" y="4895622"/>
              <a:ext cx="6513603" cy="765450"/>
            </a:xfrm>
            <a:prstGeom prst="rect">
              <a:avLst/>
            </a:prstGeom>
            <a:solidFill>
              <a:schemeClr val="lt1">
                <a:alpha val="89411"/>
              </a:schemeClr>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8" name="Google Shape;878;p46"/>
            <p:cNvSpPr txBox="1"/>
            <p:nvPr/>
          </p:nvSpPr>
          <p:spPr>
            <a:xfrm>
              <a:off x="0" y="4895622"/>
              <a:ext cx="6513603" cy="765450"/>
            </a:xfrm>
            <a:prstGeom prst="rect">
              <a:avLst/>
            </a:prstGeom>
            <a:noFill/>
            <a:ln>
              <a:noFill/>
            </a:ln>
          </p:spPr>
          <p:txBody>
            <a:bodyPr spcFirstLastPara="1" wrap="square" lIns="505525" tIns="374900" rIns="505525" bIns="128000" anchor="t" anchorCtr="0">
              <a:noAutofit/>
            </a:bodyPr>
            <a:lstStyle/>
            <a:p>
              <a:pPr marL="171450" marR="0" lvl="1" indent="-171450" algn="l" rtl="0">
                <a:lnSpc>
                  <a:spcPct val="90000"/>
                </a:lnSpc>
                <a:spcBef>
                  <a:spcPts val="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Only for emergencies</a:t>
              </a:r>
              <a:endParaRPr sz="1400" b="0" i="0" u="none" strike="noStrike" cap="none">
                <a:solidFill>
                  <a:srgbClr val="000000"/>
                </a:solidFill>
                <a:latin typeface="Arial"/>
                <a:ea typeface="Arial"/>
                <a:cs typeface="Arial"/>
                <a:sym typeface="Arial"/>
              </a:endParaRPr>
            </a:p>
          </p:txBody>
        </p:sp>
        <p:sp>
          <p:nvSpPr>
            <p:cNvPr id="879" name="Google Shape;879;p46"/>
            <p:cNvSpPr/>
            <p:nvPr/>
          </p:nvSpPr>
          <p:spPr>
            <a:xfrm>
              <a:off x="325680" y="4629943"/>
              <a:ext cx="4559522" cy="531360"/>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0" name="Google Shape;880;p46"/>
            <p:cNvSpPr txBox="1"/>
            <p:nvPr/>
          </p:nvSpPr>
          <p:spPr>
            <a:xfrm>
              <a:off x="351619" y="4655882"/>
              <a:ext cx="4507644" cy="479482"/>
            </a:xfrm>
            <a:prstGeom prst="rect">
              <a:avLst/>
            </a:prstGeom>
            <a:noFill/>
            <a:ln>
              <a:noFill/>
            </a:ln>
          </p:spPr>
          <p:txBody>
            <a:bodyPr spcFirstLastPara="1" wrap="square" lIns="172325" tIns="0" rIns="172325" bIns="0" anchor="ctr" anchorCtr="0">
              <a:noAutofit/>
            </a:bodyPr>
            <a:lstStyle/>
            <a:p>
              <a:pPr marL="0" marR="0" lvl="0" indent="0" algn="l" rtl="0">
                <a:lnSpc>
                  <a:spcPct val="100000"/>
                </a:lnSpc>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Phone Calls </a:t>
              </a:r>
              <a:r>
                <a:rPr lang="en-US" sz="1800" b="0" i="0" u="none" strike="noStrike" cap="none">
                  <a:solidFill>
                    <a:schemeClr val="lt1"/>
                  </a:solidFill>
                  <a:latin typeface="Calibri"/>
                  <a:ea typeface="Calibri"/>
                  <a:cs typeface="Calibri"/>
                  <a:sym typeface="Calibri"/>
                </a:rPr>
                <a:t>/ </a:t>
              </a:r>
              <a:r>
                <a:rPr lang="en-US" sz="1800" b="1" i="0" u="none" strike="noStrike" cap="none">
                  <a:solidFill>
                    <a:schemeClr val="lt1"/>
                  </a:solidFill>
                  <a:latin typeface="Calibri"/>
                  <a:ea typeface="Calibri"/>
                  <a:cs typeface="Calibri"/>
                  <a:sym typeface="Calibri"/>
                </a:rPr>
                <a:t>WhatsApp</a:t>
              </a: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47"/>
          <p:cNvSpPr txBox="1">
            <a:spLocks noGrp="1"/>
          </p:cNvSpPr>
          <p:nvPr>
            <p:ph type="title"/>
          </p:nvPr>
        </p:nvSpPr>
        <p:spPr>
          <a:xfrm>
            <a:off x="838199" y="365125"/>
            <a:ext cx="10585115" cy="1325563"/>
          </a:xfrm>
          <a:prstGeom prst="rect">
            <a:avLst/>
          </a:prstGeom>
          <a:solidFill>
            <a:srgbClr val="3F3F3F"/>
          </a:soli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400"/>
              <a:buFont typeface="Calibri"/>
              <a:buNone/>
            </a:pPr>
            <a:r>
              <a:rPr lang="en-US" b="1">
                <a:solidFill>
                  <a:schemeClr val="lt1"/>
                </a:solidFill>
              </a:rPr>
              <a:t>Mute Generation / Work Comm. Channel</a:t>
            </a:r>
            <a:endParaRPr b="1" strike="sngStrike">
              <a:solidFill>
                <a:schemeClr val="lt1"/>
              </a:solidFill>
            </a:endParaRPr>
          </a:p>
        </p:txBody>
      </p:sp>
      <p:pic>
        <p:nvPicPr>
          <p:cNvPr id="886" name="Google Shape;886;p47" descr="A close up of a sign&#10;&#10;Description automatically generated"/>
          <p:cNvPicPr preferRelativeResize="0"/>
          <p:nvPr/>
        </p:nvPicPr>
        <p:blipFill rotWithShape="1">
          <a:blip r:embed="rId3">
            <a:alphaModFix/>
          </a:blip>
          <a:srcRect/>
          <a:stretch/>
        </p:blipFill>
        <p:spPr>
          <a:xfrm>
            <a:off x="838200" y="2030194"/>
            <a:ext cx="3529483" cy="3432118"/>
          </a:xfrm>
          <a:prstGeom prst="rect">
            <a:avLst/>
          </a:prstGeom>
          <a:noFill/>
          <a:ln>
            <a:noFill/>
          </a:ln>
        </p:spPr>
      </p:pic>
      <p:pic>
        <p:nvPicPr>
          <p:cNvPr id="887" name="Google Shape;887;p47" descr="A close up of a sign&#10;&#10;Description automatically generated"/>
          <p:cNvPicPr preferRelativeResize="0"/>
          <p:nvPr/>
        </p:nvPicPr>
        <p:blipFill rotWithShape="1">
          <a:blip r:embed="rId4">
            <a:alphaModFix/>
          </a:blip>
          <a:srcRect/>
          <a:stretch/>
        </p:blipFill>
        <p:spPr>
          <a:xfrm>
            <a:off x="4366016" y="2030194"/>
            <a:ext cx="3529483" cy="3432118"/>
          </a:xfrm>
          <a:prstGeom prst="rect">
            <a:avLst/>
          </a:prstGeom>
          <a:noFill/>
          <a:ln>
            <a:noFill/>
          </a:ln>
        </p:spPr>
      </p:pic>
      <p:pic>
        <p:nvPicPr>
          <p:cNvPr id="888" name="Google Shape;888;p47" descr="A screenshot of a cell phone&#10;&#10;Description automatically generated"/>
          <p:cNvPicPr preferRelativeResize="0"/>
          <p:nvPr/>
        </p:nvPicPr>
        <p:blipFill rotWithShape="1">
          <a:blip r:embed="rId5">
            <a:alphaModFix/>
          </a:blip>
          <a:srcRect/>
          <a:stretch/>
        </p:blipFill>
        <p:spPr>
          <a:xfrm>
            <a:off x="7893832" y="2030194"/>
            <a:ext cx="3529483" cy="3432118"/>
          </a:xfrm>
          <a:prstGeom prst="rect">
            <a:avLst/>
          </a:prstGeom>
          <a:noFill/>
          <a:ln>
            <a:noFill/>
          </a:ln>
        </p:spPr>
      </p:pic>
      <p:sp>
        <p:nvSpPr>
          <p:cNvPr id="889" name="Google Shape;889;p47"/>
          <p:cNvSpPr txBox="1"/>
          <p:nvPr/>
        </p:nvSpPr>
        <p:spPr>
          <a:xfrm>
            <a:off x="1580662" y="5619964"/>
            <a:ext cx="2044558"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7030A0"/>
                </a:solidFill>
                <a:latin typeface="Calibri"/>
                <a:ea typeface="Calibri"/>
                <a:cs typeface="Calibri"/>
                <a:sym typeface="Calibri"/>
              </a:rPr>
              <a:t>Favorite Comm. Channel (IM)</a:t>
            </a:r>
            <a:endParaRPr sz="1400" b="0" i="0" u="none" strike="noStrike" cap="none">
              <a:solidFill>
                <a:srgbClr val="000000"/>
              </a:solidFill>
              <a:latin typeface="Arial"/>
              <a:ea typeface="Arial"/>
              <a:cs typeface="Arial"/>
              <a:sym typeface="Arial"/>
            </a:endParaRPr>
          </a:p>
        </p:txBody>
      </p:sp>
      <p:sp>
        <p:nvSpPr>
          <p:cNvPr id="890" name="Google Shape;890;p47"/>
          <p:cNvSpPr txBox="1"/>
          <p:nvPr/>
        </p:nvSpPr>
        <p:spPr>
          <a:xfrm>
            <a:off x="5073721" y="5619964"/>
            <a:ext cx="2044558"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7030A0"/>
                </a:solidFill>
                <a:latin typeface="Calibri"/>
                <a:ea typeface="Calibri"/>
                <a:cs typeface="Calibri"/>
                <a:sym typeface="Calibri"/>
              </a:rPr>
              <a:t>Daily Comm. Channel (IM)</a:t>
            </a:r>
            <a:endParaRPr sz="1400" b="0" i="0" u="none" strike="noStrike" cap="none">
              <a:solidFill>
                <a:srgbClr val="000000"/>
              </a:solidFill>
              <a:latin typeface="Arial"/>
              <a:ea typeface="Arial"/>
              <a:cs typeface="Arial"/>
              <a:sym typeface="Arial"/>
            </a:endParaRPr>
          </a:p>
        </p:txBody>
      </p:sp>
      <p:sp>
        <p:nvSpPr>
          <p:cNvPr id="891" name="Google Shape;891;p47"/>
          <p:cNvSpPr txBox="1"/>
          <p:nvPr/>
        </p:nvSpPr>
        <p:spPr>
          <a:xfrm>
            <a:off x="8566780" y="5619963"/>
            <a:ext cx="2044558"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7030A0"/>
                </a:solidFill>
                <a:latin typeface="Calibri"/>
                <a:ea typeface="Calibri"/>
                <a:cs typeface="Calibri"/>
                <a:sym typeface="Calibri"/>
              </a:rPr>
              <a:t>Family Comm. Channel (IM)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48"/>
          <p:cNvSpPr txBox="1">
            <a:spLocks noGrp="1"/>
          </p:cNvSpPr>
          <p:nvPr>
            <p:ph type="title"/>
          </p:nvPr>
        </p:nvSpPr>
        <p:spPr>
          <a:xfrm>
            <a:off x="838200" y="365125"/>
            <a:ext cx="7637980" cy="1325563"/>
          </a:xfrm>
          <a:prstGeom prst="rect">
            <a:avLst/>
          </a:prstGeom>
          <a:solidFill>
            <a:srgbClr val="7030A0"/>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b="1">
                <a:solidFill>
                  <a:schemeClr val="lt1"/>
                </a:solidFill>
              </a:rPr>
              <a:t>  So let’s Slack-Up! </a:t>
            </a:r>
            <a:endParaRPr b="1" strike="sngStrike">
              <a:solidFill>
                <a:schemeClr val="lt1"/>
              </a:solidFill>
            </a:endParaRPr>
          </a:p>
        </p:txBody>
      </p:sp>
      <p:sp>
        <p:nvSpPr>
          <p:cNvPr id="898" name="Google Shape;898;p48"/>
          <p:cNvSpPr txBox="1">
            <a:spLocks noGrp="1"/>
          </p:cNvSpPr>
          <p:nvPr>
            <p:ph type="body" idx="1"/>
          </p:nvPr>
        </p:nvSpPr>
        <p:spPr>
          <a:xfrm>
            <a:off x="838200" y="1825625"/>
            <a:ext cx="10515600" cy="4105618"/>
          </a:xfrm>
          <a:prstGeom prst="rect">
            <a:avLst/>
          </a:prstGeom>
          <a:noFill/>
          <a:ln>
            <a:noFill/>
          </a:ln>
        </p:spPr>
        <p:txBody>
          <a:bodyPr spcFirstLastPara="1" wrap="square" lIns="91425" tIns="45700" rIns="91425" bIns="45700" anchor="t" anchorCtr="0">
            <a:normAutofit/>
          </a:bodyPr>
          <a:lstStyle/>
          <a:p>
            <a:pPr marL="228600" lvl="0" indent="-228600" algn="l" rtl="0">
              <a:lnSpc>
                <a:spcPct val="80000"/>
              </a:lnSpc>
              <a:spcBef>
                <a:spcPts val="0"/>
              </a:spcBef>
              <a:spcAft>
                <a:spcPts val="0"/>
              </a:spcAft>
              <a:buClr>
                <a:schemeClr val="dk1"/>
              </a:buClr>
              <a:buSzPts val="2800"/>
              <a:buChar char="•"/>
            </a:pPr>
            <a:r>
              <a:rPr lang="en-US" dirty="0"/>
              <a:t>(Trial) Broadcast to </a:t>
            </a:r>
            <a:r>
              <a:rPr lang="en-US" b="1" dirty="0"/>
              <a:t>slack channel </a:t>
            </a:r>
            <a:r>
              <a:rPr lang="en-US" dirty="0"/>
              <a:t>instead of verbal stand-up.</a:t>
            </a:r>
            <a:endParaRPr dirty="0"/>
          </a:p>
          <a:p>
            <a:pPr marL="228600" lvl="0" indent="-228600" algn="l" rtl="0">
              <a:lnSpc>
                <a:spcPct val="80000"/>
              </a:lnSpc>
              <a:spcBef>
                <a:spcPts val="1000"/>
              </a:spcBef>
              <a:spcAft>
                <a:spcPts val="0"/>
              </a:spcAft>
              <a:buClr>
                <a:schemeClr val="dk1"/>
              </a:buClr>
              <a:buSzPts val="2800"/>
              <a:buChar char="•"/>
            </a:pPr>
            <a:r>
              <a:rPr lang="en-US" b="1" dirty="0"/>
              <a:t>Daily/Weekly basis </a:t>
            </a:r>
            <a:r>
              <a:rPr lang="en-US" dirty="0"/>
              <a:t>at the start of the day before 10 A.M.</a:t>
            </a:r>
            <a:endParaRPr dirty="0"/>
          </a:p>
          <a:p>
            <a:pPr marL="228600" lvl="0" indent="-228600" algn="l" rtl="0">
              <a:lnSpc>
                <a:spcPct val="80000"/>
              </a:lnSpc>
              <a:spcBef>
                <a:spcPts val="1000"/>
              </a:spcBef>
              <a:spcAft>
                <a:spcPts val="0"/>
              </a:spcAft>
              <a:buClr>
                <a:srgbClr val="7030A0"/>
              </a:buClr>
              <a:buSzPts val="2800"/>
              <a:buChar char="•"/>
            </a:pPr>
            <a:r>
              <a:rPr lang="en-US" b="1" dirty="0">
                <a:solidFill>
                  <a:srgbClr val="7030A0"/>
                </a:solidFill>
              </a:rPr>
              <a:t>Reminder</a:t>
            </a:r>
            <a:r>
              <a:rPr lang="en-US" dirty="0"/>
              <a:t> for </a:t>
            </a:r>
            <a:r>
              <a:rPr lang="en-US" b="1" dirty="0"/>
              <a:t>achievements/contributions </a:t>
            </a:r>
            <a:r>
              <a:rPr lang="en-US" dirty="0"/>
              <a:t>to OKR’s:</a:t>
            </a:r>
            <a:endParaRPr dirty="0"/>
          </a:p>
          <a:p>
            <a:pPr marL="1143000" lvl="2" indent="-228600" algn="l" rtl="0">
              <a:lnSpc>
                <a:spcPct val="80000"/>
              </a:lnSpc>
              <a:spcBef>
                <a:spcPts val="500"/>
              </a:spcBef>
              <a:spcAft>
                <a:spcPts val="0"/>
              </a:spcAft>
              <a:buClr>
                <a:schemeClr val="dk1"/>
              </a:buClr>
              <a:buSzPts val="2000"/>
              <a:buChar char="•"/>
            </a:pPr>
            <a:r>
              <a:rPr lang="en-US" dirty="0"/>
              <a:t>Maintenance</a:t>
            </a:r>
            <a:endParaRPr dirty="0"/>
          </a:p>
          <a:p>
            <a:pPr marL="1143000" lvl="2" indent="-228600" algn="l" rtl="0">
              <a:lnSpc>
                <a:spcPct val="80000"/>
              </a:lnSpc>
              <a:spcBef>
                <a:spcPts val="500"/>
              </a:spcBef>
              <a:spcAft>
                <a:spcPts val="0"/>
              </a:spcAft>
              <a:buClr>
                <a:schemeClr val="dk1"/>
              </a:buClr>
              <a:buSzPts val="2000"/>
              <a:buChar char="•"/>
            </a:pPr>
            <a:r>
              <a:rPr lang="en-US" dirty="0"/>
              <a:t>Innovation &amp; Optimization</a:t>
            </a:r>
            <a:endParaRPr dirty="0"/>
          </a:p>
          <a:p>
            <a:pPr marL="1143000" lvl="2" indent="-228600" algn="l" rtl="0">
              <a:lnSpc>
                <a:spcPct val="80000"/>
              </a:lnSpc>
              <a:spcBef>
                <a:spcPts val="500"/>
              </a:spcBef>
              <a:spcAft>
                <a:spcPts val="0"/>
              </a:spcAft>
              <a:buClr>
                <a:schemeClr val="dk1"/>
              </a:buClr>
              <a:buSzPts val="2000"/>
              <a:buChar char="•"/>
            </a:pPr>
            <a:r>
              <a:rPr lang="en-US" dirty="0"/>
              <a:t>Support </a:t>
            </a:r>
            <a:r>
              <a:rPr lang="en-US" dirty="0">
                <a:solidFill>
                  <a:srgbClr val="FF0000"/>
                </a:solidFill>
              </a:rPr>
              <a:t>(Only if not already a JIRA Ticket)</a:t>
            </a:r>
            <a:endParaRPr dirty="0"/>
          </a:p>
          <a:p>
            <a:pPr marL="1600200" lvl="3" indent="-228600" algn="l" rtl="0">
              <a:lnSpc>
                <a:spcPct val="80000"/>
              </a:lnSpc>
              <a:spcBef>
                <a:spcPts val="500"/>
              </a:spcBef>
              <a:spcAft>
                <a:spcPts val="0"/>
              </a:spcAft>
              <a:buClr>
                <a:srgbClr val="7F7F7F"/>
              </a:buClr>
              <a:buSzPts val="1800"/>
              <a:buChar char="•"/>
            </a:pPr>
            <a:r>
              <a:rPr lang="en-US" dirty="0">
                <a:solidFill>
                  <a:srgbClr val="7F7F7F"/>
                </a:solidFill>
              </a:rPr>
              <a:t>Low, Lowest, Medium, High, Highest.</a:t>
            </a:r>
            <a:endParaRPr dirty="0"/>
          </a:p>
          <a:p>
            <a:pPr marL="1600200" lvl="3" indent="-228600" algn="l" rtl="0">
              <a:lnSpc>
                <a:spcPct val="80000"/>
              </a:lnSpc>
              <a:spcBef>
                <a:spcPts val="500"/>
              </a:spcBef>
              <a:spcAft>
                <a:spcPts val="0"/>
              </a:spcAft>
              <a:buClr>
                <a:srgbClr val="7F7F7F"/>
              </a:buClr>
              <a:buSzPts val="1800"/>
              <a:buChar char="•"/>
            </a:pPr>
            <a:r>
              <a:rPr lang="en-US" dirty="0">
                <a:solidFill>
                  <a:srgbClr val="7F7F7F"/>
                </a:solidFill>
              </a:rPr>
              <a:t>Undesired/Unplanned requests (e.g. </a:t>
            </a:r>
            <a:r>
              <a:rPr lang="en-US" i="1" dirty="0">
                <a:solidFill>
                  <a:srgbClr val="7F7F7F"/>
                </a:solidFill>
              </a:rPr>
              <a:t>C-Level Urgencies, Last-Minute-Request</a:t>
            </a:r>
            <a:r>
              <a:rPr lang="en-US" dirty="0">
                <a:solidFill>
                  <a:srgbClr val="7F7F7F"/>
                </a:solidFill>
              </a:rPr>
              <a:t>)</a:t>
            </a:r>
            <a:endParaRPr dirty="0"/>
          </a:p>
          <a:p>
            <a:pPr marL="228600" lvl="0" indent="-228600" algn="l" rtl="0">
              <a:lnSpc>
                <a:spcPct val="80000"/>
              </a:lnSpc>
              <a:spcBef>
                <a:spcPts val="1000"/>
              </a:spcBef>
              <a:spcAft>
                <a:spcPts val="0"/>
              </a:spcAft>
              <a:buClr>
                <a:schemeClr val="dk1"/>
              </a:buClr>
              <a:buSzPts val="2800"/>
              <a:buChar char="•"/>
            </a:pPr>
            <a:r>
              <a:rPr lang="en-US" dirty="0"/>
              <a:t>Help to </a:t>
            </a:r>
            <a:r>
              <a:rPr lang="en-US" b="1" dirty="0"/>
              <a:t>track easily your progress and risks (red flags).</a:t>
            </a:r>
            <a:endParaRPr dirty="0"/>
          </a:p>
          <a:p>
            <a:pPr marL="228600" lvl="0" indent="-228600" algn="l" rtl="0">
              <a:lnSpc>
                <a:spcPct val="80000"/>
              </a:lnSpc>
              <a:spcBef>
                <a:spcPts val="1000"/>
              </a:spcBef>
              <a:spcAft>
                <a:spcPts val="0"/>
              </a:spcAft>
              <a:buClr>
                <a:schemeClr val="dk1"/>
              </a:buClr>
              <a:buSzPts val="2800"/>
              <a:buChar char="•"/>
            </a:pPr>
            <a:r>
              <a:rPr lang="en-US" dirty="0"/>
              <a:t>Promote team </a:t>
            </a:r>
            <a:r>
              <a:rPr lang="en-US" b="1" dirty="0"/>
              <a:t>awareness of issues and progress.</a:t>
            </a:r>
            <a:endParaRPr dirty="0"/>
          </a:p>
        </p:txBody>
      </p:sp>
      <p:sp>
        <p:nvSpPr>
          <p:cNvPr id="899" name="Google Shape;899;p48"/>
          <p:cNvSpPr/>
          <p:nvPr/>
        </p:nvSpPr>
        <p:spPr>
          <a:xfrm>
            <a:off x="1898682" y="5830642"/>
            <a:ext cx="8518063"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How it looks? </a:t>
            </a:r>
            <a:r>
              <a:rPr lang="en-US" sz="1800" b="0" i="0" u="sng" strike="noStrike" cap="non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https://slack.com/intl/en-de/slack-tips/run-daily-standups-or-check-ins</a:t>
            </a:r>
            <a:endParaRPr sz="1800" b="0" i="0" u="none" strike="noStrike" cap="none">
              <a:solidFill>
                <a:schemeClr val="dk1"/>
              </a:solidFill>
              <a:latin typeface="Calibri"/>
              <a:ea typeface="Calibri"/>
              <a:cs typeface="Calibri"/>
              <a:sym typeface="Calibri"/>
            </a:endParaRPr>
          </a:p>
        </p:txBody>
      </p:sp>
      <p:sp>
        <p:nvSpPr>
          <p:cNvPr id="900" name="Google Shape;900;p48"/>
          <p:cNvSpPr/>
          <p:nvPr/>
        </p:nvSpPr>
        <p:spPr>
          <a:xfrm>
            <a:off x="7725309" y="365125"/>
            <a:ext cx="1376737" cy="1325563"/>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01" name="Google Shape;901;p48"/>
          <p:cNvPicPr preferRelativeResize="0"/>
          <p:nvPr/>
        </p:nvPicPr>
        <p:blipFill rotWithShape="1">
          <a:blip r:embed="rId4">
            <a:alphaModFix/>
          </a:blip>
          <a:srcRect/>
          <a:stretch/>
        </p:blipFill>
        <p:spPr>
          <a:xfrm>
            <a:off x="8058261" y="584703"/>
            <a:ext cx="2962587" cy="88640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5"/>
        <p:cNvGrpSpPr/>
        <p:nvPr/>
      </p:nvGrpSpPr>
      <p:grpSpPr>
        <a:xfrm>
          <a:off x="0" y="0"/>
          <a:ext cx="0" cy="0"/>
          <a:chOff x="0" y="0"/>
          <a:chExt cx="0" cy="0"/>
        </a:xfrm>
      </p:grpSpPr>
      <p:sp>
        <p:nvSpPr>
          <p:cNvPr id="906" name="Google Shape;906;p49"/>
          <p:cNvSpPr/>
          <p:nvPr/>
        </p:nvSpPr>
        <p:spPr>
          <a:xfrm>
            <a:off x="0" y="0"/>
            <a:ext cx="12192000" cy="6858000"/>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7" name="Google Shape;907;p49"/>
          <p:cNvSpPr txBox="1">
            <a:spLocks noGrp="1"/>
          </p:cNvSpPr>
          <p:nvPr>
            <p:ph type="title"/>
          </p:nvPr>
        </p:nvSpPr>
        <p:spPr>
          <a:xfrm>
            <a:off x="6746628" y="1520576"/>
            <a:ext cx="4645250" cy="3811712"/>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lt1"/>
              </a:buClr>
              <a:buSzPts val="5400"/>
              <a:buFont typeface="Calibri"/>
              <a:buNone/>
            </a:pP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Changes</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 |</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Way of Work</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 |</a:t>
            </a:r>
            <a:br>
              <a:rPr lang="en-US" sz="5400">
                <a:solidFill>
                  <a:schemeClr val="lt1"/>
                </a:solidFill>
                <a:latin typeface="Calibri"/>
                <a:ea typeface="Calibri"/>
                <a:cs typeface="Calibri"/>
                <a:sym typeface="Calibri"/>
              </a:rPr>
            </a:br>
            <a:r>
              <a:rPr lang="en-US" sz="5400">
                <a:solidFill>
                  <a:schemeClr val="lt1"/>
                </a:solidFill>
                <a:latin typeface="Calibri"/>
                <a:ea typeface="Calibri"/>
                <a:cs typeface="Calibri"/>
                <a:sym typeface="Calibri"/>
              </a:rPr>
              <a:t>Planning</a:t>
            </a:r>
            <a:endParaRPr/>
          </a:p>
        </p:txBody>
      </p:sp>
      <p:sp>
        <p:nvSpPr>
          <p:cNvPr id="908" name="Google Shape;908;p49"/>
          <p:cNvSpPr/>
          <p:nvPr/>
        </p:nvSpPr>
        <p:spPr>
          <a:xfrm flipH="1">
            <a:off x="0" y="0"/>
            <a:ext cx="6172782"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lt1">
              <a:alpha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09" name="Google Shape;909;p49"/>
          <p:cNvSpPr/>
          <p:nvPr/>
        </p:nvSpPr>
        <p:spPr>
          <a:xfrm>
            <a:off x="0" y="0"/>
            <a:ext cx="6024154" cy="6858000"/>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910" name="Google Shape;910;p49" descr="Books"/>
          <p:cNvPicPr preferRelativeResize="0"/>
          <p:nvPr/>
        </p:nvPicPr>
        <p:blipFill rotWithShape="1">
          <a:blip r:embed="rId3">
            <a:alphaModFix/>
          </a:blip>
          <a:srcRect/>
          <a:stretch/>
        </p:blipFill>
        <p:spPr>
          <a:xfrm>
            <a:off x="419382" y="720993"/>
            <a:ext cx="4047843" cy="404784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414141"/>
        </a:solidFill>
        <a:effectLst/>
      </p:bgPr>
    </p:bg>
    <p:spTree>
      <p:nvGrpSpPr>
        <p:cNvPr id="1" name="Shape 914"/>
        <p:cNvGrpSpPr/>
        <p:nvPr/>
      </p:nvGrpSpPr>
      <p:grpSpPr>
        <a:xfrm>
          <a:off x="0" y="0"/>
          <a:ext cx="0" cy="0"/>
          <a:chOff x="0" y="0"/>
          <a:chExt cx="0" cy="0"/>
        </a:xfrm>
      </p:grpSpPr>
      <p:sp>
        <p:nvSpPr>
          <p:cNvPr id="915" name="Google Shape;915;p50"/>
          <p:cNvSpPr/>
          <p:nvPr/>
        </p:nvSpPr>
        <p:spPr>
          <a:xfrm>
            <a:off x="0" y="-2008"/>
            <a:ext cx="5609220" cy="5840278"/>
          </a:xfrm>
          <a:custGeom>
            <a:avLst/>
            <a:gdLst/>
            <a:ahLst/>
            <a:cxnLst/>
            <a:rect l="l" t="t" r="r" b="b"/>
            <a:pathLst>
              <a:path w="5609220" h="5840278" extrusionOk="0">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16" name="Google Shape;916;p50"/>
          <p:cNvSpPr/>
          <p:nvPr/>
        </p:nvSpPr>
        <p:spPr>
          <a:xfrm>
            <a:off x="-2333" y="-2"/>
            <a:ext cx="5441859" cy="5654940"/>
          </a:xfrm>
          <a:custGeom>
            <a:avLst/>
            <a:gdLst/>
            <a:ahLst/>
            <a:cxnLst/>
            <a:rect l="l" t="t" r="r" b="b"/>
            <a:pathLst>
              <a:path w="5441859" h="5654940" extrusionOk="0">
                <a:moveTo>
                  <a:pt x="0" y="0"/>
                </a:moveTo>
                <a:lnTo>
                  <a:pt x="4400492" y="0"/>
                </a:lnTo>
                <a:lnTo>
                  <a:pt x="4484767" y="76595"/>
                </a:lnTo>
                <a:cubicBezTo>
                  <a:pt x="5076108" y="667936"/>
                  <a:pt x="5441859" y="1484866"/>
                  <a:pt x="5441859" y="2387221"/>
                </a:cubicBezTo>
                <a:cubicBezTo>
                  <a:pt x="5441859" y="4191932"/>
                  <a:pt x="3978851" y="5654940"/>
                  <a:pt x="2174140" y="5654940"/>
                </a:cubicBezTo>
                <a:cubicBezTo>
                  <a:pt x="1412778" y="5654940"/>
                  <a:pt x="712231" y="5394557"/>
                  <a:pt x="156693" y="4957981"/>
                </a:cubicBezTo>
                <a:lnTo>
                  <a:pt x="0" y="4820612"/>
                </a:lnTo>
                <a:close/>
              </a:path>
            </a:pathLst>
          </a:custGeom>
          <a:solidFill>
            <a:srgbClr val="0C0C0C">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17" name="Google Shape;917;p50"/>
          <p:cNvSpPr txBox="1">
            <a:spLocks noGrp="1"/>
          </p:cNvSpPr>
          <p:nvPr>
            <p:ph type="title"/>
          </p:nvPr>
        </p:nvSpPr>
        <p:spPr>
          <a:xfrm>
            <a:off x="750242" y="632990"/>
            <a:ext cx="4062643" cy="104340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800"/>
              <a:buFont typeface="Calibri"/>
              <a:buNone/>
            </a:pPr>
            <a:r>
              <a:rPr lang="en-US" sz="4800" b="1"/>
              <a:t>Planning</a:t>
            </a:r>
            <a:endParaRPr sz="3600" b="1"/>
          </a:p>
        </p:txBody>
      </p:sp>
      <p:sp>
        <p:nvSpPr>
          <p:cNvPr id="918" name="Google Shape;918;p50"/>
          <p:cNvSpPr txBox="1">
            <a:spLocks noGrp="1"/>
          </p:cNvSpPr>
          <p:nvPr>
            <p:ph type="body" idx="1"/>
          </p:nvPr>
        </p:nvSpPr>
        <p:spPr>
          <a:xfrm>
            <a:off x="750242" y="1774372"/>
            <a:ext cx="3832641" cy="27540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3200"/>
              <a:buNone/>
            </a:pPr>
            <a:r>
              <a:rPr lang="en-US" sz="3200"/>
              <a:t>Objectives and </a:t>
            </a:r>
            <a:br>
              <a:rPr lang="en-US" sz="3200"/>
            </a:br>
            <a:r>
              <a:rPr lang="en-US" sz="3200"/>
              <a:t>Key Results (OKRs)</a:t>
            </a:r>
            <a:endParaRPr sz="2000"/>
          </a:p>
          <a:p>
            <a:pPr marL="685800" lvl="1" indent="-101600" algn="l" rtl="0">
              <a:lnSpc>
                <a:spcPct val="90000"/>
              </a:lnSpc>
              <a:spcBef>
                <a:spcPts val="500"/>
              </a:spcBef>
              <a:spcAft>
                <a:spcPts val="0"/>
              </a:spcAft>
              <a:buClr>
                <a:schemeClr val="lt1"/>
              </a:buClr>
              <a:buSzPts val="2000"/>
              <a:buNone/>
            </a:pPr>
            <a:endParaRPr sz="2000"/>
          </a:p>
          <a:p>
            <a:pPr marL="228600" lvl="0" indent="-101600" algn="l" rtl="0">
              <a:lnSpc>
                <a:spcPct val="90000"/>
              </a:lnSpc>
              <a:spcBef>
                <a:spcPts val="1000"/>
              </a:spcBef>
              <a:spcAft>
                <a:spcPts val="0"/>
              </a:spcAft>
              <a:buClr>
                <a:schemeClr val="lt1"/>
              </a:buClr>
              <a:buSzPts val="2000"/>
              <a:buNone/>
            </a:pPr>
            <a:endParaRPr sz="2000"/>
          </a:p>
        </p:txBody>
      </p:sp>
      <p:pic>
        <p:nvPicPr>
          <p:cNvPr id="919" name="Google Shape;919;p50" descr="Image result for planning is useless but important eisenhower"/>
          <p:cNvPicPr preferRelativeResize="0"/>
          <p:nvPr/>
        </p:nvPicPr>
        <p:blipFill rotWithShape="1">
          <a:blip r:embed="rId3">
            <a:alphaModFix/>
          </a:blip>
          <a:srcRect r="2085" b="3"/>
          <a:stretch/>
        </p:blipFill>
        <p:spPr>
          <a:xfrm>
            <a:off x="6209363" y="643467"/>
            <a:ext cx="5168246" cy="527814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3"/>
        <p:cNvGrpSpPr/>
        <p:nvPr/>
      </p:nvGrpSpPr>
      <p:grpSpPr>
        <a:xfrm>
          <a:off x="0" y="0"/>
          <a:ext cx="0" cy="0"/>
          <a:chOff x="0" y="0"/>
          <a:chExt cx="0" cy="0"/>
        </a:xfrm>
      </p:grpSpPr>
      <p:sp>
        <p:nvSpPr>
          <p:cNvPr id="924" name="Google Shape;924;p51"/>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25" name="Google Shape;925;p51"/>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Planning (OKR)</a:t>
            </a:r>
            <a:endParaRPr/>
          </a:p>
        </p:txBody>
      </p:sp>
      <p:grpSp>
        <p:nvGrpSpPr>
          <p:cNvPr id="926" name="Google Shape;926;p51"/>
          <p:cNvGrpSpPr/>
          <p:nvPr/>
        </p:nvGrpSpPr>
        <p:grpSpPr>
          <a:xfrm>
            <a:off x="5001321" y="480253"/>
            <a:ext cx="6721793" cy="5866767"/>
            <a:chOff x="-192979" y="9329"/>
            <a:chExt cx="6721793" cy="5866767"/>
          </a:xfrm>
        </p:grpSpPr>
        <p:sp>
          <p:nvSpPr>
            <p:cNvPr id="927" name="Google Shape;927;p51"/>
            <p:cNvSpPr/>
            <p:nvPr/>
          </p:nvSpPr>
          <p:spPr>
            <a:xfrm>
              <a:off x="-192979" y="9329"/>
              <a:ext cx="6513603" cy="1676219"/>
            </a:xfrm>
            <a:prstGeom prst="roundRect">
              <a:avLst>
                <a:gd name="adj" fmla="val 10000"/>
              </a:avLst>
            </a:prstGeom>
            <a:solidFill>
              <a:srgbClr val="54813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8" name="Google Shape;928;p51"/>
            <p:cNvSpPr/>
            <p:nvPr/>
          </p:nvSpPr>
          <p:spPr>
            <a:xfrm>
              <a:off x="314076" y="386478"/>
              <a:ext cx="921920" cy="92192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9" name="Google Shape;929;p51"/>
            <p:cNvSpPr/>
            <p:nvPr/>
          </p:nvSpPr>
          <p:spPr>
            <a:xfrm>
              <a:off x="1743053" y="9329"/>
              <a:ext cx="2931121" cy="167621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0" name="Google Shape;930;p51"/>
            <p:cNvSpPr txBox="1"/>
            <p:nvPr/>
          </p:nvSpPr>
          <p:spPr>
            <a:xfrm>
              <a:off x="1743053" y="9329"/>
              <a:ext cx="2931121" cy="1676219"/>
            </a:xfrm>
            <a:prstGeom prst="rect">
              <a:avLst/>
            </a:prstGeom>
            <a:noFill/>
            <a:ln>
              <a:noFill/>
            </a:ln>
          </p:spPr>
          <p:txBody>
            <a:bodyPr spcFirstLastPara="1" wrap="square" lIns="177400" tIns="177400" rIns="177400" bIns="177400" anchor="ctr" anchorCtr="0">
              <a:noAutofit/>
            </a:bodyPr>
            <a:lstStyle/>
            <a:p>
              <a:pPr marL="0" marR="0" lvl="0" indent="0" algn="l" rtl="0">
                <a:lnSpc>
                  <a:spcPct val="100000"/>
                </a:lnSpc>
                <a:spcBef>
                  <a:spcPts val="0"/>
                </a:spcBef>
                <a:spcAft>
                  <a:spcPts val="0"/>
                </a:spcAft>
                <a:buClr>
                  <a:schemeClr val="dk1"/>
                </a:buClr>
                <a:buSzPts val="2500"/>
                <a:buFont typeface="Calibri"/>
                <a:buNone/>
              </a:pPr>
              <a:r>
                <a:rPr lang="en-US" sz="2500" b="0" i="0" u="none" strike="noStrike" cap="none">
                  <a:solidFill>
                    <a:schemeClr val="dk1"/>
                  </a:solidFill>
                  <a:latin typeface="Calibri"/>
                  <a:ea typeface="Calibri"/>
                  <a:cs typeface="Calibri"/>
                  <a:sym typeface="Calibri"/>
                </a:rPr>
                <a:t>Maintenance Projects (30%)</a:t>
              </a:r>
              <a:endParaRPr sz="1400" b="0" i="0" u="none" strike="noStrike" cap="none">
                <a:solidFill>
                  <a:srgbClr val="000000"/>
                </a:solidFill>
                <a:latin typeface="Arial"/>
                <a:ea typeface="Arial"/>
                <a:cs typeface="Arial"/>
                <a:sym typeface="Arial"/>
              </a:endParaRPr>
            </a:p>
          </p:txBody>
        </p:sp>
        <p:sp>
          <p:nvSpPr>
            <p:cNvPr id="931" name="Google Shape;931;p51"/>
            <p:cNvSpPr/>
            <p:nvPr/>
          </p:nvSpPr>
          <p:spPr>
            <a:xfrm>
              <a:off x="4198961" y="9329"/>
              <a:ext cx="2110574" cy="167621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p51"/>
            <p:cNvSpPr txBox="1"/>
            <p:nvPr/>
          </p:nvSpPr>
          <p:spPr>
            <a:xfrm>
              <a:off x="4198961" y="9329"/>
              <a:ext cx="2110574" cy="1676219"/>
            </a:xfrm>
            <a:prstGeom prst="rect">
              <a:avLst/>
            </a:prstGeom>
            <a:noFill/>
            <a:ln>
              <a:noFill/>
            </a:ln>
          </p:spPr>
          <p:txBody>
            <a:bodyPr spcFirstLastPara="1" wrap="square" lIns="177400" tIns="177400" rIns="177400" bIns="177400" anchor="ctr" anchorCtr="0">
              <a:noAutofit/>
            </a:bodyPr>
            <a:lstStyle/>
            <a:p>
              <a:pPr marL="0" marR="0" lvl="0" indent="0" algn="l" rtl="0">
                <a:lnSpc>
                  <a:spcPct val="100000"/>
                </a:lnSpc>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Maintenance plans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9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Preventive monitoring</a:t>
              </a:r>
              <a:endParaRPr sz="1400" b="0" i="0" u="none" strike="noStrike" cap="none">
                <a:solidFill>
                  <a:srgbClr val="000000"/>
                </a:solidFill>
                <a:latin typeface="Arial"/>
                <a:ea typeface="Arial"/>
                <a:cs typeface="Arial"/>
                <a:sym typeface="Arial"/>
              </a:endParaRPr>
            </a:p>
          </p:txBody>
        </p:sp>
        <p:sp>
          <p:nvSpPr>
            <p:cNvPr id="933" name="Google Shape;933;p51"/>
            <p:cNvSpPr/>
            <p:nvPr/>
          </p:nvSpPr>
          <p:spPr>
            <a:xfrm>
              <a:off x="-192979" y="2104603"/>
              <a:ext cx="6513603" cy="1676219"/>
            </a:xfrm>
            <a:prstGeom prst="roundRect">
              <a:avLst>
                <a:gd name="adj" fmla="val 10000"/>
              </a:avLst>
            </a:prstGeom>
            <a:solidFill>
              <a:srgbClr val="0070C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4" name="Google Shape;934;p51"/>
            <p:cNvSpPr/>
            <p:nvPr/>
          </p:nvSpPr>
          <p:spPr>
            <a:xfrm>
              <a:off x="314076" y="2481752"/>
              <a:ext cx="921920" cy="92192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5" name="Google Shape;935;p51"/>
            <p:cNvSpPr/>
            <p:nvPr/>
          </p:nvSpPr>
          <p:spPr>
            <a:xfrm>
              <a:off x="1743053" y="2104603"/>
              <a:ext cx="2931121" cy="167621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51"/>
            <p:cNvSpPr txBox="1"/>
            <p:nvPr/>
          </p:nvSpPr>
          <p:spPr>
            <a:xfrm>
              <a:off x="1743053" y="2104603"/>
              <a:ext cx="2931121" cy="1676219"/>
            </a:xfrm>
            <a:prstGeom prst="rect">
              <a:avLst/>
            </a:prstGeom>
            <a:noFill/>
            <a:ln>
              <a:noFill/>
            </a:ln>
          </p:spPr>
          <p:txBody>
            <a:bodyPr spcFirstLastPara="1" wrap="square" lIns="177400" tIns="177400" rIns="177400" bIns="177400" anchor="ctr" anchorCtr="0">
              <a:noAutofit/>
            </a:bodyPr>
            <a:lstStyle/>
            <a:p>
              <a:pPr marL="0" marR="0" lvl="0" indent="0" algn="l" rtl="0">
                <a:lnSpc>
                  <a:spcPct val="100000"/>
                </a:lnSpc>
                <a:spcBef>
                  <a:spcPts val="0"/>
                </a:spcBef>
                <a:spcAft>
                  <a:spcPts val="0"/>
                </a:spcAft>
                <a:buClr>
                  <a:schemeClr val="dk1"/>
                </a:buClr>
                <a:buSzPts val="2500"/>
                <a:buFont typeface="Calibri"/>
                <a:buNone/>
              </a:pPr>
              <a:r>
                <a:rPr lang="en-US" sz="2500" b="0" i="0" u="none" strike="noStrike" cap="none">
                  <a:solidFill>
                    <a:schemeClr val="dk1"/>
                  </a:solidFill>
                  <a:latin typeface="Calibri"/>
                  <a:ea typeface="Calibri"/>
                  <a:cs typeface="Calibri"/>
                  <a:sym typeface="Calibri"/>
                </a:rPr>
                <a:t>Optimization </a:t>
              </a:r>
              <a:br>
                <a:rPr lang="en-US" sz="2500" b="0" i="0" u="none" strike="noStrike" cap="none">
                  <a:solidFill>
                    <a:schemeClr val="dk1"/>
                  </a:solidFill>
                  <a:latin typeface="Calibri"/>
                  <a:ea typeface="Calibri"/>
                  <a:cs typeface="Calibri"/>
                  <a:sym typeface="Calibri"/>
                </a:rPr>
              </a:br>
              <a:r>
                <a:rPr lang="en-US" sz="2500" b="0" i="0" u="none" strike="noStrike" cap="none">
                  <a:solidFill>
                    <a:schemeClr val="dk1"/>
                  </a:solidFill>
                  <a:latin typeface="Calibri"/>
                  <a:ea typeface="Calibri"/>
                  <a:cs typeface="Calibri"/>
                  <a:sym typeface="Calibri"/>
                </a:rPr>
                <a:t>&amp; Innovation </a:t>
              </a:r>
              <a:br>
                <a:rPr lang="en-US" sz="2500" b="0" i="0" u="none" strike="noStrike" cap="none">
                  <a:solidFill>
                    <a:schemeClr val="dk1"/>
                  </a:solidFill>
                  <a:latin typeface="Calibri"/>
                  <a:ea typeface="Calibri"/>
                  <a:cs typeface="Calibri"/>
                  <a:sym typeface="Calibri"/>
                </a:rPr>
              </a:br>
              <a:r>
                <a:rPr lang="en-US" sz="2500" b="0" i="0" u="none" strike="noStrike" cap="none">
                  <a:solidFill>
                    <a:schemeClr val="dk1"/>
                  </a:solidFill>
                  <a:latin typeface="Calibri"/>
                  <a:ea typeface="Calibri"/>
                  <a:cs typeface="Calibri"/>
                  <a:sym typeface="Calibri"/>
                </a:rPr>
                <a:t>Projects (20%)</a:t>
              </a:r>
              <a:endParaRPr sz="1400" b="0" i="0" u="none" strike="noStrike" cap="none">
                <a:solidFill>
                  <a:srgbClr val="000000"/>
                </a:solidFill>
                <a:latin typeface="Arial"/>
                <a:ea typeface="Arial"/>
                <a:cs typeface="Arial"/>
                <a:sym typeface="Arial"/>
              </a:endParaRPr>
            </a:p>
          </p:txBody>
        </p:sp>
        <p:sp>
          <p:nvSpPr>
            <p:cNvPr id="937" name="Google Shape;937;p51"/>
            <p:cNvSpPr/>
            <p:nvPr/>
          </p:nvSpPr>
          <p:spPr>
            <a:xfrm>
              <a:off x="4115883" y="2104603"/>
              <a:ext cx="2378311" cy="167621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8" name="Google Shape;938;p51"/>
            <p:cNvSpPr txBox="1"/>
            <p:nvPr/>
          </p:nvSpPr>
          <p:spPr>
            <a:xfrm>
              <a:off x="4115883" y="2104603"/>
              <a:ext cx="2378311" cy="1676219"/>
            </a:xfrm>
            <a:prstGeom prst="rect">
              <a:avLst/>
            </a:prstGeom>
            <a:noFill/>
            <a:ln>
              <a:noFill/>
            </a:ln>
          </p:spPr>
          <p:txBody>
            <a:bodyPr spcFirstLastPara="1" wrap="square" lIns="177400" tIns="177400" rIns="177400" bIns="17740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Cost-efficiency driven plans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2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Security oriented driven plans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2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New technologies / features </a:t>
              </a:r>
              <a:br>
                <a:rPr lang="en-US" sz="1200" b="0" i="0" u="none" strike="noStrike" cap="none">
                  <a:solidFill>
                    <a:schemeClr val="dk1"/>
                  </a:solidFill>
                  <a:latin typeface="Calibri"/>
                  <a:ea typeface="Calibri"/>
                  <a:cs typeface="Calibri"/>
                  <a:sym typeface="Calibri"/>
                </a:rPr>
              </a:br>
              <a:r>
                <a:rPr lang="en-US" sz="1200" b="0" i="0" u="none" strike="noStrike" cap="none">
                  <a:solidFill>
                    <a:schemeClr val="dk1"/>
                  </a:solidFill>
                  <a:latin typeface="Calibri"/>
                  <a:ea typeface="Calibri"/>
                  <a:cs typeface="Calibri"/>
                  <a:sym typeface="Calibri"/>
                </a:rPr>
                <a:t>try-out / deployment plans</a:t>
              </a:r>
              <a:endParaRPr sz="1400" b="0" i="0" u="none" strike="noStrike" cap="none">
                <a:solidFill>
                  <a:srgbClr val="000000"/>
                </a:solidFill>
                <a:latin typeface="Arial"/>
                <a:ea typeface="Arial"/>
                <a:cs typeface="Arial"/>
                <a:sym typeface="Arial"/>
              </a:endParaRPr>
            </a:p>
          </p:txBody>
        </p:sp>
        <p:sp>
          <p:nvSpPr>
            <p:cNvPr id="939" name="Google Shape;939;p51"/>
            <p:cNvSpPr/>
            <p:nvPr/>
          </p:nvSpPr>
          <p:spPr>
            <a:xfrm>
              <a:off x="-192979" y="4199877"/>
              <a:ext cx="6513603" cy="1676219"/>
            </a:xfrm>
            <a:prstGeom prst="roundRect">
              <a:avLst>
                <a:gd name="adj" fmla="val 10000"/>
              </a:avLst>
            </a:prstGeom>
            <a:solidFill>
              <a:srgbClr val="C55A1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0" name="Google Shape;940;p51"/>
            <p:cNvSpPr/>
            <p:nvPr/>
          </p:nvSpPr>
          <p:spPr>
            <a:xfrm>
              <a:off x="314076" y="4577026"/>
              <a:ext cx="921920" cy="92192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1" name="Google Shape;941;p51"/>
            <p:cNvSpPr/>
            <p:nvPr/>
          </p:nvSpPr>
          <p:spPr>
            <a:xfrm>
              <a:off x="1743053" y="4199877"/>
              <a:ext cx="2931121" cy="167621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2" name="Google Shape;942;p51"/>
            <p:cNvSpPr txBox="1"/>
            <p:nvPr/>
          </p:nvSpPr>
          <p:spPr>
            <a:xfrm>
              <a:off x="1743053" y="4199877"/>
              <a:ext cx="2931121" cy="1676219"/>
            </a:xfrm>
            <a:prstGeom prst="rect">
              <a:avLst/>
            </a:prstGeom>
            <a:noFill/>
            <a:ln>
              <a:noFill/>
            </a:ln>
          </p:spPr>
          <p:txBody>
            <a:bodyPr spcFirstLastPara="1" wrap="square" lIns="177400" tIns="177400" rIns="177400" bIns="177400" anchor="ctr" anchorCtr="0">
              <a:noAutofit/>
            </a:bodyPr>
            <a:lstStyle/>
            <a:p>
              <a:pPr marL="0" marR="0" lvl="0" indent="0" algn="l" rtl="0">
                <a:lnSpc>
                  <a:spcPct val="100000"/>
                </a:lnSpc>
                <a:spcBef>
                  <a:spcPts val="0"/>
                </a:spcBef>
                <a:spcAft>
                  <a:spcPts val="0"/>
                </a:spcAft>
                <a:buClr>
                  <a:schemeClr val="dk1"/>
                </a:buClr>
                <a:buSzPts val="2500"/>
                <a:buFont typeface="Calibri"/>
                <a:buNone/>
              </a:pPr>
              <a:r>
                <a:rPr lang="en-US" sz="2500" b="0" i="0" u="none" strike="noStrike" cap="none">
                  <a:solidFill>
                    <a:schemeClr val="dk1"/>
                  </a:solidFill>
                  <a:latin typeface="Calibri"/>
                  <a:ea typeface="Calibri"/>
                  <a:cs typeface="Calibri"/>
                  <a:sym typeface="Calibri"/>
                </a:rPr>
                <a:t>Support </a:t>
              </a:r>
              <a:br>
                <a:rPr lang="en-US" sz="2500" b="0" i="0" u="none" strike="noStrike" cap="none">
                  <a:solidFill>
                    <a:schemeClr val="dk1"/>
                  </a:solidFill>
                  <a:latin typeface="Calibri"/>
                  <a:ea typeface="Calibri"/>
                  <a:cs typeface="Calibri"/>
                  <a:sym typeface="Calibri"/>
                </a:rPr>
              </a:br>
              <a:r>
                <a:rPr lang="en-US" sz="2500" b="0" i="0" u="none" strike="noStrike" cap="none">
                  <a:solidFill>
                    <a:schemeClr val="dk1"/>
                  </a:solidFill>
                  <a:latin typeface="Calibri"/>
                  <a:ea typeface="Calibri"/>
                  <a:cs typeface="Calibri"/>
                  <a:sym typeface="Calibri"/>
                </a:rPr>
                <a:t>Projects (50%)</a:t>
              </a:r>
              <a:endParaRPr sz="1400" b="0" i="0" u="none" strike="noStrike" cap="none">
                <a:solidFill>
                  <a:srgbClr val="000000"/>
                </a:solidFill>
                <a:latin typeface="Arial"/>
                <a:ea typeface="Arial"/>
                <a:cs typeface="Arial"/>
                <a:sym typeface="Arial"/>
              </a:endParaRPr>
            </a:p>
          </p:txBody>
        </p:sp>
        <p:sp>
          <p:nvSpPr>
            <p:cNvPr id="943" name="Google Shape;943;p51"/>
            <p:cNvSpPr/>
            <p:nvPr/>
          </p:nvSpPr>
          <p:spPr>
            <a:xfrm>
              <a:off x="4106660" y="4199877"/>
              <a:ext cx="2422154" cy="167621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4" name="Google Shape;944;p51"/>
            <p:cNvSpPr txBox="1"/>
            <p:nvPr/>
          </p:nvSpPr>
          <p:spPr>
            <a:xfrm>
              <a:off x="4106660" y="4199877"/>
              <a:ext cx="2422154" cy="1676219"/>
            </a:xfrm>
            <a:prstGeom prst="rect">
              <a:avLst/>
            </a:prstGeom>
            <a:noFill/>
            <a:ln>
              <a:noFill/>
            </a:ln>
          </p:spPr>
          <p:txBody>
            <a:bodyPr spcFirstLastPara="1" wrap="square" lIns="177400" tIns="177400" rIns="177400" bIns="17740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New requirements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2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Reactive incident response</a:t>
              </a:r>
              <a:endParaRPr sz="1400" b="0" i="0" u="none" strike="noStrike" cap="none">
                <a:solidFill>
                  <a:srgbClr val="000000"/>
                </a:solidFill>
                <a:latin typeface="Arial"/>
                <a:ea typeface="Arial"/>
                <a:cs typeface="Arial"/>
                <a:sym typeface="Arial"/>
              </a:endParaRPr>
            </a:p>
            <a:p>
              <a:pPr marL="114300" marR="0" lvl="1" indent="-114300" algn="l" rtl="0">
                <a:lnSpc>
                  <a:spcPct val="90000"/>
                </a:lnSpc>
                <a:spcBef>
                  <a:spcPts val="420"/>
                </a:spcBef>
                <a:spcAft>
                  <a:spcPts val="0"/>
                </a:spcAft>
                <a:buClr>
                  <a:schemeClr val="dk1"/>
                </a:buClr>
                <a:buSzPts val="1200"/>
                <a:buFont typeface="Calibri"/>
                <a:buChar char="•"/>
              </a:pPr>
              <a:r>
                <a:rPr lang="en-US" sz="1200" b="0" i="0" u="none" strike="noStrike" cap="none">
                  <a:solidFill>
                    <a:schemeClr val="dk1"/>
                  </a:solidFill>
                  <a:latin typeface="Calibri"/>
                  <a:ea typeface="Calibri"/>
                  <a:cs typeface="Calibri"/>
                  <a:sym typeface="Calibri"/>
                </a:rPr>
                <a:t> Known errors handling</a:t>
              </a:r>
              <a:endParaRPr sz="1400" b="0" i="0" u="none" strike="noStrike" cap="none">
                <a:solidFill>
                  <a:srgbClr val="000000"/>
                </a:solidFill>
                <a:latin typeface="Arial"/>
                <a:ea typeface="Arial"/>
                <a:cs typeface="Arial"/>
                <a:sym typeface="Arial"/>
              </a:endParaRPr>
            </a:p>
            <a:p>
              <a:pPr marL="114300" marR="0" lvl="1" indent="-114300" algn="l" rtl="0">
                <a:lnSpc>
                  <a:spcPct val="90000"/>
                </a:lnSpc>
                <a:spcBef>
                  <a:spcPts val="180"/>
                </a:spcBef>
                <a:spcAft>
                  <a:spcPts val="0"/>
                </a:spcAft>
                <a:buClr>
                  <a:schemeClr val="dk1"/>
                </a:buClr>
                <a:buSzPts val="1200"/>
                <a:buFont typeface="Calibri"/>
                <a:buChar char="•"/>
              </a:pPr>
              <a:r>
                <a:rPr lang="en-US" sz="1200" b="0" i="0" u="none" strike="noStrike" cap="none">
                  <a:solidFill>
                    <a:schemeClr val="dk1"/>
                  </a:solidFill>
                  <a:latin typeface="Calibri"/>
                  <a:ea typeface="Calibri"/>
                  <a:cs typeface="Calibri"/>
                  <a:sym typeface="Calibri"/>
                </a:rPr>
                <a:t> Problems troubleshooting</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pic>
        <p:nvPicPr>
          <p:cNvPr id="3" name="Picture 2">
            <a:extLst>
              <a:ext uri="{FF2B5EF4-FFF2-40B4-BE49-F238E27FC236}">
                <a16:creationId xmlns:a16="http://schemas.microsoft.com/office/drawing/2014/main" id="{D4F92FC6-DA89-8F3C-C470-392AD5423AB3}"/>
              </a:ext>
            </a:extLst>
          </p:cNvPr>
          <p:cNvPicPr>
            <a:picLocks noChangeAspect="1"/>
          </p:cNvPicPr>
          <p:nvPr/>
        </p:nvPicPr>
        <p:blipFill>
          <a:blip r:embed="rId3"/>
          <a:stretch>
            <a:fillRect/>
          </a:stretch>
        </p:blipFill>
        <p:spPr>
          <a:xfrm>
            <a:off x="979956" y="752898"/>
            <a:ext cx="10345594" cy="4639322"/>
          </a:xfrm>
          <a:prstGeom prst="rect">
            <a:avLst/>
          </a:prstGeom>
        </p:spPr>
      </p:pic>
      <p:sp>
        <p:nvSpPr>
          <p:cNvPr id="958" name="Google Shape;958;p52"/>
          <p:cNvSpPr/>
          <p:nvPr/>
        </p:nvSpPr>
        <p:spPr>
          <a:xfrm rot="-5400000">
            <a:off x="9726505" y="4603666"/>
            <a:ext cx="1620982" cy="1577109"/>
          </a:xfrm>
          <a:prstGeom prst="curvedUpArrow">
            <a:avLst>
              <a:gd name="adj1" fmla="val 25000"/>
              <a:gd name="adj2" fmla="val 50000"/>
              <a:gd name="adj3" fmla="val 25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59" name="Google Shape;959;p52"/>
          <p:cNvSpPr/>
          <p:nvPr/>
        </p:nvSpPr>
        <p:spPr>
          <a:xfrm rot="-5400000">
            <a:off x="9201578" y="4086288"/>
            <a:ext cx="2670837" cy="1577109"/>
          </a:xfrm>
          <a:prstGeom prst="curvedUpArrow">
            <a:avLst>
              <a:gd name="adj1" fmla="val 25000"/>
              <a:gd name="adj2" fmla="val 50000"/>
              <a:gd name="adj3" fmla="val 25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60" name="Google Shape;960;p52"/>
          <p:cNvSpPr/>
          <p:nvPr/>
        </p:nvSpPr>
        <p:spPr>
          <a:xfrm rot="-5400000">
            <a:off x="8598779" y="3483490"/>
            <a:ext cx="3876432" cy="1577109"/>
          </a:xfrm>
          <a:prstGeom prst="curvedUpArrow">
            <a:avLst>
              <a:gd name="adj1" fmla="val 25000"/>
              <a:gd name="adj2" fmla="val 50000"/>
              <a:gd name="adj3" fmla="val 25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61" name="Google Shape;961;p52"/>
          <p:cNvSpPr txBox="1"/>
          <p:nvPr/>
        </p:nvSpPr>
        <p:spPr>
          <a:xfrm>
            <a:off x="2523089" y="5801667"/>
            <a:ext cx="665887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Initiatives: </a:t>
            </a:r>
            <a:r>
              <a:rPr lang="en-US" sz="2400" b="0" i="0" u="none" strike="noStrike" cap="none">
                <a:solidFill>
                  <a:schemeClr val="dk1"/>
                </a:solidFill>
                <a:latin typeface="Calibri"/>
                <a:ea typeface="Calibri"/>
                <a:cs typeface="Calibri"/>
                <a:sym typeface="Calibri"/>
              </a:rPr>
              <a:t>Pick up selection to improve operation?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graphicFrame>
        <p:nvGraphicFramePr>
          <p:cNvPr id="975" name="Google Shape;975;p54"/>
          <p:cNvGraphicFramePr/>
          <p:nvPr/>
        </p:nvGraphicFramePr>
        <p:xfrm>
          <a:off x="876299" y="1766410"/>
          <a:ext cx="10490200" cy="4724430"/>
        </p:xfrm>
        <a:graphic>
          <a:graphicData uri="http://schemas.openxmlformats.org/drawingml/2006/table">
            <a:tbl>
              <a:tblPr firstRow="1" bandRow="1">
                <a:noFill/>
                <a:tableStyleId>{3FBF8BF7-EB54-4CEF-9187-0BBF0388CD94}</a:tableStyleId>
              </a:tblPr>
              <a:tblGrid>
                <a:gridCol w="3051700">
                  <a:extLst>
                    <a:ext uri="{9D8B030D-6E8A-4147-A177-3AD203B41FA5}">
                      <a16:colId xmlns:a16="http://schemas.microsoft.com/office/drawing/2014/main" val="20000"/>
                    </a:ext>
                  </a:extLst>
                </a:gridCol>
                <a:gridCol w="3615800">
                  <a:extLst>
                    <a:ext uri="{9D8B030D-6E8A-4147-A177-3AD203B41FA5}">
                      <a16:colId xmlns:a16="http://schemas.microsoft.com/office/drawing/2014/main" val="20001"/>
                    </a:ext>
                  </a:extLst>
                </a:gridCol>
                <a:gridCol w="3822700">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endParaRPr sz="2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chemeClr val="dk1"/>
                          </a:solidFill>
                        </a:rPr>
                        <a:t>URGENT</a:t>
                      </a:r>
                      <a:endParaRPr sz="1400" u="none" strike="noStrike" cap="none"/>
                    </a:p>
                  </a:txBody>
                  <a:tcPr marL="91450" marR="91450" marT="45725" marB="45725">
                    <a:solidFill>
                      <a:srgbClr val="D8D8D8"/>
                    </a:solidFill>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chemeClr val="dk1"/>
                          </a:solidFill>
                        </a:rPr>
                        <a:t>NOT URGENT</a:t>
                      </a:r>
                      <a:endParaRPr sz="1400" u="none" strike="noStrike" cap="none"/>
                    </a:p>
                  </a:txBody>
                  <a:tcPr marL="91450" marR="91450" marT="45725" marB="45725">
                    <a:solidFill>
                      <a:srgbClr val="D8D8D8"/>
                    </a:solidFill>
                  </a:tcPr>
                </a:tc>
                <a:extLst>
                  <a:ext uri="{0D108BD9-81ED-4DB2-BD59-A6C34878D82A}">
                    <a16:rowId xmlns:a16="http://schemas.microsoft.com/office/drawing/2014/main" val="10000"/>
                  </a:ext>
                </a:extLst>
              </a:tr>
              <a:tr h="30480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chemeClr val="dk1"/>
                          </a:solidFill>
                        </a:rPr>
                        <a:t>IMPORTANT</a:t>
                      </a:r>
                      <a:endParaRPr sz="1400" u="none" strike="noStrike" cap="none"/>
                    </a:p>
                  </a:txBody>
                  <a:tcPr marL="91450" marR="91450" marT="45725" marB="45725" anchor="ctr">
                    <a:solidFill>
                      <a:srgbClr val="D8D8D8"/>
                    </a:solidFill>
                  </a:tcPr>
                </a:tc>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t>DO</a:t>
                      </a:r>
                      <a:endParaRPr sz="1400" u="none" strike="noStrike" cap="none"/>
                    </a:p>
                    <a:p>
                      <a:pPr marL="457200" marR="0" lvl="0" indent="-457200" algn="l" rtl="0">
                        <a:lnSpc>
                          <a:spcPct val="100000"/>
                        </a:lnSpc>
                        <a:spcBef>
                          <a:spcPts val="0"/>
                        </a:spcBef>
                        <a:spcAft>
                          <a:spcPts val="0"/>
                        </a:spcAft>
                        <a:buClr>
                          <a:schemeClr val="dk1"/>
                        </a:buClr>
                        <a:buSzPts val="2400"/>
                        <a:buFont typeface="Arial"/>
                        <a:buChar char="•"/>
                      </a:pPr>
                      <a:r>
                        <a:rPr lang="en-US" sz="2400" u="none" strike="noStrike" cap="none"/>
                        <a:t>Live Issue</a:t>
                      </a:r>
                      <a:endParaRPr sz="1400" u="none" strike="noStrike" cap="none"/>
                    </a:p>
                    <a:p>
                      <a:pPr marL="914400" marR="0" lvl="1" indent="-457200" algn="l" rtl="0">
                        <a:lnSpc>
                          <a:spcPct val="100000"/>
                        </a:lnSpc>
                        <a:spcBef>
                          <a:spcPts val="0"/>
                        </a:spcBef>
                        <a:spcAft>
                          <a:spcPts val="0"/>
                        </a:spcAft>
                        <a:buClr>
                          <a:schemeClr val="dk1"/>
                        </a:buClr>
                        <a:buSzPts val="2000"/>
                        <a:buFont typeface="Arial"/>
                        <a:buChar char="•"/>
                      </a:pPr>
                      <a:r>
                        <a:rPr lang="en-US" sz="2000" u="none" strike="noStrike" cap="none"/>
                        <a:t>Slack until fixed</a:t>
                      </a:r>
                      <a:endParaRPr sz="1400" u="none" strike="noStrike" cap="none"/>
                    </a:p>
                    <a:p>
                      <a:pPr marL="914400" marR="0" lvl="1" indent="-457200" algn="l" rtl="0">
                        <a:lnSpc>
                          <a:spcPct val="100000"/>
                        </a:lnSpc>
                        <a:spcBef>
                          <a:spcPts val="0"/>
                        </a:spcBef>
                        <a:spcAft>
                          <a:spcPts val="0"/>
                        </a:spcAft>
                        <a:buClr>
                          <a:schemeClr val="dk1"/>
                        </a:buClr>
                        <a:buSzPts val="2000"/>
                        <a:buFont typeface="Arial"/>
                        <a:buChar char="•"/>
                      </a:pPr>
                      <a:r>
                        <a:rPr lang="en-US" sz="2000" u="none" strike="noStrike" cap="none"/>
                        <a:t>Do the post-mortem documentation</a:t>
                      </a:r>
                      <a:endParaRPr sz="1400" u="none" strike="noStrike" cap="none"/>
                    </a:p>
                    <a:p>
                      <a:pPr marL="457200" marR="0" lvl="0" indent="-457200" algn="l" rtl="0">
                        <a:lnSpc>
                          <a:spcPct val="100000"/>
                        </a:lnSpc>
                        <a:spcBef>
                          <a:spcPts val="0"/>
                        </a:spcBef>
                        <a:spcAft>
                          <a:spcPts val="0"/>
                        </a:spcAft>
                        <a:buClr>
                          <a:schemeClr val="dk1"/>
                        </a:buClr>
                        <a:buSzPts val="2000"/>
                        <a:buFont typeface="Arial"/>
                        <a:buChar char="•"/>
                      </a:pPr>
                      <a:r>
                        <a:rPr lang="en-US" sz="2000" u="none" strike="noStrike" cap="none"/>
                        <a:t>OKR’s</a:t>
                      </a:r>
                      <a:endParaRPr sz="1400" u="none" strike="noStrike" cap="none"/>
                    </a:p>
                    <a:p>
                      <a:pPr marL="914400" marR="0" lvl="1" indent="-457200" algn="l" rtl="0">
                        <a:lnSpc>
                          <a:spcPct val="100000"/>
                        </a:lnSpc>
                        <a:spcBef>
                          <a:spcPts val="0"/>
                        </a:spcBef>
                        <a:spcAft>
                          <a:spcPts val="0"/>
                        </a:spcAft>
                        <a:buClr>
                          <a:schemeClr val="dk1"/>
                        </a:buClr>
                        <a:buSzPts val="2000"/>
                        <a:buFont typeface="Arial"/>
                        <a:buChar char="•"/>
                      </a:pPr>
                      <a:r>
                        <a:rPr lang="en-US" sz="2000" u="none" strike="noStrike" cap="none"/>
                        <a:t>Slack-Up w/Manager</a:t>
                      </a:r>
                      <a:endParaRPr sz="1400" u="none" strike="noStrike" cap="none"/>
                    </a:p>
                  </a:txBody>
                  <a:tcPr marL="91450" marR="91450" marT="45725" marB="45725">
                    <a:solidFill>
                      <a:srgbClr val="C4E0B2"/>
                    </a:solidFill>
                  </a:tcPr>
                </a:tc>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t>DECIDE</a:t>
                      </a:r>
                      <a:endParaRPr sz="1400" u="none" strike="noStrike" cap="none"/>
                    </a:p>
                    <a:p>
                      <a:pPr marL="457200" marR="0" lvl="0" indent="-457200" algn="l" rtl="0">
                        <a:lnSpc>
                          <a:spcPct val="100000"/>
                        </a:lnSpc>
                        <a:spcBef>
                          <a:spcPts val="0"/>
                        </a:spcBef>
                        <a:spcAft>
                          <a:spcPts val="0"/>
                        </a:spcAft>
                        <a:buClr>
                          <a:schemeClr val="dk1"/>
                        </a:buClr>
                        <a:buSzPts val="2000"/>
                        <a:buFont typeface="Arial"/>
                        <a:buChar char="•"/>
                      </a:pPr>
                      <a:r>
                        <a:rPr lang="en-US" sz="2000" u="none" strike="noStrike" cap="none"/>
                        <a:t>Non-Live Issue</a:t>
                      </a:r>
                      <a:endParaRPr sz="1400" u="none" strike="noStrike" cap="none"/>
                    </a:p>
                    <a:p>
                      <a:pPr marL="914400" marR="0" lvl="1" indent="-457200" algn="l" rtl="0">
                        <a:lnSpc>
                          <a:spcPct val="100000"/>
                        </a:lnSpc>
                        <a:spcBef>
                          <a:spcPts val="0"/>
                        </a:spcBef>
                        <a:spcAft>
                          <a:spcPts val="0"/>
                        </a:spcAft>
                        <a:buClr>
                          <a:schemeClr val="dk1"/>
                        </a:buClr>
                        <a:buSzPts val="2000"/>
                        <a:buFont typeface="Arial"/>
                        <a:buChar char="•"/>
                      </a:pPr>
                      <a:r>
                        <a:rPr lang="en-US" sz="2000" u="none" strike="noStrike" cap="none"/>
                        <a:t>Ask-for/Open ticket</a:t>
                      </a:r>
                      <a:endParaRPr sz="1400" u="none" strike="noStrike" cap="none"/>
                    </a:p>
                    <a:p>
                      <a:pPr marL="914400" marR="0" lvl="1" indent="-457200" algn="l" rtl="0">
                        <a:lnSpc>
                          <a:spcPct val="100000"/>
                        </a:lnSpc>
                        <a:spcBef>
                          <a:spcPts val="0"/>
                        </a:spcBef>
                        <a:spcAft>
                          <a:spcPts val="0"/>
                        </a:spcAft>
                        <a:buClr>
                          <a:schemeClr val="dk1"/>
                        </a:buClr>
                        <a:buSzPts val="2000"/>
                        <a:buFont typeface="Arial"/>
                        <a:buChar char="•"/>
                      </a:pPr>
                      <a:r>
                        <a:rPr lang="en-US" sz="2000" u="none" strike="noStrike" cap="none"/>
                        <a:t>Slack-Up w/Manager</a:t>
                      </a:r>
                      <a:endParaRPr sz="1400" u="none" strike="noStrike" cap="none"/>
                    </a:p>
                    <a:p>
                      <a:pPr marL="457200" marR="0" lvl="0" indent="-457200" algn="l" rtl="0">
                        <a:lnSpc>
                          <a:spcPct val="100000"/>
                        </a:lnSpc>
                        <a:spcBef>
                          <a:spcPts val="0"/>
                        </a:spcBef>
                        <a:spcAft>
                          <a:spcPts val="0"/>
                        </a:spcAft>
                        <a:buClr>
                          <a:schemeClr val="dk1"/>
                        </a:buClr>
                        <a:buSzPts val="2000"/>
                        <a:buFont typeface="Arial"/>
                        <a:buChar char="•"/>
                      </a:pPr>
                      <a:r>
                        <a:rPr lang="en-US" sz="2000" u="none" strike="noStrike" cap="none"/>
                        <a:t>Clarify expectations third parties (e.g. ETA, </a:t>
                      </a:r>
                      <a:r>
                        <a:rPr lang="en-US" sz="2000" i="1" u="none" strike="noStrike" cap="none"/>
                        <a:t>Termin</a:t>
                      </a:r>
                      <a:r>
                        <a:rPr lang="en-US" sz="2000" u="none" strike="noStrike" cap="none"/>
                        <a:t>)</a:t>
                      </a:r>
                      <a:endParaRPr sz="1400" u="none" strike="noStrike" cap="none"/>
                    </a:p>
                    <a:p>
                      <a:pPr marL="457200" marR="0" lvl="0" indent="-457200" algn="l" rtl="0">
                        <a:lnSpc>
                          <a:spcPct val="100000"/>
                        </a:lnSpc>
                        <a:spcBef>
                          <a:spcPts val="0"/>
                        </a:spcBef>
                        <a:spcAft>
                          <a:spcPts val="0"/>
                        </a:spcAft>
                        <a:buClr>
                          <a:schemeClr val="dk1"/>
                        </a:buClr>
                        <a:buSzPts val="2000"/>
                        <a:buFont typeface="Arial"/>
                        <a:buChar char="•"/>
                      </a:pPr>
                      <a:r>
                        <a:rPr lang="en-US" sz="2000" u="none" strike="noStrike" cap="none"/>
                        <a:t>Move to Initiatives</a:t>
                      </a:r>
                      <a:endParaRPr sz="1400" u="none" strike="noStrike" cap="none"/>
                    </a:p>
                  </a:txBody>
                  <a:tcPr marL="91450" marR="91450" marT="45725" marB="45725">
                    <a:solidFill>
                      <a:srgbClr val="C4E0B2"/>
                    </a:solidFill>
                  </a:tcPr>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chemeClr val="dk1"/>
                          </a:solidFill>
                        </a:rPr>
                        <a:t>NOT IMPORTANT</a:t>
                      </a:r>
                      <a:endParaRPr sz="1400" u="none" strike="noStrike" cap="none"/>
                    </a:p>
                  </a:txBody>
                  <a:tcPr marL="91450" marR="91450" marT="45725" marB="45725" anchor="ctr">
                    <a:solidFill>
                      <a:srgbClr val="D8D8D8"/>
                    </a:solidFill>
                  </a:tcPr>
                </a:tc>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t>DELEGATE</a:t>
                      </a:r>
                      <a:endParaRPr sz="1400" u="none" strike="noStrike" cap="none"/>
                    </a:p>
                    <a:p>
                      <a:pPr marL="457200" marR="0" lvl="0" indent="-457200" algn="l" rtl="0">
                        <a:lnSpc>
                          <a:spcPct val="100000"/>
                        </a:lnSpc>
                        <a:spcBef>
                          <a:spcPts val="0"/>
                        </a:spcBef>
                        <a:spcAft>
                          <a:spcPts val="0"/>
                        </a:spcAft>
                        <a:buClr>
                          <a:schemeClr val="dk1"/>
                        </a:buClr>
                        <a:buSzPts val="2400"/>
                        <a:buFont typeface="Arial"/>
                        <a:buChar char="•"/>
                      </a:pPr>
                      <a:r>
                        <a:rPr lang="en-US" sz="2400" u="none" strike="noStrike" cap="none"/>
                        <a:t>Teach fishing</a:t>
                      </a:r>
                      <a:endParaRPr sz="1400" u="none" strike="noStrike" cap="none"/>
                    </a:p>
                    <a:p>
                      <a:pPr marL="457200" marR="0" lvl="0" indent="-457200" algn="l" rtl="0">
                        <a:lnSpc>
                          <a:spcPct val="100000"/>
                        </a:lnSpc>
                        <a:spcBef>
                          <a:spcPts val="0"/>
                        </a:spcBef>
                        <a:spcAft>
                          <a:spcPts val="0"/>
                        </a:spcAft>
                        <a:buClr>
                          <a:schemeClr val="dk1"/>
                        </a:buClr>
                        <a:buSzPts val="2400"/>
                        <a:buFont typeface="Arial"/>
                        <a:buChar char="•"/>
                      </a:pPr>
                      <a:r>
                        <a:rPr lang="en-US" sz="2400" u="none" strike="noStrike" cap="none"/>
                        <a:t>Assign a less senior</a:t>
                      </a:r>
                      <a:endParaRPr sz="1400" u="none" strike="noStrike" cap="none"/>
                    </a:p>
                    <a:p>
                      <a:pPr marL="457200" marR="0" lvl="0" indent="-457200" algn="l" rtl="0">
                        <a:lnSpc>
                          <a:spcPct val="100000"/>
                        </a:lnSpc>
                        <a:spcBef>
                          <a:spcPts val="0"/>
                        </a:spcBef>
                        <a:spcAft>
                          <a:spcPts val="0"/>
                        </a:spcAft>
                        <a:buClr>
                          <a:schemeClr val="dk1"/>
                        </a:buClr>
                        <a:buSzPts val="2400"/>
                        <a:buFont typeface="Arial"/>
                        <a:buChar char="•"/>
                      </a:pPr>
                      <a:r>
                        <a:rPr lang="en-US" sz="2400" u="none" strike="noStrike" cap="none"/>
                        <a:t>2</a:t>
                      </a:r>
                      <a:r>
                        <a:rPr lang="en-US" sz="2400" u="none" strike="noStrike" cap="none" baseline="30000"/>
                        <a:t>nd</a:t>
                      </a:r>
                      <a:r>
                        <a:rPr lang="en-US" sz="2400" u="none" strike="noStrike" cap="none"/>
                        <a:t> in Cmd. (Backup)?</a:t>
                      </a:r>
                      <a:endParaRPr sz="1400" u="none" strike="noStrike" cap="none"/>
                    </a:p>
                    <a:p>
                      <a:pPr marL="457200" marR="0" lvl="0" indent="-457200" algn="l" rtl="0">
                        <a:lnSpc>
                          <a:spcPct val="100000"/>
                        </a:lnSpc>
                        <a:spcBef>
                          <a:spcPts val="0"/>
                        </a:spcBef>
                        <a:spcAft>
                          <a:spcPts val="0"/>
                        </a:spcAft>
                        <a:buClr>
                          <a:schemeClr val="dk1"/>
                        </a:buClr>
                        <a:buSzPts val="2400"/>
                        <a:buFont typeface="Arial"/>
                        <a:buChar char="•"/>
                      </a:pPr>
                      <a:r>
                        <a:rPr lang="en-US" sz="2400" u="none" strike="noStrike" cap="none"/>
                        <a:t>Manager</a:t>
                      </a:r>
                      <a:endParaRPr sz="1400" u="none" strike="noStrike" cap="none"/>
                    </a:p>
                  </a:txBody>
                  <a:tcPr marL="91450" marR="91450" marT="45725" marB="45725">
                    <a:solidFill>
                      <a:srgbClr val="F4B081"/>
                    </a:solidFill>
                  </a:tcPr>
                </a:tc>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t>DELETE</a:t>
                      </a:r>
                      <a:endParaRPr sz="1400" u="none" strike="noStrike" cap="none"/>
                    </a:p>
                    <a:p>
                      <a:pPr marL="457200" marR="0" lvl="0" indent="-457200" algn="l" rtl="0">
                        <a:lnSpc>
                          <a:spcPct val="100000"/>
                        </a:lnSpc>
                        <a:spcBef>
                          <a:spcPts val="0"/>
                        </a:spcBef>
                        <a:spcAft>
                          <a:spcPts val="0"/>
                        </a:spcAft>
                        <a:buClr>
                          <a:schemeClr val="dk1"/>
                        </a:buClr>
                        <a:buSzPts val="2400"/>
                        <a:buFont typeface="Arial"/>
                        <a:buChar char="•"/>
                      </a:pPr>
                      <a:r>
                        <a:rPr lang="en-US" sz="2400" u="none" strike="noStrike" cap="none"/>
                        <a:t>Don’t confuse it with Innovation at OKR’s</a:t>
                      </a:r>
                      <a:endParaRPr sz="1400" u="none" strike="noStrike" cap="none"/>
                    </a:p>
                    <a:p>
                      <a:pPr marL="457200" marR="0" lvl="0" indent="-457200" algn="l" rtl="0">
                        <a:lnSpc>
                          <a:spcPct val="100000"/>
                        </a:lnSpc>
                        <a:spcBef>
                          <a:spcPts val="0"/>
                        </a:spcBef>
                        <a:spcAft>
                          <a:spcPts val="0"/>
                        </a:spcAft>
                        <a:buClr>
                          <a:schemeClr val="dk1"/>
                        </a:buClr>
                        <a:buSzPts val="2400"/>
                        <a:buFont typeface="Arial"/>
                        <a:buChar char="•"/>
                      </a:pPr>
                      <a:r>
                        <a:rPr lang="en-US" sz="2400" u="none" strike="noStrike" cap="none"/>
                        <a:t>Stop thinking on it</a:t>
                      </a:r>
                      <a:endParaRPr sz="1400" u="none" strike="noStrike" cap="none"/>
                    </a:p>
                  </a:txBody>
                  <a:tcPr marL="91450" marR="91450" marT="45725" marB="45725">
                    <a:solidFill>
                      <a:srgbClr val="F4B081"/>
                    </a:solidFill>
                  </a:tcPr>
                </a:tc>
                <a:extLst>
                  <a:ext uri="{0D108BD9-81ED-4DB2-BD59-A6C34878D82A}">
                    <a16:rowId xmlns:a16="http://schemas.microsoft.com/office/drawing/2014/main" val="10002"/>
                  </a:ext>
                </a:extLst>
              </a:tr>
            </a:tbl>
          </a:graphicData>
        </a:graphic>
      </p:graphicFrame>
      <p:sp>
        <p:nvSpPr>
          <p:cNvPr id="976" name="Google Shape;976;p54"/>
          <p:cNvSpPr txBox="1"/>
          <p:nvPr/>
        </p:nvSpPr>
        <p:spPr>
          <a:xfrm>
            <a:off x="863599" y="397033"/>
            <a:ext cx="10515600" cy="1325563"/>
          </a:xfrm>
          <a:prstGeom prst="rect">
            <a:avLst/>
          </a:prstGeom>
          <a:solidFill>
            <a:srgbClr val="262626"/>
          </a:solid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lt1"/>
              </a:buClr>
              <a:buSzPts val="4400"/>
              <a:buFont typeface="Calibri"/>
              <a:buNone/>
            </a:pPr>
            <a:r>
              <a:rPr lang="en-US" sz="4400" b="0" i="0" u="none" strike="noStrike" cap="none">
                <a:solidFill>
                  <a:schemeClr val="lt1"/>
                </a:solidFill>
                <a:latin typeface="Calibri"/>
                <a:ea typeface="Calibri"/>
                <a:cs typeface="Calibri"/>
                <a:sym typeface="Calibri"/>
              </a:rPr>
              <a:t>Individual Planning / Report-Up</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0"/>
        <p:cNvGrpSpPr/>
        <p:nvPr/>
      </p:nvGrpSpPr>
      <p:grpSpPr>
        <a:xfrm>
          <a:off x="0" y="0"/>
          <a:ext cx="0" cy="0"/>
          <a:chOff x="0" y="0"/>
          <a:chExt cx="0" cy="0"/>
        </a:xfrm>
      </p:grpSpPr>
      <p:sp>
        <p:nvSpPr>
          <p:cNvPr id="981" name="Google Shape;981;p55"/>
          <p:cNvSpPr/>
          <p:nvPr/>
        </p:nvSpPr>
        <p:spPr>
          <a:xfrm>
            <a:off x="355601" y="0"/>
            <a:ext cx="11480494" cy="2753936"/>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82" name="Google Shape;982;p55"/>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83" name="Google Shape;983;p55"/>
          <p:cNvSpPr txBox="1">
            <a:spLocks noGrp="1"/>
          </p:cNvSpPr>
          <p:nvPr>
            <p:ph type="title"/>
          </p:nvPr>
        </p:nvSpPr>
        <p:spPr>
          <a:xfrm>
            <a:off x="1179226" y="826680"/>
            <a:ext cx="9833548"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Calibri"/>
              <a:buNone/>
            </a:pPr>
            <a:r>
              <a:rPr lang="en-US" sz="4000" b="1">
                <a:solidFill>
                  <a:srgbClr val="FFFFFF"/>
                </a:solidFill>
              </a:rPr>
              <a:t>Estimated Time Ahead (ETA)</a:t>
            </a:r>
            <a:endParaRPr/>
          </a:p>
        </p:txBody>
      </p:sp>
      <p:sp>
        <p:nvSpPr>
          <p:cNvPr id="984" name="Google Shape;984;p55"/>
          <p:cNvSpPr txBox="1"/>
          <p:nvPr/>
        </p:nvSpPr>
        <p:spPr>
          <a:xfrm>
            <a:off x="2352782" y="678094"/>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985" name="Google Shape;985;p55"/>
          <p:cNvGrpSpPr/>
          <p:nvPr/>
        </p:nvGrpSpPr>
        <p:grpSpPr>
          <a:xfrm>
            <a:off x="2245899" y="2901534"/>
            <a:ext cx="7700200" cy="3128206"/>
            <a:chOff x="1209579" y="1578"/>
            <a:chExt cx="7700200" cy="3128206"/>
          </a:xfrm>
        </p:grpSpPr>
        <p:sp>
          <p:nvSpPr>
            <p:cNvPr id="986" name="Google Shape;986;p55"/>
            <p:cNvSpPr/>
            <p:nvPr/>
          </p:nvSpPr>
          <p:spPr>
            <a:xfrm>
              <a:off x="1209579" y="1578"/>
              <a:ext cx="2406312" cy="1443787"/>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7" name="Google Shape;987;p55"/>
            <p:cNvSpPr txBox="1"/>
            <p:nvPr/>
          </p:nvSpPr>
          <p:spPr>
            <a:xfrm>
              <a:off x="1209579" y="1578"/>
              <a:ext cx="2406312" cy="1443787"/>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US" sz="2200" b="0" i="0" u="none" strike="noStrike" cap="none">
                  <a:solidFill>
                    <a:schemeClr val="lt1"/>
                  </a:solidFill>
                  <a:latin typeface="Calibri"/>
                  <a:ea typeface="Calibri"/>
                  <a:cs typeface="Calibri"/>
                  <a:sym typeface="Calibri"/>
                </a:rPr>
                <a:t>Never Ending Story</a:t>
              </a:r>
              <a:endParaRPr sz="1400" b="0" i="0" u="none" strike="noStrike" cap="none">
                <a:solidFill>
                  <a:srgbClr val="000000"/>
                </a:solidFill>
                <a:latin typeface="Arial"/>
                <a:ea typeface="Arial"/>
                <a:cs typeface="Arial"/>
                <a:sym typeface="Arial"/>
              </a:endParaRPr>
            </a:p>
          </p:txBody>
        </p:sp>
        <p:sp>
          <p:nvSpPr>
            <p:cNvPr id="988" name="Google Shape;988;p55"/>
            <p:cNvSpPr/>
            <p:nvPr/>
          </p:nvSpPr>
          <p:spPr>
            <a:xfrm>
              <a:off x="3856523" y="1578"/>
              <a:ext cx="2406312" cy="1443787"/>
            </a:xfrm>
            <a:prstGeom prst="rect">
              <a:avLst/>
            </a:prstGeom>
            <a:solidFill>
              <a:srgbClr val="52CBC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9" name="Google Shape;989;p55"/>
            <p:cNvSpPr txBox="1"/>
            <p:nvPr/>
          </p:nvSpPr>
          <p:spPr>
            <a:xfrm>
              <a:off x="3856523" y="1578"/>
              <a:ext cx="2406312" cy="1443787"/>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US" sz="2200" b="0" i="0" u="none" strike="noStrike" cap="none" dirty="0">
                  <a:solidFill>
                    <a:schemeClr val="lt1"/>
                  </a:solidFill>
                  <a:latin typeface="Calibri"/>
                  <a:ea typeface="Calibri"/>
                  <a:cs typeface="Calibri"/>
                  <a:sym typeface="Calibri"/>
                </a:rPr>
                <a:t>Unexpected Additions/Drops</a:t>
              </a:r>
              <a:endParaRPr sz="1400" b="0" i="0" u="none" strike="noStrike" cap="none" dirty="0">
                <a:solidFill>
                  <a:srgbClr val="000000"/>
                </a:solidFill>
                <a:latin typeface="Arial"/>
                <a:ea typeface="Arial"/>
                <a:cs typeface="Arial"/>
                <a:sym typeface="Arial"/>
              </a:endParaRPr>
            </a:p>
          </p:txBody>
        </p:sp>
        <p:sp>
          <p:nvSpPr>
            <p:cNvPr id="990" name="Google Shape;990;p55"/>
            <p:cNvSpPr/>
            <p:nvPr/>
          </p:nvSpPr>
          <p:spPr>
            <a:xfrm>
              <a:off x="6503467" y="1578"/>
              <a:ext cx="2406312" cy="1443787"/>
            </a:xfrm>
            <a:prstGeom prst="rect">
              <a:avLst/>
            </a:prstGeom>
            <a:solidFill>
              <a:srgbClr val="4CC38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1" name="Google Shape;991;p55"/>
            <p:cNvSpPr txBox="1"/>
            <p:nvPr/>
          </p:nvSpPr>
          <p:spPr>
            <a:xfrm>
              <a:off x="6503467" y="1578"/>
              <a:ext cx="2406312" cy="1443787"/>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US" sz="2200" b="0" i="0" u="none" strike="noStrike" cap="none">
                  <a:solidFill>
                    <a:schemeClr val="lt1"/>
                  </a:solidFill>
                  <a:latin typeface="Calibri"/>
                  <a:ea typeface="Calibri"/>
                  <a:cs typeface="Calibri"/>
                  <a:sym typeface="Calibri"/>
                </a:rPr>
                <a:t>For critical infrastructure is important</a:t>
              </a:r>
              <a:endParaRPr sz="1400" b="0" i="0" u="none" strike="noStrike" cap="none">
                <a:solidFill>
                  <a:srgbClr val="000000"/>
                </a:solidFill>
                <a:latin typeface="Arial"/>
                <a:ea typeface="Arial"/>
                <a:cs typeface="Arial"/>
                <a:sym typeface="Arial"/>
              </a:endParaRPr>
            </a:p>
          </p:txBody>
        </p:sp>
        <p:sp>
          <p:nvSpPr>
            <p:cNvPr id="992" name="Google Shape;992;p55"/>
            <p:cNvSpPr/>
            <p:nvPr/>
          </p:nvSpPr>
          <p:spPr>
            <a:xfrm>
              <a:off x="2533051" y="1685997"/>
              <a:ext cx="2406312" cy="1443787"/>
            </a:xfrm>
            <a:prstGeom prst="rect">
              <a:avLst/>
            </a:prstGeom>
            <a:solidFill>
              <a:srgbClr val="46BA4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3" name="Google Shape;993;p55"/>
            <p:cNvSpPr txBox="1"/>
            <p:nvPr/>
          </p:nvSpPr>
          <p:spPr>
            <a:xfrm>
              <a:off x="2533051" y="1685997"/>
              <a:ext cx="2406312" cy="1443787"/>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US" sz="2200" b="0" i="0" u="none" strike="noStrike" cap="none">
                  <a:solidFill>
                    <a:schemeClr val="lt1"/>
                  </a:solidFill>
                  <a:latin typeface="Calibri"/>
                  <a:ea typeface="Calibri"/>
                  <a:cs typeface="Calibri"/>
                  <a:sym typeface="Calibri"/>
                </a:rPr>
                <a:t>Challenge for most of the tech teams</a:t>
              </a:r>
              <a:endParaRPr sz="1400" b="0" i="0" u="none" strike="noStrike" cap="none">
                <a:solidFill>
                  <a:srgbClr val="000000"/>
                </a:solidFill>
                <a:latin typeface="Arial"/>
                <a:ea typeface="Arial"/>
                <a:cs typeface="Arial"/>
                <a:sym typeface="Arial"/>
              </a:endParaRPr>
            </a:p>
          </p:txBody>
        </p:sp>
        <p:sp>
          <p:nvSpPr>
            <p:cNvPr id="994" name="Google Shape;994;p55"/>
            <p:cNvSpPr/>
            <p:nvPr/>
          </p:nvSpPr>
          <p:spPr>
            <a:xfrm>
              <a:off x="5179995" y="1685997"/>
              <a:ext cx="2406312" cy="1443787"/>
            </a:xfrm>
            <a:prstGeom prst="rect">
              <a:avLst/>
            </a:prstGeom>
            <a:solidFill>
              <a:srgbClr val="6FAB4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5" name="Google Shape;995;p55"/>
            <p:cNvSpPr txBox="1"/>
            <p:nvPr/>
          </p:nvSpPr>
          <p:spPr>
            <a:xfrm>
              <a:off x="5179995" y="1685997"/>
              <a:ext cx="2406312" cy="1443787"/>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US" sz="2200" b="0" i="0" u="none" strike="noStrike" cap="none">
                  <a:solidFill>
                    <a:schemeClr val="lt1"/>
                  </a:solidFill>
                  <a:latin typeface="Calibri"/>
                  <a:ea typeface="Calibri"/>
                  <a:cs typeface="Calibri"/>
                  <a:sym typeface="Calibri"/>
                </a:rPr>
                <a:t>Different for innovation, maintenance </a:t>
              </a:r>
              <a:br>
                <a:rPr lang="en-US" sz="2200" b="0" i="0" u="none" strike="noStrike" cap="none">
                  <a:solidFill>
                    <a:schemeClr val="lt1"/>
                  </a:solidFill>
                  <a:latin typeface="Calibri"/>
                  <a:ea typeface="Calibri"/>
                  <a:cs typeface="Calibri"/>
                  <a:sym typeface="Calibri"/>
                </a:rPr>
              </a:br>
              <a:r>
                <a:rPr lang="en-US" sz="2200" b="0" i="0" u="none" strike="noStrike" cap="none">
                  <a:solidFill>
                    <a:schemeClr val="lt1"/>
                  </a:solidFill>
                  <a:latin typeface="Calibri"/>
                  <a:ea typeface="Calibri"/>
                  <a:cs typeface="Calibri"/>
                  <a:sym typeface="Calibri"/>
                </a:rPr>
                <a:t>and support</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56"/>
          <p:cNvSpPr txBox="1"/>
          <p:nvPr/>
        </p:nvSpPr>
        <p:spPr>
          <a:xfrm>
            <a:off x="457200" y="118533"/>
            <a:ext cx="11205353" cy="678800"/>
          </a:xfrm>
          <a:prstGeom prst="rect">
            <a:avLst/>
          </a:prstGeom>
          <a:noFill/>
          <a:ln>
            <a:noFill/>
          </a:ln>
        </p:spPr>
        <p:txBody>
          <a:bodyPr spcFirstLastPara="1" wrap="square" lIns="121900" tIns="121900" rIns="121900" bIns="121900" anchor="ctr" anchorCtr="0">
            <a:noAutofit/>
          </a:bodyPr>
          <a:lstStyle/>
          <a:p>
            <a:pPr marL="0" marR="0" lvl="0" indent="0" algn="ctr" rtl="0">
              <a:lnSpc>
                <a:spcPct val="120000"/>
              </a:lnSpc>
              <a:spcBef>
                <a:spcPts val="0"/>
              </a:spcBef>
              <a:spcAft>
                <a:spcPts val="0"/>
              </a:spcAft>
              <a:buClr>
                <a:srgbClr val="000000"/>
              </a:buClr>
              <a:buSzPts val="2667"/>
              <a:buFont typeface="Arial"/>
              <a:buNone/>
            </a:pPr>
            <a:r>
              <a:rPr lang="en-US" sz="2667" b="1" i="0" u="none" strike="noStrike" cap="none" dirty="0">
                <a:solidFill>
                  <a:schemeClr val="dk1"/>
                </a:solidFill>
                <a:latin typeface="Calibri"/>
                <a:ea typeface="Calibri"/>
                <a:cs typeface="Calibri"/>
                <a:sym typeface="Calibri"/>
              </a:rPr>
              <a:t>IT Incident Response Plan (Overview)</a:t>
            </a:r>
            <a:endParaRPr sz="2667" b="1" i="0" u="none" strike="noStrike" cap="none" dirty="0">
              <a:solidFill>
                <a:schemeClr val="dk1"/>
              </a:solidFill>
              <a:latin typeface="Calibri"/>
              <a:ea typeface="Calibri"/>
              <a:cs typeface="Calibri"/>
              <a:sym typeface="Calibri"/>
            </a:endParaRPr>
          </a:p>
        </p:txBody>
      </p:sp>
      <p:sp>
        <p:nvSpPr>
          <p:cNvPr id="1002" name="Google Shape;1002;p56"/>
          <p:cNvSpPr txBox="1"/>
          <p:nvPr/>
        </p:nvSpPr>
        <p:spPr>
          <a:xfrm>
            <a:off x="9203720" y="2239151"/>
            <a:ext cx="2095651" cy="4154943"/>
          </a:xfrm>
          <a:prstGeom prst="rect">
            <a:avLst/>
          </a:prstGeom>
          <a:solidFill>
            <a:schemeClr val="lt2"/>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Calibri"/>
                <a:ea typeface="Calibri"/>
                <a:cs typeface="Calibri"/>
                <a:sym typeface="Calibri"/>
              </a:rPr>
              <a:t>Alerts: Person, Call, E-Mail, #Slack, SMS,  </a:t>
            </a:r>
            <a:r>
              <a:rPr lang="en-US" sz="1200" b="0" i="0" u="none" strike="noStrike" cap="none" dirty="0">
                <a:solidFill>
                  <a:schemeClr val="dk1"/>
                </a:solidFill>
                <a:latin typeface="Calibri"/>
                <a:ea typeface="Calibri"/>
                <a:cs typeface="Calibri"/>
                <a:sym typeface="Calibri"/>
              </a:rPr>
              <a:t>without standard classification (severity).</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Calibri"/>
                <a:ea typeface="Calibri"/>
                <a:cs typeface="Calibri"/>
                <a:sym typeface="Calibri"/>
              </a:rPr>
              <a:t>Follow-up</a:t>
            </a:r>
            <a:r>
              <a:rPr lang="en-US" sz="1200" b="0" i="0" u="none" strike="noStrike" cap="none" dirty="0">
                <a:solidFill>
                  <a:schemeClr val="dk1"/>
                </a:solidFill>
                <a:latin typeface="Calibri"/>
                <a:ea typeface="Calibri"/>
                <a:cs typeface="Calibri"/>
                <a:sym typeface="Calibri"/>
              </a:rPr>
              <a:t> on slack Operational (</a:t>
            </a:r>
            <a:r>
              <a:rPr lang="en-US" sz="1200" dirty="0">
                <a:solidFill>
                  <a:schemeClr val="dk1"/>
                </a:solidFill>
                <a:latin typeface="Calibri"/>
                <a:ea typeface="Calibri"/>
                <a:cs typeface="Calibri"/>
                <a:sym typeface="Calibri"/>
              </a:rPr>
              <a:t>OPS)</a:t>
            </a:r>
            <a:r>
              <a:rPr lang="en-US" sz="1200" b="1" i="0" u="none" strike="noStrike" cap="none" dirty="0">
                <a:solidFill>
                  <a:schemeClr val="dk1"/>
                </a:solidFill>
                <a:latin typeface="Calibri"/>
                <a:ea typeface="Calibri"/>
                <a:cs typeface="Calibri"/>
                <a:sym typeface="Calibri"/>
              </a:rPr>
              <a:t> </a:t>
            </a:r>
            <a:r>
              <a:rPr lang="en-US" sz="1200" b="0" i="0" u="none" strike="noStrike" cap="none" dirty="0">
                <a:solidFill>
                  <a:schemeClr val="dk1"/>
                </a:solidFill>
                <a:latin typeface="Calibri"/>
                <a:ea typeface="Calibri"/>
                <a:cs typeface="Calibri"/>
                <a:sym typeface="Calibri"/>
              </a:rPr>
              <a:t>channel (chat).</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Calibri"/>
                <a:ea typeface="Calibri"/>
                <a:cs typeface="Calibri"/>
                <a:sym typeface="Calibri"/>
              </a:rPr>
              <a:t>Direct Responsible Individual (DRI) </a:t>
            </a:r>
            <a:r>
              <a:rPr lang="en-US" sz="1200" b="0" i="0" u="none" strike="noStrike" cap="none" dirty="0">
                <a:solidFill>
                  <a:schemeClr val="dk1"/>
                </a:solidFill>
                <a:latin typeface="Calibri"/>
                <a:ea typeface="Calibri"/>
                <a:cs typeface="Calibri"/>
                <a:sym typeface="Calibri"/>
              </a:rPr>
              <a:t>take care of him/her alerts.</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200"/>
              <a:buFont typeface="Arial"/>
              <a:buNone/>
            </a:pPr>
            <a:r>
              <a:rPr lang="en-US" sz="1200" b="0" i="0" u="none" strike="noStrike" cap="none" dirty="0">
                <a:solidFill>
                  <a:schemeClr val="dk1"/>
                </a:solidFill>
                <a:latin typeface="Calibri"/>
                <a:ea typeface="Calibri"/>
                <a:cs typeface="Calibri"/>
                <a:sym typeface="Calibri"/>
              </a:rPr>
              <a:t>Meeting everyone involved in </a:t>
            </a:r>
            <a:r>
              <a:rPr lang="en-GB" sz="1200" b="1" i="0" u="none" strike="noStrike" cap="none" dirty="0">
                <a:solidFill>
                  <a:schemeClr val="dk1"/>
                </a:solidFill>
                <a:latin typeface="Calibri"/>
                <a:ea typeface="Calibri"/>
                <a:cs typeface="Calibri"/>
                <a:sym typeface="Calibri"/>
              </a:rPr>
              <a:t>Situational Room.</a:t>
            </a:r>
            <a:endParaRPr sz="1200" b="0" i="0"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Calibri"/>
                <a:ea typeface="Calibri"/>
                <a:cs typeface="Calibri"/>
                <a:sym typeface="Calibri"/>
              </a:rPr>
              <a:t>SLA defined in terms of maximum downtime </a:t>
            </a:r>
            <a:r>
              <a:rPr lang="en-US" sz="1200" b="0" i="0" u="none" strike="noStrike" cap="none" dirty="0">
                <a:solidFill>
                  <a:schemeClr val="dk1"/>
                </a:solidFill>
                <a:latin typeface="Calibri"/>
                <a:ea typeface="Calibri"/>
                <a:cs typeface="Calibri"/>
                <a:sym typeface="Calibri"/>
              </a:rPr>
              <a:t>in hours per system / application.</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Calibri"/>
                <a:ea typeface="Calibri"/>
                <a:cs typeface="Calibri"/>
                <a:sym typeface="Calibri"/>
              </a:rPr>
              <a:t>Spiral Escalation</a:t>
            </a:r>
            <a:r>
              <a:rPr lang="en-US" sz="1200" b="0" i="0" u="none" strike="noStrike" cap="none" dirty="0">
                <a:solidFill>
                  <a:schemeClr val="dk1"/>
                </a:solidFill>
                <a:latin typeface="Calibri"/>
                <a:ea typeface="Calibri"/>
                <a:cs typeface="Calibri"/>
                <a:sym typeface="Calibri"/>
              </a:rPr>
              <a:t> to Eng. Mgr., Head/Director, CTO, CEO.</a:t>
            </a:r>
            <a:endParaRPr sz="1400" b="0" i="0" u="none" strike="noStrike" cap="none" dirty="0">
              <a:solidFill>
                <a:srgbClr val="000000"/>
              </a:solidFill>
              <a:latin typeface="Arial"/>
              <a:ea typeface="Arial"/>
              <a:cs typeface="Arial"/>
              <a:sym typeface="Arial"/>
            </a:endParaRPr>
          </a:p>
        </p:txBody>
      </p:sp>
      <p:pic>
        <p:nvPicPr>
          <p:cNvPr id="1003" name="Google Shape;1003;p56"/>
          <p:cNvPicPr preferRelativeResize="0"/>
          <p:nvPr/>
        </p:nvPicPr>
        <p:blipFill rotWithShape="1">
          <a:blip r:embed="rId3">
            <a:alphaModFix/>
          </a:blip>
          <a:srcRect/>
          <a:stretch/>
        </p:blipFill>
        <p:spPr>
          <a:xfrm>
            <a:off x="1215702" y="928594"/>
            <a:ext cx="7559032" cy="4724395"/>
          </a:xfrm>
          <a:prstGeom prst="rect">
            <a:avLst/>
          </a:prstGeom>
          <a:noFill/>
          <a:ln>
            <a:noFill/>
          </a:ln>
        </p:spPr>
      </p:pic>
      <p:sp>
        <p:nvSpPr>
          <p:cNvPr id="1004" name="Google Shape;1004;p56"/>
          <p:cNvSpPr txBox="1"/>
          <p:nvPr/>
        </p:nvSpPr>
        <p:spPr>
          <a:xfrm>
            <a:off x="4421201" y="4625562"/>
            <a:ext cx="1867631"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dk1"/>
                </a:solidFill>
                <a:latin typeface="Calibri"/>
                <a:ea typeface="Calibri"/>
                <a:cs typeface="Calibri"/>
                <a:sym typeface="Calibri"/>
              </a:rPr>
              <a:t>&lt;</a:t>
            </a:r>
            <a:r>
              <a:rPr lang="en-US" sz="2400" b="0" i="0" u="none" strike="noStrike" cap="none" dirty="0">
                <a:solidFill>
                  <a:schemeClr val="dk1"/>
                </a:solidFill>
                <a:latin typeface="Calibri"/>
                <a:ea typeface="Calibri"/>
                <a:cs typeface="Calibri"/>
                <a:sym typeface="Calibri"/>
              </a:rPr>
              <a:t>45 minutes</a:t>
            </a:r>
            <a:endParaRPr sz="1400" b="0" i="0" u="none" strike="noStrike" cap="none" dirty="0">
              <a:solidFill>
                <a:srgbClr val="000000"/>
              </a:solidFill>
              <a:latin typeface="Arial"/>
              <a:ea typeface="Arial"/>
              <a:cs typeface="Arial"/>
              <a:sym typeface="Arial"/>
            </a:endParaRPr>
          </a:p>
        </p:txBody>
      </p:sp>
      <p:pic>
        <p:nvPicPr>
          <p:cNvPr id="1005" name="Google Shape;1005;p56" descr="Image result for icons siren"/>
          <p:cNvPicPr preferRelativeResize="0"/>
          <p:nvPr/>
        </p:nvPicPr>
        <p:blipFill rotWithShape="1">
          <a:blip r:embed="rId4">
            <a:alphaModFix/>
          </a:blip>
          <a:srcRect/>
          <a:stretch/>
        </p:blipFill>
        <p:spPr>
          <a:xfrm>
            <a:off x="9443904" y="928594"/>
            <a:ext cx="1407381" cy="140738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57"/>
          <p:cNvSpPr txBox="1"/>
          <p:nvPr/>
        </p:nvSpPr>
        <p:spPr>
          <a:xfrm>
            <a:off x="1137092" y="118533"/>
            <a:ext cx="10525461" cy="678800"/>
          </a:xfrm>
          <a:prstGeom prst="rect">
            <a:avLst/>
          </a:prstGeom>
          <a:noFill/>
          <a:ln>
            <a:noFill/>
          </a:ln>
        </p:spPr>
        <p:txBody>
          <a:bodyPr spcFirstLastPara="1" wrap="square" lIns="121900" tIns="121900" rIns="121900" bIns="121900" anchor="ctr" anchorCtr="0">
            <a:noAutofit/>
          </a:bodyPr>
          <a:lstStyle/>
          <a:p>
            <a:pPr marL="0" marR="0" lvl="0" indent="0" algn="ctr" rtl="0">
              <a:lnSpc>
                <a:spcPct val="120000"/>
              </a:lnSpc>
              <a:spcBef>
                <a:spcPts val="0"/>
              </a:spcBef>
              <a:spcAft>
                <a:spcPts val="0"/>
              </a:spcAft>
              <a:buClr>
                <a:srgbClr val="000000"/>
              </a:buClr>
              <a:buSzPts val="2667"/>
              <a:buFont typeface="Arial"/>
              <a:buNone/>
            </a:pPr>
            <a:r>
              <a:rPr lang="en-US" sz="2667" b="1" i="0" u="none" strike="noStrike" cap="none" dirty="0">
                <a:solidFill>
                  <a:schemeClr val="dk1"/>
                </a:solidFill>
                <a:latin typeface="Calibri"/>
                <a:ea typeface="Calibri"/>
                <a:cs typeface="Calibri"/>
                <a:sym typeface="Calibri"/>
              </a:rPr>
              <a:t>IT Incident Response Insights</a:t>
            </a:r>
            <a:endParaRPr sz="2667" b="1" i="0" u="none" strike="noStrike" cap="none" dirty="0">
              <a:solidFill>
                <a:schemeClr val="dk1"/>
              </a:solidFill>
              <a:latin typeface="Calibri"/>
              <a:ea typeface="Calibri"/>
              <a:cs typeface="Calibri"/>
              <a:sym typeface="Calibri"/>
            </a:endParaRPr>
          </a:p>
        </p:txBody>
      </p:sp>
      <p:sp>
        <p:nvSpPr>
          <p:cNvPr id="1013" name="Google Shape;1013;p57"/>
          <p:cNvSpPr txBox="1"/>
          <p:nvPr/>
        </p:nvSpPr>
        <p:spPr>
          <a:xfrm>
            <a:off x="4041563" y="992139"/>
            <a:ext cx="5233065" cy="1708120"/>
          </a:xfrm>
          <a:prstGeom prst="rect">
            <a:avLst/>
          </a:prstGeom>
          <a:noFill/>
          <a:ln>
            <a:noFill/>
          </a:ln>
        </p:spPr>
        <p:txBody>
          <a:bodyPr spcFirstLastPara="1" wrap="square" lIns="91425" tIns="45700" rIns="91425" bIns="45700" anchor="t" anchorCtr="0">
            <a:spAutoFit/>
          </a:bodyPr>
          <a:lstStyle/>
          <a:p>
            <a:pPr algn="ctr">
              <a:buSzPts val="1500"/>
            </a:pPr>
            <a:r>
              <a:rPr lang="en-GB" sz="1500" b="1" i="0" u="none" strike="noStrike" cap="none" dirty="0">
                <a:solidFill>
                  <a:schemeClr val="dk1"/>
                </a:solidFill>
                <a:latin typeface="Calibri"/>
                <a:ea typeface="Calibri"/>
                <a:cs typeface="Calibri"/>
                <a:sym typeface="Calibri"/>
              </a:rPr>
              <a:t>24/7 Emergency Handling - Contacts</a:t>
            </a:r>
          </a:p>
          <a:p>
            <a:pPr marL="0" marR="0" lvl="0" indent="0" algn="ctr" rtl="0">
              <a:lnSpc>
                <a:spcPct val="100000"/>
              </a:lnSpc>
              <a:spcBef>
                <a:spcPts val="0"/>
              </a:spcBef>
              <a:spcAft>
                <a:spcPts val="0"/>
              </a:spcAft>
              <a:buClr>
                <a:srgbClr val="000000"/>
              </a:buClr>
              <a:buSzPts val="1500"/>
              <a:buFont typeface="Arial"/>
              <a:buNone/>
            </a:pPr>
            <a:endParaRPr lang="en-US" sz="1500" b="1"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Arial"/>
              <a:buNone/>
            </a:pPr>
            <a:r>
              <a:rPr lang="en-US" sz="1500" b="1" dirty="0">
                <a:solidFill>
                  <a:schemeClr val="dk1"/>
                </a:solidFill>
                <a:latin typeface="Calibri"/>
                <a:ea typeface="Calibri"/>
                <a:cs typeface="Calibri"/>
                <a:sym typeface="Calibri"/>
              </a:rPr>
              <a:t>Technology</a:t>
            </a:r>
            <a:r>
              <a:rPr lang="en-US" sz="1500" b="1" i="0" u="none" strike="noStrike" cap="none" dirty="0">
                <a:solidFill>
                  <a:schemeClr val="dk1"/>
                </a:solidFill>
                <a:latin typeface="Calibri"/>
                <a:ea typeface="Calibri"/>
                <a:cs typeface="Calibri"/>
                <a:sym typeface="Calibri"/>
              </a:rPr>
              <a:t> Team Cloud Support </a:t>
            </a:r>
            <a:r>
              <a:rPr lang="en-GB" sz="1500" b="1" i="0" u="none" strike="noStrike" cap="none" dirty="0">
                <a:solidFill>
                  <a:schemeClr val="dk1"/>
                </a:solidFill>
                <a:latin typeface="Calibri"/>
                <a:ea typeface="Calibri"/>
                <a:cs typeface="Calibri"/>
                <a:sym typeface="Calibri"/>
              </a:rPr>
              <a:t>- Contacts</a:t>
            </a:r>
            <a:endParaRPr sz="1500" b="1"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Arial"/>
              <a:buNone/>
            </a:pPr>
            <a:endParaRPr sz="15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dirty="0">
                <a:solidFill>
                  <a:schemeClr val="dk1"/>
                </a:solidFill>
                <a:latin typeface="Calibri"/>
                <a:ea typeface="Calibri"/>
                <a:cs typeface="Calibri"/>
                <a:sym typeface="Calibri"/>
              </a:rPr>
              <a:t>On-Premise Datacenter Emergency </a:t>
            </a:r>
            <a:r>
              <a:rPr lang="en-GB" sz="1500" b="1" i="0" u="none" strike="noStrike" cap="none" dirty="0">
                <a:solidFill>
                  <a:schemeClr val="dk1"/>
                </a:solidFill>
                <a:latin typeface="Calibri"/>
                <a:ea typeface="Calibri"/>
                <a:cs typeface="Calibri"/>
                <a:sym typeface="Calibri"/>
              </a:rPr>
              <a:t>- Contacts</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500"/>
              <a:buFont typeface="Arial"/>
              <a:buNone/>
            </a:pPr>
            <a:endParaRPr sz="15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dirty="0">
                <a:solidFill>
                  <a:schemeClr val="dk1"/>
                </a:solidFill>
                <a:latin typeface="Calibri"/>
                <a:ea typeface="Calibri"/>
                <a:cs typeface="Calibri"/>
                <a:sym typeface="Calibri"/>
              </a:rPr>
              <a:t>Formal Mailing Lists for the Business / Technology Teams</a:t>
            </a:r>
            <a:endParaRPr sz="1400" b="0" i="0" u="none" strike="noStrike" cap="none" dirty="0">
              <a:solidFill>
                <a:srgbClr val="000000"/>
              </a:solidFill>
              <a:latin typeface="Arial"/>
              <a:ea typeface="Arial"/>
              <a:cs typeface="Arial"/>
              <a:sym typeface="Arial"/>
            </a:endParaRPr>
          </a:p>
        </p:txBody>
      </p:sp>
      <p:sp>
        <p:nvSpPr>
          <p:cNvPr id="1014" name="Google Shape;1014;p57"/>
          <p:cNvSpPr/>
          <p:nvPr/>
        </p:nvSpPr>
        <p:spPr>
          <a:xfrm>
            <a:off x="2859666" y="992141"/>
            <a:ext cx="1107685" cy="1708118"/>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lt1"/>
                </a:solidFill>
                <a:latin typeface="Calibri"/>
                <a:ea typeface="Calibri"/>
                <a:cs typeface="Calibri"/>
                <a:sym typeface="Calibri"/>
              </a:rPr>
              <a:t>Report +</a:t>
            </a:r>
          </a:p>
          <a:p>
            <a:pPr marL="0" marR="0" lvl="0" indent="0" algn="ctr" rtl="0">
              <a:lnSpc>
                <a:spcPct val="100000"/>
              </a:lnSpc>
              <a:spcBef>
                <a:spcPts val="0"/>
              </a:spcBef>
              <a:spcAft>
                <a:spcPts val="0"/>
              </a:spcAft>
              <a:buClr>
                <a:srgbClr val="000000"/>
              </a:buClr>
              <a:buSzPts val="1600"/>
              <a:buFont typeface="Arial"/>
              <a:buNone/>
            </a:pPr>
            <a:r>
              <a:rPr lang="en-US" sz="1600" dirty="0">
                <a:solidFill>
                  <a:schemeClr val="lt1"/>
                </a:solidFill>
                <a:latin typeface="Calibri"/>
                <a:ea typeface="Calibri"/>
                <a:cs typeface="Calibri"/>
                <a:sym typeface="Calibri"/>
              </a:rPr>
              <a:t>Escalate</a:t>
            </a:r>
            <a:endParaRPr sz="1400" b="0" i="0" u="none" strike="noStrike" cap="none" dirty="0">
              <a:solidFill>
                <a:srgbClr val="000000"/>
              </a:solidFill>
              <a:latin typeface="Arial"/>
              <a:ea typeface="Arial"/>
              <a:cs typeface="Arial"/>
              <a:sym typeface="Arial"/>
            </a:endParaRPr>
          </a:p>
        </p:txBody>
      </p:sp>
      <p:sp>
        <p:nvSpPr>
          <p:cNvPr id="1015" name="Google Shape;1015;p57"/>
          <p:cNvSpPr/>
          <p:nvPr/>
        </p:nvSpPr>
        <p:spPr>
          <a:xfrm>
            <a:off x="2859667" y="2790538"/>
            <a:ext cx="1107684" cy="1708118"/>
          </a:xfrm>
          <a:prstGeom prst="rect">
            <a:avLst/>
          </a:prstGeom>
          <a:solidFill>
            <a:srgbClr val="FF9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dirty="0">
                <a:solidFill>
                  <a:schemeClr val="lt1"/>
                </a:solidFill>
                <a:latin typeface="Calibri"/>
                <a:ea typeface="Calibri"/>
                <a:cs typeface="Calibri"/>
                <a:sym typeface="Calibri"/>
              </a:rPr>
              <a:t>Pro vs. </a:t>
            </a:r>
            <a:br>
              <a:rPr lang="en-US" sz="1600" dirty="0">
                <a:solidFill>
                  <a:schemeClr val="lt1"/>
                </a:solidFill>
                <a:latin typeface="Calibri"/>
                <a:ea typeface="Calibri"/>
                <a:cs typeface="Calibri"/>
                <a:sym typeface="Calibri"/>
              </a:rPr>
            </a:br>
            <a:r>
              <a:rPr lang="en-US" sz="1600" dirty="0">
                <a:solidFill>
                  <a:schemeClr val="lt1"/>
                </a:solidFill>
                <a:latin typeface="Calibri"/>
                <a:ea typeface="Calibri"/>
                <a:cs typeface="Calibri"/>
                <a:sym typeface="Calibri"/>
              </a:rPr>
              <a:t>Re-Act</a:t>
            </a:r>
            <a:endParaRPr sz="1400" b="0" i="0" u="none" strike="noStrike" cap="none" dirty="0">
              <a:solidFill>
                <a:srgbClr val="000000"/>
              </a:solidFill>
              <a:latin typeface="Arial"/>
              <a:ea typeface="Arial"/>
              <a:cs typeface="Arial"/>
              <a:sym typeface="Arial"/>
            </a:endParaRPr>
          </a:p>
        </p:txBody>
      </p:sp>
      <p:sp>
        <p:nvSpPr>
          <p:cNvPr id="1016" name="Google Shape;1016;p57"/>
          <p:cNvSpPr/>
          <p:nvPr/>
        </p:nvSpPr>
        <p:spPr>
          <a:xfrm>
            <a:off x="2859667" y="4588935"/>
            <a:ext cx="1107684" cy="1235296"/>
          </a:xfrm>
          <a:prstGeom prst="rect">
            <a:avLst/>
          </a:prstGeom>
          <a:solidFill>
            <a:srgbClr val="00B05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0" i="0" u="none" strike="noStrike" cap="none" dirty="0">
                <a:solidFill>
                  <a:schemeClr val="lt1"/>
                </a:solidFill>
                <a:latin typeface="Calibri"/>
                <a:ea typeface="Calibri"/>
                <a:cs typeface="Calibri"/>
                <a:sym typeface="Calibri"/>
              </a:rPr>
              <a:t>Account</a:t>
            </a:r>
            <a:br>
              <a:rPr lang="en-US" sz="1600" b="0" i="0" u="none" strike="noStrike" cap="none" dirty="0">
                <a:solidFill>
                  <a:schemeClr val="lt1"/>
                </a:solidFill>
                <a:latin typeface="Calibri"/>
                <a:ea typeface="Calibri"/>
                <a:cs typeface="Calibri"/>
                <a:sym typeface="Calibri"/>
              </a:rPr>
            </a:br>
            <a:r>
              <a:rPr lang="en-US" sz="1600" b="0" i="0" u="none" strike="noStrike" cap="none" dirty="0">
                <a:solidFill>
                  <a:schemeClr val="lt1"/>
                </a:solidFill>
                <a:latin typeface="Calibri"/>
                <a:ea typeface="Calibri"/>
                <a:cs typeface="Calibri"/>
                <a:sym typeface="Calibri"/>
              </a:rPr>
              <a:t>+ Adjust</a:t>
            </a:r>
            <a:endParaRPr sz="1600" b="0" i="0" u="none" strike="noStrike" cap="none" dirty="0">
              <a:solidFill>
                <a:srgbClr val="000000"/>
              </a:solidFill>
              <a:latin typeface="Arial"/>
              <a:ea typeface="Arial"/>
              <a:cs typeface="Arial"/>
              <a:sym typeface="Arial"/>
            </a:endParaRPr>
          </a:p>
        </p:txBody>
      </p:sp>
      <p:sp>
        <p:nvSpPr>
          <p:cNvPr id="1017" name="Google Shape;1017;p57"/>
          <p:cNvSpPr txBox="1"/>
          <p:nvPr/>
        </p:nvSpPr>
        <p:spPr>
          <a:xfrm>
            <a:off x="4041563" y="2790538"/>
            <a:ext cx="5233066" cy="17081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dirty="0">
                <a:solidFill>
                  <a:schemeClr val="dk1"/>
                </a:solidFill>
                <a:latin typeface="Calibri"/>
                <a:ea typeface="Calibri"/>
                <a:cs typeface="Calibri"/>
                <a:sym typeface="Calibri"/>
              </a:rPr>
              <a:t>Incident Response Plan</a:t>
            </a:r>
            <a:r>
              <a:rPr lang="en-US" sz="1500" b="1" dirty="0">
                <a:solidFill>
                  <a:schemeClr val="dk1"/>
                </a:solidFill>
                <a:latin typeface="Calibri"/>
                <a:ea typeface="Calibri"/>
                <a:cs typeface="Calibri"/>
                <a:sym typeface="Calibri"/>
              </a:rPr>
              <a:t> - Responsibilities</a:t>
            </a:r>
          </a:p>
          <a:p>
            <a:pPr marL="0" marR="0" lvl="0" indent="0" algn="ctr" rtl="0">
              <a:lnSpc>
                <a:spcPct val="100000"/>
              </a:lnSpc>
              <a:spcBef>
                <a:spcPts val="0"/>
              </a:spcBef>
              <a:spcAft>
                <a:spcPts val="0"/>
              </a:spcAft>
              <a:buClr>
                <a:srgbClr val="000000"/>
              </a:buClr>
              <a:buSzPts val="1500"/>
              <a:buFont typeface="Arial"/>
              <a:buNone/>
            </a:pPr>
            <a:endParaRPr sz="1500" b="0" i="0" u="none" strike="noStrike" cap="none" dirty="0">
              <a:solidFill>
                <a:schemeClr val="lt2"/>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dirty="0">
                <a:solidFill>
                  <a:schemeClr val="dk1"/>
                </a:solidFill>
                <a:latin typeface="Calibri"/>
                <a:ea typeface="Calibri"/>
                <a:cs typeface="Calibri"/>
                <a:sym typeface="Calibri"/>
              </a:rPr>
              <a:t>DevOps &amp; Site Reliability Teams – Responsibilities</a:t>
            </a:r>
          </a:p>
          <a:p>
            <a:pPr marL="0" marR="0" lvl="0" indent="0" algn="ctr" rtl="0">
              <a:lnSpc>
                <a:spcPct val="100000"/>
              </a:lnSpc>
              <a:spcBef>
                <a:spcPts val="0"/>
              </a:spcBef>
              <a:spcAft>
                <a:spcPts val="0"/>
              </a:spcAft>
              <a:buClr>
                <a:srgbClr val="000000"/>
              </a:buClr>
              <a:buSzPts val="1500"/>
              <a:buFont typeface="Arial"/>
              <a:buNone/>
            </a:pPr>
            <a:endParaRPr lang="en-US" sz="1500" b="1"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Arial"/>
              <a:buNone/>
            </a:pPr>
            <a:r>
              <a:rPr lang="en-US" sz="1500" b="1" dirty="0">
                <a:solidFill>
                  <a:schemeClr val="dk1"/>
                </a:solidFill>
                <a:latin typeface="Calibri"/>
                <a:ea typeface="Calibri"/>
                <a:cs typeface="Calibri"/>
                <a:sym typeface="Calibri"/>
              </a:rPr>
              <a:t>Physical / IT Security &amp; Legal Teams - Responsibilities</a:t>
            </a:r>
          </a:p>
          <a:p>
            <a:pPr marL="0" marR="0" lvl="0" indent="0" algn="ctr" rtl="0">
              <a:lnSpc>
                <a:spcPct val="100000"/>
              </a:lnSpc>
              <a:spcBef>
                <a:spcPts val="0"/>
              </a:spcBef>
              <a:spcAft>
                <a:spcPts val="0"/>
              </a:spcAft>
              <a:buClr>
                <a:srgbClr val="000000"/>
              </a:buClr>
              <a:buSzPts val="1500"/>
              <a:buFont typeface="Arial"/>
              <a:buNone/>
            </a:pPr>
            <a:endParaRPr lang="en-US" sz="1500" b="1"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dirty="0">
                <a:solidFill>
                  <a:schemeClr val="dk1"/>
                </a:solidFill>
                <a:latin typeface="Calibri"/>
                <a:ea typeface="Calibri"/>
                <a:cs typeface="Calibri"/>
                <a:sym typeface="Calibri"/>
              </a:rPr>
              <a:t>(Local) IT Support Teams - Responsibilities</a:t>
            </a:r>
            <a:endParaRPr sz="1400" b="0" i="0" u="none" strike="noStrike" cap="none" dirty="0">
              <a:solidFill>
                <a:srgbClr val="000000"/>
              </a:solidFill>
              <a:latin typeface="Arial"/>
              <a:ea typeface="Arial"/>
              <a:cs typeface="Arial"/>
              <a:sym typeface="Arial"/>
            </a:endParaRPr>
          </a:p>
        </p:txBody>
      </p:sp>
      <p:sp>
        <p:nvSpPr>
          <p:cNvPr id="1018" name="Google Shape;1018;p57"/>
          <p:cNvSpPr txBox="1"/>
          <p:nvPr/>
        </p:nvSpPr>
        <p:spPr>
          <a:xfrm>
            <a:off x="4041563" y="4588935"/>
            <a:ext cx="5233066" cy="124645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dirty="0">
                <a:solidFill>
                  <a:schemeClr val="dk1"/>
                </a:solidFill>
                <a:latin typeface="Calibri"/>
                <a:ea typeface="Calibri"/>
                <a:cs typeface="Calibri"/>
                <a:sym typeface="Calibri"/>
              </a:rPr>
              <a:t>Calls, Chats, Alerts, Tickets</a:t>
            </a:r>
          </a:p>
          <a:p>
            <a:pPr marL="0" marR="0" lvl="0" indent="0" algn="ctr" rtl="0">
              <a:lnSpc>
                <a:spcPct val="100000"/>
              </a:lnSpc>
              <a:spcBef>
                <a:spcPts val="0"/>
              </a:spcBef>
              <a:spcAft>
                <a:spcPts val="0"/>
              </a:spcAft>
              <a:buClr>
                <a:srgbClr val="000000"/>
              </a:buClr>
              <a:buSzPts val="1500"/>
              <a:buFont typeface="Arial"/>
              <a:buNone/>
            </a:pPr>
            <a:endParaRPr lang="en-US" sz="1500" b="1"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Arial"/>
              <a:buNone/>
            </a:pPr>
            <a:r>
              <a:rPr lang="en-US" sz="1500" b="1" dirty="0">
                <a:solidFill>
                  <a:schemeClr val="dk1"/>
                </a:solidFill>
                <a:latin typeface="Calibri"/>
                <a:ea typeface="Calibri"/>
                <a:cs typeface="Calibri"/>
                <a:sym typeface="Calibri"/>
              </a:rPr>
              <a:t>Incident / Problems / Changes (ITIL’s way)</a:t>
            </a:r>
          </a:p>
          <a:p>
            <a:pPr marL="0" marR="0" lvl="0" indent="0" algn="ctr" rtl="0">
              <a:lnSpc>
                <a:spcPct val="100000"/>
              </a:lnSpc>
              <a:spcBef>
                <a:spcPts val="0"/>
              </a:spcBef>
              <a:spcAft>
                <a:spcPts val="0"/>
              </a:spcAft>
              <a:buClr>
                <a:srgbClr val="000000"/>
              </a:buClr>
              <a:buSzPts val="1500"/>
              <a:buFont typeface="Arial"/>
              <a:buNone/>
            </a:pPr>
            <a:endParaRPr lang="en-US" sz="1500" b="1"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dirty="0">
                <a:solidFill>
                  <a:schemeClr val="dk1"/>
                </a:solidFill>
                <a:latin typeface="Calibri"/>
                <a:ea typeface="Calibri"/>
                <a:cs typeface="Calibri"/>
                <a:sym typeface="Calibri"/>
              </a:rPr>
              <a:t>Stability &amp; Post-Mortem Meetings (Agile way)</a:t>
            </a:r>
            <a:endParaRPr sz="1500" b="1" i="0" u="none" strike="noStrike" cap="none" dirty="0">
              <a:solidFill>
                <a:schemeClr val="dk1"/>
              </a:solidFill>
              <a:latin typeface="Calibri"/>
              <a:ea typeface="Calibri"/>
              <a:cs typeface="Calibri"/>
              <a:sym typeface="Calibri"/>
            </a:endParaRPr>
          </a:p>
        </p:txBody>
      </p:sp>
      <p:sp>
        <p:nvSpPr>
          <p:cNvPr id="2" name="Google Shape;1014;p57">
            <a:extLst>
              <a:ext uri="{FF2B5EF4-FFF2-40B4-BE49-F238E27FC236}">
                <a16:creationId xmlns:a16="http://schemas.microsoft.com/office/drawing/2014/main" id="{6BAB0008-3EFD-9BA5-06E6-2C47658EB202}"/>
              </a:ext>
            </a:extLst>
          </p:cNvPr>
          <p:cNvSpPr/>
          <p:nvPr/>
        </p:nvSpPr>
        <p:spPr>
          <a:xfrm>
            <a:off x="9349884" y="969943"/>
            <a:ext cx="1107685" cy="1708118"/>
          </a:xfrm>
          <a:prstGeom prst="rect">
            <a:avLst/>
          </a:prstGeom>
          <a:solidFill>
            <a:schemeClr val="tx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buSzPts val="1600"/>
            </a:pPr>
            <a:r>
              <a:rPr lang="en-US" sz="1600" dirty="0">
                <a:solidFill>
                  <a:schemeClr val="lt1"/>
                </a:solidFill>
                <a:latin typeface="Calibri"/>
                <a:ea typeface="Calibri"/>
                <a:cs typeface="Calibri"/>
                <a:sym typeface="Calibri"/>
              </a:rPr>
              <a:t>SLI</a:t>
            </a:r>
          </a:p>
          <a:p>
            <a:pPr algn="ctr">
              <a:buSzPts val="1600"/>
            </a:pPr>
            <a:r>
              <a:rPr lang="en-US" sz="1600" dirty="0">
                <a:solidFill>
                  <a:schemeClr val="lt1"/>
                </a:solidFill>
                <a:latin typeface="Calibri"/>
                <a:ea typeface="Calibri"/>
                <a:cs typeface="Calibri"/>
                <a:sym typeface="Calibri"/>
              </a:rPr>
              <a:t>(Observe)</a:t>
            </a:r>
            <a:endParaRPr sz="1600" dirty="0">
              <a:solidFill>
                <a:schemeClr val="lt1"/>
              </a:solidFill>
              <a:latin typeface="Calibri"/>
              <a:ea typeface="Calibri"/>
              <a:cs typeface="Calibri"/>
            </a:endParaRPr>
          </a:p>
        </p:txBody>
      </p:sp>
      <p:sp>
        <p:nvSpPr>
          <p:cNvPr id="3" name="Google Shape;1014;p57">
            <a:extLst>
              <a:ext uri="{FF2B5EF4-FFF2-40B4-BE49-F238E27FC236}">
                <a16:creationId xmlns:a16="http://schemas.microsoft.com/office/drawing/2014/main" id="{D80C8179-6D4F-033F-677B-2A3498E4123E}"/>
              </a:ext>
            </a:extLst>
          </p:cNvPr>
          <p:cNvSpPr/>
          <p:nvPr/>
        </p:nvSpPr>
        <p:spPr>
          <a:xfrm>
            <a:off x="9349884" y="2780899"/>
            <a:ext cx="1107685" cy="1708118"/>
          </a:xfrm>
          <a:prstGeom prst="rect">
            <a:avLst/>
          </a:prstGeom>
          <a:solidFill>
            <a:srgbClr val="0070C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buSzPts val="1600"/>
            </a:pPr>
            <a:r>
              <a:rPr lang="en-US" sz="1600" dirty="0">
                <a:solidFill>
                  <a:schemeClr val="lt1"/>
                </a:solidFill>
                <a:latin typeface="Calibri"/>
                <a:ea typeface="Calibri"/>
                <a:cs typeface="Calibri"/>
                <a:sym typeface="Calibri"/>
              </a:rPr>
              <a:t>SLO</a:t>
            </a:r>
          </a:p>
          <a:p>
            <a:pPr algn="ctr">
              <a:buSzPts val="1600"/>
            </a:pPr>
            <a:r>
              <a:rPr lang="en-US" sz="1600" dirty="0">
                <a:solidFill>
                  <a:schemeClr val="lt1"/>
                </a:solidFill>
                <a:latin typeface="Calibri"/>
                <a:ea typeface="Calibri"/>
                <a:cs typeface="Calibri"/>
                <a:sym typeface="Calibri"/>
              </a:rPr>
              <a:t>(Oversee)</a:t>
            </a:r>
            <a:endParaRPr sz="1600" dirty="0">
              <a:solidFill>
                <a:schemeClr val="lt1"/>
              </a:solidFill>
              <a:latin typeface="Calibri"/>
              <a:ea typeface="Calibri"/>
              <a:cs typeface="Calibri"/>
            </a:endParaRPr>
          </a:p>
        </p:txBody>
      </p:sp>
      <p:sp>
        <p:nvSpPr>
          <p:cNvPr id="4" name="Google Shape;1014;p57">
            <a:extLst>
              <a:ext uri="{FF2B5EF4-FFF2-40B4-BE49-F238E27FC236}">
                <a16:creationId xmlns:a16="http://schemas.microsoft.com/office/drawing/2014/main" id="{43BB2BC4-8E81-4903-D37F-81A43FE841F5}"/>
              </a:ext>
            </a:extLst>
          </p:cNvPr>
          <p:cNvSpPr/>
          <p:nvPr/>
        </p:nvSpPr>
        <p:spPr>
          <a:xfrm>
            <a:off x="9349884" y="4588936"/>
            <a:ext cx="1107685" cy="1279112"/>
          </a:xfrm>
          <a:prstGeom prst="rect">
            <a:avLst/>
          </a:prstGeom>
          <a:solidFill>
            <a:srgbClr val="7030A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buSzPts val="1400"/>
            </a:pPr>
            <a:r>
              <a:rPr lang="en-US" sz="1600" dirty="0">
                <a:solidFill>
                  <a:schemeClr val="lt1"/>
                </a:solidFill>
                <a:latin typeface="Calibri"/>
                <a:ea typeface="Calibri"/>
                <a:cs typeface="Calibri"/>
                <a:sym typeface="Calibri"/>
              </a:rPr>
              <a:t>SLA</a:t>
            </a:r>
          </a:p>
          <a:p>
            <a:pPr algn="ctr">
              <a:buSzPts val="1400"/>
            </a:pPr>
            <a:r>
              <a:rPr lang="en-US" sz="1600" dirty="0">
                <a:solidFill>
                  <a:schemeClr val="lt1"/>
                </a:solidFill>
                <a:latin typeface="Calibri"/>
                <a:ea typeface="Calibri"/>
                <a:cs typeface="Calibri"/>
                <a:sym typeface="Calibri"/>
              </a:rPr>
              <a:t>(Own)</a:t>
            </a:r>
            <a:endParaRPr sz="1600" dirty="0">
              <a:solidFill>
                <a:schemeClr val="lt1"/>
              </a:solidFill>
              <a:latin typeface="Calibri"/>
              <a:ea typeface="Calibri"/>
              <a:cs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2"/>
        <p:cNvGrpSpPr/>
        <p:nvPr/>
      </p:nvGrpSpPr>
      <p:grpSpPr>
        <a:xfrm>
          <a:off x="0" y="0"/>
          <a:ext cx="0" cy="0"/>
          <a:chOff x="0" y="0"/>
          <a:chExt cx="0" cy="0"/>
        </a:xfrm>
      </p:grpSpPr>
      <p:sp>
        <p:nvSpPr>
          <p:cNvPr id="1023" name="Google Shape;1023;p58"/>
          <p:cNvSpPr/>
          <p:nvPr/>
        </p:nvSpPr>
        <p:spPr>
          <a:xfrm>
            <a:off x="0" y="5367908"/>
            <a:ext cx="9161029" cy="1490093"/>
          </a:xfrm>
          <a:custGeom>
            <a:avLst/>
            <a:gdLst/>
            <a:ahLst/>
            <a:cxnLst/>
            <a:rect l="l" t="t" r="r" b="b"/>
            <a:pathLst>
              <a:path w="9161029" h="1490093" extrusionOk="0">
                <a:moveTo>
                  <a:pt x="0" y="0"/>
                </a:moveTo>
                <a:lnTo>
                  <a:pt x="2046494" y="0"/>
                </a:lnTo>
                <a:lnTo>
                  <a:pt x="2496613" y="0"/>
                </a:lnTo>
                <a:lnTo>
                  <a:pt x="3235839" y="0"/>
                </a:lnTo>
                <a:lnTo>
                  <a:pt x="9161029" y="0"/>
                </a:lnTo>
                <a:lnTo>
                  <a:pt x="8470921" y="1490093"/>
                </a:lnTo>
                <a:lnTo>
                  <a:pt x="0" y="1490093"/>
                </a:lnTo>
                <a:close/>
              </a:path>
            </a:pathLst>
          </a:custGeom>
          <a:solidFill>
            <a:srgbClr val="7F7F7F">
              <a:alpha val="4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4" name="Google Shape;1024;p58"/>
          <p:cNvSpPr txBox="1">
            <a:spLocks noGrp="1"/>
          </p:cNvSpPr>
          <p:nvPr>
            <p:ph type="title"/>
          </p:nvPr>
        </p:nvSpPr>
        <p:spPr>
          <a:xfrm>
            <a:off x="838200" y="5529884"/>
            <a:ext cx="7719381" cy="10963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Progress (</a:t>
            </a:r>
            <a:r>
              <a:rPr lang="en-US" b="1">
                <a:solidFill>
                  <a:srgbClr val="AEABAB"/>
                </a:solidFill>
              </a:rPr>
              <a:t>Follow-Up/</a:t>
            </a:r>
            <a:r>
              <a:rPr lang="en-US" b="1"/>
              <a:t>Report-Up)</a:t>
            </a:r>
            <a:endParaRPr/>
          </a:p>
        </p:txBody>
      </p:sp>
      <p:sp>
        <p:nvSpPr>
          <p:cNvPr id="1025" name="Google Shape;1025;p58"/>
          <p:cNvSpPr/>
          <p:nvPr/>
        </p:nvSpPr>
        <p:spPr>
          <a:xfrm>
            <a:off x="8763037" y="5367908"/>
            <a:ext cx="3428963" cy="1490093"/>
          </a:xfrm>
          <a:custGeom>
            <a:avLst/>
            <a:gdLst/>
            <a:ahLst/>
            <a:cxnLst/>
            <a:rect l="l" t="t" r="r" b="b"/>
            <a:pathLst>
              <a:path w="3428963" h="1490093" extrusionOk="0">
                <a:moveTo>
                  <a:pt x="690108" y="0"/>
                </a:moveTo>
                <a:lnTo>
                  <a:pt x="3428963" y="0"/>
                </a:lnTo>
                <a:lnTo>
                  <a:pt x="3428963" y="1490093"/>
                </a:lnTo>
                <a:lnTo>
                  <a:pt x="0" y="1490093"/>
                </a:lnTo>
                <a:close/>
              </a:path>
            </a:pathLst>
          </a:custGeom>
          <a:solidFill>
            <a:schemeClr val="dk1">
              <a:alpha val="6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26" name="Google Shape;1026;p58"/>
          <p:cNvGrpSpPr/>
          <p:nvPr/>
        </p:nvGrpSpPr>
        <p:grpSpPr>
          <a:xfrm>
            <a:off x="838200" y="643467"/>
            <a:ext cx="10515599" cy="4080973"/>
            <a:chOff x="0" y="0"/>
            <a:chExt cx="10515599" cy="4080973"/>
          </a:xfrm>
        </p:grpSpPr>
        <p:sp>
          <p:nvSpPr>
            <p:cNvPr id="1027" name="Google Shape;1027;p58"/>
            <p:cNvSpPr/>
            <p:nvPr/>
          </p:nvSpPr>
          <p:spPr>
            <a:xfrm>
              <a:off x="0" y="0"/>
              <a:ext cx="8097012" cy="734575"/>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8" name="Google Shape;1028;p58"/>
            <p:cNvSpPr txBox="1"/>
            <p:nvPr/>
          </p:nvSpPr>
          <p:spPr>
            <a:xfrm>
              <a:off x="21515" y="21515"/>
              <a:ext cx="7218402" cy="691545"/>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Calibri"/>
                <a:buNone/>
              </a:pPr>
              <a:r>
                <a:rPr lang="en-US" sz="2100" b="0" i="0" u="none" strike="noStrike" cap="none" dirty="0">
                  <a:solidFill>
                    <a:schemeClr val="lt1"/>
                  </a:solidFill>
                  <a:latin typeface="Calibri"/>
                  <a:ea typeface="Calibri"/>
                  <a:cs typeface="Calibri"/>
                  <a:sym typeface="Calibri"/>
                </a:rPr>
                <a:t>Tickets New/Completed (JIRA -&gt; </a:t>
              </a:r>
              <a:r>
                <a:rPr lang="en-US" sz="2100" dirty="0">
                  <a:solidFill>
                    <a:schemeClr val="lt1"/>
                  </a:solidFill>
                  <a:latin typeface="Calibri"/>
                  <a:ea typeface="Calibri"/>
                  <a:cs typeface="Calibri"/>
                  <a:sym typeface="Calibri"/>
                </a:rPr>
                <a:t>slack</a:t>
              </a:r>
              <a:r>
                <a:rPr lang="en-US" sz="2100" b="0" i="0" u="none" strike="noStrike" cap="none" dirty="0">
                  <a:solidFill>
                    <a:schemeClr val="lt1"/>
                  </a:solidFill>
                  <a:latin typeface="Calibri"/>
                  <a:ea typeface="Calibri"/>
                  <a:cs typeface="Calibri"/>
                  <a:sym typeface="Calibri"/>
                </a:rPr>
                <a:t> channel)</a:t>
              </a:r>
              <a:endParaRPr sz="1400" b="0" i="0" u="none" strike="noStrike" cap="none" dirty="0">
                <a:solidFill>
                  <a:srgbClr val="000000"/>
                </a:solidFill>
                <a:latin typeface="Arial"/>
                <a:ea typeface="Arial"/>
                <a:cs typeface="Arial"/>
                <a:sym typeface="Arial"/>
              </a:endParaRPr>
            </a:p>
          </p:txBody>
        </p:sp>
        <p:sp>
          <p:nvSpPr>
            <p:cNvPr id="1029" name="Google Shape;1029;p58"/>
            <p:cNvSpPr/>
            <p:nvPr/>
          </p:nvSpPr>
          <p:spPr>
            <a:xfrm>
              <a:off x="604647" y="836599"/>
              <a:ext cx="8097012" cy="734575"/>
            </a:xfrm>
            <a:prstGeom prst="roundRect">
              <a:avLst>
                <a:gd name="adj" fmla="val 10000"/>
              </a:avLst>
            </a:prstGeom>
            <a:solidFill>
              <a:srgbClr val="52CBC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0" name="Google Shape;1030;p58"/>
            <p:cNvSpPr txBox="1"/>
            <p:nvPr/>
          </p:nvSpPr>
          <p:spPr>
            <a:xfrm>
              <a:off x="626162" y="858114"/>
              <a:ext cx="6971861" cy="691545"/>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Calibri"/>
                <a:buNone/>
              </a:pPr>
              <a:r>
                <a:rPr lang="en-US" sz="2100" b="0" i="0" u="none" strike="noStrike" cap="none" dirty="0">
                  <a:solidFill>
                    <a:schemeClr val="lt1"/>
                  </a:solidFill>
                  <a:latin typeface="Calibri"/>
                  <a:ea typeface="Calibri"/>
                  <a:cs typeface="Calibri"/>
                  <a:sym typeface="Calibri"/>
                </a:rPr>
                <a:t>Daily/Weekly Slack-Up (You -&gt; </a:t>
              </a:r>
              <a:r>
                <a:rPr lang="en-US" sz="2100" dirty="0">
                  <a:solidFill>
                    <a:schemeClr val="lt1"/>
                  </a:solidFill>
                  <a:latin typeface="Calibri"/>
                  <a:ea typeface="Calibri"/>
                  <a:cs typeface="Calibri"/>
                  <a:sym typeface="Calibri"/>
                </a:rPr>
                <a:t>slack</a:t>
              </a:r>
              <a:r>
                <a:rPr lang="en-US" sz="2100" b="0" i="0" u="none" strike="noStrike" cap="none" dirty="0">
                  <a:solidFill>
                    <a:schemeClr val="lt1"/>
                  </a:solidFill>
                  <a:latin typeface="Calibri"/>
                  <a:ea typeface="Calibri"/>
                  <a:cs typeface="Calibri"/>
                  <a:sym typeface="Calibri"/>
                </a:rPr>
                <a:t> channel)</a:t>
              </a:r>
              <a:endParaRPr sz="1400" b="0" i="0" u="none" strike="noStrike" cap="none" dirty="0">
                <a:solidFill>
                  <a:srgbClr val="000000"/>
                </a:solidFill>
                <a:latin typeface="Arial"/>
                <a:ea typeface="Arial"/>
                <a:cs typeface="Arial"/>
                <a:sym typeface="Arial"/>
              </a:endParaRPr>
            </a:p>
          </p:txBody>
        </p:sp>
        <p:sp>
          <p:nvSpPr>
            <p:cNvPr id="1031" name="Google Shape;1031;p58"/>
            <p:cNvSpPr/>
            <p:nvPr/>
          </p:nvSpPr>
          <p:spPr>
            <a:xfrm>
              <a:off x="1209293" y="1673199"/>
              <a:ext cx="8097012" cy="734575"/>
            </a:xfrm>
            <a:prstGeom prst="roundRect">
              <a:avLst>
                <a:gd name="adj" fmla="val 10000"/>
              </a:avLst>
            </a:prstGeom>
            <a:solidFill>
              <a:srgbClr val="4CC38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2" name="Google Shape;1032;p58"/>
            <p:cNvSpPr txBox="1"/>
            <p:nvPr/>
          </p:nvSpPr>
          <p:spPr>
            <a:xfrm>
              <a:off x="1230808" y="1694714"/>
              <a:ext cx="6971861" cy="691545"/>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Calibri"/>
                <a:buNone/>
              </a:pPr>
              <a:r>
                <a:rPr lang="en-US" sz="2100" b="0" i="0" u="none" strike="noStrike" cap="none">
                  <a:solidFill>
                    <a:schemeClr val="lt1"/>
                  </a:solidFill>
                  <a:latin typeface="Calibri"/>
                  <a:ea typeface="Calibri"/>
                  <a:cs typeface="Calibri"/>
                  <a:sym typeface="Calibri"/>
                </a:rPr>
                <a:t>Individual Daily Pin Pointing (On Your Desk)</a:t>
              </a:r>
              <a:endParaRPr sz="1400" b="0" i="0" u="none" strike="noStrike" cap="none">
                <a:solidFill>
                  <a:srgbClr val="000000"/>
                </a:solidFill>
                <a:latin typeface="Arial"/>
                <a:ea typeface="Arial"/>
                <a:cs typeface="Arial"/>
                <a:sym typeface="Arial"/>
              </a:endParaRPr>
            </a:p>
          </p:txBody>
        </p:sp>
        <p:sp>
          <p:nvSpPr>
            <p:cNvPr id="1033" name="Google Shape;1033;p58"/>
            <p:cNvSpPr/>
            <p:nvPr/>
          </p:nvSpPr>
          <p:spPr>
            <a:xfrm>
              <a:off x="1813940" y="2509799"/>
              <a:ext cx="8097012" cy="734575"/>
            </a:xfrm>
            <a:prstGeom prst="roundRect">
              <a:avLst>
                <a:gd name="adj" fmla="val 10000"/>
              </a:avLst>
            </a:prstGeom>
            <a:solidFill>
              <a:srgbClr val="46BA4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4" name="Google Shape;1034;p58"/>
            <p:cNvSpPr txBox="1"/>
            <p:nvPr/>
          </p:nvSpPr>
          <p:spPr>
            <a:xfrm>
              <a:off x="1835455" y="2531314"/>
              <a:ext cx="6971861" cy="691545"/>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Calibri"/>
                <a:buNone/>
              </a:pPr>
              <a:r>
                <a:rPr lang="en-US" sz="2100" b="0" i="0" u="none" strike="noStrike" cap="none" dirty="0">
                  <a:solidFill>
                    <a:schemeClr val="lt1"/>
                  </a:solidFill>
                  <a:latin typeface="Calibri"/>
                  <a:ea typeface="Calibri"/>
                  <a:cs typeface="Calibri"/>
                  <a:sym typeface="Calibri"/>
                </a:rPr>
                <a:t>Bi-Weekly One-To-One (Room / Walk / Lunch)</a:t>
              </a:r>
              <a:endParaRPr sz="1400" b="0" i="0" u="none" strike="noStrike" cap="none" dirty="0">
                <a:solidFill>
                  <a:srgbClr val="000000"/>
                </a:solidFill>
                <a:latin typeface="Arial"/>
                <a:ea typeface="Arial"/>
                <a:cs typeface="Arial"/>
                <a:sym typeface="Arial"/>
              </a:endParaRPr>
            </a:p>
          </p:txBody>
        </p:sp>
        <p:sp>
          <p:nvSpPr>
            <p:cNvPr id="1035" name="Google Shape;1035;p58"/>
            <p:cNvSpPr/>
            <p:nvPr/>
          </p:nvSpPr>
          <p:spPr>
            <a:xfrm>
              <a:off x="2418587" y="3346398"/>
              <a:ext cx="8097012" cy="734575"/>
            </a:xfrm>
            <a:prstGeom prst="roundRect">
              <a:avLst>
                <a:gd name="adj" fmla="val 10000"/>
              </a:avLst>
            </a:prstGeom>
            <a:solidFill>
              <a:srgbClr val="6FAB4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6" name="Google Shape;1036;p58"/>
            <p:cNvSpPr txBox="1"/>
            <p:nvPr/>
          </p:nvSpPr>
          <p:spPr>
            <a:xfrm>
              <a:off x="2440102" y="3367913"/>
              <a:ext cx="6971861" cy="691545"/>
            </a:xfrm>
            <a:prstGeom prst="rect">
              <a:avLst/>
            </a:prstGeom>
            <a:noFill/>
            <a:ln>
              <a:noFill/>
            </a:ln>
          </p:spPr>
          <p:txBody>
            <a:bodyPr spcFirstLastPara="1" wrap="square" lIns="80000" tIns="80000" rIns="80000" bIns="80000" anchor="ctr" anchorCtr="0">
              <a:noAutofit/>
            </a:bodyPr>
            <a:lstStyle/>
            <a:p>
              <a:pPr marL="0" marR="0" lvl="0" indent="0" algn="l" rtl="0">
                <a:lnSpc>
                  <a:spcPct val="90000"/>
                </a:lnSpc>
                <a:spcBef>
                  <a:spcPts val="0"/>
                </a:spcBef>
                <a:spcAft>
                  <a:spcPts val="0"/>
                </a:spcAft>
                <a:buClr>
                  <a:schemeClr val="lt1"/>
                </a:buClr>
                <a:buSzPts val="2100"/>
                <a:buFont typeface="Calibri"/>
                <a:buNone/>
              </a:pPr>
              <a:r>
                <a:rPr lang="en-US" sz="2100" b="0" i="0" u="none" strike="noStrike" cap="none">
                  <a:solidFill>
                    <a:schemeClr val="lt1"/>
                  </a:solidFill>
                  <a:latin typeface="Calibri"/>
                  <a:ea typeface="Calibri"/>
                  <a:cs typeface="Calibri"/>
                  <a:sym typeface="Calibri"/>
                </a:rPr>
                <a:t>Monthly Retrospective (Last Friday of the Month Afternoon)</a:t>
              </a:r>
              <a:endParaRPr sz="1400" b="0" i="0" u="none" strike="noStrike" cap="none">
                <a:solidFill>
                  <a:srgbClr val="000000"/>
                </a:solidFill>
                <a:latin typeface="Arial"/>
                <a:ea typeface="Arial"/>
                <a:cs typeface="Arial"/>
                <a:sym typeface="Arial"/>
              </a:endParaRPr>
            </a:p>
          </p:txBody>
        </p:sp>
        <p:sp>
          <p:nvSpPr>
            <p:cNvPr id="1037" name="Google Shape;1037;p58"/>
            <p:cNvSpPr/>
            <p:nvPr/>
          </p:nvSpPr>
          <p:spPr>
            <a:xfrm>
              <a:off x="7619538" y="536648"/>
              <a:ext cx="477473" cy="477473"/>
            </a:xfrm>
            <a:prstGeom prst="downArrow">
              <a:avLst>
                <a:gd name="adj1" fmla="val 55000"/>
                <a:gd name="adj2" fmla="val 45000"/>
              </a:avLst>
            </a:prstGeom>
            <a:solidFill>
              <a:srgbClr val="CFDEEF">
                <a:alpha val="89411"/>
              </a:srgbClr>
            </a:solidFill>
            <a:ln w="12700" cap="flat" cmpd="sng">
              <a:solidFill>
                <a:srgbClr val="CFDEEF">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8" name="Google Shape;1038;p58"/>
            <p:cNvSpPr txBox="1"/>
            <p:nvPr/>
          </p:nvSpPr>
          <p:spPr>
            <a:xfrm>
              <a:off x="7726969" y="536648"/>
              <a:ext cx="262611" cy="359298"/>
            </a:xfrm>
            <a:prstGeom prst="rect">
              <a:avLst/>
            </a:prstGeom>
            <a:noFill/>
            <a:ln>
              <a:noFill/>
            </a:ln>
          </p:spPr>
          <p:txBody>
            <a:bodyPr spcFirstLastPara="1" wrap="square" lIns="26650" tIns="26650" rIns="26650" bIns="26650" anchor="ctr" anchorCtr="0">
              <a:noAutofit/>
            </a:bodyPr>
            <a:lstStyle/>
            <a:p>
              <a:pPr marL="0" marR="0" lvl="0" indent="0" algn="ctr" rtl="0">
                <a:lnSpc>
                  <a:spcPct val="90000"/>
                </a:lnSpc>
                <a:spcBef>
                  <a:spcPts val="0"/>
                </a:spcBef>
                <a:spcAft>
                  <a:spcPts val="0"/>
                </a:spcAft>
                <a:buClr>
                  <a:schemeClr val="dk1"/>
                </a:buClr>
                <a:buSzPts val="2100"/>
                <a:buFont typeface="Calibri"/>
                <a:buNone/>
              </a:pPr>
              <a:endParaRPr sz="2100" b="0" i="0" u="none" strike="noStrike" cap="none">
                <a:solidFill>
                  <a:schemeClr val="dk1"/>
                </a:solidFill>
                <a:latin typeface="Calibri"/>
                <a:ea typeface="Calibri"/>
                <a:cs typeface="Calibri"/>
                <a:sym typeface="Calibri"/>
              </a:endParaRPr>
            </a:p>
          </p:txBody>
        </p:sp>
        <p:sp>
          <p:nvSpPr>
            <p:cNvPr id="1039" name="Google Shape;1039;p58"/>
            <p:cNvSpPr/>
            <p:nvPr/>
          </p:nvSpPr>
          <p:spPr>
            <a:xfrm>
              <a:off x="8224185" y="1373247"/>
              <a:ext cx="477473" cy="477473"/>
            </a:xfrm>
            <a:prstGeom prst="downArrow">
              <a:avLst>
                <a:gd name="adj1" fmla="val 55000"/>
                <a:gd name="adj2" fmla="val 45000"/>
              </a:avLst>
            </a:prstGeom>
            <a:solidFill>
              <a:srgbClr val="CDEAE8">
                <a:alpha val="89411"/>
              </a:srgbClr>
            </a:solidFill>
            <a:ln w="12700" cap="flat" cmpd="sng">
              <a:solidFill>
                <a:srgbClr val="CFDEEF">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0" name="Google Shape;1040;p58"/>
            <p:cNvSpPr txBox="1"/>
            <p:nvPr/>
          </p:nvSpPr>
          <p:spPr>
            <a:xfrm>
              <a:off x="8331616" y="1373247"/>
              <a:ext cx="262611" cy="359298"/>
            </a:xfrm>
            <a:prstGeom prst="rect">
              <a:avLst/>
            </a:prstGeom>
            <a:noFill/>
            <a:ln>
              <a:noFill/>
            </a:ln>
          </p:spPr>
          <p:txBody>
            <a:bodyPr spcFirstLastPara="1" wrap="square" lIns="26650" tIns="26650" rIns="26650" bIns="26650" anchor="ctr" anchorCtr="0">
              <a:noAutofit/>
            </a:bodyPr>
            <a:lstStyle/>
            <a:p>
              <a:pPr marL="0" marR="0" lvl="0" indent="0" algn="ctr" rtl="0">
                <a:lnSpc>
                  <a:spcPct val="90000"/>
                </a:lnSpc>
                <a:spcBef>
                  <a:spcPts val="0"/>
                </a:spcBef>
                <a:spcAft>
                  <a:spcPts val="0"/>
                </a:spcAft>
                <a:buClr>
                  <a:schemeClr val="dk1"/>
                </a:buClr>
                <a:buSzPts val="2100"/>
                <a:buFont typeface="Calibri"/>
                <a:buNone/>
              </a:pPr>
              <a:endParaRPr sz="2100" b="0" i="0" u="none" strike="noStrike" cap="none">
                <a:solidFill>
                  <a:schemeClr val="dk1"/>
                </a:solidFill>
                <a:latin typeface="Calibri"/>
                <a:ea typeface="Calibri"/>
                <a:cs typeface="Calibri"/>
                <a:sym typeface="Calibri"/>
              </a:endParaRPr>
            </a:p>
          </p:txBody>
        </p:sp>
        <p:sp>
          <p:nvSpPr>
            <p:cNvPr id="1041" name="Google Shape;1041;p58"/>
            <p:cNvSpPr/>
            <p:nvPr/>
          </p:nvSpPr>
          <p:spPr>
            <a:xfrm>
              <a:off x="8828832" y="2197604"/>
              <a:ext cx="477473" cy="477473"/>
            </a:xfrm>
            <a:prstGeom prst="downArrow">
              <a:avLst>
                <a:gd name="adj1" fmla="val 55000"/>
                <a:gd name="adj2" fmla="val 45000"/>
              </a:avLst>
            </a:prstGeom>
            <a:solidFill>
              <a:srgbClr val="CCE6D4">
                <a:alpha val="89411"/>
              </a:srgbClr>
            </a:solidFill>
            <a:ln w="12700" cap="flat" cmpd="sng">
              <a:solidFill>
                <a:srgbClr val="CFDEEF">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2" name="Google Shape;1042;p58"/>
            <p:cNvSpPr txBox="1"/>
            <p:nvPr/>
          </p:nvSpPr>
          <p:spPr>
            <a:xfrm>
              <a:off x="8936263" y="2197604"/>
              <a:ext cx="262611" cy="359298"/>
            </a:xfrm>
            <a:prstGeom prst="rect">
              <a:avLst/>
            </a:prstGeom>
            <a:noFill/>
            <a:ln>
              <a:noFill/>
            </a:ln>
          </p:spPr>
          <p:txBody>
            <a:bodyPr spcFirstLastPara="1" wrap="square" lIns="26650" tIns="26650" rIns="26650" bIns="26650" anchor="ctr" anchorCtr="0">
              <a:noAutofit/>
            </a:bodyPr>
            <a:lstStyle/>
            <a:p>
              <a:pPr marL="0" marR="0" lvl="0" indent="0" algn="ctr" rtl="0">
                <a:lnSpc>
                  <a:spcPct val="90000"/>
                </a:lnSpc>
                <a:spcBef>
                  <a:spcPts val="0"/>
                </a:spcBef>
                <a:spcAft>
                  <a:spcPts val="0"/>
                </a:spcAft>
                <a:buClr>
                  <a:schemeClr val="dk1"/>
                </a:buClr>
                <a:buSzPts val="2100"/>
                <a:buFont typeface="Calibri"/>
                <a:buNone/>
              </a:pPr>
              <a:endParaRPr sz="2100" b="0" i="0" u="none" strike="noStrike" cap="none">
                <a:solidFill>
                  <a:schemeClr val="dk1"/>
                </a:solidFill>
                <a:latin typeface="Calibri"/>
                <a:ea typeface="Calibri"/>
                <a:cs typeface="Calibri"/>
                <a:sym typeface="Calibri"/>
              </a:endParaRPr>
            </a:p>
          </p:txBody>
        </p:sp>
        <p:sp>
          <p:nvSpPr>
            <p:cNvPr id="1043" name="Google Shape;1043;p58"/>
            <p:cNvSpPr/>
            <p:nvPr/>
          </p:nvSpPr>
          <p:spPr>
            <a:xfrm>
              <a:off x="9433479" y="3042366"/>
              <a:ext cx="477473" cy="477473"/>
            </a:xfrm>
            <a:prstGeom prst="downArrow">
              <a:avLst>
                <a:gd name="adj1" fmla="val 55000"/>
                <a:gd name="adj2" fmla="val 45000"/>
              </a:avLst>
            </a:prstGeom>
            <a:solidFill>
              <a:srgbClr val="D3E1CC">
                <a:alpha val="89411"/>
              </a:srgbClr>
            </a:solidFill>
            <a:ln w="12700" cap="flat" cmpd="sng">
              <a:solidFill>
                <a:srgbClr val="CFDEEF">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4" name="Google Shape;1044;p58"/>
            <p:cNvSpPr txBox="1"/>
            <p:nvPr/>
          </p:nvSpPr>
          <p:spPr>
            <a:xfrm>
              <a:off x="9540910" y="3042366"/>
              <a:ext cx="262611" cy="359298"/>
            </a:xfrm>
            <a:prstGeom prst="rect">
              <a:avLst/>
            </a:prstGeom>
            <a:noFill/>
            <a:ln>
              <a:noFill/>
            </a:ln>
          </p:spPr>
          <p:txBody>
            <a:bodyPr spcFirstLastPara="1" wrap="square" lIns="26650" tIns="26650" rIns="26650" bIns="26650" anchor="ctr" anchorCtr="0">
              <a:noAutofit/>
            </a:bodyPr>
            <a:lstStyle/>
            <a:p>
              <a:pPr marL="0" marR="0" lvl="0" indent="0" algn="ctr" rtl="0">
                <a:lnSpc>
                  <a:spcPct val="90000"/>
                </a:lnSpc>
                <a:spcBef>
                  <a:spcPts val="0"/>
                </a:spcBef>
                <a:spcAft>
                  <a:spcPts val="0"/>
                </a:spcAft>
                <a:buClr>
                  <a:schemeClr val="dk1"/>
                </a:buClr>
                <a:buSzPts val="2100"/>
                <a:buFont typeface="Calibri"/>
                <a:buNone/>
              </a:pPr>
              <a:endParaRPr sz="21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8"/>
        <p:cNvGrpSpPr/>
        <p:nvPr/>
      </p:nvGrpSpPr>
      <p:grpSpPr>
        <a:xfrm>
          <a:off x="0" y="0"/>
          <a:ext cx="0" cy="0"/>
          <a:chOff x="0" y="0"/>
          <a:chExt cx="0" cy="0"/>
        </a:xfrm>
      </p:grpSpPr>
      <p:sp>
        <p:nvSpPr>
          <p:cNvPr id="1049" name="Google Shape;1049;p59"/>
          <p:cNvSpPr/>
          <p:nvPr/>
        </p:nvSpPr>
        <p:spPr>
          <a:xfrm>
            <a:off x="0" y="0"/>
            <a:ext cx="12192000" cy="6858000"/>
          </a:xfrm>
          <a:prstGeom prst="rect">
            <a:avLst/>
          </a:prstGeom>
          <a:solidFill>
            <a:srgbClr val="3F3F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50" name="Google Shape;1050;p59"/>
          <p:cNvSpPr txBox="1">
            <a:spLocks noGrp="1"/>
          </p:cNvSpPr>
          <p:nvPr>
            <p:ph type="title"/>
          </p:nvPr>
        </p:nvSpPr>
        <p:spPr>
          <a:xfrm>
            <a:off x="6746628" y="1783959"/>
            <a:ext cx="4645250" cy="288911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alibri"/>
              <a:buNone/>
            </a:pPr>
            <a:r>
              <a:rPr lang="en-US" sz="6000">
                <a:solidFill>
                  <a:schemeClr val="lt1"/>
                </a:solidFill>
                <a:latin typeface="Calibri"/>
                <a:ea typeface="Calibri"/>
                <a:cs typeface="Calibri"/>
                <a:sym typeface="Calibri"/>
              </a:rPr>
              <a:t>Trust &amp;</a:t>
            </a:r>
            <a:br>
              <a:rPr lang="en-US" sz="6000">
                <a:solidFill>
                  <a:schemeClr val="lt1"/>
                </a:solidFill>
                <a:latin typeface="Calibri"/>
                <a:ea typeface="Calibri"/>
                <a:cs typeface="Calibri"/>
                <a:sym typeface="Calibri"/>
              </a:rPr>
            </a:br>
            <a:r>
              <a:rPr lang="en-US" sz="6000">
                <a:solidFill>
                  <a:schemeClr val="lt1"/>
                </a:solidFill>
                <a:latin typeface="Calibri"/>
                <a:ea typeface="Calibri"/>
                <a:cs typeface="Calibri"/>
                <a:sym typeface="Calibri"/>
              </a:rPr>
              <a:t>Visibility</a:t>
            </a:r>
            <a:endParaRPr/>
          </a:p>
        </p:txBody>
      </p:sp>
      <p:sp>
        <p:nvSpPr>
          <p:cNvPr id="1051" name="Google Shape;1051;p59"/>
          <p:cNvSpPr/>
          <p:nvPr/>
        </p:nvSpPr>
        <p:spPr>
          <a:xfrm flipH="1">
            <a:off x="0" y="0"/>
            <a:ext cx="6172782"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lt1">
              <a:alpha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052" name="Google Shape;1052;p59"/>
          <p:cNvSpPr/>
          <p:nvPr/>
        </p:nvSpPr>
        <p:spPr>
          <a:xfrm>
            <a:off x="0" y="0"/>
            <a:ext cx="6024154" cy="6858000"/>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053" name="Google Shape;1053;p59" descr="Books"/>
          <p:cNvPicPr preferRelativeResize="0"/>
          <p:nvPr/>
        </p:nvPicPr>
        <p:blipFill rotWithShape="1">
          <a:blip r:embed="rId3">
            <a:alphaModFix/>
          </a:blip>
          <a:srcRect/>
          <a:stretch/>
        </p:blipFill>
        <p:spPr>
          <a:xfrm>
            <a:off x="419382" y="720993"/>
            <a:ext cx="4047843" cy="4047843"/>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7"/>
        <p:cNvGrpSpPr/>
        <p:nvPr/>
      </p:nvGrpSpPr>
      <p:grpSpPr>
        <a:xfrm>
          <a:off x="0" y="0"/>
          <a:ext cx="0" cy="0"/>
          <a:chOff x="0" y="0"/>
          <a:chExt cx="0" cy="0"/>
        </a:xfrm>
      </p:grpSpPr>
      <p:sp>
        <p:nvSpPr>
          <p:cNvPr id="1058" name="Google Shape;1058;p60"/>
          <p:cNvSpPr/>
          <p:nvPr/>
        </p:nvSpPr>
        <p:spPr>
          <a:xfrm>
            <a:off x="484096" y="470925"/>
            <a:ext cx="4381009" cy="5892104"/>
          </a:xfrm>
          <a:custGeom>
            <a:avLst/>
            <a:gdLst/>
            <a:ahLst/>
            <a:cxnLst/>
            <a:rect l="l" t="t" r="r" b="b"/>
            <a:pathLst>
              <a:path w="4381009" h="5892104" extrusionOk="0">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059" name="Google Shape;1059;p60"/>
          <p:cNvSpPr txBox="1">
            <a:spLocks noGrp="1"/>
          </p:cNvSpPr>
          <p:nvPr>
            <p:ph type="title"/>
          </p:nvPr>
        </p:nvSpPr>
        <p:spPr>
          <a:xfrm>
            <a:off x="863029" y="1012004"/>
            <a:ext cx="3416158" cy="479540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Trust &amp;</a:t>
            </a:r>
            <a:br>
              <a:rPr lang="en-US">
                <a:solidFill>
                  <a:srgbClr val="FFFFFF"/>
                </a:solidFill>
              </a:rPr>
            </a:br>
            <a:r>
              <a:rPr lang="en-US">
                <a:solidFill>
                  <a:srgbClr val="FFFFFF"/>
                </a:solidFill>
              </a:rPr>
              <a:t>Visibility</a:t>
            </a:r>
            <a:endParaRPr/>
          </a:p>
        </p:txBody>
      </p:sp>
      <p:grpSp>
        <p:nvGrpSpPr>
          <p:cNvPr id="1060" name="Google Shape;1060;p60"/>
          <p:cNvGrpSpPr/>
          <p:nvPr/>
        </p:nvGrpSpPr>
        <p:grpSpPr>
          <a:xfrm>
            <a:off x="5194300" y="473366"/>
            <a:ext cx="6513603" cy="5880540"/>
            <a:chOff x="0" y="2442"/>
            <a:chExt cx="6513603" cy="5880540"/>
          </a:xfrm>
        </p:grpSpPr>
        <p:sp>
          <p:nvSpPr>
            <p:cNvPr id="1061" name="Google Shape;1061;p60"/>
            <p:cNvSpPr/>
            <p:nvPr/>
          </p:nvSpPr>
          <p:spPr>
            <a:xfrm>
              <a:off x="0" y="2442"/>
              <a:ext cx="6513603" cy="1238008"/>
            </a:xfrm>
            <a:prstGeom prst="roundRect">
              <a:avLst>
                <a:gd name="adj" fmla="val 10000"/>
              </a:avLst>
            </a:prstGeom>
            <a:solidFill>
              <a:srgbClr val="54813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2" name="Google Shape;1062;p60"/>
            <p:cNvSpPr/>
            <p:nvPr/>
          </p:nvSpPr>
          <p:spPr>
            <a:xfrm>
              <a:off x="374497" y="280994"/>
              <a:ext cx="680904" cy="680904"/>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3" name="Google Shape;1063;p60"/>
            <p:cNvSpPr/>
            <p:nvPr/>
          </p:nvSpPr>
          <p:spPr>
            <a:xfrm>
              <a:off x="1429899" y="2442"/>
              <a:ext cx="5083704" cy="123800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4" name="Google Shape;1064;p60"/>
            <p:cNvSpPr txBox="1"/>
            <p:nvPr/>
          </p:nvSpPr>
          <p:spPr>
            <a:xfrm>
              <a:off x="1429899" y="2442"/>
              <a:ext cx="5083704" cy="1238008"/>
            </a:xfrm>
            <a:prstGeom prst="rect">
              <a:avLst/>
            </a:prstGeom>
            <a:noFill/>
            <a:ln>
              <a:noFill/>
            </a:ln>
          </p:spPr>
          <p:txBody>
            <a:bodyPr spcFirstLastPara="1" wrap="square" lIns="131000" tIns="131000" rIns="131000" bIns="131000" anchor="ctr"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dirty="0">
                  <a:solidFill>
                    <a:schemeClr val="bg1"/>
                  </a:solidFill>
                  <a:latin typeface="Calibri"/>
                  <a:ea typeface="Calibri"/>
                  <a:cs typeface="Calibri"/>
                  <a:sym typeface="Calibri"/>
                </a:rPr>
                <a:t>Trust ring mitigates business hi-jacking</a:t>
              </a:r>
              <a:endParaRPr sz="1400" b="0" i="0" u="none" strike="noStrike" cap="none" dirty="0">
                <a:solidFill>
                  <a:schemeClr val="bg1"/>
                </a:solidFill>
                <a:latin typeface="Arial"/>
                <a:ea typeface="Arial"/>
                <a:cs typeface="Arial"/>
                <a:sym typeface="Arial"/>
              </a:endParaRPr>
            </a:p>
          </p:txBody>
        </p:sp>
        <p:sp>
          <p:nvSpPr>
            <p:cNvPr id="1065" name="Google Shape;1065;p60"/>
            <p:cNvSpPr/>
            <p:nvPr/>
          </p:nvSpPr>
          <p:spPr>
            <a:xfrm>
              <a:off x="0" y="1549953"/>
              <a:ext cx="6513603" cy="1238008"/>
            </a:xfrm>
            <a:prstGeom prst="roundRect">
              <a:avLst>
                <a:gd name="adj" fmla="val 10000"/>
              </a:avLst>
            </a:prstGeom>
            <a:solidFill>
              <a:srgbClr val="3F3F3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bg1"/>
                </a:solidFill>
                <a:latin typeface="Arial"/>
                <a:ea typeface="Arial"/>
                <a:cs typeface="Arial"/>
                <a:sym typeface="Arial"/>
              </a:endParaRPr>
            </a:p>
          </p:txBody>
        </p:sp>
        <p:sp>
          <p:nvSpPr>
            <p:cNvPr id="1066" name="Google Shape;1066;p60"/>
            <p:cNvSpPr/>
            <p:nvPr/>
          </p:nvSpPr>
          <p:spPr>
            <a:xfrm>
              <a:off x="374497" y="1828505"/>
              <a:ext cx="680904" cy="680904"/>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7" name="Google Shape;1067;p60"/>
            <p:cNvSpPr/>
            <p:nvPr/>
          </p:nvSpPr>
          <p:spPr>
            <a:xfrm>
              <a:off x="1429899" y="1549953"/>
              <a:ext cx="5083704" cy="123800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8" name="Google Shape;1068;p60"/>
            <p:cNvSpPr txBox="1"/>
            <p:nvPr/>
          </p:nvSpPr>
          <p:spPr>
            <a:xfrm>
              <a:off x="1429899" y="1549953"/>
              <a:ext cx="5083704" cy="1238008"/>
            </a:xfrm>
            <a:prstGeom prst="rect">
              <a:avLst/>
            </a:prstGeom>
            <a:noFill/>
            <a:ln>
              <a:noFill/>
            </a:ln>
          </p:spPr>
          <p:txBody>
            <a:bodyPr spcFirstLastPara="1" wrap="square" lIns="131000" tIns="131000" rIns="131000" bIns="131000" anchor="ctr"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dirty="0">
                  <a:solidFill>
                    <a:schemeClr val="bg1"/>
                  </a:solidFill>
                  <a:latin typeface="Calibri"/>
                  <a:ea typeface="Calibri"/>
                  <a:cs typeface="Calibri"/>
                  <a:sym typeface="Calibri"/>
                </a:rPr>
                <a:t>Critical credential and access levels should be shared (i.e. OneLogin) with key team members and C-Level (Breaking the glass)</a:t>
              </a:r>
              <a:endParaRPr sz="1400" b="0" i="0" u="none" strike="noStrike" cap="none" dirty="0">
                <a:solidFill>
                  <a:schemeClr val="bg1"/>
                </a:solidFill>
                <a:latin typeface="Arial"/>
                <a:ea typeface="Arial"/>
                <a:cs typeface="Arial"/>
                <a:sym typeface="Arial"/>
              </a:endParaRPr>
            </a:p>
          </p:txBody>
        </p:sp>
        <p:sp>
          <p:nvSpPr>
            <p:cNvPr id="1069" name="Google Shape;1069;p60"/>
            <p:cNvSpPr/>
            <p:nvPr/>
          </p:nvSpPr>
          <p:spPr>
            <a:xfrm>
              <a:off x="0" y="3097464"/>
              <a:ext cx="6513603" cy="1238008"/>
            </a:xfrm>
            <a:prstGeom prst="roundRect">
              <a:avLst>
                <a:gd name="adj" fmla="val 10000"/>
              </a:avLst>
            </a:prstGeom>
            <a:solidFill>
              <a:srgbClr val="C55A1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0" name="Google Shape;1070;p60"/>
            <p:cNvSpPr/>
            <p:nvPr/>
          </p:nvSpPr>
          <p:spPr>
            <a:xfrm>
              <a:off x="374497" y="3376015"/>
              <a:ext cx="680904" cy="680904"/>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1" name="Google Shape;1071;p60"/>
            <p:cNvSpPr/>
            <p:nvPr/>
          </p:nvSpPr>
          <p:spPr>
            <a:xfrm>
              <a:off x="1429899" y="3097464"/>
              <a:ext cx="5083704" cy="123800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2" name="Google Shape;1072;p60"/>
            <p:cNvSpPr txBox="1"/>
            <p:nvPr/>
          </p:nvSpPr>
          <p:spPr>
            <a:xfrm>
              <a:off x="1429899" y="3097464"/>
              <a:ext cx="5083704" cy="1238008"/>
            </a:xfrm>
            <a:prstGeom prst="rect">
              <a:avLst/>
            </a:prstGeom>
            <a:noFill/>
            <a:ln>
              <a:noFill/>
            </a:ln>
          </p:spPr>
          <p:txBody>
            <a:bodyPr spcFirstLastPara="1" wrap="square" lIns="131000" tIns="131000" rIns="131000" bIns="131000" anchor="ctr"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dirty="0">
                  <a:solidFill>
                    <a:schemeClr val="bg1"/>
                  </a:solidFill>
                  <a:latin typeface="Calibri"/>
                  <a:ea typeface="Calibri"/>
                  <a:cs typeface="Calibri"/>
                  <a:sym typeface="Calibri"/>
                </a:rPr>
                <a:t>Access should cover all infrastructure assets, platforms and systems</a:t>
              </a:r>
              <a:endParaRPr sz="1400" b="0" i="0" u="none" strike="noStrike" cap="none" dirty="0">
                <a:solidFill>
                  <a:schemeClr val="bg1"/>
                </a:solidFill>
                <a:latin typeface="Arial"/>
                <a:ea typeface="Arial"/>
                <a:cs typeface="Arial"/>
                <a:sym typeface="Arial"/>
              </a:endParaRPr>
            </a:p>
          </p:txBody>
        </p:sp>
        <p:sp>
          <p:nvSpPr>
            <p:cNvPr id="1073" name="Google Shape;1073;p60"/>
            <p:cNvSpPr/>
            <p:nvPr/>
          </p:nvSpPr>
          <p:spPr>
            <a:xfrm>
              <a:off x="0" y="4644974"/>
              <a:ext cx="6513603" cy="1238008"/>
            </a:xfrm>
            <a:prstGeom prst="roundRect">
              <a:avLst>
                <a:gd name="adj" fmla="val 10000"/>
              </a:avLst>
            </a:prstGeom>
            <a:solidFill>
              <a:srgbClr val="0070C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4" name="Google Shape;1074;p60"/>
            <p:cNvSpPr/>
            <p:nvPr/>
          </p:nvSpPr>
          <p:spPr>
            <a:xfrm>
              <a:off x="374497" y="4923526"/>
              <a:ext cx="680904" cy="680904"/>
            </a:xfrm>
            <a:prstGeom prst="rect">
              <a:avLst/>
            </a:prstGeom>
            <a:blipFill rotWithShape="1">
              <a:blip r:embed="rId6">
                <a:alphaModFix/>
              </a:blip>
              <a:stretch>
                <a:fillRect/>
              </a:stretch>
            </a:blipFill>
            <a:ln w="12700" cap="flat" cmpd="sng">
              <a:solidFill>
                <a:schemeClr val="lt1">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5" name="Google Shape;1075;p60"/>
            <p:cNvSpPr/>
            <p:nvPr/>
          </p:nvSpPr>
          <p:spPr>
            <a:xfrm>
              <a:off x="1429899" y="4644974"/>
              <a:ext cx="5083704" cy="123800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6" name="Google Shape;1076;p60"/>
            <p:cNvSpPr txBox="1"/>
            <p:nvPr/>
          </p:nvSpPr>
          <p:spPr>
            <a:xfrm>
              <a:off x="1429899" y="4644974"/>
              <a:ext cx="5083704" cy="1238008"/>
            </a:xfrm>
            <a:prstGeom prst="rect">
              <a:avLst/>
            </a:prstGeom>
            <a:noFill/>
            <a:ln>
              <a:noFill/>
            </a:ln>
          </p:spPr>
          <p:txBody>
            <a:bodyPr spcFirstLastPara="1" wrap="square" lIns="131000" tIns="131000" rIns="131000" bIns="131000" anchor="ctr"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dirty="0">
                  <a:solidFill>
                    <a:schemeClr val="bg1"/>
                  </a:solidFill>
                  <a:latin typeface="Calibri"/>
                  <a:ea typeface="Calibri"/>
                  <a:cs typeface="Calibri"/>
                  <a:sym typeface="Calibri"/>
                </a:rPr>
                <a:t>Monitoring tools and central consoles alerts for infrastructure must be broadcasted in communication channels (i.e. slack, e-mail)</a:t>
              </a:r>
              <a:endParaRPr sz="1400" b="0" i="0" u="none" strike="noStrike" cap="none" dirty="0">
                <a:solidFill>
                  <a:schemeClr val="bg1"/>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2579</Words>
  <Application>Microsoft Office PowerPoint</Application>
  <PresentationFormat>Widescreen</PresentationFormat>
  <Paragraphs>456</Paragraphs>
  <Slides>57</Slides>
  <Notes>57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57</vt:i4>
      </vt:variant>
    </vt:vector>
  </HeadingPairs>
  <TitlesOfParts>
    <vt:vector size="62" baseType="lpstr">
      <vt:lpstr>Calibri</vt:lpstr>
      <vt:lpstr>Arial</vt:lpstr>
      <vt:lpstr>Lato</vt:lpstr>
      <vt:lpstr>Office Theme</vt:lpstr>
      <vt:lpstr>Office Theme</vt:lpstr>
      <vt:lpstr>Site Reliability Engineering</vt:lpstr>
      <vt:lpstr>Agenda</vt:lpstr>
      <vt:lpstr>Introduction</vt:lpstr>
      <vt:lpstr>Purpose</vt:lpstr>
      <vt:lpstr>PowerPoint Presentation</vt:lpstr>
      <vt:lpstr>PowerPoint Presentation</vt:lpstr>
      <vt:lpstr>Weakness &amp; Strengths</vt:lpstr>
      <vt:lpstr>Strengths</vt:lpstr>
      <vt:lpstr>Weakness</vt:lpstr>
      <vt:lpstr>Changes</vt:lpstr>
      <vt:lpstr>PowerPoint Presentation</vt:lpstr>
      <vt:lpstr>PowerPoint Presentation</vt:lpstr>
      <vt:lpstr>Change  </vt:lpstr>
      <vt:lpstr> Change | Culture  of Service</vt:lpstr>
      <vt:lpstr>User Experience =&gt; Every Interaction Counts</vt:lpstr>
      <vt:lpstr>Service Delivery Orientation </vt:lpstr>
      <vt:lpstr>Emotional Intelligence </vt:lpstr>
      <vt:lpstr>Triune Brain (Thinking/(Re-)Acting)</vt:lpstr>
      <vt:lpstr>System 1 and 2 (Thinking/(Re-)Acting)</vt:lpstr>
      <vt:lpstr>Empathy</vt:lpstr>
      <vt:lpstr>Resilience</vt:lpstr>
      <vt:lpstr>Change | Bi-Modality Awareness</vt:lpstr>
      <vt:lpstr>PowerPoint Presentation</vt:lpstr>
      <vt:lpstr>Infrastructure vs. Code</vt:lpstr>
      <vt:lpstr>Changes | Way of Work</vt:lpstr>
      <vt:lpstr> Changes  | Way of Work  | Organization</vt:lpstr>
      <vt:lpstr>Technician vs. Engineer vs. Manager</vt:lpstr>
      <vt:lpstr>Managers (aka Coachs)</vt:lpstr>
      <vt:lpstr>Performance</vt:lpstr>
      <vt:lpstr>Autonomy (Freedom to innovate)</vt:lpstr>
      <vt:lpstr>Seniority</vt:lpstr>
      <vt:lpstr>Delegation  Knowing what are your responsibilities is important  We are here because somebody let us make mistakes  Having time for innovation needs delegation and teaching to someone to be able to scale</vt:lpstr>
      <vt:lpstr>2nd in Command (Backup)</vt:lpstr>
      <vt:lpstr>Update Responsibility Matrix</vt:lpstr>
      <vt:lpstr>Documentation (The Critical One)</vt:lpstr>
      <vt:lpstr>Documentation: Layered / Trimmed / Useful</vt:lpstr>
      <vt:lpstr>Documentation (Workshops)</vt:lpstr>
      <vt:lpstr> Changes  | Way of Work  | Innovation</vt:lpstr>
      <vt:lpstr>Legacy</vt:lpstr>
      <vt:lpstr>Innovation (&amp; Investigation)</vt:lpstr>
      <vt:lpstr> Changes  | Way of Work  | Communication</vt:lpstr>
      <vt:lpstr>  Communication</vt:lpstr>
      <vt:lpstr>Estimated Time Ahead (ETA)</vt:lpstr>
      <vt:lpstr>Communication (Too many channels?)</vt:lpstr>
      <vt:lpstr>Mute Generation / Work Comm. Channel</vt:lpstr>
      <vt:lpstr>  So let’s Slack-Up! </vt:lpstr>
      <vt:lpstr> Changes  | Way of Work  | Planning</vt:lpstr>
      <vt:lpstr>Planning</vt:lpstr>
      <vt:lpstr>Planning (OKR)</vt:lpstr>
      <vt:lpstr>PowerPoint Presentation</vt:lpstr>
      <vt:lpstr>PowerPoint Presentation</vt:lpstr>
      <vt:lpstr>Estimated Time Ahead (ETA)</vt:lpstr>
      <vt:lpstr>PowerPoint Presentation</vt:lpstr>
      <vt:lpstr>PowerPoint Presentation</vt:lpstr>
      <vt:lpstr>Progress (Follow-Up/Report-Up)</vt:lpstr>
      <vt:lpstr>Trust &amp; Visibility</vt:lpstr>
      <vt:lpstr>Trust &amp; Visibility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Site Reliability</dc:title>
  <dc:creator>Olaf Reitmaier</dc:creator>
  <cp:lastModifiedBy>Olaf Reitmaier</cp:lastModifiedBy>
  <cp:revision>8</cp:revision>
  <dcterms:created xsi:type="dcterms:W3CDTF">2019-05-12T08:31:28Z</dcterms:created>
  <dcterms:modified xsi:type="dcterms:W3CDTF">2023-11-04T17:28:01Z</dcterms:modified>
</cp:coreProperties>
</file>