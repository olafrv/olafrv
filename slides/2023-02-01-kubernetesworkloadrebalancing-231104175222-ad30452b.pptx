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Lobster" panose="00000500000000000000" pitchFamily="2" charset="0"/>
      <p:regular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997" autoAdjust="0"/>
  </p:normalViewPr>
  <p:slideViewPr>
    <p:cSldViewPr snapToGrid="0">
      <p:cViewPr varScale="1">
        <p:scale>
          <a:sx n="104" d="100"/>
          <a:sy n="104" d="100"/>
        </p:scale>
        <p:origin x="77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rly.nanmu.me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99designs.fr/brand-identity-pack/contests/create-devops-guild-logo-winner-produce-more-via-1115986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/kubernetes/tree/master/pkg/scheduler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l.acm.org/doi/full/10.1145/3539606" TargetMode="External"/><Relationship Id="rId4" Type="http://schemas.openxmlformats.org/officeDocument/2006/relationships/hyperlink" Target="https://kubernetes.io/docs/concepts/scheduling-eviction/kube-scheduler/" TargetMode="External"/></Relationships>
</file>

<file path=ppt/notesSlides/_rels/notes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full/10.1145/3539606" TargetMode="External"/><Relationship Id="rId3" Type="http://schemas.openxmlformats.org/officeDocument/2006/relationships/hyperlink" Target="https://kubernetes.io/docs/reference/scheduling/policies/" TargetMode="External"/><Relationship Id="rId7" Type="http://schemas.openxmlformats.org/officeDocument/2006/relationships/hyperlink" Target="https://kubernetes.io/docs/concepts/scheduling-eviction/scheduling-framework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ubernetes.io/docs/concepts/scheduling-eviction/kube-scheduler/" TargetMode="External"/><Relationship Id="rId5" Type="http://schemas.openxmlformats.org/officeDocument/2006/relationships/hyperlink" Target="https://github.com/kubernetes/kubernetes/tree/master/pkg/scheduler" TargetMode="External"/><Relationship Id="rId4" Type="http://schemas.openxmlformats.org/officeDocument/2006/relationships/hyperlink" Target="https://www.cncf.io/blog/2022/03/28/kubernetes-scheduler-introduction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cf.io/blog/2022/03/28/kubernetes-scheduler-introduction/" TargetMode="External"/><Relationship Id="rId7" Type="http://schemas.openxmlformats.org/officeDocument/2006/relationships/hyperlink" Target="https://kubernetes.io/docs/concepts/scheduling-eviction/scheduling-framework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kubernetes.io/docs/concepts/scheduling-eviction/kube-scheduler/" TargetMode="External"/><Relationship Id="rId5" Type="http://schemas.openxmlformats.org/officeDocument/2006/relationships/hyperlink" Target="https://github.com/kubernetes/kubernetes/tree/master/pkg/scheduler" TargetMode="External"/><Relationship Id="rId4" Type="http://schemas.openxmlformats.org/officeDocument/2006/relationships/hyperlink" Target="https://csa-ocp-ger.github.io/unicorn/challenges.scheduling.html" TargetMode="External"/></Relationships>
</file>

<file path=ppt/notesSlides/_rels/notes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ath.uni-magdeburg.de/~werner/sot-sot-lai-werner.pdf" TargetMode="External"/><Relationship Id="rId3" Type="http://schemas.openxmlformats.org/officeDocument/2006/relationships/hyperlink" Target="https://www.cncf.io/blog/2022/03/28/kubernetes-scheduler-introduction/" TargetMode="External"/><Relationship Id="rId7" Type="http://schemas.openxmlformats.org/officeDocument/2006/relationships/hyperlink" Target="https://link.springer.com/chapter/10.1007/978-3-030-80879-2_9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kubernetes-sigs/scheduler-plugins" TargetMode="External"/><Relationship Id="rId11" Type="http://schemas.openxmlformats.org/officeDocument/2006/relationships/hyperlink" Target="https://kubernetes.io/docs/concepts/scheduling-eviction/scheduling-framework/" TargetMode="External"/><Relationship Id="rId5" Type="http://schemas.openxmlformats.org/officeDocument/2006/relationships/hyperlink" Target="https://github.com/kubernetes/kubernetes/issues/84059" TargetMode="External"/><Relationship Id="rId10" Type="http://schemas.openxmlformats.org/officeDocument/2006/relationships/hyperlink" Target="https://kubernetes.io/docs/concepts/scheduling-eviction/kube-scheduler/" TargetMode="External"/><Relationship Id="rId4" Type="http://schemas.openxmlformats.org/officeDocument/2006/relationships/hyperlink" Target="https://csa-ocp-ger.github.io/unicorn/challenges.scheduling.html" TargetMode="External"/><Relationship Id="rId9" Type="http://schemas.openxmlformats.org/officeDocument/2006/relationships/hyperlink" Target="https://github.com/kubernetes/kubernetes/tree/master/pkg/scheduler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vmware.com/cloudhealth/rebalance-fragmented-kubernetes-clusters-reduce-cloud-costs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vmware.com/cloudhealth/rebalance-fragmented-kubernetes-clusters-reduce-cloud-costs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Job_shop" TargetMode="External"/><Relationship Id="rId3" Type="http://schemas.openxmlformats.org/officeDocument/2006/relationships/hyperlink" Target="https://www.researchgate.net/figure/Venn-Diagram-of-Complexity-Classes-in-Currently-Believed-Structure_fig10_51932027" TargetMode="External"/><Relationship Id="rId7" Type="http://schemas.openxmlformats.org/officeDocument/2006/relationships/hyperlink" Target="https://en.wikipedia.org/wiki/Job-shop_scheduling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List_of_NP-complete_problems" TargetMode="External"/><Relationship Id="rId5" Type="http://schemas.openxmlformats.org/officeDocument/2006/relationships/hyperlink" Target="https://www.britannica.com/science/NP-complete-problem" TargetMode="External"/><Relationship Id="rId4" Type="http://schemas.openxmlformats.org/officeDocument/2006/relationships/hyperlink" Target="https://dl.acm.org/doi/abs/10.1145/3539606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scheduling-eviction/topology-spread-constraints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scheduling-eviction/assign-pod-node/#inter-pod-affinity-and-anti-affinity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eur-ws.org/Vol-3304/paper07.pdf" TargetMode="External"/><Relationship Id="rId3" Type="http://schemas.openxmlformats.org/officeDocument/2006/relationships/hyperlink" Target="https://github.com/kubernetes/community/blob/master/README.md#special-interest-groups-sig" TargetMode="External"/><Relationship Id="rId7" Type="http://schemas.openxmlformats.org/officeDocument/2006/relationships/hyperlink" Target="https://github.com/devtron-labs/winter-soldier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github.com/kubernetes-sigs/descheduler" TargetMode="External"/><Relationship Id="rId5" Type="http://schemas.openxmlformats.org/officeDocument/2006/relationships/hyperlink" Target="https://github.com/kubernetes/enhancements/tree/master/keps/sig-scheduling/624-scheduling-framework" TargetMode="External"/><Relationship Id="rId4" Type="http://schemas.openxmlformats.org/officeDocument/2006/relationships/hyperlink" Target="https://github.com/kubernetes-sigs/scheduler-plugins" TargetMode="External"/><Relationship Id="rId9" Type="http://schemas.openxmlformats.org/officeDocument/2006/relationships/hyperlink" Target="https://ceur-ws.org/Vol-2382/ICT4S2019_paper_28.pdf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full/10.1145/3539606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https://orly.nanmu.me/</a:t>
            </a:r>
            <a:r>
              <a:rPr lang="en"/>
              <a:t> (Image)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https://en.99designs.fr/brand-identity-pack/contests/create-devops-guild-logo-winner-produce-more-via-1115986</a:t>
            </a:r>
            <a:r>
              <a:rPr lang="en"/>
              <a:t> (Image)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061b6c3de7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061b6c3de7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69ef2d4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69ef2d4d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061b6c3de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061b6c3de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https://github.com/kubernetes/kubernetes/tree/master/pkg/scheduler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https://kubernetes.io/docs/concepts/scheduling-eviction/kube-scheduler/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https://dl.acm.org/doi/full/10.1145/3539606</a:t>
            </a:r>
            <a:r>
              <a:rPr lang="en">
                <a:solidFill>
                  <a:schemeClr val="dk1"/>
                </a:solidFill>
              </a:rPr>
              <a:t> (Image)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061b6c3de7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061b6c3de7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https://kubernetes.io/docs/reference/scheduling/policies/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https://www.cncf.io/blog/2022/03/28/kubernetes-scheduler-introduction/</a:t>
            </a:r>
            <a:r>
              <a:rPr lang="en" dirty="0"/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https://github.com/kubernetes/kubernetes/tree/master/pkg/scheduler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https://kubernetes.io/docs/concepts/scheduling-eviction/kube-scheduler/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7"/>
              </a:rPr>
              <a:t>https://kubernetes.io/docs/concepts/scheduling-eviction/scheduling-framework/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 dirty="0">
                <a:solidFill>
                  <a:schemeClr val="hlink"/>
                </a:solidFill>
                <a:hlinkClick r:id="rId8"/>
              </a:rPr>
              <a:t>https://dl.acm.org/doi/full/10.1145/3539606</a:t>
            </a:r>
            <a:r>
              <a:rPr lang="en" dirty="0">
                <a:solidFill>
                  <a:schemeClr val="dk1"/>
                </a:solidFill>
              </a:rPr>
              <a:t> (Image)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61b6c3de7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61b6c3de7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https://www.cncf.io/blog/2022/03/28/kubernetes-scheduler-introduction/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https://csa-ocp-ger.github.io/unicorn/challenges.scheduling.html</a:t>
            </a:r>
            <a:r>
              <a:rPr lang="en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https://github.com/kubernetes/kubernetes/tree/master/pkg/scheduler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https://kubernetes.io/docs/concepts/scheduling-eviction/kube-scheduler/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https://kubernetes.io/docs/concepts/scheduling-eviction/scheduling-framework/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61b6c3de7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061b6c3de7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https://www.cncf.io/blog/2022/03/28/kubernetes-scheduler-introduction/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https://csa-ocp-ger.github.io/unicorn/challenges.scheduling.html</a:t>
            </a:r>
            <a:r>
              <a:rPr lang="en">
                <a:solidFill>
                  <a:schemeClr val="dk1"/>
                </a:solidFill>
              </a:rPr>
              <a:t>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https://github.com/kubernetes/kubernetes/issues/84059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https://github.com/kubernetes-sigs/scheduler-plugins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https://link.springer.com/chapter/10.1007/978-3-030-80879-2_9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u="sng">
                <a:solidFill>
                  <a:srgbClr val="1A0DAB"/>
                </a:solidFill>
                <a:highlight>
                  <a:srgbClr val="FFFFFF"/>
                </a:highlight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http://www.math.uni-magdeburg.de/~werner/sot-sot-lai-werner.pdf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https://github.com/kubernetes/kubernetes/tree/master/pkg/scheduler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https://kubernetes.io/docs/concepts/scheduling-eviction/kube-scheduler/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11"/>
              </a:rPr>
              <a:t>https://kubernetes.io/docs/concepts/scheduling-eviction/scheduling-framework/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61b6c3de7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061b6c3de7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https://blogs.vmware.com/cloudhealth/rebalance-fragmented-kubernetes-clusters-reduce-cloud-costs/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61b6c3de7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61b6c3de7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https://blogs.vmware.com/cloudhealth/rebalance-fragmented-kubernetes-clusters-reduce-cloud-costs/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61b6c3de7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61b6c3de7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https://www.researchgate.net/figure/Venn-Diagram-of-Complexity-Classes-in-Currently-Believed-Structure_fig10_51932027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https://dl.acm.org/doi/abs/10.1145/3539606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https://www.britannica.com/science/NP-complete-problem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https://en.wikipedia.org/wiki/List_of_NP-complete_problems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https://en.wikipedia.org/wiki/Job-shop_scheduling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https://en.wikipedia.org/wiki/Job_shop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061b6c3de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061b6c3de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https://kubernetes.io/docs/concepts/scheduling-eviction/topology-spread-constraints/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061b6c3de7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061b6c3de7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https://kubernetes.io/docs/concepts/scheduling-eviction/assign-pod-node/#inter-pod-affinity-and-anti-affinity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061b6c3de7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061b6c3de7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https://github.com/kubernetes/community/blob/master/README.md#special-interest-groups-sig</a:t>
            </a:r>
            <a:r>
              <a:rPr lang="en" dirty="0"/>
              <a:t> </a:t>
            </a:r>
            <a:br>
              <a:rPr lang="en" dirty="0"/>
            </a:b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4"/>
              </a:rPr>
              <a:t>https://github.com/kubernetes-sigs/scheduler-plugins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https://github.com/kubernetes/enhancements/tree/master/keps/sig-scheduling/624-scheduling-framework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6"/>
              </a:rPr>
              <a:t>https://github.com/kubernetes-sigs/descheduler</a:t>
            </a:r>
            <a:r>
              <a:rPr lang="en" dirty="0"/>
              <a:t>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7"/>
              </a:rPr>
              <a:t>https://github.com/devtron-labs/winter-soldier</a:t>
            </a:r>
            <a:r>
              <a:rPr lang="en" u="sng" dirty="0">
                <a:solidFill>
                  <a:schemeClr val="hlink"/>
                </a:solidFill>
              </a:rPr>
              <a:t> </a:t>
            </a:r>
            <a:endParaRPr u="sng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8"/>
              </a:rPr>
              <a:t>https://ceur-ws.org/Vol-3304/paper07.pdf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 u="sng" dirty="0">
                <a:solidFill>
                  <a:srgbClr val="1A0DAB"/>
                </a:solidFill>
                <a:highlight>
                  <a:srgbClr val="FFFFFF"/>
                </a:highlight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https://ceur-ws.org/Vol-2382/ICT4S2019_paper_28.pdf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061b6c3de7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061b6c3de7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https://dl.acm.org/doi/full/10.1145/3539606</a:t>
            </a:r>
            <a:r>
              <a:rPr lang="en">
                <a:solidFill>
                  <a:schemeClr val="dk1"/>
                </a:solidFill>
              </a:rPr>
              <a:t> (Image)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061b6c3de7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061b6c3de7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https://orly.nanmu.me/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61b6c3de7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061b6c3de7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https://en.99designs.fr/brand-identity-pack/contests/create-devops-guild-logo-winner-produce-more-via-1115986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8s.a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reference/scheduling/policie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github.com/kubernetes/kubernetes/blob/e4c8802407fbaffad126685280e72145d89b125e/pkg/scheduler/schedule_one.go#L335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hyperlink" Target="https://github.com/kubernetes/kubernetes/blob/e4c8802407fbaffad126685280e72145d89b125e/pkg/scheduler/schedule_one.go#L38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/kubernetes/blob/e4c8802407fbaffad126685280e72145d89b125e/pkg/scheduler/schedule_one.go#L63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kubernetes.io/docs/concepts/scheduling-eviction/topology-spread-constraints/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kubernetes.io/docs/concepts/scheduling-eviction/assign-pod-node/#inter-pod-affinity-and-anti-affinity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18" Type="http://schemas.openxmlformats.org/officeDocument/2006/relationships/hyperlink" Target="https://github.com/kubernetes/enhancements/tree/master/keps/sig-scheduling/624-scheduling-framework" TargetMode="External"/><Relationship Id="rId3" Type="http://schemas.openxmlformats.org/officeDocument/2006/relationships/hyperlink" Target="https://github.com/kubernetes-sigs/descheduler" TargetMode="External"/><Relationship Id="rId7" Type="http://schemas.openxmlformats.org/officeDocument/2006/relationships/image" Target="../media/image25.png"/><Relationship Id="rId12" Type="http://schemas.openxmlformats.org/officeDocument/2006/relationships/image" Target="../media/image29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6" Type="http://schemas.openxmlformats.org/officeDocument/2006/relationships/hyperlink" Target="https://ceur-ws.org/Vol-3304/paper07.pdf" TargetMode="External"/><Relationship Id="rId20" Type="http://schemas.openxmlformats.org/officeDocument/2006/relationships/hyperlink" Target="https://ceur-ws.org/Vol-2382/ICT4S2019_paper_28.pdf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5" Type="http://schemas.openxmlformats.org/officeDocument/2006/relationships/image" Target="../media/image31.png"/><Relationship Id="rId10" Type="http://schemas.openxmlformats.org/officeDocument/2006/relationships/image" Target="../media/image27.png"/><Relationship Id="rId19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hyperlink" Target="https://github.com/kubernetes/community/blob/master/README.md#special-interest-groups-sig" TargetMode="External"/><Relationship Id="rId14" Type="http://schemas.openxmlformats.org/officeDocument/2006/relationships/hyperlink" Target="https://github.com/devtron-labs/winter-soldier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45138" y="1694550"/>
            <a:ext cx="1877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Lobby</a:t>
            </a:r>
            <a:endParaRPr sz="45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2755575" y="152400"/>
            <a:ext cx="3456213" cy="4838698"/>
            <a:chOff x="2755575" y="152400"/>
            <a:chExt cx="3456213" cy="4838698"/>
          </a:xfrm>
        </p:grpSpPr>
        <p:pic>
          <p:nvPicPr>
            <p:cNvPr id="56" name="Google Shape;5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55575" y="152400"/>
              <a:ext cx="3456213" cy="4838698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7" name="Google Shape;5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02962" y="379100"/>
              <a:ext cx="1161463" cy="4453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K8s Scheduler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Architecture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Decision Tree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Best Fit Algorithm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Filtering Sub-Algorithm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Scoring Sub-Algorithm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Expectations vs. Reality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Job Scheduling Problem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Google’s Guys Solutions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Proposed Solutions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Takeaways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321" y="1240651"/>
            <a:ext cx="4383675" cy="257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start… the sources…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850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❌ Medium.com “look-at-me” posts.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❌ Vendor marketing mumbo-jumbo.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Peer reviewed CS publications.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K8s failure stories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https://k8s.af/</a:t>
            </a:r>
            <a:r>
              <a:rPr lang="en"/>
              <a:t>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Golang code review.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✅ Memes.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7213" y="3044892"/>
            <a:ext cx="2225175" cy="7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8863" y="916547"/>
            <a:ext cx="1376950" cy="10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2588" y="2126286"/>
            <a:ext cx="2190833" cy="8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Scheduler</a:t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2438800" y="3939600"/>
            <a:ext cx="4084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CE5CD"/>
                </a:highlight>
              </a:rPr>
              <a:t>Kube Scheduler</a:t>
            </a:r>
            <a:r>
              <a:rPr lang="en">
                <a:solidFill>
                  <a:schemeClr val="dk1"/>
                </a:solidFill>
                <a:highlight>
                  <a:srgbClr val="FCE5CD"/>
                </a:highlight>
              </a:rPr>
              <a:t> </a:t>
            </a:r>
            <a:r>
              <a:rPr lang="en">
                <a:solidFill>
                  <a:schemeClr val="dk1"/>
                </a:solidFill>
              </a:rPr>
              <a:t>is responsible for </a:t>
            </a:r>
            <a:r>
              <a:rPr lang="en" b="1">
                <a:solidFill>
                  <a:schemeClr val="dk1"/>
                </a:solidFill>
                <a:highlight>
                  <a:srgbClr val="FCE5CD"/>
                </a:highlight>
              </a:rPr>
              <a:t>selecting the worker </a:t>
            </a:r>
            <a:r>
              <a:rPr lang="en">
                <a:solidFill>
                  <a:schemeClr val="dk1"/>
                </a:solidFill>
              </a:rPr>
              <a:t>node and provision the pod on the target node according to well-known pre-defined </a:t>
            </a:r>
            <a:r>
              <a:rPr lang="en" b="1">
                <a:solidFill>
                  <a:schemeClr val="dk1"/>
                </a:solidFill>
                <a:highlight>
                  <a:srgbClr val="FCE5CD"/>
                </a:highlight>
              </a:rPr>
              <a:t>rules.</a:t>
            </a:r>
            <a:endParaRPr b="1">
              <a:solidFill>
                <a:schemeClr val="dk1"/>
              </a:solidFill>
              <a:highlight>
                <a:srgbClr val="FCE5CD"/>
              </a:highlight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750" y="959100"/>
            <a:ext cx="5060799" cy="29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Scheduler Decision Tree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Scheduling Policies</a:t>
            </a:r>
            <a:r>
              <a:rPr lang="en"/>
              <a:t>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i="1">
                <a:solidFill>
                  <a:srgbClr val="FF0000"/>
                </a:solidFill>
              </a:rPr>
              <a:t>Deprecated </a:t>
            </a:r>
            <a:r>
              <a:rPr lang="en" i="1"/>
              <a:t>since Kubernetes &gt;= v1.23</a:t>
            </a:r>
            <a:endParaRPr sz="1800" b="1">
              <a:solidFill>
                <a:schemeClr val="dk1"/>
              </a:solidFill>
              <a:highlight>
                <a:srgbClr val="FDFDFD"/>
              </a:highlight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93" name="Google Shape;93;p17"/>
          <p:cNvGrpSpPr/>
          <p:nvPr/>
        </p:nvGrpSpPr>
        <p:grpSpPr>
          <a:xfrm>
            <a:off x="4602000" y="752275"/>
            <a:ext cx="3887074" cy="3920825"/>
            <a:chOff x="4602000" y="752275"/>
            <a:chExt cx="3887074" cy="3920825"/>
          </a:xfrm>
        </p:grpSpPr>
        <p:pic>
          <p:nvPicPr>
            <p:cNvPr id="94" name="Google Shape;94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29669" y="1089888"/>
              <a:ext cx="3459406" cy="2767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7"/>
            <p:cNvSpPr txBox="1"/>
            <p:nvPr/>
          </p:nvSpPr>
          <p:spPr>
            <a:xfrm>
              <a:off x="4602000" y="752275"/>
              <a:ext cx="1561800" cy="4002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/>
                <a:t>Metrics Server</a:t>
              </a:r>
              <a:endParaRPr b="1"/>
            </a:p>
          </p:txBody>
        </p:sp>
        <p:cxnSp>
          <p:nvCxnSpPr>
            <p:cNvPr id="96" name="Google Shape;96;p17"/>
            <p:cNvCxnSpPr>
              <a:endCxn id="95" idx="2"/>
            </p:cNvCxnSpPr>
            <p:nvPr/>
          </p:nvCxnSpPr>
          <p:spPr>
            <a:xfrm rot="10800000">
              <a:off x="5382900" y="1152475"/>
              <a:ext cx="0" cy="574500"/>
            </a:xfrm>
            <a:prstGeom prst="straightConnector1">
              <a:avLst/>
            </a:prstGeom>
            <a:noFill/>
            <a:ln w="9525" cap="flat" cmpd="sng">
              <a:solidFill>
                <a:srgbClr val="0B539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Google Shape;97;p17"/>
            <p:cNvSpPr txBox="1"/>
            <p:nvPr/>
          </p:nvSpPr>
          <p:spPr>
            <a:xfrm>
              <a:off x="5029675" y="3857400"/>
              <a:ext cx="33789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9900FF"/>
                  </a:solidFill>
                </a:rPr>
                <a:t>func</a:t>
              </a:r>
              <a:r>
                <a:rPr lang="en" b="1"/>
                <a:t> schedulePod</a:t>
              </a:r>
              <a:endParaRPr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u="sng">
                  <a:solidFill>
                    <a:srgbClr val="0000FF"/>
                  </a:solidFill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https://github.com/kubernetes/kubernetes/blob/e4c8802407fbaffad126685280e72145d89b125e/pkg/scheduler/schedule_one.go#L335</a:t>
              </a:r>
              <a:r>
                <a:rPr lang="en" sz="900">
                  <a:solidFill>
                    <a:srgbClr val="0000FF"/>
                  </a:solidFill>
                </a:rPr>
                <a:t> </a:t>
              </a:r>
              <a:endParaRPr sz="900">
                <a:solidFill>
                  <a:srgbClr val="0000FF"/>
                </a:solidFill>
              </a:endParaRPr>
            </a:p>
          </p:txBody>
        </p:sp>
      </p:grpSp>
      <p:pic>
        <p:nvPicPr>
          <p:cNvPr id="98" name="Google Shape;9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12832" y="1797213"/>
            <a:ext cx="5883900" cy="12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 b="1">
                <a:solidFill>
                  <a:schemeClr val="dk2"/>
                </a:solidFill>
              </a:rPr>
              <a:t>Best Fit Algorithm:</a:t>
            </a:r>
            <a:endParaRPr sz="1800"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YAML rules specification.</a:t>
            </a:r>
            <a:endParaRPr>
              <a:solidFill>
                <a:schemeClr val="dk2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 b="1">
                <a:solidFill>
                  <a:srgbClr val="6AA84F"/>
                </a:solidFill>
              </a:rPr>
              <a:t>Predicates </a:t>
            </a:r>
            <a:r>
              <a:rPr lang="en" sz="1600">
                <a:solidFill>
                  <a:srgbClr val="6AA84F"/>
                </a:solidFill>
              </a:rPr>
              <a:t>=&gt; </a:t>
            </a:r>
            <a:r>
              <a:rPr lang="en" sz="1600" b="1">
                <a:solidFill>
                  <a:srgbClr val="6AA84F"/>
                </a:solidFill>
              </a:rPr>
              <a:t>Filtering =&gt; Candidates</a:t>
            </a:r>
            <a:endParaRPr sz="1600" b="1">
              <a:solidFill>
                <a:srgbClr val="6AA84F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 b="1">
                <a:solidFill>
                  <a:srgbClr val="FF9900"/>
                </a:solidFill>
              </a:rPr>
              <a:t>Priorities</a:t>
            </a:r>
            <a:r>
              <a:rPr lang="en" sz="1600">
                <a:solidFill>
                  <a:srgbClr val="FF9900"/>
                </a:solidFill>
              </a:rPr>
              <a:t> =&gt; </a:t>
            </a:r>
            <a:r>
              <a:rPr lang="en" sz="1600" b="1">
                <a:solidFill>
                  <a:srgbClr val="FF9900"/>
                </a:solidFill>
              </a:rPr>
              <a:t>Scoring =&gt; Ranking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88"/>
              <a:t>Filtering Algorithm =&gt; </a:t>
            </a:r>
            <a:r>
              <a:rPr lang="en" sz="2688" b="1">
                <a:solidFill>
                  <a:srgbClr val="6AA84F"/>
                </a:solidFill>
              </a:rPr>
              <a:t>Candidates</a:t>
            </a:r>
            <a:endParaRPr sz="3688" b="1">
              <a:solidFill>
                <a:srgbClr val="6AA84F"/>
              </a:solidFill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2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</a:t>
            </a: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</a:rPr>
              <a:t>General </a:t>
            </a:r>
            <a:r>
              <a:rPr lang="en" sz="1300">
                <a:solidFill>
                  <a:schemeClr val="dk1"/>
                </a:solidFill>
                <a:highlight>
                  <a:srgbClr val="FDFDFD"/>
                </a:highlight>
              </a:rPr>
              <a:t>predicates:</a:t>
            </a:r>
            <a:endParaRPr sz="130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e.g. PodFitsResources，PodFitsNodeSelector</a:t>
            </a:r>
            <a:endParaRPr sz="1300" b="1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2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</a:t>
            </a: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</a:rPr>
              <a:t>Storage </a:t>
            </a:r>
            <a:r>
              <a:rPr lang="en" sz="1300">
                <a:solidFill>
                  <a:schemeClr val="dk1"/>
                </a:solidFill>
                <a:highlight>
                  <a:srgbClr val="FDFDFD"/>
                </a:highlight>
              </a:rPr>
              <a:t>predicates:</a:t>
            </a:r>
            <a:endParaRPr sz="130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e.g. NoDiskConflict，MaxCSIVolumeCount</a:t>
            </a:r>
            <a:endParaRPr sz="1300" b="1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2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</a:t>
            </a: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</a:rPr>
              <a:t>Compute </a:t>
            </a:r>
            <a:r>
              <a:rPr lang="en" sz="1300">
                <a:solidFill>
                  <a:schemeClr val="dk1"/>
                </a:solidFill>
                <a:highlight>
                  <a:srgbClr val="FDFDFD"/>
                </a:highlight>
              </a:rPr>
              <a:t>predicates:</a:t>
            </a:r>
            <a:endParaRPr sz="130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e.g. PodToleratesNodeTaint</a:t>
            </a:r>
            <a:endParaRPr sz="1300" b="1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2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</a:t>
            </a: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</a:rPr>
              <a:t>Runtime </a:t>
            </a:r>
            <a:r>
              <a:rPr lang="en" sz="1300">
                <a:solidFill>
                  <a:schemeClr val="dk1"/>
                </a:solidFill>
                <a:highlight>
                  <a:srgbClr val="FDFDFD"/>
                </a:highlight>
              </a:rPr>
              <a:t>predicates:</a:t>
            </a:r>
            <a:endParaRPr sz="130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300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e.g. CheckNodeCondition, CheckNodeMemoryPressure</a:t>
            </a:r>
            <a:endParaRPr b="1">
              <a:solidFill>
                <a:schemeClr val="dk1"/>
              </a:solidFill>
              <a:highlight>
                <a:srgbClr val="FDFDFD"/>
              </a:highlight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107" name="Google Shape;107;p18"/>
          <p:cNvGrpSpPr/>
          <p:nvPr/>
        </p:nvGrpSpPr>
        <p:grpSpPr>
          <a:xfrm>
            <a:off x="6281300" y="1206224"/>
            <a:ext cx="2437800" cy="3039126"/>
            <a:chOff x="6281300" y="1206224"/>
            <a:chExt cx="2437800" cy="3039126"/>
          </a:xfrm>
        </p:grpSpPr>
        <p:pic>
          <p:nvPicPr>
            <p:cNvPr id="108" name="Google Shape;10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27950" y="1206224"/>
              <a:ext cx="1944500" cy="1944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8"/>
            <p:cNvSpPr txBox="1"/>
            <p:nvPr/>
          </p:nvSpPr>
          <p:spPr>
            <a:xfrm>
              <a:off x="6281300" y="3229550"/>
              <a:ext cx="24378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9900FF"/>
                  </a:solidFill>
                </a:rPr>
                <a:t>func </a:t>
              </a:r>
              <a:r>
                <a:rPr lang="en" b="1"/>
                <a:t>findNodesThatFitPod</a:t>
              </a:r>
              <a:endParaRPr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u="sng">
                  <a:solidFill>
                    <a:srgbClr val="0000FF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https://github.com/kubernetes/kubernetes/blob/e4c8802407fbaffad126685280e72145d89b125e/pkg/scheduler/schedule_one.go#L388</a:t>
              </a:r>
              <a:r>
                <a:rPr lang="en" sz="1000">
                  <a:solidFill>
                    <a:srgbClr val="0000FF"/>
                  </a:solidFill>
                </a:rPr>
                <a:t> </a:t>
              </a:r>
              <a:endParaRPr sz="1000">
                <a:solidFill>
                  <a:srgbClr val="0000FF"/>
                </a:solidFill>
              </a:endParaRPr>
            </a:p>
          </p:txBody>
        </p:sp>
      </p:grpSp>
      <p:pic>
        <p:nvPicPr>
          <p:cNvPr id="110" name="Google Shape;1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88"/>
              <a:t>Scoring Algorithm =&gt; </a:t>
            </a:r>
            <a:r>
              <a:rPr lang="en" sz="2688" b="1">
                <a:solidFill>
                  <a:srgbClr val="FF9900"/>
                </a:solidFill>
              </a:rPr>
              <a:t>Ranking</a:t>
            </a:r>
            <a:endParaRPr sz="3688" b="1">
              <a:solidFill>
                <a:srgbClr val="FF9900"/>
              </a:solidFill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9487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DFDFD"/>
                </a:highlight>
              </a:rPr>
              <a:t>Priority function(s) return(s) a weight from 0-10.</a:t>
            </a:r>
            <a:endParaRPr sz="160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DFDFD"/>
                </a:highlight>
              </a:rPr>
              <a:t>Sum of all priority function result is the final score.</a:t>
            </a:r>
            <a:endParaRPr sz="160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highlight>
                  <a:srgbClr val="FDFDFD"/>
                </a:highlight>
              </a:rPr>
              <a:t>Nodes ranked (sorted) and high(er|est) become the target.</a:t>
            </a:r>
            <a:endParaRPr sz="1200">
              <a:solidFill>
                <a:schemeClr val="dk1"/>
              </a:solidFill>
              <a:highlight>
                <a:srgbClr val="FDFDFD"/>
              </a:highlight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118" name="Google Shape;118;p19"/>
          <p:cNvGrpSpPr/>
          <p:nvPr/>
        </p:nvGrpSpPr>
        <p:grpSpPr>
          <a:xfrm>
            <a:off x="6260525" y="1260075"/>
            <a:ext cx="2571775" cy="2775350"/>
            <a:chOff x="6260525" y="1260075"/>
            <a:chExt cx="2571775" cy="2775350"/>
          </a:xfrm>
        </p:grpSpPr>
        <p:sp>
          <p:nvSpPr>
            <p:cNvPr id="119" name="Google Shape;119;p19"/>
            <p:cNvSpPr txBox="1"/>
            <p:nvPr/>
          </p:nvSpPr>
          <p:spPr>
            <a:xfrm>
              <a:off x="6410687" y="3019625"/>
              <a:ext cx="23559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9900FF"/>
                  </a:solidFill>
                </a:rPr>
                <a:t>func </a:t>
              </a:r>
              <a:r>
                <a:rPr lang="en" b="1"/>
                <a:t>prioritizeNodes</a:t>
              </a:r>
              <a:endParaRPr b="1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u="sng">
                  <a:solidFill>
                    <a:srgbClr val="0000FF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https://github.com/kubernetes/kubernetes/blob/e4c8802407fbaffad126685280e72145d89b125e/pkg/scheduler/schedule_one.go#L635</a:t>
              </a:r>
              <a:r>
                <a:rPr lang="en" sz="1000">
                  <a:solidFill>
                    <a:srgbClr val="0000FF"/>
                  </a:solidFill>
                </a:rPr>
                <a:t>  </a:t>
              </a:r>
              <a:endParaRPr sz="1000">
                <a:solidFill>
                  <a:srgbClr val="0000FF"/>
                </a:solidFill>
              </a:endParaRPr>
            </a:p>
          </p:txBody>
        </p:sp>
        <p:pic>
          <p:nvPicPr>
            <p:cNvPr id="120" name="Google Shape;120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60525" y="1260075"/>
              <a:ext cx="2571775" cy="16553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1" name="Google Shape;12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311700" y="2031060"/>
            <a:ext cx="62406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 dirty="0">
                <a:solidFill>
                  <a:srgbClr val="0000FF"/>
                </a:solidFill>
                <a:highlight>
                  <a:srgbClr val="FDFDFD"/>
                </a:highlight>
              </a:rPr>
              <a:t>Priority functions</a:t>
            </a:r>
            <a:r>
              <a:rPr lang="en" sz="1600" dirty="0">
                <a:solidFill>
                  <a:schemeClr val="dk1"/>
                </a:solidFill>
                <a:highlight>
                  <a:srgbClr val="FDFDFD"/>
                </a:highlight>
              </a:rPr>
              <a:t> (a lot, some examples):</a:t>
            </a:r>
            <a:endParaRPr sz="1600" dirty="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SelectorSpreadPriority:</a:t>
            </a: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</a:rPr>
              <a:t> </a:t>
            </a:r>
            <a:r>
              <a:rPr lang="en" sz="1200" dirty="0">
                <a:solidFill>
                  <a:schemeClr val="dk1"/>
                </a:solidFill>
                <a:highlight>
                  <a:srgbClr val="FDFDFD"/>
                </a:highlight>
              </a:rPr>
              <a:t>node is in desired topology domain?</a:t>
            </a:r>
            <a:endParaRPr sz="1200" dirty="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CalculateNodeLabelPriority</a:t>
            </a: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</a:rPr>
              <a:t>: </a:t>
            </a:r>
            <a:r>
              <a:rPr lang="en" sz="1200" dirty="0">
                <a:solidFill>
                  <a:schemeClr val="dk1"/>
                </a:solidFill>
                <a:highlight>
                  <a:srgbClr val="FDFDFD"/>
                </a:highlight>
              </a:rPr>
              <a:t>nodes matches specified label(s)?</a:t>
            </a:r>
            <a:endParaRPr sz="1200" dirty="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✅ *AffinityPriority</a:t>
            </a: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</a:rPr>
              <a:t>: </a:t>
            </a:r>
            <a:r>
              <a:rPr lang="en" sz="1200" dirty="0">
                <a:solidFill>
                  <a:schemeClr val="dk1"/>
                </a:solidFill>
                <a:highlight>
                  <a:srgbClr val="FDFDFD"/>
                </a:highlight>
              </a:rPr>
              <a:t>node is attracting or repelling?</a:t>
            </a:r>
            <a:endParaRPr sz="1200" dirty="0">
              <a:solidFill>
                <a:schemeClr val="dk1"/>
              </a:solidFill>
              <a:highlight>
                <a:srgbClr val="FDFDFD"/>
              </a:highlight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❗LeastRequestedPriority</a:t>
            </a: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</a:rPr>
              <a:t>: </a:t>
            </a:r>
            <a:r>
              <a:rPr lang="en" sz="1200" dirty="0">
                <a:solidFill>
                  <a:schemeClr val="dk1"/>
                </a:solidFill>
                <a:highlight>
                  <a:srgbClr val="FFF2CC"/>
                </a:highlight>
              </a:rPr>
              <a:t>node is “least-loaded”?</a:t>
            </a:r>
            <a:endParaRPr sz="1200" dirty="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❗BalancedResourceAllocation</a:t>
            </a:r>
            <a:r>
              <a:rPr lang="en" sz="1000" b="1" dirty="0">
                <a:solidFill>
                  <a:schemeClr val="dk1"/>
                </a:solidFill>
                <a:highlight>
                  <a:srgbClr val="FDFDFD"/>
                </a:highlight>
              </a:rPr>
              <a:t>: </a:t>
            </a:r>
            <a:r>
              <a:rPr lang="en" sz="1200" dirty="0">
                <a:solidFill>
                  <a:schemeClr val="dk1"/>
                </a:solidFill>
                <a:highlight>
                  <a:srgbClr val="FFF2CC"/>
                </a:highlight>
              </a:rPr>
              <a:t>CPU/Memory afterwards? (A bet)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Expectations vs. Reality</a:t>
            </a:r>
            <a:endParaRPr i="1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16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700" b="1"/>
              <a:t>Expectation of Rebalance on</a:t>
            </a:r>
            <a:r>
              <a:rPr lang="en" sz="1500"/>
              <a:t>:</a:t>
            </a:r>
            <a:endParaRPr sz="15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Natural resource usage/demand.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Deployments, Restarts, Terminations.</a:t>
            </a:r>
            <a:endParaRPr sz="1300"/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Vertical/horizontal scaling operations.</a:t>
            </a:r>
            <a:endParaRPr sz="1300"/>
          </a:p>
        </p:txBody>
      </p:sp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2825" y="1141675"/>
            <a:ext cx="3235025" cy="323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311704" y="2098825"/>
            <a:ext cx="6182400" cy="14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 b="1" dirty="0">
                <a:solidFill>
                  <a:schemeClr val="dk2"/>
                </a:solidFill>
              </a:rPr>
              <a:t>Reality at Compute Level:</a:t>
            </a:r>
            <a:endParaRPr sz="1600" b="1" dirty="0">
              <a:solidFill>
                <a:schemeClr val="dk2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 b="1" dirty="0">
                <a:solidFill>
                  <a:schemeClr val="dk2"/>
                </a:solidFill>
              </a:rPr>
              <a:t>UNEVEN DISTRIBUTION:</a:t>
            </a:r>
            <a:r>
              <a:rPr lang="en" sz="1200" dirty="0">
                <a:solidFill>
                  <a:schemeClr val="dk2"/>
                </a:solidFill>
              </a:rPr>
              <a:t> </a:t>
            </a:r>
            <a:endParaRPr sz="1200" dirty="0">
              <a:solidFill>
                <a:schemeClr val="dk2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</a:pP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en" sz="11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1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" sz="11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Cluster</a:t>
            </a:r>
            <a:r>
              <a:rPr lang="en" sz="11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NodeGroup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b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podCount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() != </a:t>
            </a:r>
            <a:b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NodeGroup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podCount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b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/ </a:t>
            </a:r>
            <a:r>
              <a:rPr lang="en" sz="1100" b="1" dirty="0">
                <a:solidFill>
                  <a:srgbClr val="9900FF"/>
                </a:solidFill>
                <a:latin typeface="Courier New"/>
                <a:ea typeface="Courier New"/>
                <a:cs typeface="Courier New"/>
                <a:sym typeface="Courier New"/>
              </a:rPr>
              <a:t>Cluster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100" b="1" dirty="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nodeCount</a:t>
            </a:r>
            <a:r>
              <a:rPr lang="en" sz="1100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/>
          </a:p>
        </p:txBody>
      </p:sp>
      <p:sp>
        <p:nvSpPr>
          <p:cNvPr id="133" name="Google Shape;133;p20"/>
          <p:cNvSpPr txBox="1"/>
          <p:nvPr/>
        </p:nvSpPr>
        <p:spPr>
          <a:xfrm>
            <a:off x="311700" y="4048014"/>
            <a:ext cx="48054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 b="1">
                <a:solidFill>
                  <a:schemeClr val="dk2"/>
                </a:solidFill>
              </a:rPr>
              <a:t>Reality at Storage / Network Level:</a:t>
            </a:r>
            <a:endParaRPr sz="1600">
              <a:solidFill>
                <a:schemeClr val="dk2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>
                <a:solidFill>
                  <a:schemeClr val="dk2"/>
                </a:solidFill>
              </a:rPr>
              <a:t>TL;TR here, qualify for several long ☕🍩 breaks.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304800" y="3355740"/>
            <a:ext cx="5117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 b="1">
                <a:solidFill>
                  <a:schemeClr val="dk2"/>
                </a:solidFill>
              </a:rPr>
              <a:t>AGGLOMERATION:</a:t>
            </a:r>
            <a:endParaRPr sz="1200">
              <a:solidFill>
                <a:schemeClr val="dk2"/>
              </a:solidFill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n" sz="1200" b="1">
                <a:solidFill>
                  <a:schemeClr val="dk2"/>
                </a:solidFill>
              </a:rPr>
              <a:t>HIGH</a:t>
            </a:r>
            <a:r>
              <a:rPr lang="en" sz="1200">
                <a:solidFill>
                  <a:schemeClr val="dk2"/>
                </a:solidFill>
              </a:rPr>
              <a:t>: “</a:t>
            </a:r>
            <a:r>
              <a:rPr lang="en" sz="1200" b="1">
                <a:solidFill>
                  <a:schemeClr val="dk2"/>
                </a:solidFill>
              </a:rPr>
              <a:t>Too many </a:t>
            </a:r>
            <a:r>
              <a:rPr lang="en" sz="1200">
                <a:solidFill>
                  <a:schemeClr val="dk2"/>
                </a:solidFill>
              </a:rPr>
              <a:t>pods” =&gt; </a:t>
            </a:r>
            <a:r>
              <a:rPr lang="en" sz="1200" b="1">
                <a:solidFill>
                  <a:srgbClr val="FF0000"/>
                </a:solidFill>
              </a:rPr>
              <a:t>“Overloaded”.</a:t>
            </a:r>
            <a:endParaRPr sz="1200" b="1">
              <a:solidFill>
                <a:srgbClr val="FF0000"/>
              </a:solidFill>
            </a:endParaRPr>
          </a:p>
          <a:p>
            <a: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</a:pPr>
            <a:r>
              <a:rPr lang="en" sz="1200" b="1">
                <a:solidFill>
                  <a:schemeClr val="dk2"/>
                </a:solidFill>
              </a:rPr>
              <a:t>LOW: “Too few </a:t>
            </a:r>
            <a:r>
              <a:rPr lang="en" sz="1200">
                <a:solidFill>
                  <a:schemeClr val="dk2"/>
                </a:solidFill>
              </a:rPr>
              <a:t>pods=&gt; </a:t>
            </a:r>
            <a:r>
              <a:rPr lang="en" sz="1200" b="1">
                <a:solidFill>
                  <a:srgbClr val="FF9900"/>
                </a:solidFill>
              </a:rPr>
              <a:t>“Underutilized”.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Problem - </a:t>
            </a:r>
            <a:r>
              <a:rPr lang="en" i="1"/>
              <a:t>Fact 1 of 2</a:t>
            </a:r>
            <a:endParaRPr i="1"/>
          </a:p>
        </p:txBody>
      </p:sp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905225" y="3554425"/>
            <a:ext cx="1642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Static</a:t>
            </a:r>
            <a:br>
              <a:rPr lang="en" sz="1700"/>
            </a:br>
            <a:r>
              <a:rPr lang="en" sz="1700"/>
              <a:t>Score</a:t>
            </a:r>
            <a:endParaRPr sz="1900"/>
          </a:p>
        </p:txBody>
      </p:sp>
      <p:grpSp>
        <p:nvGrpSpPr>
          <p:cNvPr id="142" name="Google Shape;142;p21"/>
          <p:cNvGrpSpPr/>
          <p:nvPr/>
        </p:nvGrpSpPr>
        <p:grpSpPr>
          <a:xfrm>
            <a:off x="2835925" y="1648050"/>
            <a:ext cx="2835850" cy="2176700"/>
            <a:chOff x="2835925" y="1648050"/>
            <a:chExt cx="2835850" cy="2176700"/>
          </a:xfrm>
        </p:grpSpPr>
        <p:sp>
          <p:nvSpPr>
            <p:cNvPr id="143" name="Google Shape;143;p21"/>
            <p:cNvSpPr txBox="1"/>
            <p:nvPr/>
          </p:nvSpPr>
          <p:spPr>
            <a:xfrm>
              <a:off x="3426875" y="1648050"/>
              <a:ext cx="2244900" cy="1369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 i="1">
                  <a:solidFill>
                    <a:schemeClr val="dk1"/>
                  </a:solidFill>
                </a:rPr>
                <a:t>Job Scheduling Uncertainty:</a:t>
              </a:r>
              <a:endParaRPr sz="1100" b="1" i="1">
                <a:solidFill>
                  <a:schemeClr val="dk1"/>
                </a:solidFill>
              </a:endParaRPr>
            </a:p>
            <a:p>
              <a:pPr marL="228600" lvl="0" indent="-18415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 b="1" i="1">
                  <a:solidFill>
                    <a:schemeClr val="dk1"/>
                  </a:solidFill>
                </a:rPr>
                <a:t>Input </a:t>
              </a:r>
              <a:r>
                <a:rPr lang="en" sz="1100" i="1">
                  <a:solidFill>
                    <a:schemeClr val="dk1"/>
                  </a:solidFill>
                </a:rPr>
                <a:t>assumed for score calculation is changing before calculation is done. </a:t>
              </a:r>
              <a:endParaRPr sz="1100" i="1">
                <a:solidFill>
                  <a:schemeClr val="dk1"/>
                </a:solidFill>
              </a:endParaRPr>
            </a:p>
            <a:p>
              <a:pPr marL="228600" lvl="0" indent="-18415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sz="1100" b="1" i="1">
                  <a:solidFill>
                    <a:schemeClr val="dk1"/>
                  </a:solidFill>
                </a:rPr>
                <a:t>Output</a:t>
              </a:r>
              <a:r>
                <a:rPr lang="en" sz="1100" i="1">
                  <a:solidFill>
                    <a:schemeClr val="dk1"/>
                  </a:solidFill>
                </a:rPr>
                <a:t> should be sort of probability of an unchanged context but in reality it is not.</a:t>
              </a:r>
              <a:endParaRPr sz="1100" i="1">
                <a:solidFill>
                  <a:schemeClr val="dk1"/>
                </a:solidFill>
              </a:endParaRPr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3727925" y="3116750"/>
              <a:ext cx="16428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Dynamic</a:t>
              </a:r>
              <a:br>
                <a:rPr lang="en" sz="1700"/>
              </a:br>
              <a:r>
                <a:rPr lang="en" sz="1700"/>
                <a:t>Score</a:t>
              </a:r>
              <a:endParaRPr sz="1900"/>
            </a:p>
          </p:txBody>
        </p:sp>
        <p:sp>
          <p:nvSpPr>
            <p:cNvPr id="145" name="Google Shape;145;p21"/>
            <p:cNvSpPr txBox="1"/>
            <p:nvPr/>
          </p:nvSpPr>
          <p:spPr>
            <a:xfrm>
              <a:off x="2835925" y="2273700"/>
              <a:ext cx="4497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b="1">
                  <a:solidFill>
                    <a:srgbClr val="FF0000"/>
                  </a:solidFill>
                </a:rPr>
                <a:t>!=</a:t>
              </a:r>
              <a:endParaRPr sz="17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146" name="Google Shape;146;p21"/>
          <p:cNvGrpSpPr/>
          <p:nvPr/>
        </p:nvGrpSpPr>
        <p:grpSpPr>
          <a:xfrm>
            <a:off x="5805125" y="1238522"/>
            <a:ext cx="2257550" cy="2972603"/>
            <a:chOff x="5805125" y="1238522"/>
            <a:chExt cx="2257550" cy="2972603"/>
          </a:xfrm>
        </p:grpSpPr>
        <p:sp>
          <p:nvSpPr>
            <p:cNvPr id="147" name="Google Shape;147;p21"/>
            <p:cNvSpPr txBox="1"/>
            <p:nvPr/>
          </p:nvSpPr>
          <p:spPr>
            <a:xfrm>
              <a:off x="6419875" y="3503125"/>
              <a:ext cx="16428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/>
                <a:t>Chaos &amp; Entropy</a:t>
              </a:r>
              <a:endParaRPr sz="1900"/>
            </a:p>
          </p:txBody>
        </p:sp>
        <p:grpSp>
          <p:nvGrpSpPr>
            <p:cNvPr id="148" name="Google Shape;148;p21"/>
            <p:cNvGrpSpPr/>
            <p:nvPr/>
          </p:nvGrpSpPr>
          <p:grpSpPr>
            <a:xfrm>
              <a:off x="5805125" y="1238522"/>
              <a:ext cx="2190269" cy="2264600"/>
              <a:chOff x="5805125" y="1238522"/>
              <a:chExt cx="2190269" cy="2264600"/>
            </a:xfrm>
          </p:grpSpPr>
          <p:pic>
            <p:nvPicPr>
              <p:cNvPr id="149" name="Google Shape;149;p2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487186" y="1238522"/>
                <a:ext cx="1508208" cy="2264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1"/>
              <p:cNvSpPr txBox="1"/>
              <p:nvPr/>
            </p:nvSpPr>
            <p:spPr>
              <a:xfrm>
                <a:off x="5805125" y="2258400"/>
                <a:ext cx="548700" cy="4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900" b="1">
                    <a:solidFill>
                      <a:srgbClr val="6AA84F"/>
                    </a:solidFill>
                  </a:rPr>
                  <a:t>~=</a:t>
                </a:r>
                <a:endParaRPr sz="1900" b="1">
                  <a:solidFill>
                    <a:srgbClr val="6AA84F"/>
                  </a:solidFill>
                </a:endParaRPr>
              </a:p>
            </p:txBody>
          </p:sp>
        </p:grpSp>
      </p:grpSp>
      <p:pic>
        <p:nvPicPr>
          <p:cNvPr id="151" name="Google Shape;1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8725" y="1238524"/>
            <a:ext cx="1695800" cy="207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563" y="2476538"/>
            <a:ext cx="1936101" cy="116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Problem - </a:t>
            </a:r>
            <a:r>
              <a:rPr lang="en" i="1"/>
              <a:t>Fact 2 of 2</a:t>
            </a:r>
            <a:endParaRPr i="1"/>
          </a:p>
        </p:txBody>
      </p:sp>
      <p:sp>
        <p:nvSpPr>
          <p:cNvPr id="159" name="Google Shape;159;p22"/>
          <p:cNvSpPr txBox="1">
            <a:spLocks noGrp="1"/>
          </p:cNvSpPr>
          <p:nvPr>
            <p:ph type="body" idx="1"/>
          </p:nvPr>
        </p:nvSpPr>
        <p:spPr>
          <a:xfrm>
            <a:off x="4063850" y="1186700"/>
            <a:ext cx="4260300" cy="65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Optimal Job Scheduling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is an</a:t>
            </a: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" sz="1200" i="1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Non-deterministic Polynomial Complete </a:t>
            </a:r>
            <a:r>
              <a:rPr lang="en" sz="1200" b="1" i="1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(NPC) </a:t>
            </a:r>
            <a:r>
              <a:rPr lang="en" sz="1200" b="1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problem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, which means:</a:t>
            </a:r>
            <a:endParaRPr sz="1200" b="1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2021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700" y="1186700"/>
            <a:ext cx="3105817" cy="34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22"/>
          <p:cNvGrpSpPr/>
          <p:nvPr/>
        </p:nvGrpSpPr>
        <p:grpSpPr>
          <a:xfrm>
            <a:off x="878175" y="2643975"/>
            <a:ext cx="3000000" cy="2328425"/>
            <a:chOff x="878175" y="2643975"/>
            <a:chExt cx="3000000" cy="2328425"/>
          </a:xfrm>
        </p:grpSpPr>
        <p:pic>
          <p:nvPicPr>
            <p:cNvPr id="164" name="Google Shape;164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492971" y="2643975"/>
              <a:ext cx="727200" cy="727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22"/>
            <p:cNvSpPr txBox="1"/>
            <p:nvPr/>
          </p:nvSpPr>
          <p:spPr>
            <a:xfrm>
              <a:off x="878175" y="4603100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200" b="1">
                  <a:solidFill>
                    <a:srgbClr val="202124"/>
                  </a:solidFill>
                  <a:highlight>
                    <a:schemeClr val="lt1"/>
                  </a:highlight>
                </a:rPr>
                <a:t>Note: </a:t>
              </a:r>
              <a:r>
                <a:rPr lang="en" sz="1200">
                  <a:solidFill>
                    <a:srgbClr val="202124"/>
                  </a:solidFill>
                  <a:highlight>
                    <a:schemeClr val="lt1"/>
                  </a:highlight>
                </a:rPr>
                <a:t>A chess game ⇔ P problem.</a:t>
              </a:r>
              <a:endParaRPr sz="1200">
                <a:solidFill>
                  <a:srgbClr val="202124"/>
                </a:solidFill>
                <a:highlight>
                  <a:schemeClr val="lt1"/>
                </a:highlight>
              </a:endParaRPr>
            </a:p>
          </p:txBody>
        </p:sp>
      </p:grpSp>
      <p:sp>
        <p:nvSpPr>
          <p:cNvPr id="166" name="Google Shape;166;p22"/>
          <p:cNvSpPr txBox="1"/>
          <p:nvPr/>
        </p:nvSpPr>
        <p:spPr>
          <a:xfrm>
            <a:off x="4063850" y="1800250"/>
            <a:ext cx="421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✅ The solution can be guessed and verified in </a:t>
            </a:r>
            <a:r>
              <a:rPr lang="en" sz="1200" b="1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P time. 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4051225" y="2169550"/>
            <a:ext cx="380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DFDFD"/>
                </a:highlight>
                <a:latin typeface="Courier New"/>
                <a:ea typeface="Courier New"/>
                <a:cs typeface="Courier New"/>
                <a:sym typeface="Courier New"/>
              </a:rPr>
              <a:t>❗</a:t>
            </a:r>
            <a:r>
              <a:rPr lang="en" sz="1200" b="1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There is no particular rule to make the guess.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4051225" y="2567775"/>
            <a:ext cx="4048200" cy="1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202124"/>
                </a:solidFill>
                <a:highlight>
                  <a:schemeClr val="lt1"/>
                </a:highlight>
              </a:rPr>
              <a:t>😲</a:t>
            </a:r>
            <a:r>
              <a:rPr lang="en" sz="1200" dirty="0">
                <a:solidFill>
                  <a:srgbClr val="202124"/>
                </a:solidFill>
                <a:highlight>
                  <a:schemeClr val="lt1"/>
                </a:highlight>
              </a:rPr>
              <a:t> </a:t>
            </a:r>
            <a:r>
              <a:rPr lang="en" sz="1200" dirty="0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It’</a:t>
            </a:r>
            <a:r>
              <a:rPr lang="en" sz="1200" dirty="0">
                <a:solidFill>
                  <a:srgbClr val="1A1A1A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s not known whether any polynomial-time algorithms will ever be found for NPC problems, </a:t>
            </a:r>
            <a:r>
              <a:rPr lang="en" sz="1200" b="1" dirty="0">
                <a:solidFill>
                  <a:srgbClr val="1A1A1A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it </a:t>
            </a:r>
            <a:r>
              <a:rPr lang="en" sz="1200" b="1" i="1" dirty="0">
                <a:solidFill>
                  <a:schemeClr val="dk1"/>
                </a:solidFill>
                <a:highlight>
                  <a:schemeClr val="lt1"/>
                </a:highlight>
                <a:latin typeface="Trebuchet MS"/>
                <a:ea typeface="Trebuchet MS"/>
                <a:cs typeface="Trebuchet MS"/>
                <a:sym typeface="Trebuchet MS"/>
              </a:rPr>
              <a:t>remains one of the most important questions in computer science.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69" name="Google Shape;169;p22"/>
          <p:cNvGrpSpPr/>
          <p:nvPr/>
        </p:nvGrpSpPr>
        <p:grpSpPr>
          <a:xfrm>
            <a:off x="4063850" y="3523600"/>
            <a:ext cx="4260302" cy="1353925"/>
            <a:chOff x="4063850" y="3523600"/>
            <a:chExt cx="4260302" cy="1353925"/>
          </a:xfrm>
        </p:grpSpPr>
        <p:sp>
          <p:nvSpPr>
            <p:cNvPr id="170" name="Google Shape;170;p22"/>
            <p:cNvSpPr txBox="1"/>
            <p:nvPr/>
          </p:nvSpPr>
          <p:spPr>
            <a:xfrm>
              <a:off x="4063850" y="3523600"/>
              <a:ext cx="2083200" cy="121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200">
                  <a:solidFill>
                    <a:srgbClr val="202124"/>
                  </a:solidFill>
                  <a:highlight>
                    <a:schemeClr val="lt1"/>
                  </a:highlight>
                </a:rPr>
                <a:t>It means no efficient P-time algorithm has been found for Job Scheduling, </a:t>
              </a:r>
              <a:r>
                <a:rPr lang="en" sz="1200" b="1">
                  <a:solidFill>
                    <a:schemeClr val="dk1"/>
                  </a:solidFill>
                  <a:highlight>
                    <a:srgbClr val="EFEFEF"/>
                  </a:highlight>
                </a:rPr>
                <a:t>you have to use best-guess  solutions.</a:t>
              </a:r>
              <a:endParaRPr/>
            </a:p>
          </p:txBody>
        </p:sp>
        <p:grpSp>
          <p:nvGrpSpPr>
            <p:cNvPr id="171" name="Google Shape;171;p22"/>
            <p:cNvGrpSpPr/>
            <p:nvPr/>
          </p:nvGrpSpPr>
          <p:grpSpPr>
            <a:xfrm>
              <a:off x="6295975" y="3612443"/>
              <a:ext cx="2028178" cy="1265082"/>
              <a:chOff x="6295975" y="3612443"/>
              <a:chExt cx="2028178" cy="1265082"/>
            </a:xfrm>
          </p:grpSpPr>
          <p:pic>
            <p:nvPicPr>
              <p:cNvPr id="172" name="Google Shape;172;p22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295975" y="3612443"/>
                <a:ext cx="1803452" cy="11559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" name="Google Shape;173;p22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513353" y="4150325"/>
                <a:ext cx="810800" cy="727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Uneven Distribution</a:t>
            </a:r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76400" cy="23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 b="1" dirty="0"/>
              <a:t>“Solution”:</a:t>
            </a:r>
            <a:r>
              <a:rPr lang="en" sz="1600" dirty="0"/>
              <a:t> </a:t>
            </a:r>
            <a:r>
              <a:rPr lang="en" sz="1500" u="sng" dirty="0">
                <a:solidFill>
                  <a:srgbClr val="0000F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Pod Topology Spread Constraints</a:t>
            </a:r>
            <a:endParaRPr sz="1500" u="sng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>
                <a:latin typeface="Courier New"/>
                <a:ea typeface="Courier New"/>
                <a:cs typeface="Courier New"/>
                <a:sym typeface="Courier New"/>
              </a:rPr>
              <a:t>maxSkew: 1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Distribute pods in an absolute even manner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>
                <a:latin typeface="Courier New"/>
                <a:ea typeface="Courier New"/>
                <a:cs typeface="Courier New"/>
                <a:sym typeface="Courier New"/>
              </a:rPr>
              <a:t>topologyKey: kubernetes.io/hostname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Use the hostname as topology domain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>
                <a:latin typeface="Courier New"/>
                <a:ea typeface="Courier New"/>
                <a:cs typeface="Courier New"/>
                <a:sym typeface="Courier New"/>
              </a:rPr>
              <a:t>whenUnsatisfiable: </a:t>
            </a:r>
            <a:r>
              <a:rPr lang="en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ScheduleAnyway</a:t>
            </a:r>
            <a:endParaRPr dirty="0">
              <a:solidFill>
                <a:srgbClr val="FF0000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Always schedule pods even if it can’t satisfy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>
                <a:latin typeface="Courier New"/>
                <a:ea typeface="Courier New"/>
                <a:cs typeface="Courier New"/>
                <a:sym typeface="Courier New"/>
              </a:rPr>
              <a:t>labelSelector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Only act on Pods that match this selector</a:t>
            </a:r>
            <a:endParaRPr dirty="0"/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2663" y="2571750"/>
            <a:ext cx="328612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2675" y="572725"/>
            <a:ext cx="251460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5835725" y="436647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whenUnsatisfiable: ScheduleAnyway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6887225" y="3636575"/>
            <a:ext cx="707700" cy="648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3"/>
          <p:cNvSpPr/>
          <p:nvPr/>
        </p:nvSpPr>
        <p:spPr>
          <a:xfrm rot="10800000" flipH="1">
            <a:off x="8249700" y="1839250"/>
            <a:ext cx="507000" cy="648000"/>
          </a:xfrm>
          <a:prstGeom prst="bentUpArrow">
            <a:avLst>
              <a:gd name="adj1" fmla="val 35414"/>
              <a:gd name="adj2" fmla="val 25000"/>
              <a:gd name="adj3" fmla="val 29901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6000075" y="172525"/>
            <a:ext cx="283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Example: “</a:t>
            </a:r>
            <a:r>
              <a:rPr lang="en"/>
              <a:t>Heavy Cron Jobs”</a:t>
            </a:r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5697" y="480284"/>
            <a:ext cx="613950" cy="5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6125" y="45702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340296" y="3249252"/>
            <a:ext cx="48300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 b="1">
                <a:solidFill>
                  <a:schemeClr val="dk2"/>
                </a:solidFill>
              </a:rPr>
              <a:t>Drawbacks:</a:t>
            </a:r>
            <a:endParaRPr sz="1600" b="1"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  <a:highlight>
                  <a:srgbClr val="FFF2CC"/>
                </a:highlight>
              </a:rPr>
              <a:t>Static scheduling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</a:pPr>
            <a:r>
              <a:rPr lang="en">
                <a:solidFill>
                  <a:schemeClr val="dk2"/>
                </a:solidFill>
              </a:rPr>
              <a:t>Triggered by deployment or failure</a:t>
            </a:r>
            <a:endParaRPr>
              <a:solidFill>
                <a:schemeClr val="dk2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  <a:highlight>
                  <a:srgbClr val="FFF2CC"/>
                </a:highlight>
              </a:rPr>
              <a:t>Conflicts with other strategies</a:t>
            </a:r>
            <a:r>
              <a:rPr lang="en">
                <a:solidFill>
                  <a:schemeClr val="dk2"/>
                </a:solidFill>
              </a:rPr>
              <a:t> (to come next).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Agglomeration</a:t>
            </a:r>
            <a:endParaRPr/>
          </a:p>
        </p:txBody>
      </p:sp>
      <p:sp>
        <p:nvSpPr>
          <p:cNvPr id="196" name="Google Shape;196;p24"/>
          <p:cNvSpPr txBox="1">
            <a:spLocks noGrp="1"/>
          </p:cNvSpPr>
          <p:nvPr>
            <p:ph type="body" idx="1"/>
          </p:nvPr>
        </p:nvSpPr>
        <p:spPr>
          <a:xfrm>
            <a:off x="311700" y="1099675"/>
            <a:ext cx="49914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4365" algn="l" rtl="0">
              <a:spcBef>
                <a:spcPts val="0"/>
              </a:spcBef>
              <a:spcAft>
                <a:spcPts val="0"/>
              </a:spcAft>
              <a:buSzPts val="1508"/>
              <a:buChar char="●"/>
            </a:pPr>
            <a:r>
              <a:rPr lang="en" sz="1600" b="1"/>
              <a:t>“Solution”: </a:t>
            </a:r>
            <a:r>
              <a:rPr lang="en" sz="1500" u="sng">
                <a:solidFill>
                  <a:srgbClr val="0000F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Inter-Pod affinity and anti-affinity</a:t>
            </a:r>
            <a:endParaRPr sz="1500" u="sng">
              <a:solidFill>
                <a:srgbClr val="0000F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500"/>
              <a:buChar char="○"/>
            </a:pPr>
            <a:r>
              <a:rPr lang="en" sz="1150" b="1">
                <a:solidFill>
                  <a:srgbClr val="6AA84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podAffinity: </a:t>
            </a:r>
            <a:r>
              <a:rPr lang="en" sz="1200" b="1">
                <a:solidFill>
                  <a:srgbClr val="6AA84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Attracts pods to a node.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sz="1050" b="1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podAntiAffinity: </a:t>
            </a:r>
            <a:r>
              <a:rPr lang="en" sz="1200" b="1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Repels pods from a node.</a:t>
            </a:r>
            <a:endParaRPr sz="1174"/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525" y="1158811"/>
            <a:ext cx="2527600" cy="1538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24"/>
          <p:cNvGrpSpPr/>
          <p:nvPr/>
        </p:nvGrpSpPr>
        <p:grpSpPr>
          <a:xfrm>
            <a:off x="5375071" y="2686025"/>
            <a:ext cx="3457225" cy="2308325"/>
            <a:chOff x="5375071" y="2686025"/>
            <a:chExt cx="3457225" cy="2308325"/>
          </a:xfrm>
        </p:grpSpPr>
        <p:pic>
          <p:nvPicPr>
            <p:cNvPr id="199" name="Google Shape;199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75071" y="3084701"/>
              <a:ext cx="3457225" cy="1294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4"/>
            <p:cNvSpPr/>
            <p:nvPr/>
          </p:nvSpPr>
          <p:spPr>
            <a:xfrm>
              <a:off x="6918875" y="2686025"/>
              <a:ext cx="369600" cy="465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dk1"/>
                </a:highlight>
              </a:endParaRPr>
            </a:p>
          </p:txBody>
        </p:sp>
        <p:sp>
          <p:nvSpPr>
            <p:cNvPr id="201" name="Google Shape;201;p24"/>
            <p:cNvSpPr txBox="1"/>
            <p:nvPr/>
          </p:nvSpPr>
          <p:spPr>
            <a:xfrm>
              <a:off x="5650750" y="4378750"/>
              <a:ext cx="1246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On-Demand</a:t>
              </a:r>
              <a:br>
                <a:rPr lang="en"/>
              </a:br>
              <a:r>
                <a:rPr lang="en"/>
                <a:t>(us-east-1)</a:t>
              </a:r>
              <a:endParaRPr/>
            </a:p>
          </p:txBody>
        </p:sp>
        <p:sp>
          <p:nvSpPr>
            <p:cNvPr id="202" name="Google Shape;202;p24"/>
            <p:cNvSpPr txBox="1"/>
            <p:nvPr/>
          </p:nvSpPr>
          <p:spPr>
            <a:xfrm>
              <a:off x="7345150" y="4378750"/>
              <a:ext cx="12462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Spot</a:t>
              </a:r>
              <a:br>
                <a:rPr lang="en"/>
              </a:br>
              <a:r>
                <a:rPr lang="en" sz="1300"/>
                <a:t>(eu-central-1)</a:t>
              </a:r>
              <a:endParaRPr sz="1300"/>
            </a:p>
          </p:txBody>
        </p:sp>
      </p:grpSp>
      <p:sp>
        <p:nvSpPr>
          <p:cNvPr id="203" name="Google Shape;20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5472" y="480284"/>
            <a:ext cx="613950" cy="5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5900" y="457025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 txBox="1"/>
          <p:nvPr/>
        </p:nvSpPr>
        <p:spPr>
          <a:xfrm>
            <a:off x="5687538" y="683675"/>
            <a:ext cx="283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Example: “</a:t>
            </a:r>
            <a:r>
              <a:rPr lang="en"/>
              <a:t>Geo Spot Instances”</a:t>
            </a:r>
            <a:endParaRPr/>
          </a:p>
        </p:txBody>
      </p:sp>
      <p:pic>
        <p:nvPicPr>
          <p:cNvPr id="207" name="Google Shape;207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304800" y="1951375"/>
            <a:ext cx="5128800" cy="21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487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●"/>
            </a:pPr>
            <a:r>
              <a:rPr lang="en" sz="1600" b="1" dirty="0">
                <a:solidFill>
                  <a:schemeClr val="dk2"/>
                </a:solidFill>
              </a:rPr>
              <a:t>Drawbacks:</a:t>
            </a:r>
            <a:endParaRPr sz="1174" dirty="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316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4"/>
              <a:buChar char="○"/>
            </a:pPr>
            <a:r>
              <a:rPr lang="en" sz="1174" dirty="0">
                <a:solidFill>
                  <a:srgbClr val="222222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Static scheduling</a:t>
            </a:r>
            <a:r>
              <a:rPr lang="en" sz="1174" dirty="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(same story).</a:t>
            </a:r>
            <a:endParaRPr sz="1174" dirty="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316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4"/>
              <a:buChar char="○"/>
            </a:pPr>
            <a:r>
              <a:rPr lang="en" sz="1174" dirty="0">
                <a:solidFill>
                  <a:srgbClr val="222222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Conflicts </a:t>
            </a:r>
            <a:r>
              <a:rPr lang="en" sz="1174" dirty="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with the previous </a:t>
            </a:r>
            <a:r>
              <a:rPr lang="en" sz="1174" b="1" dirty="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Topology Constraints:</a:t>
            </a:r>
            <a:endParaRPr sz="1174" b="1" dirty="0">
              <a:solidFill>
                <a:srgbClr val="222222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371600" lvl="2" indent="-30316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4"/>
              <a:buChar char="■"/>
            </a:pPr>
            <a:r>
              <a:rPr lang="en" sz="1174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requiredDuringSchedulingIgnoredDuringExecution</a:t>
            </a:r>
            <a:r>
              <a:rPr lang="en" sz="1174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=&gt;</a:t>
            </a:r>
            <a:r>
              <a:rPr lang="en" sz="1174" b="1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74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Only a single Pod per domain.</a:t>
            </a:r>
            <a:endParaRPr sz="1174" dirty="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371600" lvl="2" indent="-30316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4"/>
              <a:buChar char="■"/>
            </a:pPr>
            <a:r>
              <a:rPr lang="en" sz="1174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preferredDuringSchedulingIgnoredDuringExecution</a:t>
            </a:r>
            <a:r>
              <a:rPr lang="en" sz="1174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=&gt; Not enforced (e.g. Termination).</a:t>
            </a:r>
            <a:endParaRPr sz="1174" dirty="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 lvl="1" indent="-30316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4"/>
              <a:buChar char="○"/>
            </a:pPr>
            <a:r>
              <a:rPr lang="en" sz="1174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Not for real time rebalancing just for “(...)</a:t>
            </a:r>
            <a:r>
              <a:rPr lang="en" sz="1174" dirty="0">
                <a:solidFill>
                  <a:schemeClr val="dk1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different topology domains</a:t>
            </a:r>
            <a:r>
              <a:rPr lang="en" sz="1174" b="1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74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achieve either </a:t>
            </a:r>
            <a:r>
              <a:rPr lang="en" sz="1174" dirty="0">
                <a:solidFill>
                  <a:schemeClr val="dk1"/>
                </a:solidFill>
                <a:highlight>
                  <a:srgbClr val="FFF2CC"/>
                </a:highlight>
                <a:latin typeface="Roboto"/>
                <a:ea typeface="Roboto"/>
                <a:cs typeface="Roboto"/>
                <a:sym typeface="Roboto"/>
              </a:rPr>
              <a:t>high availability or cost-saving</a:t>
            </a:r>
            <a:r>
              <a:rPr lang="en" sz="1174" dirty="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”.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Proposals</a:t>
            </a:r>
            <a:endParaRPr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1"/>
          </p:nvPr>
        </p:nvSpPr>
        <p:spPr>
          <a:xfrm>
            <a:off x="248325" y="1099675"/>
            <a:ext cx="39354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/>
              <a:t>Descheduler:</a:t>
            </a:r>
            <a:br>
              <a:rPr lang="en" sz="1400" b="1"/>
            </a:br>
            <a:r>
              <a:rPr lang="en" sz="1400"/>
              <a:t>Promising multi-strategy (re-)scheduling:</a:t>
            </a:r>
            <a:br>
              <a:rPr lang="en" sz="1400"/>
            </a:br>
            <a:r>
              <a:rPr lang="en" sz="900" u="sng">
                <a:solidFill>
                  <a:srgbClr val="2200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https://github.com/kubernetes-sigs/descheduler</a:t>
            </a:r>
            <a:r>
              <a:rPr lang="en" sz="1200"/>
              <a:t> </a:t>
            </a:r>
            <a:endParaRPr sz="800" i="1"/>
          </a:p>
        </p:txBody>
      </p:sp>
      <p:sp>
        <p:nvSpPr>
          <p:cNvPr id="215" name="Google Shape;2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572" y="480284"/>
            <a:ext cx="613950" cy="5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1422" y="1771768"/>
            <a:ext cx="1375684" cy="149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75122" y="1771768"/>
            <a:ext cx="1547886" cy="149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01703" y="972096"/>
            <a:ext cx="2928823" cy="73381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6857419" y="854758"/>
            <a:ext cx="714376" cy="785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900">
                <a:solidFill>
                  <a:schemeClr val="dk2"/>
                </a:solidFill>
              </a:rPr>
              <a:t>🤡</a:t>
            </a:r>
            <a:endParaRPr sz="3900"/>
          </a:p>
        </p:txBody>
      </p:sp>
      <p:sp>
        <p:nvSpPr>
          <p:cNvPr id="222" name="Google Shape;222;p25"/>
          <p:cNvSpPr txBox="1"/>
          <p:nvPr/>
        </p:nvSpPr>
        <p:spPr>
          <a:xfrm>
            <a:off x="5663175" y="410375"/>
            <a:ext cx="29289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b="1" i="1" dirty="0">
                <a:solidFill>
                  <a:srgbClr val="FF0000"/>
                </a:solidFill>
              </a:rPr>
              <a:t>Descheduler and K8s Plugins are</a:t>
            </a:r>
            <a:br>
              <a:rPr lang="en" sz="1100" b="1" i="1" dirty="0">
                <a:solidFill>
                  <a:srgbClr val="FF0000"/>
                </a:solidFill>
              </a:rPr>
            </a:br>
            <a:r>
              <a:rPr lang="en" sz="1100" b="1" i="1" dirty="0">
                <a:solidFill>
                  <a:srgbClr val="FF0000"/>
                </a:solidFill>
              </a:rPr>
              <a:t>SIGs</a:t>
            </a:r>
            <a:r>
              <a:rPr lang="en" sz="1100" b="1" i="1" dirty="0">
                <a:solidFill>
                  <a:schemeClr val="dk2"/>
                </a:solidFill>
              </a:rPr>
              <a:t> (</a:t>
            </a:r>
            <a:r>
              <a:rPr lang="en" sz="1200" b="1" u="sng" dirty="0">
                <a:solidFill>
                  <a:srgbClr val="2200CC"/>
                </a:solidFill>
              </a:rPr>
              <a:t> </a:t>
            </a:r>
            <a:r>
              <a:rPr lang="en" sz="1200" b="1" u="sng" dirty="0">
                <a:solidFill>
                  <a:srgbClr val="2200CC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Special Interest Group</a:t>
            </a:r>
            <a:r>
              <a:rPr lang="en" sz="1100" b="1" i="1" dirty="0">
                <a:solidFill>
                  <a:schemeClr val="dk2"/>
                </a:solidFill>
              </a:rPr>
              <a:t>) </a:t>
            </a:r>
            <a:r>
              <a:rPr lang="en" sz="1100" b="1" i="1" dirty="0">
                <a:solidFill>
                  <a:srgbClr val="FF0000"/>
                </a:solidFill>
              </a:rPr>
              <a:t>projects.</a:t>
            </a:r>
            <a:endParaRPr sz="1100" b="1" i="1" dirty="0">
              <a:solidFill>
                <a:srgbClr val="FF0000"/>
              </a:solidFill>
            </a:endParaRPr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75113" y="3305613"/>
            <a:ext cx="2982000" cy="167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25"/>
          <p:cNvGrpSpPr/>
          <p:nvPr/>
        </p:nvGrpSpPr>
        <p:grpSpPr>
          <a:xfrm>
            <a:off x="4116875" y="1151600"/>
            <a:ext cx="1338865" cy="613950"/>
            <a:chOff x="4116875" y="1151600"/>
            <a:chExt cx="1338865" cy="613950"/>
          </a:xfrm>
        </p:grpSpPr>
        <p:pic>
          <p:nvPicPr>
            <p:cNvPr id="225" name="Google Shape;225;p25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665587" y="1257700"/>
              <a:ext cx="790153" cy="44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5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116875" y="1151600"/>
              <a:ext cx="613950" cy="613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25"/>
          <p:cNvGrpSpPr/>
          <p:nvPr/>
        </p:nvGrpSpPr>
        <p:grpSpPr>
          <a:xfrm>
            <a:off x="236725" y="1749950"/>
            <a:ext cx="5138644" cy="818700"/>
            <a:chOff x="236725" y="1749950"/>
            <a:chExt cx="5138644" cy="818700"/>
          </a:xfrm>
        </p:grpSpPr>
        <p:pic>
          <p:nvPicPr>
            <p:cNvPr id="228" name="Google Shape;228;p25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826669" y="1985871"/>
              <a:ext cx="548700" cy="5478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5"/>
            <p:cNvSpPr txBox="1"/>
            <p:nvPr/>
          </p:nvSpPr>
          <p:spPr>
            <a:xfrm>
              <a:off x="236725" y="1749950"/>
              <a:ext cx="4440000" cy="8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Char char="●"/>
              </a:pPr>
              <a:r>
                <a:rPr lang="en" b="1">
                  <a:solidFill>
                    <a:schemeClr val="dk2"/>
                  </a:solidFill>
                </a:rPr>
                <a:t>Winter Soldier by DevTron Labs:</a:t>
              </a:r>
              <a:br>
                <a:rPr lang="en" b="1">
                  <a:solidFill>
                    <a:schemeClr val="dk2"/>
                  </a:solidFill>
                </a:rPr>
              </a:br>
              <a:r>
                <a:rPr lang="en">
                  <a:solidFill>
                    <a:schemeClr val="dk2"/>
                  </a:solidFill>
                </a:rPr>
                <a:t>Downscale to 0 pods. Conflicts w/AutoScaler?</a:t>
              </a:r>
              <a:br>
                <a:rPr lang="en" b="1">
                  <a:solidFill>
                    <a:schemeClr val="dk2"/>
                  </a:solidFill>
                </a:rPr>
              </a:br>
              <a:r>
                <a:rPr lang="en" sz="900" u="sng">
                  <a:solidFill>
                    <a:srgbClr val="2200CC"/>
                  </a:solidFill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https://github.com/devtron-labs/winter-soldier</a:t>
              </a:r>
              <a:r>
                <a:rPr lang="en" sz="900" u="sng">
                  <a:solidFill>
                    <a:srgbClr val="2200CC"/>
                  </a:solidFill>
                </a:rPr>
                <a:t> </a:t>
              </a:r>
              <a:endParaRPr sz="1200"/>
            </a:p>
          </p:txBody>
        </p:sp>
      </p:grpSp>
      <p:grpSp>
        <p:nvGrpSpPr>
          <p:cNvPr id="230" name="Google Shape;230;p25"/>
          <p:cNvGrpSpPr/>
          <p:nvPr/>
        </p:nvGrpSpPr>
        <p:grpSpPr>
          <a:xfrm>
            <a:off x="225850" y="2480550"/>
            <a:ext cx="5129234" cy="768000"/>
            <a:chOff x="225850" y="2480550"/>
            <a:chExt cx="5129234" cy="768000"/>
          </a:xfrm>
        </p:grpSpPr>
        <p:pic>
          <p:nvPicPr>
            <p:cNvPr id="231" name="Google Shape;231;p25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4870596" y="2724150"/>
              <a:ext cx="484487" cy="32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5"/>
            <p:cNvSpPr txBox="1"/>
            <p:nvPr/>
          </p:nvSpPr>
          <p:spPr>
            <a:xfrm>
              <a:off x="225850" y="2480550"/>
              <a:ext cx="4566000" cy="76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Char char="●"/>
              </a:pPr>
              <a:r>
                <a:rPr lang="en" b="1">
                  <a:solidFill>
                    <a:schemeClr val="dk2"/>
                  </a:solidFill>
                </a:rPr>
                <a:t>Refined Balanced Resource Allocation (New):</a:t>
              </a:r>
              <a:br>
                <a:rPr lang="en" b="1">
                  <a:solidFill>
                    <a:schemeClr val="dk2"/>
                  </a:solidFill>
                </a:rPr>
              </a:br>
              <a:r>
                <a:rPr lang="en" sz="1200">
                  <a:solidFill>
                    <a:schemeClr val="dk2"/>
                  </a:solidFill>
                </a:rPr>
                <a:t>Promising dynamic metrics for schedulers (China).</a:t>
              </a:r>
              <a:br>
                <a:rPr lang="en" sz="1200">
                  <a:solidFill>
                    <a:schemeClr val="dk2"/>
                  </a:solidFill>
                </a:rPr>
              </a:br>
              <a:r>
                <a:rPr lang="en" sz="800" u="sng">
                  <a:solidFill>
                    <a:srgbClr val="2200CC"/>
                  </a:solidFill>
                  <a:hlinkClick r:id="rId1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https://ceur-ws.org/Vol-3304/paper07.pdf</a:t>
              </a:r>
              <a:endParaRPr sz="1100"/>
            </a:p>
          </p:txBody>
        </p:sp>
      </p:grpSp>
      <p:grpSp>
        <p:nvGrpSpPr>
          <p:cNvPr id="233" name="Google Shape;233;p25"/>
          <p:cNvGrpSpPr/>
          <p:nvPr/>
        </p:nvGrpSpPr>
        <p:grpSpPr>
          <a:xfrm>
            <a:off x="224200" y="3167825"/>
            <a:ext cx="5099820" cy="719700"/>
            <a:chOff x="224200" y="3167825"/>
            <a:chExt cx="5099820" cy="719700"/>
          </a:xfrm>
        </p:grpSpPr>
        <p:pic>
          <p:nvPicPr>
            <p:cNvPr id="234" name="Google Shape;234;p25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4881420" y="3310095"/>
              <a:ext cx="442600" cy="4310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5"/>
            <p:cNvSpPr txBox="1"/>
            <p:nvPr/>
          </p:nvSpPr>
          <p:spPr>
            <a:xfrm>
              <a:off x="224200" y="3167825"/>
              <a:ext cx="4498800" cy="71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400"/>
                <a:buChar char="●"/>
              </a:pPr>
              <a:r>
                <a:rPr lang="en" b="1">
                  <a:solidFill>
                    <a:schemeClr val="dk2"/>
                  </a:solidFill>
                </a:rPr>
                <a:t>Kube Scheduler Plugins:</a:t>
              </a:r>
              <a:br>
                <a:rPr lang="en" b="1">
                  <a:solidFill>
                    <a:schemeClr val="dk2"/>
                  </a:solidFill>
                </a:rPr>
              </a:br>
              <a:r>
                <a:rPr lang="en" sz="1100">
                  <a:solidFill>
                    <a:schemeClr val="dk2"/>
                  </a:solidFill>
                </a:rPr>
                <a:t>DYI: </a:t>
              </a:r>
              <a:r>
                <a:rPr lang="en" sz="1100">
                  <a:solidFill>
                    <a:schemeClr val="dk1"/>
                  </a:solidFill>
                </a:rPr>
                <a:t>Just go and f@#ing write your own stuff?</a:t>
              </a:r>
              <a:br>
                <a:rPr lang="en">
                  <a:solidFill>
                    <a:schemeClr val="dk2"/>
                  </a:solidFill>
                </a:rPr>
              </a:br>
              <a:r>
                <a:rPr lang="en" sz="600" u="sng">
                  <a:solidFill>
                    <a:srgbClr val="2200CC"/>
                  </a:solidFill>
                  <a:hlinkClick r:id="rId1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https://github.com/kubernetes/enhancements/tree/master/keps/sig-scheduling/624-scheduling-framework</a:t>
              </a:r>
              <a:r>
                <a:rPr lang="en" sz="600">
                  <a:solidFill>
                    <a:schemeClr val="dk1"/>
                  </a:solidFill>
                </a:rPr>
                <a:t> </a:t>
              </a:r>
              <a:endParaRPr sz="1200"/>
            </a:p>
          </p:txBody>
        </p:sp>
      </p:grpSp>
      <p:grpSp>
        <p:nvGrpSpPr>
          <p:cNvPr id="236" name="Google Shape;236;p25"/>
          <p:cNvGrpSpPr/>
          <p:nvPr/>
        </p:nvGrpSpPr>
        <p:grpSpPr>
          <a:xfrm>
            <a:off x="208088" y="3822725"/>
            <a:ext cx="5156137" cy="773400"/>
            <a:chOff x="208088" y="3822725"/>
            <a:chExt cx="5156137" cy="773400"/>
          </a:xfrm>
        </p:grpSpPr>
        <p:pic>
          <p:nvPicPr>
            <p:cNvPr id="237" name="Google Shape;237;p25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4879725" y="4056150"/>
              <a:ext cx="484500" cy="48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5"/>
            <p:cNvSpPr txBox="1"/>
            <p:nvPr/>
          </p:nvSpPr>
          <p:spPr>
            <a:xfrm>
              <a:off x="208088" y="3822725"/>
              <a:ext cx="4440000" cy="77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298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en" b="1">
                  <a:solidFill>
                    <a:schemeClr val="dk2"/>
                  </a:solidFill>
                </a:rPr>
                <a:t>Low Carbon Kubernetes Scheduler</a:t>
              </a:r>
              <a:r>
                <a:rPr lang="en" sz="1200" b="1">
                  <a:solidFill>
                    <a:schemeClr val="dk1"/>
                  </a:solidFill>
                </a:rPr>
                <a:t>:</a:t>
              </a:r>
              <a:br>
                <a:rPr lang="en" sz="1100" b="1">
                  <a:solidFill>
                    <a:schemeClr val="dk1"/>
                  </a:solidFill>
                </a:rPr>
              </a:br>
              <a:r>
                <a:rPr lang="en" sz="1100" b="1">
                  <a:solidFill>
                    <a:schemeClr val="dk1"/>
                  </a:solidFill>
                </a:rPr>
                <a:t>“</a:t>
              </a:r>
              <a:r>
                <a:rPr lang="en" sz="1100">
                  <a:solidFill>
                    <a:schemeClr val="dk1"/>
                  </a:solidFill>
                </a:rPr>
                <a:t>Heliotropic multicountry” scheduler to save electricity 🚀</a:t>
              </a:r>
              <a:br>
                <a:rPr lang="en" sz="1100">
                  <a:solidFill>
                    <a:schemeClr val="dk1"/>
                  </a:solidFill>
                </a:rPr>
              </a:br>
              <a:r>
                <a:rPr lang="en" sz="950" u="sng">
                  <a:solidFill>
                    <a:srgbClr val="0000FF"/>
                  </a:solidFill>
                  <a:highlight>
                    <a:schemeClr val="lt1"/>
                  </a:highlight>
                  <a:hlinkClick r:id="rId2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https://ceur-ws.org/Vol-2382/ICT4S2019_paper_28.pdf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244" name="Google Shape;244;p26"/>
          <p:cNvSpPr txBox="1">
            <a:spLocks noGrp="1"/>
          </p:cNvSpPr>
          <p:nvPr>
            <p:ph type="body" idx="1"/>
          </p:nvPr>
        </p:nvSpPr>
        <p:spPr>
          <a:xfrm>
            <a:off x="619075" y="965325"/>
            <a:ext cx="5242800" cy="16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b="1"/>
              <a:t>Usability ~&gt; </a:t>
            </a:r>
            <a:r>
              <a:rPr lang="en" sz="1500" b="1">
                <a:solidFill>
                  <a:srgbClr val="0000FF"/>
                </a:solidFill>
              </a:rPr>
              <a:t>Maybe?: </a:t>
            </a:r>
            <a:endParaRPr sz="1500">
              <a:solidFill>
                <a:srgbClr val="0000FF"/>
              </a:solidFill>
            </a:endParaRPr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b="1"/>
              <a:t>Better suited for steady workloads sets</a:t>
            </a:r>
            <a:r>
              <a:rPr lang="en" sz="1300"/>
              <a:t>,</a:t>
            </a:r>
            <a:br>
              <a:rPr lang="en" sz="1300"/>
            </a:br>
            <a:r>
              <a:rPr lang="en" sz="1300"/>
              <a:t>not high peaky (e.g. node overload =&gt; pod unsch.).</a:t>
            </a:r>
            <a:endParaRPr sz="1300"/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b="1"/>
              <a:t>Good for HA and cost saving</a:t>
            </a:r>
            <a:r>
              <a:rPr lang="en" sz="1300"/>
              <a:t>, bad RT balancing.</a:t>
            </a:r>
            <a:endParaRPr sz="1300"/>
          </a:p>
          <a:p>
            <a:pPr marL="914400" lvl="1" indent="-3111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 b="1"/>
              <a:t>Worsen unpredicted situations complexity</a:t>
            </a:r>
            <a:br>
              <a:rPr lang="en" sz="1300" b="1"/>
            </a:br>
            <a:r>
              <a:rPr lang="en" sz="1300"/>
              <a:t>(i.e. YAML hotfix?, inter-dependency)).</a:t>
            </a:r>
            <a:endParaRPr sz="1441"/>
          </a:p>
        </p:txBody>
      </p:sp>
      <p:grpSp>
        <p:nvGrpSpPr>
          <p:cNvPr id="245" name="Google Shape;245;p26"/>
          <p:cNvGrpSpPr/>
          <p:nvPr/>
        </p:nvGrpSpPr>
        <p:grpSpPr>
          <a:xfrm>
            <a:off x="5157650" y="848250"/>
            <a:ext cx="3485275" cy="3872827"/>
            <a:chOff x="5165700" y="1017725"/>
            <a:chExt cx="3485275" cy="3872827"/>
          </a:xfrm>
        </p:grpSpPr>
        <p:pic>
          <p:nvPicPr>
            <p:cNvPr id="246" name="Google Shape;246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04481" y="1017725"/>
              <a:ext cx="3046493" cy="21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41000" y="3411352"/>
              <a:ext cx="2973462" cy="1479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/>
            <p:nvPr/>
          </p:nvSpPr>
          <p:spPr>
            <a:xfrm rot="10800000">
              <a:off x="5165700" y="3913338"/>
              <a:ext cx="612600" cy="4752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FFF2CC"/>
                </a:highlight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 rot="5400000">
              <a:off x="7569950" y="3059300"/>
              <a:ext cx="612600" cy="475200"/>
            </a:xfrm>
            <a:prstGeom prst="notchedRight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chemeClr val="dk1"/>
                </a:highlight>
              </a:endParaRPr>
            </a:p>
          </p:txBody>
        </p:sp>
      </p:grpSp>
      <p:sp>
        <p:nvSpPr>
          <p:cNvPr id="250" name="Google Shape;25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/>
        </p:nvSpPr>
        <p:spPr>
          <a:xfrm>
            <a:off x="619075" y="2306725"/>
            <a:ext cx="5880000" cy="2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b="1" dirty="0">
                <a:solidFill>
                  <a:schemeClr val="dk2"/>
                </a:solidFill>
              </a:rPr>
              <a:t>Reliability ~&gt; </a:t>
            </a:r>
            <a:r>
              <a:rPr lang="en" b="1" dirty="0">
                <a:solidFill>
                  <a:srgbClr val="FF0000"/>
                </a:solidFill>
                <a:highlight>
                  <a:schemeClr val="lt1"/>
                </a:highlight>
              </a:rPr>
              <a:t>Definitely not!:</a:t>
            </a:r>
            <a:endParaRPr b="1" dirty="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en" sz="1000" b="1" dirty="0">
                <a:solidFill>
                  <a:schemeClr val="dk2"/>
                </a:solidFill>
              </a:rPr>
              <a:t>No standard solution</a:t>
            </a:r>
            <a:r>
              <a:rPr lang="en" sz="1000" dirty="0">
                <a:solidFill>
                  <a:schemeClr val="dk2"/>
                </a:solidFill>
              </a:rPr>
              <a:t> that fit all app / teams.</a:t>
            </a:r>
            <a:endParaRPr sz="1000" dirty="0">
              <a:solidFill>
                <a:schemeClr val="dk2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en" sz="1000" b="1" dirty="0">
                <a:solidFill>
                  <a:schemeClr val="dk2"/>
                </a:solidFill>
              </a:rPr>
              <a:t>Requires a lot of edge cases testing</a:t>
            </a:r>
            <a:r>
              <a:rPr lang="en" sz="1000" dirty="0">
                <a:solidFill>
                  <a:schemeClr val="dk2"/>
                </a:solidFill>
              </a:rPr>
              <a:t>, between</a:t>
            </a:r>
            <a:br>
              <a:rPr lang="en" sz="1000" dirty="0">
                <a:solidFill>
                  <a:schemeClr val="dk2"/>
                </a:solidFill>
              </a:rPr>
            </a:br>
            <a:r>
              <a:rPr lang="en" sz="1000" dirty="0">
                <a:solidFill>
                  <a:schemeClr val="dk2"/>
                </a:solidFill>
              </a:rPr>
              <a:t>co-existent applications (same node group).</a:t>
            </a:r>
            <a:endParaRPr sz="1000" dirty="0">
              <a:solidFill>
                <a:schemeClr val="dk2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en" sz="1000" b="1" dirty="0">
                <a:solidFill>
                  <a:schemeClr val="dk2"/>
                </a:solidFill>
              </a:rPr>
              <a:t>No easy way to humanely trace the decisions </a:t>
            </a:r>
            <a:br>
              <a:rPr lang="en" sz="1000" b="1" dirty="0">
                <a:solidFill>
                  <a:schemeClr val="dk2"/>
                </a:solidFill>
              </a:rPr>
            </a:br>
            <a:r>
              <a:rPr lang="en" sz="1000" dirty="0">
                <a:solidFill>
                  <a:schemeClr val="dk2"/>
                </a:solidFill>
              </a:rPr>
              <a:t>taken by scheduler (e.g. during live issue).</a:t>
            </a:r>
            <a:endParaRPr sz="1000" dirty="0">
              <a:solidFill>
                <a:schemeClr val="dk2"/>
              </a:solidFill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</a:pPr>
            <a:r>
              <a:rPr lang="en" sz="1000" b="1" dirty="0">
                <a:solidFill>
                  <a:schemeClr val="dk2"/>
                </a:solidFill>
              </a:rPr>
              <a:t>Too many metric/rules siloed input for decisions</a:t>
            </a:r>
            <a:r>
              <a:rPr lang="en" sz="1000" dirty="0">
                <a:solidFill>
                  <a:schemeClr val="dk2"/>
                </a:solidFill>
              </a:rPr>
              <a:t>:</a:t>
            </a:r>
            <a:endParaRPr sz="1000" dirty="0">
              <a:solidFill>
                <a:schemeClr val="dk2"/>
              </a:solidFill>
            </a:endParaRPr>
          </a:p>
          <a:p>
            <a:pPr marL="137160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romanLcPeriod"/>
            </a:pPr>
            <a:r>
              <a:rPr lang="en" sz="1000" dirty="0">
                <a:solidFill>
                  <a:schemeClr val="dk2"/>
                </a:solidFill>
              </a:rPr>
              <a:t>AWS Auto Scaling (e.g. Fixed, Scheduled).</a:t>
            </a:r>
            <a:br>
              <a:rPr lang="en" sz="1000" dirty="0">
                <a:solidFill>
                  <a:schemeClr val="dk2"/>
                </a:solidFill>
              </a:rPr>
            </a:br>
            <a:r>
              <a:rPr lang="en" sz="1000" dirty="0">
                <a:solidFill>
                  <a:schemeClr val="dk2"/>
                </a:solidFill>
              </a:rPr>
              <a:t>    =&gt; EC2 On-Demand vs. Spot =&gt; AWS guess.</a:t>
            </a:r>
            <a:endParaRPr sz="1000" dirty="0">
              <a:solidFill>
                <a:schemeClr val="dk2"/>
              </a:solidFill>
            </a:endParaRPr>
          </a:p>
          <a:p>
            <a:pPr marL="137160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romanLcPeriod"/>
            </a:pPr>
            <a:r>
              <a:rPr lang="en" sz="1000" dirty="0">
                <a:solidFill>
                  <a:schemeClr val="dk2"/>
                </a:solidFill>
              </a:rPr>
              <a:t>K8s AutoScaler (even without metrics).</a:t>
            </a:r>
            <a:br>
              <a:rPr lang="en" sz="1000" dirty="0">
                <a:solidFill>
                  <a:schemeClr val="dk2"/>
                </a:solidFill>
              </a:rPr>
            </a:br>
            <a:r>
              <a:rPr lang="en" sz="1000" dirty="0">
                <a:solidFill>
                  <a:schemeClr val="dk2"/>
                </a:solidFill>
              </a:rPr>
              <a:t>    =&gt; “Rescheduler” =&gt; Dev/DevOps guess.</a:t>
            </a:r>
            <a:endParaRPr sz="1000" dirty="0">
              <a:solidFill>
                <a:schemeClr val="dk2"/>
              </a:solidFill>
            </a:endParaRPr>
          </a:p>
          <a:p>
            <a:pPr marL="137160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AutoNum type="romanLcPeriod"/>
            </a:pPr>
            <a:r>
              <a:rPr lang="en" sz="1000" dirty="0">
                <a:solidFill>
                  <a:schemeClr val="dk2"/>
                </a:solidFill>
              </a:rPr>
              <a:t>Capacity right sizing (i.e. EC2, limits/requests guess)</a:t>
            </a:r>
            <a:endParaRPr sz="1000" dirty="0"/>
          </a:p>
        </p:txBody>
      </p:sp>
      <p:sp>
        <p:nvSpPr>
          <p:cNvPr id="253" name="Google Shape;253;p26"/>
          <p:cNvSpPr txBox="1"/>
          <p:nvPr/>
        </p:nvSpPr>
        <p:spPr>
          <a:xfrm>
            <a:off x="713499" y="4548850"/>
            <a:ext cx="488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b="1">
                <a:solidFill>
                  <a:schemeClr val="dk2"/>
                </a:solidFill>
                <a:highlight>
                  <a:srgbClr val="FFF2CC"/>
                </a:highlight>
              </a:rPr>
              <a:t>Costs?</a:t>
            </a:r>
            <a:r>
              <a:rPr lang="en" sz="1141">
                <a:solidFill>
                  <a:schemeClr val="dk2"/>
                </a:solidFill>
                <a:highlight>
                  <a:srgbClr val="FFF2CC"/>
                </a:highlight>
              </a:rPr>
              <a:t> Well, is another story of me(gue)ssing AWS RI/SP…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/>
        </p:nvSpPr>
        <p:spPr>
          <a:xfrm>
            <a:off x="3545138" y="1694550"/>
            <a:ext cx="18771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The End</a:t>
            </a:r>
            <a:endParaRPr sz="45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3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8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570800"/>
            <a:ext cx="6697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1788</Words>
  <Application>Microsoft Office PowerPoint</Application>
  <PresentationFormat>On-screen Show (16:9)</PresentationFormat>
  <Paragraphs>208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Roboto</vt:lpstr>
      <vt:lpstr>Trebuchet MS</vt:lpstr>
      <vt:lpstr>Lobster</vt:lpstr>
      <vt:lpstr>Courier New</vt:lpstr>
      <vt:lpstr>Georgia</vt:lpstr>
      <vt:lpstr>Simple Light</vt:lpstr>
      <vt:lpstr>PowerPoint Presentation</vt:lpstr>
      <vt:lpstr>Agenda</vt:lpstr>
      <vt:lpstr>Before we start… the sources…</vt:lpstr>
      <vt:lpstr>Kubernetes Scheduler</vt:lpstr>
      <vt:lpstr>Scheduler Decision Tree</vt:lpstr>
      <vt:lpstr>Filtering Algorithm =&gt; Candidates</vt:lpstr>
      <vt:lpstr>Scoring Algorithm =&gt; Ranking</vt:lpstr>
      <vt:lpstr>Expectations vs. Reality</vt:lpstr>
      <vt:lpstr>Scheduling Problem - Fact 1 of 2</vt:lpstr>
      <vt:lpstr>Scheduling Problem - Fact 2 of 2</vt:lpstr>
      <vt:lpstr>Uneven Distribution</vt:lpstr>
      <vt:lpstr>Agglomeration</vt:lpstr>
      <vt:lpstr>Other Proposals</vt:lpstr>
      <vt:lpstr>Key Takeaways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Olaf Reitmaier</cp:lastModifiedBy>
  <cp:revision>1</cp:revision>
  <dcterms:modified xsi:type="dcterms:W3CDTF">2023-11-04T17:21:30Z</dcterms:modified>
</cp:coreProperties>
</file>