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83" r:id="rId4"/>
    <p:sldId id="281" r:id="rId5"/>
    <p:sldId id="261" r:id="rId6"/>
    <p:sldId id="280" r:id="rId7"/>
    <p:sldId id="279" r:id="rId8"/>
    <p:sldId id="284" r:id="rId9"/>
    <p:sldId id="262" r:id="rId10"/>
    <p:sldId id="275" r:id="rId11"/>
    <p:sldId id="286" r:id="rId12"/>
    <p:sldId id="263" r:id="rId13"/>
    <p:sldId id="264" r:id="rId14"/>
    <p:sldId id="265" r:id="rId15"/>
    <p:sldId id="278" r:id="rId16"/>
    <p:sldId id="266" r:id="rId17"/>
    <p:sldId id="267" r:id="rId18"/>
    <p:sldId id="268" r:id="rId19"/>
    <p:sldId id="269" r:id="rId20"/>
    <p:sldId id="270" r:id="rId21"/>
    <p:sldId id="285" r:id="rId22"/>
    <p:sldId id="287" r:id="rId23"/>
  </p:sldIdLst>
  <p:sldSz cx="9144000" cy="6858000" type="screen4x3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CCFF33"/>
    <a:srgbClr val="CC00CC"/>
    <a:srgbClr val="FCFDD3"/>
    <a:srgbClr val="66CCFF"/>
    <a:srgbClr val="33CCCC"/>
    <a:srgbClr val="0099CC"/>
    <a:srgbClr val="FF5050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51" autoAdjust="0"/>
    <p:restoredTop sz="94660"/>
  </p:normalViewPr>
  <p:slideViewPr>
    <p:cSldViewPr>
      <p:cViewPr varScale="1">
        <p:scale>
          <a:sx n="75" d="100"/>
          <a:sy n="75" d="100"/>
        </p:scale>
        <p:origin x="1044" y="6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6540D7-067F-45FD-8A89-AED0B03A9C13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VE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B8DB8B-12A3-47DB-B450-D207D8FE9F69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649965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B8DB8B-12A3-47DB-B450-D207D8FE9F69}" type="slidenum">
              <a:rPr lang="es-VE" smtClean="0"/>
              <a:t>1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776653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B8DB8B-12A3-47DB-B450-D207D8FE9F69}" type="slidenum">
              <a:rPr lang="es-VE" smtClean="0"/>
              <a:t>3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0144447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B8DB8B-12A3-47DB-B450-D207D8FE9F69}" type="slidenum">
              <a:rPr lang="es-VE" smtClean="0"/>
              <a:t>8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4169266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B8DB8B-12A3-47DB-B450-D207D8FE9F69}" type="slidenum">
              <a:rPr lang="es-VE" smtClean="0"/>
              <a:t>18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6725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D2756-0732-48E7-8CD5-D2E7DF96F0B6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7E231-AD8D-4FC8-A29D-E89F61C07A3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966938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D2756-0732-48E7-8CD5-D2E7DF96F0B6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7E231-AD8D-4FC8-A29D-E89F61C07A3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077038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D2756-0732-48E7-8CD5-D2E7DF96F0B6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7E231-AD8D-4FC8-A29D-E89F61C07A3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617043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D2756-0732-48E7-8CD5-D2E7DF96F0B6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7E231-AD8D-4FC8-A29D-E89F61C07A3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466072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D2756-0732-48E7-8CD5-D2E7DF96F0B6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7E231-AD8D-4FC8-A29D-E89F61C07A3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039085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D2756-0732-48E7-8CD5-D2E7DF96F0B6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7E231-AD8D-4FC8-A29D-E89F61C07A3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630819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D2756-0732-48E7-8CD5-D2E7DF96F0B6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7E231-AD8D-4FC8-A29D-E89F61C07A3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104075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D2756-0732-48E7-8CD5-D2E7DF96F0B6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7E231-AD8D-4FC8-A29D-E89F61C07A3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322641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D2756-0732-48E7-8CD5-D2E7DF96F0B6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7E231-AD8D-4FC8-A29D-E89F61C07A3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95716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D2756-0732-48E7-8CD5-D2E7DF96F0B6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7E231-AD8D-4FC8-A29D-E89F61C07A3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062536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D2756-0732-48E7-8CD5-D2E7DF96F0B6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7E231-AD8D-4FC8-A29D-E89F61C07A3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310167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D2756-0732-48E7-8CD5-D2E7DF96F0B6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07E231-AD8D-4FC8-A29D-E89F61C07A3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483919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tif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tiff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5.tiff"/><Relationship Id="rId4" Type="http://schemas.openxmlformats.org/officeDocument/2006/relationships/image" Target="../media/image14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1.png"/><Relationship Id="rId4" Type="http://schemas.openxmlformats.org/officeDocument/2006/relationships/image" Target="../media/image20.tif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tiff"/><Relationship Id="rId5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tif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2" Type="http://schemas.openxmlformats.org/officeDocument/2006/relationships/image" Target="../media/image28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27.jpe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18.png"/><Relationship Id="rId9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tif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tif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1.tiff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5.tiff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8.png"/><Relationship Id="rId7" Type="http://schemas.openxmlformats.org/officeDocument/2006/relationships/image" Target="../media/image49.tiff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tif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tiff"/><Relationship Id="rId4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2.png"/><Relationship Id="rId4" Type="http://schemas.openxmlformats.org/officeDocument/2006/relationships/image" Target="../media/image61.tif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64.tiff"/><Relationship Id="rId4" Type="http://schemas.openxmlformats.org/officeDocument/2006/relationships/image" Target="../media/image6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tiff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tif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jpg"/><Relationship Id="rId4" Type="http://schemas.openxmlformats.org/officeDocument/2006/relationships/image" Target="../media/image69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259632" y="1052736"/>
            <a:ext cx="7006806" cy="1107554"/>
          </a:xfrm>
          <a:solidFill>
            <a:srgbClr val="0070C0"/>
          </a:solidFill>
        </p:spPr>
        <p:txBody>
          <a:bodyPr/>
          <a:lstStyle/>
          <a:p>
            <a:r>
              <a:rPr lang="es-VE" b="1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Continuidad Operativa</a:t>
            </a:r>
            <a:endParaRPr lang="es-VE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3005508" y="5467275"/>
            <a:ext cx="3805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b="1" smtClean="0"/>
              <a:t>Mayo </a:t>
            </a:r>
            <a:r>
              <a:rPr lang="es-VE" b="1" dirty="0" smtClean="0"/>
              <a:t>de 2017</a:t>
            </a:r>
            <a:endParaRPr lang="es-VE" b="1" dirty="0"/>
          </a:p>
        </p:txBody>
      </p:sp>
      <p:pic>
        <p:nvPicPr>
          <p:cNvPr id="7" name="1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7656" y="5513251"/>
            <a:ext cx="910068" cy="888904"/>
          </a:xfrm>
          <a:prstGeom prst="rect">
            <a:avLst/>
          </a:prstGeom>
        </p:spPr>
      </p:pic>
      <p:sp>
        <p:nvSpPr>
          <p:cNvPr id="8" name="5 Paralelogramo"/>
          <p:cNvSpPr/>
          <p:nvPr/>
        </p:nvSpPr>
        <p:spPr>
          <a:xfrm>
            <a:off x="2051720" y="4276708"/>
            <a:ext cx="5832648" cy="720080"/>
          </a:xfrm>
          <a:prstGeom prst="parallelogram">
            <a:avLst/>
          </a:prstGeom>
          <a:solidFill>
            <a:srgbClr val="0070C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r>
              <a:rPr lang="es-VE" sz="3200" b="1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Punto de Interconexión</a:t>
            </a:r>
            <a:endParaRPr lang="es-VE" sz="32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8 Paralelogramo"/>
          <p:cNvSpPr/>
          <p:nvPr/>
        </p:nvSpPr>
        <p:spPr>
          <a:xfrm>
            <a:off x="1441100" y="4276708"/>
            <a:ext cx="446056" cy="720080"/>
          </a:xfrm>
          <a:prstGeom prst="parallelogram">
            <a:avLst>
              <a:gd name="adj" fmla="val 40775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VE" sz="3600" i="1" dirty="0">
              <a:solidFill>
                <a:schemeClr val="bg1"/>
              </a:solidFill>
            </a:endParaRPr>
          </a:p>
        </p:txBody>
      </p:sp>
      <p:sp>
        <p:nvSpPr>
          <p:cNvPr id="10" name="9 Paralelogramo"/>
          <p:cNvSpPr/>
          <p:nvPr/>
        </p:nvSpPr>
        <p:spPr>
          <a:xfrm>
            <a:off x="1748146" y="4276708"/>
            <a:ext cx="446056" cy="720080"/>
          </a:xfrm>
          <a:prstGeom prst="parallelogram">
            <a:avLst>
              <a:gd name="adj" fmla="val 40775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VE" sz="3600" i="1" dirty="0"/>
          </a:p>
        </p:txBody>
      </p:sp>
      <p:pic>
        <p:nvPicPr>
          <p:cNvPr id="11" name="10 Imagen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68" y="5405401"/>
            <a:ext cx="1267863" cy="1024043"/>
          </a:xfrm>
          <a:prstGeom prst="rect">
            <a:avLst/>
          </a:prstGeom>
        </p:spPr>
      </p:pic>
      <p:pic>
        <p:nvPicPr>
          <p:cNvPr id="3" name="2 Imagen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07313">
            <a:off x="3719380" y="1914606"/>
            <a:ext cx="2377827" cy="2377827"/>
          </a:xfrm>
          <a:prstGeom prst="rect">
            <a:avLst/>
          </a:prstGeom>
        </p:spPr>
      </p:pic>
      <p:sp>
        <p:nvSpPr>
          <p:cNvPr id="4" name="3 Triángulo isósceles"/>
          <p:cNvSpPr/>
          <p:nvPr/>
        </p:nvSpPr>
        <p:spPr>
          <a:xfrm rot="5400000">
            <a:off x="867543" y="975379"/>
            <a:ext cx="1008112" cy="864096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16" name="15 Triángulo isósceles"/>
          <p:cNvSpPr/>
          <p:nvPr/>
        </p:nvSpPr>
        <p:spPr>
          <a:xfrm rot="5400000">
            <a:off x="862993" y="1395360"/>
            <a:ext cx="1008112" cy="864096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17" name="16 Triángulo isósceles"/>
          <p:cNvSpPr/>
          <p:nvPr/>
        </p:nvSpPr>
        <p:spPr>
          <a:xfrm rot="5400000" flipH="1" flipV="1">
            <a:off x="7761144" y="879843"/>
            <a:ext cx="1008112" cy="864096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18" name="17 Triángulo isósceles"/>
          <p:cNvSpPr/>
          <p:nvPr/>
        </p:nvSpPr>
        <p:spPr>
          <a:xfrm rot="5400000" flipH="1" flipV="1">
            <a:off x="7761144" y="1453934"/>
            <a:ext cx="1008112" cy="864096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64845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/>
          <p:cNvSpPr/>
          <p:nvPr/>
        </p:nvSpPr>
        <p:spPr>
          <a:xfrm>
            <a:off x="457199" y="1463353"/>
            <a:ext cx="8207871" cy="1474597"/>
          </a:xfrm>
          <a:prstGeom prst="rect">
            <a:avLst/>
          </a:prstGeom>
          <a:solidFill>
            <a:srgbClr val="FCFD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/>
          <p:cNvSpPr/>
          <p:nvPr/>
        </p:nvSpPr>
        <p:spPr>
          <a:xfrm>
            <a:off x="457200" y="2984674"/>
            <a:ext cx="8229600" cy="354067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75000"/>
            </a:schemeClr>
          </a:solidFill>
        </p:spPr>
        <p:txBody>
          <a:bodyPr/>
          <a:lstStyle/>
          <a:p>
            <a:r>
              <a:rPr lang="es-VE" dirty="0" smtClean="0">
                <a:solidFill>
                  <a:schemeClr val="bg1"/>
                </a:solidFill>
              </a:rPr>
              <a:t>:: Agenda ::</a:t>
            </a:r>
            <a:endParaRPr lang="es-VE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2123728" y="1628800"/>
            <a:ext cx="6563072" cy="4525963"/>
          </a:xfrm>
        </p:spPr>
        <p:txBody>
          <a:bodyPr>
            <a:normAutofit lnSpcReduction="10000"/>
          </a:bodyPr>
          <a:lstStyle/>
          <a:p>
            <a:r>
              <a:rPr lang="es-VE" b="1" dirty="0" smtClean="0">
                <a:solidFill>
                  <a:srgbClr val="00B050"/>
                </a:solidFill>
              </a:rPr>
              <a:t>Reflexión: </a:t>
            </a:r>
          </a:p>
          <a:p>
            <a:pPr lvl="1"/>
            <a:r>
              <a:rPr lang="es-VE" b="1" dirty="0" smtClean="0"/>
              <a:t>Desenfoque (Negocio vs. TI)</a:t>
            </a:r>
          </a:p>
          <a:p>
            <a:pPr marL="457200" lvl="1" indent="0">
              <a:buNone/>
            </a:pPr>
            <a:endParaRPr lang="es-VE" b="1" dirty="0" smtClean="0"/>
          </a:p>
          <a:p>
            <a:r>
              <a:rPr lang="es-VE" b="1" dirty="0" smtClean="0">
                <a:solidFill>
                  <a:srgbClr val="FF0066"/>
                </a:solidFill>
              </a:rPr>
              <a:t>Problemática: </a:t>
            </a:r>
          </a:p>
          <a:p>
            <a:pPr lvl="1"/>
            <a:r>
              <a:rPr lang="es-VE" b="1" dirty="0" smtClean="0"/>
              <a:t>Causa → Efecto</a:t>
            </a:r>
          </a:p>
          <a:p>
            <a:r>
              <a:rPr lang="es-VE" b="1" dirty="0" smtClean="0">
                <a:solidFill>
                  <a:srgbClr val="0070C0"/>
                </a:solidFill>
              </a:rPr>
              <a:t>Solución: </a:t>
            </a:r>
          </a:p>
          <a:p>
            <a:pPr lvl="1"/>
            <a:r>
              <a:rPr lang="es-VE" b="1" dirty="0" smtClean="0"/>
              <a:t>Alcance → Posibilidades</a:t>
            </a:r>
          </a:p>
          <a:p>
            <a:pPr lvl="1"/>
            <a:r>
              <a:rPr lang="es-VE" b="1" dirty="0" smtClean="0"/>
              <a:t>Ventajas </a:t>
            </a:r>
            <a:r>
              <a:rPr lang="es-VE" b="1" dirty="0"/>
              <a:t>→</a:t>
            </a:r>
            <a:r>
              <a:rPr lang="es-VE" b="1" dirty="0" smtClean="0"/>
              <a:t> Valor Agregado</a:t>
            </a:r>
          </a:p>
          <a:p>
            <a:r>
              <a:rPr lang="es-VE" b="1" dirty="0" smtClean="0"/>
              <a:t>Misceláneos</a:t>
            </a:r>
          </a:p>
          <a:p>
            <a:endParaRPr lang="es-VE" b="1" dirty="0" smtClean="0"/>
          </a:p>
          <a:p>
            <a:endParaRPr lang="es-VE" b="1" dirty="0" smtClean="0"/>
          </a:p>
          <a:p>
            <a:endParaRPr lang="es-VE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165" y="3356992"/>
            <a:ext cx="1249598" cy="1249598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1" y="1621384"/>
            <a:ext cx="1152128" cy="1152128"/>
          </a:xfrm>
          <a:prstGeom prst="rect">
            <a:avLst/>
          </a:prstGeom>
        </p:spPr>
      </p:pic>
      <p:pic>
        <p:nvPicPr>
          <p:cNvPr id="13" name="12 Imagen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4372" y="5405400"/>
            <a:ext cx="1267863" cy="102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275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492896"/>
            <a:ext cx="7772400" cy="1107554"/>
          </a:xfrm>
          <a:solidFill>
            <a:srgbClr val="FF0066"/>
          </a:solidFill>
        </p:spPr>
        <p:txBody>
          <a:bodyPr/>
          <a:lstStyle/>
          <a:p>
            <a:pPr algn="l"/>
            <a:r>
              <a:rPr lang="es-V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Problemática</a:t>
            </a:r>
            <a:endParaRPr lang="es-VE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1966553"/>
            <a:ext cx="2160240" cy="2160240"/>
          </a:xfrm>
          <a:prstGeom prst="rect">
            <a:avLst/>
          </a:prstGeom>
        </p:spPr>
      </p:pic>
      <p:pic>
        <p:nvPicPr>
          <p:cNvPr id="5" name="1 Imagen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7656" y="5513251"/>
            <a:ext cx="910068" cy="888904"/>
          </a:xfrm>
          <a:prstGeom prst="rect">
            <a:avLst/>
          </a:prstGeom>
        </p:spPr>
      </p:pic>
      <p:pic>
        <p:nvPicPr>
          <p:cNvPr id="7" name="6 Imagen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68" y="5405401"/>
            <a:ext cx="1267863" cy="102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784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solidFill>
            <a:srgbClr val="0070C0"/>
          </a:solidFill>
        </p:spPr>
        <p:txBody>
          <a:bodyPr/>
          <a:lstStyle/>
          <a:p>
            <a:r>
              <a:rPr lang="es-VE" dirty="0" smtClean="0">
                <a:solidFill>
                  <a:schemeClr val="bg1"/>
                </a:solidFill>
              </a:rPr>
              <a:t>Problemática :: </a:t>
            </a:r>
            <a:r>
              <a:rPr lang="es-VE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Conectividad</a:t>
            </a:r>
            <a:endParaRPr lang="es-VE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3131840" y="1628800"/>
            <a:ext cx="5554960" cy="4525963"/>
          </a:xfrm>
        </p:spPr>
        <p:txBody>
          <a:bodyPr>
            <a:normAutofit fontScale="85000" lnSpcReduction="10000"/>
          </a:bodyPr>
          <a:lstStyle/>
          <a:p>
            <a:r>
              <a:rPr lang="es-VE" b="1" dirty="0" smtClean="0"/>
              <a:t>Acceso inestable</a:t>
            </a:r>
            <a:r>
              <a:rPr lang="es-VE" dirty="0" smtClean="0"/>
              <a:t> a las aplicaciones </a:t>
            </a:r>
            <a:r>
              <a:rPr lang="es-VE" dirty="0"/>
              <a:t>y datos </a:t>
            </a:r>
            <a:r>
              <a:rPr lang="es-VE" dirty="0" smtClean="0"/>
              <a:t>críticos del negocio.</a:t>
            </a:r>
            <a:endParaRPr lang="es-VE" dirty="0"/>
          </a:p>
          <a:p>
            <a:pPr algn="just"/>
            <a:r>
              <a:rPr lang="es-VE" b="1" dirty="0" smtClean="0"/>
              <a:t>Complejidad </a:t>
            </a:r>
            <a:r>
              <a:rPr lang="es-VE" b="1" dirty="0"/>
              <a:t>de gestión </a:t>
            </a:r>
            <a:r>
              <a:rPr lang="es-VE" dirty="0"/>
              <a:t>de la red, especialmente en las localidades remotas.</a:t>
            </a:r>
          </a:p>
          <a:p>
            <a:pPr algn="just"/>
            <a:r>
              <a:rPr lang="es-VE" b="1" dirty="0" smtClean="0"/>
              <a:t>Costos elevados</a:t>
            </a:r>
            <a:r>
              <a:rPr lang="es-VE" dirty="0" smtClean="0"/>
              <a:t> de </a:t>
            </a:r>
            <a:r>
              <a:rPr lang="es-VE" dirty="0"/>
              <a:t>inversiones (CAPEX) y </a:t>
            </a:r>
            <a:r>
              <a:rPr lang="es-VE" dirty="0" smtClean="0"/>
              <a:t>mantenimiento </a:t>
            </a:r>
            <a:r>
              <a:rPr lang="es-VE" dirty="0"/>
              <a:t>(OPEX) en materia de </a:t>
            </a:r>
            <a:r>
              <a:rPr lang="es-VE" dirty="0" smtClean="0"/>
              <a:t>redes.</a:t>
            </a:r>
            <a:endParaRPr lang="es-VE" dirty="0"/>
          </a:p>
          <a:p>
            <a:pPr algn="just"/>
            <a:r>
              <a:rPr lang="es-VE" b="1" dirty="0" smtClean="0"/>
              <a:t>Pésima experiencia</a:t>
            </a:r>
            <a:r>
              <a:rPr lang="es-VE" dirty="0" smtClean="0"/>
              <a:t> manifiesta del </a:t>
            </a:r>
            <a:r>
              <a:rPr lang="es-VE" dirty="0"/>
              <a:t>usuarios </a:t>
            </a:r>
            <a:r>
              <a:rPr lang="es-VE" dirty="0" smtClean="0"/>
              <a:t>final interno,  externo tanto local como remoto.</a:t>
            </a:r>
            <a:endParaRPr lang="es-VE" dirty="0"/>
          </a:p>
        </p:txBody>
      </p:sp>
      <p:pic>
        <p:nvPicPr>
          <p:cNvPr id="58" name="57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848" y="2564904"/>
            <a:ext cx="1466216" cy="1466216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501008"/>
            <a:ext cx="1434089" cy="1440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848" y="4509120"/>
            <a:ext cx="1379984" cy="1379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" name="60 Imagen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704" y="1515776"/>
            <a:ext cx="1481176" cy="1481176"/>
          </a:xfrm>
          <a:prstGeom prst="rect">
            <a:avLst/>
          </a:prstGeom>
        </p:spPr>
      </p:pic>
      <p:pic>
        <p:nvPicPr>
          <p:cNvPr id="9" name="1 Imagen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623" y="5733255"/>
            <a:ext cx="684825" cy="668899"/>
          </a:xfrm>
          <a:prstGeom prst="rect">
            <a:avLst/>
          </a:prstGeom>
        </p:spPr>
      </p:pic>
      <p:pic>
        <p:nvPicPr>
          <p:cNvPr id="10" name="9 Imagen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68" y="5589240"/>
            <a:ext cx="1040253" cy="840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797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solidFill>
            <a:srgbClr val="FF0066"/>
          </a:solidFill>
        </p:spPr>
        <p:txBody>
          <a:bodyPr/>
          <a:lstStyle/>
          <a:p>
            <a:r>
              <a:rPr lang="es-VE" dirty="0" smtClean="0">
                <a:solidFill>
                  <a:schemeClr val="bg1"/>
                </a:solidFill>
              </a:rPr>
              <a:t>Problemática :: </a:t>
            </a:r>
            <a:r>
              <a:rPr lang="es-VE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Seguridad</a:t>
            </a:r>
            <a:endParaRPr lang="es-VE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3059832" y="1628800"/>
            <a:ext cx="5626968" cy="4525963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s-VE" b="1" dirty="0" smtClean="0"/>
              <a:t>Vulnerabilidad</a:t>
            </a:r>
            <a:r>
              <a:rPr lang="es-VE" dirty="0" smtClean="0"/>
              <a:t>  de  aplicaciones críticas y datos esenciales del negocio de amenazas conocidas.</a:t>
            </a:r>
          </a:p>
          <a:p>
            <a:pPr algn="just"/>
            <a:r>
              <a:rPr lang="es-VE" b="1" dirty="0" smtClean="0"/>
              <a:t>Limitada visibilidad y capacidad </a:t>
            </a:r>
            <a:r>
              <a:rPr lang="es-VE" dirty="0" smtClean="0"/>
              <a:t>de maniobra</a:t>
            </a:r>
            <a:r>
              <a:rPr lang="es-VE" b="1" dirty="0" smtClean="0"/>
              <a:t> </a:t>
            </a:r>
            <a:r>
              <a:rPr lang="es-VE" dirty="0" smtClean="0"/>
              <a:t>para identificar y mitigar </a:t>
            </a:r>
            <a:r>
              <a:rPr lang="es-VE" b="1" dirty="0" smtClean="0">
                <a:solidFill>
                  <a:srgbClr val="FF0066"/>
                </a:solidFill>
              </a:rPr>
              <a:t>riesgos y amenazas </a:t>
            </a:r>
            <a:r>
              <a:rPr lang="es-VE" dirty="0" smtClean="0"/>
              <a:t>a la continuidad y recuperabilidad del negocio.</a:t>
            </a:r>
          </a:p>
          <a:p>
            <a:pPr algn="just"/>
            <a:r>
              <a:rPr lang="es-VE" b="1" dirty="0" smtClean="0"/>
              <a:t>Costos elevados </a:t>
            </a:r>
            <a:r>
              <a:rPr lang="es-VE" dirty="0" smtClean="0"/>
              <a:t>en inversiones </a:t>
            </a:r>
            <a:r>
              <a:rPr lang="es-VE" dirty="0"/>
              <a:t>(CAPEX) y </a:t>
            </a:r>
            <a:r>
              <a:rPr lang="es-VE" dirty="0" smtClean="0"/>
              <a:t>mantenimientos </a:t>
            </a:r>
            <a:r>
              <a:rPr lang="es-VE" dirty="0"/>
              <a:t>(OPEX) en materia de </a:t>
            </a:r>
            <a:r>
              <a:rPr lang="es-VE" dirty="0" smtClean="0"/>
              <a:t>seguridad</a:t>
            </a:r>
            <a:r>
              <a:rPr lang="es-VE" dirty="0"/>
              <a:t>.</a:t>
            </a:r>
          </a:p>
          <a:p>
            <a:pPr algn="just"/>
            <a:r>
              <a:rPr lang="es-VE" b="1" dirty="0" smtClean="0"/>
              <a:t>Incumplimiento de regulaciones</a:t>
            </a:r>
            <a:r>
              <a:rPr lang="es-VE" dirty="0" smtClean="0"/>
              <a:t> </a:t>
            </a:r>
            <a:r>
              <a:rPr lang="es-VE" dirty="0"/>
              <a:t>y </a:t>
            </a:r>
            <a:r>
              <a:rPr lang="es-VE" dirty="0" smtClean="0"/>
              <a:t>estándares aplicables al negocio, en especial de continuidad operativa.</a:t>
            </a:r>
            <a:endParaRPr lang="es-VE" dirty="0"/>
          </a:p>
        </p:txBody>
      </p:sp>
      <p:pic>
        <p:nvPicPr>
          <p:cNvPr id="3" name="2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389" y="2131882"/>
            <a:ext cx="1246425" cy="1246425"/>
          </a:xfrm>
          <a:prstGeom prst="rect">
            <a:avLst/>
          </a:prstGeom>
        </p:spPr>
      </p:pic>
      <p:pic>
        <p:nvPicPr>
          <p:cNvPr id="11" name="10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4797152"/>
            <a:ext cx="1180482" cy="1180482"/>
          </a:xfrm>
          <a:prstGeom prst="rect">
            <a:avLst/>
          </a:prstGeom>
        </p:spPr>
      </p:pic>
      <p:pic>
        <p:nvPicPr>
          <p:cNvPr id="8" name="7 Imagen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02" y="1484784"/>
            <a:ext cx="1236015" cy="1236015"/>
          </a:xfrm>
          <a:prstGeom prst="rect">
            <a:avLst/>
          </a:prstGeom>
        </p:spPr>
      </p:pic>
      <p:pic>
        <p:nvPicPr>
          <p:cNvPr id="10" name="1 Imagen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7076" y="5760069"/>
            <a:ext cx="657372" cy="642085"/>
          </a:xfrm>
          <a:prstGeom prst="rect">
            <a:avLst/>
          </a:prstGeom>
        </p:spPr>
      </p:pic>
      <p:pic>
        <p:nvPicPr>
          <p:cNvPr id="12" name="11 Imagen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69" y="5661248"/>
            <a:ext cx="951100" cy="768196"/>
          </a:xfrm>
          <a:prstGeom prst="rect">
            <a:avLst/>
          </a:prstGeom>
        </p:spPr>
      </p:pic>
      <p:grpSp>
        <p:nvGrpSpPr>
          <p:cNvPr id="13" name="12 Grupo"/>
          <p:cNvGrpSpPr/>
          <p:nvPr/>
        </p:nvGrpSpPr>
        <p:grpSpPr>
          <a:xfrm>
            <a:off x="1831219" y="3485673"/>
            <a:ext cx="1233090" cy="1262513"/>
            <a:chOff x="475574" y="3506475"/>
            <a:chExt cx="1386059" cy="1368152"/>
          </a:xfrm>
        </p:grpSpPr>
        <p:sp>
          <p:nvSpPr>
            <p:cNvPr id="9" name="8 Elipse"/>
            <p:cNvSpPr/>
            <p:nvPr/>
          </p:nvSpPr>
          <p:spPr>
            <a:xfrm>
              <a:off x="475574" y="3506475"/>
              <a:ext cx="1386059" cy="1368152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/>
            </a:p>
          </p:txBody>
        </p:sp>
        <p:pic>
          <p:nvPicPr>
            <p:cNvPr id="6" name="5 Imagen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3568" y="3645024"/>
              <a:ext cx="1123964" cy="1123964"/>
            </a:xfrm>
            <a:prstGeom prst="rect">
              <a:avLst/>
            </a:prstGeom>
          </p:spPr>
        </p:pic>
      </p:grp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279" y="4295096"/>
            <a:ext cx="1244131" cy="124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14 Imagen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192" y="2924944"/>
            <a:ext cx="1245525" cy="124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23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s-VE" sz="5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:: Causa ::</a:t>
            </a:r>
            <a:endParaRPr lang="es-VE" sz="5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6" name="2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383" y="2883579"/>
            <a:ext cx="1147192" cy="1147192"/>
          </a:xfrm>
          <a:prstGeom prst="rect">
            <a:avLst/>
          </a:prstGeom>
        </p:spPr>
      </p:pic>
      <p:pic>
        <p:nvPicPr>
          <p:cNvPr id="27" name="26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4415" y="4430871"/>
            <a:ext cx="691830" cy="691830"/>
          </a:xfrm>
          <a:prstGeom prst="rect">
            <a:avLst/>
          </a:prstGeom>
        </p:spPr>
      </p:pic>
      <p:pic>
        <p:nvPicPr>
          <p:cNvPr id="28" name="27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161" y="5694169"/>
            <a:ext cx="747636" cy="747636"/>
          </a:xfrm>
          <a:prstGeom prst="rect">
            <a:avLst/>
          </a:prstGeom>
        </p:spPr>
      </p:pic>
      <p:sp>
        <p:nvSpPr>
          <p:cNvPr id="33" name="32 Nube"/>
          <p:cNvSpPr/>
          <p:nvPr/>
        </p:nvSpPr>
        <p:spPr>
          <a:xfrm>
            <a:off x="3880441" y="1704094"/>
            <a:ext cx="1524254" cy="864096"/>
          </a:xfrm>
          <a:prstGeom prst="cloud">
            <a:avLst/>
          </a:prstGeom>
          <a:solidFill>
            <a:srgbClr val="FF0066"/>
          </a:solidFill>
          <a:ln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b="1" dirty="0" smtClean="0"/>
              <a:t>Internet</a:t>
            </a:r>
            <a:endParaRPr lang="es-ES" b="1" dirty="0"/>
          </a:p>
        </p:txBody>
      </p:sp>
      <p:cxnSp>
        <p:nvCxnSpPr>
          <p:cNvPr id="34" name="33 Conector recto"/>
          <p:cNvCxnSpPr>
            <a:stCxn id="26" idx="0"/>
            <a:endCxn id="33" idx="1"/>
          </p:cNvCxnSpPr>
          <p:nvPr/>
        </p:nvCxnSpPr>
        <p:spPr>
          <a:xfrm flipV="1">
            <a:off x="4636979" y="2567270"/>
            <a:ext cx="5589" cy="316309"/>
          </a:xfrm>
          <a:prstGeom prst="line">
            <a:avLst/>
          </a:prstGeom>
          <a:ln w="47625">
            <a:solidFill>
              <a:srgbClr val="FF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47 Conector recto"/>
          <p:cNvCxnSpPr>
            <a:stCxn id="27" idx="3"/>
            <a:endCxn id="26" idx="2"/>
          </p:cNvCxnSpPr>
          <p:nvPr/>
        </p:nvCxnSpPr>
        <p:spPr>
          <a:xfrm flipV="1">
            <a:off x="3576245" y="4030771"/>
            <a:ext cx="1060734" cy="746015"/>
          </a:xfrm>
          <a:prstGeom prst="line">
            <a:avLst/>
          </a:prstGeom>
          <a:ln w="4762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56 Conector recto"/>
          <p:cNvCxnSpPr>
            <a:stCxn id="28" idx="0"/>
            <a:endCxn id="47" idx="1"/>
          </p:cNvCxnSpPr>
          <p:nvPr/>
        </p:nvCxnSpPr>
        <p:spPr>
          <a:xfrm flipV="1">
            <a:off x="4636979" y="5123599"/>
            <a:ext cx="4396" cy="570570"/>
          </a:xfrm>
          <a:prstGeom prst="line">
            <a:avLst/>
          </a:prstGeom>
          <a:ln w="4762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61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4593" y="4420799"/>
            <a:ext cx="736872" cy="736872"/>
          </a:xfrm>
          <a:prstGeom prst="rect">
            <a:avLst/>
          </a:prstGeom>
        </p:spPr>
      </p:pic>
      <p:cxnSp>
        <p:nvCxnSpPr>
          <p:cNvPr id="65" name="64 Conector recto"/>
          <p:cNvCxnSpPr>
            <a:stCxn id="33" idx="0"/>
            <a:endCxn id="62" idx="0"/>
          </p:cNvCxnSpPr>
          <p:nvPr/>
        </p:nvCxnSpPr>
        <p:spPr>
          <a:xfrm>
            <a:off x="5403425" y="2136142"/>
            <a:ext cx="629604" cy="2284657"/>
          </a:xfrm>
          <a:prstGeom prst="line">
            <a:avLst/>
          </a:prstGeom>
          <a:ln w="47625">
            <a:solidFill>
              <a:srgbClr val="FF006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70 Conector recto"/>
          <p:cNvCxnSpPr>
            <a:stCxn id="47" idx="2"/>
            <a:endCxn id="27" idx="3"/>
          </p:cNvCxnSpPr>
          <p:nvPr/>
        </p:nvCxnSpPr>
        <p:spPr>
          <a:xfrm flipH="1" flipV="1">
            <a:off x="3576245" y="4776786"/>
            <a:ext cx="630134" cy="5477"/>
          </a:xfrm>
          <a:prstGeom prst="line">
            <a:avLst/>
          </a:prstGeom>
          <a:ln w="4762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8 Grupo"/>
          <p:cNvGrpSpPr/>
          <p:nvPr/>
        </p:nvGrpSpPr>
        <p:grpSpPr>
          <a:xfrm>
            <a:off x="4203664" y="4030771"/>
            <a:ext cx="1460929" cy="1093556"/>
            <a:chOff x="4203664" y="4030771"/>
            <a:chExt cx="1460929" cy="1093556"/>
          </a:xfrm>
        </p:grpSpPr>
        <p:sp>
          <p:nvSpPr>
            <p:cNvPr id="47" name="46 Nube"/>
            <p:cNvSpPr/>
            <p:nvPr/>
          </p:nvSpPr>
          <p:spPr>
            <a:xfrm>
              <a:off x="4203664" y="4440199"/>
              <a:ext cx="875421" cy="684128"/>
            </a:xfrm>
            <a:prstGeom prst="cloud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b="1" dirty="0"/>
            </a:p>
          </p:txBody>
        </p:sp>
        <p:cxnSp>
          <p:nvCxnSpPr>
            <p:cNvPr id="68" name="67 Conector recto"/>
            <p:cNvCxnSpPr>
              <a:stCxn id="47" idx="3"/>
              <a:endCxn id="26" idx="2"/>
            </p:cNvCxnSpPr>
            <p:nvPr/>
          </p:nvCxnSpPr>
          <p:spPr>
            <a:xfrm flipH="1" flipV="1">
              <a:off x="4636979" y="4030771"/>
              <a:ext cx="4396" cy="448544"/>
            </a:xfrm>
            <a:prstGeom prst="line">
              <a:avLst/>
            </a:prstGeom>
            <a:ln w="4762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73 Conector recto"/>
            <p:cNvCxnSpPr>
              <a:stCxn id="62" idx="1"/>
              <a:endCxn id="47" idx="0"/>
            </p:cNvCxnSpPr>
            <p:nvPr/>
          </p:nvCxnSpPr>
          <p:spPr>
            <a:xfrm flipH="1" flipV="1">
              <a:off x="5078355" y="4782263"/>
              <a:ext cx="586238" cy="6972"/>
            </a:xfrm>
            <a:prstGeom prst="line">
              <a:avLst/>
            </a:prstGeom>
            <a:ln w="47625">
              <a:solidFill>
                <a:srgbClr val="0070C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3" name="82 Conector recto"/>
          <p:cNvCxnSpPr>
            <a:stCxn id="27" idx="0"/>
            <a:endCxn id="33" idx="2"/>
          </p:cNvCxnSpPr>
          <p:nvPr/>
        </p:nvCxnSpPr>
        <p:spPr>
          <a:xfrm flipV="1">
            <a:off x="3230330" y="2136142"/>
            <a:ext cx="654839" cy="2294729"/>
          </a:xfrm>
          <a:prstGeom prst="line">
            <a:avLst/>
          </a:prstGeom>
          <a:ln w="47625">
            <a:solidFill>
              <a:srgbClr val="FF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130 CuadroTexto"/>
          <p:cNvSpPr txBox="1"/>
          <p:nvPr/>
        </p:nvSpPr>
        <p:spPr>
          <a:xfrm>
            <a:off x="7453953" y="5653546"/>
            <a:ext cx="1100906" cy="36933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419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Carrier A</a:t>
            </a:r>
            <a:endParaRPr lang="es-E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2" name="131 CuadroTexto"/>
          <p:cNvSpPr txBox="1"/>
          <p:nvPr/>
        </p:nvSpPr>
        <p:spPr>
          <a:xfrm>
            <a:off x="7453953" y="6050215"/>
            <a:ext cx="1100906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419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Carrier</a:t>
            </a:r>
            <a:r>
              <a:rPr lang="es-419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</a:t>
            </a:r>
            <a:endParaRPr lang="es-E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35" name="134 Conector recto"/>
          <p:cNvCxnSpPr>
            <a:stCxn id="28" idx="0"/>
            <a:endCxn id="62" idx="1"/>
          </p:cNvCxnSpPr>
          <p:nvPr/>
        </p:nvCxnSpPr>
        <p:spPr>
          <a:xfrm flipV="1">
            <a:off x="4636979" y="4789235"/>
            <a:ext cx="1027614" cy="904934"/>
          </a:xfrm>
          <a:prstGeom prst="line">
            <a:avLst/>
          </a:prstGeom>
          <a:ln w="4762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144 CuadroTexto"/>
          <p:cNvSpPr txBox="1"/>
          <p:nvPr/>
        </p:nvSpPr>
        <p:spPr>
          <a:xfrm>
            <a:off x="6570090" y="4367100"/>
            <a:ext cx="1420924" cy="64633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419" b="1" dirty="0" smtClean="0">
                <a:solidFill>
                  <a:schemeClr val="bg1"/>
                </a:solidFill>
              </a:rPr>
              <a:t>Punto-Punto</a:t>
            </a:r>
          </a:p>
          <a:p>
            <a:pPr algn="ctr"/>
            <a:r>
              <a:rPr lang="es-419" b="1" dirty="0" smtClean="0">
                <a:solidFill>
                  <a:schemeClr val="bg1"/>
                </a:solidFill>
              </a:rPr>
              <a:t>Multi-Punto</a:t>
            </a:r>
            <a:endParaRPr lang="es-ES" b="1" dirty="0">
              <a:solidFill>
                <a:schemeClr val="bg1"/>
              </a:solidFill>
            </a:endParaRPr>
          </a:p>
        </p:txBody>
      </p:sp>
      <p:pic>
        <p:nvPicPr>
          <p:cNvPr id="161" name="160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2588" y="4058817"/>
            <a:ext cx="616566" cy="616566"/>
          </a:xfrm>
          <a:prstGeom prst="rect">
            <a:avLst/>
          </a:prstGeom>
        </p:spPr>
      </p:pic>
      <p:pic>
        <p:nvPicPr>
          <p:cNvPr id="162" name="161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4285" y="2725424"/>
            <a:ext cx="616566" cy="616566"/>
          </a:xfrm>
          <a:prstGeom prst="rect">
            <a:avLst/>
          </a:prstGeom>
        </p:spPr>
      </p:pic>
      <p:sp>
        <p:nvSpPr>
          <p:cNvPr id="43" name="42 CuadroTexto"/>
          <p:cNvSpPr txBox="1"/>
          <p:nvPr/>
        </p:nvSpPr>
        <p:spPr>
          <a:xfrm>
            <a:off x="467544" y="1543040"/>
            <a:ext cx="1609438" cy="738664"/>
          </a:xfrm>
          <a:prstGeom prst="rect">
            <a:avLst/>
          </a:prstGeom>
          <a:solidFill>
            <a:srgbClr val="CCFF3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419" sz="1400" b="1" dirty="0" smtClean="0"/>
              <a:t>Arquitectura</a:t>
            </a:r>
          </a:p>
          <a:p>
            <a:pPr algn="ctr"/>
            <a:r>
              <a:rPr lang="es-419" sz="1400" b="1" dirty="0" smtClean="0"/>
              <a:t>Orientada a la</a:t>
            </a:r>
          </a:p>
          <a:p>
            <a:pPr algn="ctr"/>
            <a:r>
              <a:rPr lang="es-419" sz="1400" b="1" dirty="0" smtClean="0"/>
              <a:t>Conexión</a:t>
            </a:r>
            <a:endParaRPr lang="es-ES" sz="1400" b="1" dirty="0"/>
          </a:p>
        </p:txBody>
      </p:sp>
      <p:sp>
        <p:nvSpPr>
          <p:cNvPr id="44" name="43 CuadroTexto"/>
          <p:cNvSpPr txBox="1"/>
          <p:nvPr/>
        </p:nvSpPr>
        <p:spPr>
          <a:xfrm>
            <a:off x="459484" y="2306580"/>
            <a:ext cx="1609438" cy="523220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419" sz="1400" b="1" dirty="0" smtClean="0">
                <a:solidFill>
                  <a:schemeClr val="bg1"/>
                </a:solidFill>
              </a:rPr>
              <a:t>Desempeño de la</a:t>
            </a:r>
          </a:p>
          <a:p>
            <a:pPr algn="ctr"/>
            <a:r>
              <a:rPr lang="es-419" sz="1400" b="1" dirty="0" smtClean="0">
                <a:solidFill>
                  <a:schemeClr val="bg1"/>
                </a:solidFill>
              </a:rPr>
              <a:t>Plataforma</a:t>
            </a:r>
            <a:endParaRPr lang="es-ES" sz="1400" b="1" dirty="0" smtClean="0">
              <a:solidFill>
                <a:schemeClr val="bg1"/>
              </a:solidFill>
            </a:endParaRPr>
          </a:p>
        </p:txBody>
      </p:sp>
      <p:sp>
        <p:nvSpPr>
          <p:cNvPr id="29" name="28 CuadroTexto"/>
          <p:cNvSpPr txBox="1"/>
          <p:nvPr/>
        </p:nvSpPr>
        <p:spPr>
          <a:xfrm>
            <a:off x="2379381" y="1766810"/>
            <a:ext cx="1420924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VE" b="1" dirty="0" smtClean="0">
                <a:solidFill>
                  <a:schemeClr val="bg1"/>
                </a:solidFill>
              </a:rPr>
              <a:t>Seguridad</a:t>
            </a:r>
            <a:endParaRPr lang="es-419" b="1" dirty="0" smtClean="0">
              <a:solidFill>
                <a:schemeClr val="bg1"/>
              </a:solidFill>
            </a:endParaRPr>
          </a:p>
        </p:txBody>
      </p:sp>
      <p:pic>
        <p:nvPicPr>
          <p:cNvPr id="31" name="1 Imagen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101" y="5865976"/>
            <a:ext cx="536130" cy="523662"/>
          </a:xfrm>
          <a:prstGeom prst="rect">
            <a:avLst/>
          </a:prstGeom>
        </p:spPr>
      </p:pic>
      <p:pic>
        <p:nvPicPr>
          <p:cNvPr id="32" name="31 Imagen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5826170"/>
            <a:ext cx="746911" cy="603274"/>
          </a:xfrm>
          <a:prstGeom prst="rect">
            <a:avLst/>
          </a:prstGeom>
        </p:spPr>
      </p:pic>
      <p:pic>
        <p:nvPicPr>
          <p:cNvPr id="30" name="29 Imagen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07313">
            <a:off x="6303584" y="1832556"/>
            <a:ext cx="1397914" cy="1397914"/>
          </a:xfrm>
          <a:prstGeom prst="rect">
            <a:avLst/>
          </a:prstGeom>
        </p:spPr>
      </p:pic>
      <p:sp>
        <p:nvSpPr>
          <p:cNvPr id="2" name="1 CuadroTexto"/>
          <p:cNvSpPr txBox="1"/>
          <p:nvPr/>
        </p:nvSpPr>
        <p:spPr>
          <a:xfrm>
            <a:off x="6129595" y="2985607"/>
            <a:ext cx="17458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b="1" dirty="0" smtClean="0"/>
              <a:t>¿Dónde nació  el Negocio / TI?</a:t>
            </a:r>
            <a:endParaRPr lang="es-VE" b="1" dirty="0"/>
          </a:p>
        </p:txBody>
      </p:sp>
    </p:spTree>
    <p:extLst>
      <p:ext uri="{BB962C8B-B14F-4D97-AF65-F5344CB8AC3E}">
        <p14:creationId xmlns:p14="http://schemas.microsoft.com/office/powerpoint/2010/main" val="2051870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131" grpId="0" animBg="1"/>
      <p:bldP spid="132" grpId="0" animBg="1"/>
      <p:bldP spid="145" grpId="0" animBg="1"/>
      <p:bldP spid="43" grpId="0" animBg="1"/>
      <p:bldP spid="44" grpId="0" animBg="1"/>
      <p:bldP spid="29" grpId="0" animBg="1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899592" y="2251909"/>
            <a:ext cx="7344816" cy="357701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s-VE" sz="5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:: Efecto ::</a:t>
            </a:r>
            <a:endParaRPr lang="es-VE" sz="5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9" name="168 CuadroTexto"/>
          <p:cNvSpPr txBox="1"/>
          <p:nvPr/>
        </p:nvSpPr>
        <p:spPr>
          <a:xfrm>
            <a:off x="3635896" y="5852740"/>
            <a:ext cx="2165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2800" b="1" dirty="0" smtClean="0"/>
              <a:t>Seguridad</a:t>
            </a:r>
            <a:endParaRPr lang="es-ES" sz="2400" b="1" dirty="0"/>
          </a:p>
        </p:txBody>
      </p:sp>
      <p:sp>
        <p:nvSpPr>
          <p:cNvPr id="170" name="169 CuadroTexto"/>
          <p:cNvSpPr txBox="1"/>
          <p:nvPr/>
        </p:nvSpPr>
        <p:spPr>
          <a:xfrm>
            <a:off x="3558952" y="1772816"/>
            <a:ext cx="2165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2800" b="1" dirty="0" smtClean="0"/>
              <a:t>Red</a:t>
            </a:r>
            <a:endParaRPr lang="es-ES" sz="2400" b="1" dirty="0"/>
          </a:p>
        </p:txBody>
      </p:sp>
      <p:sp>
        <p:nvSpPr>
          <p:cNvPr id="177" name="176 CuadroTexto"/>
          <p:cNvSpPr txBox="1"/>
          <p:nvPr/>
        </p:nvSpPr>
        <p:spPr>
          <a:xfrm>
            <a:off x="3666376" y="6300028"/>
            <a:ext cx="2088232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419" b="1" i="1" dirty="0" smtClean="0">
                <a:solidFill>
                  <a:schemeClr val="bg1"/>
                </a:solidFill>
              </a:rPr>
              <a:t>Sub-estimación</a:t>
            </a:r>
            <a:endParaRPr lang="es-ES" b="1" i="1" dirty="0">
              <a:solidFill>
                <a:schemeClr val="bg1"/>
              </a:solidFill>
            </a:endParaRPr>
          </a:p>
        </p:txBody>
      </p:sp>
      <p:sp>
        <p:nvSpPr>
          <p:cNvPr id="178" name="177 CuadroTexto"/>
          <p:cNvSpPr txBox="1"/>
          <p:nvPr/>
        </p:nvSpPr>
        <p:spPr>
          <a:xfrm>
            <a:off x="3778385" y="1489854"/>
            <a:ext cx="1868380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419" b="1" i="1" dirty="0" smtClean="0">
                <a:solidFill>
                  <a:schemeClr val="bg1"/>
                </a:solidFill>
              </a:rPr>
              <a:t>Sobre-estimación</a:t>
            </a:r>
            <a:endParaRPr lang="es-ES" b="1" i="1" dirty="0">
              <a:solidFill>
                <a:schemeClr val="bg1"/>
              </a:solidFill>
            </a:endParaRPr>
          </a:p>
        </p:txBody>
      </p:sp>
      <p:grpSp>
        <p:nvGrpSpPr>
          <p:cNvPr id="10" name="Grupo 9"/>
          <p:cNvGrpSpPr/>
          <p:nvPr/>
        </p:nvGrpSpPr>
        <p:grpSpPr>
          <a:xfrm>
            <a:off x="770580" y="1988840"/>
            <a:ext cx="7741920" cy="4121557"/>
            <a:chOff x="770580" y="1988840"/>
            <a:chExt cx="7741920" cy="4121557"/>
          </a:xfrm>
        </p:grpSpPr>
        <p:grpSp>
          <p:nvGrpSpPr>
            <p:cNvPr id="3" name="Grupo 2"/>
            <p:cNvGrpSpPr/>
            <p:nvPr/>
          </p:nvGrpSpPr>
          <p:grpSpPr>
            <a:xfrm>
              <a:off x="770580" y="1988840"/>
              <a:ext cx="7741920" cy="4121557"/>
              <a:chOff x="701040" y="1989682"/>
              <a:chExt cx="7741920" cy="4121557"/>
            </a:xfrm>
          </p:grpSpPr>
          <p:sp>
            <p:nvSpPr>
              <p:cNvPr id="22" name="Rectángulo 21"/>
              <p:cNvSpPr/>
              <p:nvPr/>
            </p:nvSpPr>
            <p:spPr>
              <a:xfrm>
                <a:off x="763832" y="2165397"/>
                <a:ext cx="7679128" cy="379402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sz="2400"/>
              </a:p>
            </p:txBody>
          </p:sp>
          <p:sp>
            <p:nvSpPr>
              <p:cNvPr id="2" name="Forma libre 1"/>
              <p:cNvSpPr/>
              <p:nvPr/>
            </p:nvSpPr>
            <p:spPr>
              <a:xfrm>
                <a:off x="701040" y="1989682"/>
                <a:ext cx="7741920" cy="4121557"/>
              </a:xfrm>
              <a:custGeom>
                <a:avLst/>
                <a:gdLst>
                  <a:gd name="connsiteX0" fmla="*/ 4450080 w 7741920"/>
                  <a:gd name="connsiteY0" fmla="*/ 198120 h 4160520"/>
                  <a:gd name="connsiteX1" fmla="*/ 4450080 w 7741920"/>
                  <a:gd name="connsiteY1" fmla="*/ 198120 h 4160520"/>
                  <a:gd name="connsiteX2" fmla="*/ 5013960 w 7741920"/>
                  <a:gd name="connsiteY2" fmla="*/ 182880 h 4160520"/>
                  <a:gd name="connsiteX3" fmla="*/ 5151120 w 7741920"/>
                  <a:gd name="connsiteY3" fmla="*/ 152400 h 4160520"/>
                  <a:gd name="connsiteX4" fmla="*/ 5212080 w 7741920"/>
                  <a:gd name="connsiteY4" fmla="*/ 91440 h 4160520"/>
                  <a:gd name="connsiteX5" fmla="*/ 5257800 w 7741920"/>
                  <a:gd name="connsiteY5" fmla="*/ 76200 h 4160520"/>
                  <a:gd name="connsiteX6" fmla="*/ 5303520 w 7741920"/>
                  <a:gd name="connsiteY6" fmla="*/ 45720 h 4160520"/>
                  <a:gd name="connsiteX7" fmla="*/ 5410200 w 7741920"/>
                  <a:gd name="connsiteY7" fmla="*/ 15240 h 4160520"/>
                  <a:gd name="connsiteX8" fmla="*/ 5455920 w 7741920"/>
                  <a:gd name="connsiteY8" fmla="*/ 0 h 4160520"/>
                  <a:gd name="connsiteX9" fmla="*/ 5593080 w 7741920"/>
                  <a:gd name="connsiteY9" fmla="*/ 15240 h 4160520"/>
                  <a:gd name="connsiteX10" fmla="*/ 5775960 w 7741920"/>
                  <a:gd name="connsiteY10" fmla="*/ 60960 h 4160520"/>
                  <a:gd name="connsiteX11" fmla="*/ 5928360 w 7741920"/>
                  <a:gd name="connsiteY11" fmla="*/ 106680 h 4160520"/>
                  <a:gd name="connsiteX12" fmla="*/ 6202680 w 7741920"/>
                  <a:gd name="connsiteY12" fmla="*/ 91440 h 4160520"/>
                  <a:gd name="connsiteX13" fmla="*/ 6355080 w 7741920"/>
                  <a:gd name="connsiteY13" fmla="*/ 45720 h 4160520"/>
                  <a:gd name="connsiteX14" fmla="*/ 6507480 w 7741920"/>
                  <a:gd name="connsiteY14" fmla="*/ 30480 h 4160520"/>
                  <a:gd name="connsiteX15" fmla="*/ 6690360 w 7741920"/>
                  <a:gd name="connsiteY15" fmla="*/ 45720 h 4160520"/>
                  <a:gd name="connsiteX16" fmla="*/ 6705600 w 7741920"/>
                  <a:gd name="connsiteY16" fmla="*/ 91440 h 4160520"/>
                  <a:gd name="connsiteX17" fmla="*/ 6751320 w 7741920"/>
                  <a:gd name="connsiteY17" fmla="*/ 167640 h 4160520"/>
                  <a:gd name="connsiteX18" fmla="*/ 6827520 w 7741920"/>
                  <a:gd name="connsiteY18" fmla="*/ 320040 h 4160520"/>
                  <a:gd name="connsiteX19" fmla="*/ 6858000 w 7741920"/>
                  <a:gd name="connsiteY19" fmla="*/ 381000 h 4160520"/>
                  <a:gd name="connsiteX20" fmla="*/ 6918960 w 7741920"/>
                  <a:gd name="connsiteY20" fmla="*/ 441960 h 4160520"/>
                  <a:gd name="connsiteX21" fmla="*/ 6979920 w 7741920"/>
                  <a:gd name="connsiteY21" fmla="*/ 533400 h 4160520"/>
                  <a:gd name="connsiteX22" fmla="*/ 7056120 w 7741920"/>
                  <a:gd name="connsiteY22" fmla="*/ 563880 h 4160520"/>
                  <a:gd name="connsiteX23" fmla="*/ 7178040 w 7741920"/>
                  <a:gd name="connsiteY23" fmla="*/ 640080 h 4160520"/>
                  <a:gd name="connsiteX24" fmla="*/ 7299960 w 7741920"/>
                  <a:gd name="connsiteY24" fmla="*/ 670560 h 4160520"/>
                  <a:gd name="connsiteX25" fmla="*/ 7406640 w 7741920"/>
                  <a:gd name="connsiteY25" fmla="*/ 701040 h 4160520"/>
                  <a:gd name="connsiteX26" fmla="*/ 7498080 w 7741920"/>
                  <a:gd name="connsiteY26" fmla="*/ 746760 h 4160520"/>
                  <a:gd name="connsiteX27" fmla="*/ 7543800 w 7741920"/>
                  <a:gd name="connsiteY27" fmla="*/ 792480 h 4160520"/>
                  <a:gd name="connsiteX28" fmla="*/ 7650480 w 7741920"/>
                  <a:gd name="connsiteY28" fmla="*/ 883920 h 4160520"/>
                  <a:gd name="connsiteX29" fmla="*/ 7680960 w 7741920"/>
                  <a:gd name="connsiteY29" fmla="*/ 929640 h 4160520"/>
                  <a:gd name="connsiteX30" fmla="*/ 7696200 w 7741920"/>
                  <a:gd name="connsiteY30" fmla="*/ 990600 h 4160520"/>
                  <a:gd name="connsiteX31" fmla="*/ 7741920 w 7741920"/>
                  <a:gd name="connsiteY31" fmla="*/ 1127760 h 4160520"/>
                  <a:gd name="connsiteX32" fmla="*/ 7726680 w 7741920"/>
                  <a:gd name="connsiteY32" fmla="*/ 1463040 h 4160520"/>
                  <a:gd name="connsiteX33" fmla="*/ 7696200 w 7741920"/>
                  <a:gd name="connsiteY33" fmla="*/ 1508760 h 4160520"/>
                  <a:gd name="connsiteX34" fmla="*/ 7665720 w 7741920"/>
                  <a:gd name="connsiteY34" fmla="*/ 1600200 h 4160520"/>
                  <a:gd name="connsiteX35" fmla="*/ 7604760 w 7741920"/>
                  <a:gd name="connsiteY35" fmla="*/ 1691640 h 4160520"/>
                  <a:gd name="connsiteX36" fmla="*/ 7543800 w 7741920"/>
                  <a:gd name="connsiteY36" fmla="*/ 1813560 h 4160520"/>
                  <a:gd name="connsiteX37" fmla="*/ 7513320 w 7741920"/>
                  <a:gd name="connsiteY37" fmla="*/ 1859280 h 4160520"/>
                  <a:gd name="connsiteX38" fmla="*/ 7498080 w 7741920"/>
                  <a:gd name="connsiteY38" fmla="*/ 1905000 h 4160520"/>
                  <a:gd name="connsiteX39" fmla="*/ 7467600 w 7741920"/>
                  <a:gd name="connsiteY39" fmla="*/ 1965960 h 4160520"/>
                  <a:gd name="connsiteX40" fmla="*/ 7437120 w 7741920"/>
                  <a:gd name="connsiteY40" fmla="*/ 2118360 h 4160520"/>
                  <a:gd name="connsiteX41" fmla="*/ 7421880 w 7741920"/>
                  <a:gd name="connsiteY41" fmla="*/ 2194560 h 4160520"/>
                  <a:gd name="connsiteX42" fmla="*/ 7452360 w 7741920"/>
                  <a:gd name="connsiteY42" fmla="*/ 2286000 h 4160520"/>
                  <a:gd name="connsiteX43" fmla="*/ 7528560 w 7741920"/>
                  <a:gd name="connsiteY43" fmla="*/ 2377440 h 4160520"/>
                  <a:gd name="connsiteX44" fmla="*/ 7574280 w 7741920"/>
                  <a:gd name="connsiteY44" fmla="*/ 2423160 h 4160520"/>
                  <a:gd name="connsiteX45" fmla="*/ 7696200 w 7741920"/>
                  <a:gd name="connsiteY45" fmla="*/ 2727960 h 4160520"/>
                  <a:gd name="connsiteX46" fmla="*/ 7680960 w 7741920"/>
                  <a:gd name="connsiteY46" fmla="*/ 3215640 h 4160520"/>
                  <a:gd name="connsiteX47" fmla="*/ 7620000 w 7741920"/>
                  <a:gd name="connsiteY47" fmla="*/ 3307080 h 4160520"/>
                  <a:gd name="connsiteX48" fmla="*/ 7513320 w 7741920"/>
                  <a:gd name="connsiteY48" fmla="*/ 3429000 h 4160520"/>
                  <a:gd name="connsiteX49" fmla="*/ 7437120 w 7741920"/>
                  <a:gd name="connsiteY49" fmla="*/ 3459480 h 4160520"/>
                  <a:gd name="connsiteX50" fmla="*/ 7391400 w 7741920"/>
                  <a:gd name="connsiteY50" fmla="*/ 3489960 h 4160520"/>
                  <a:gd name="connsiteX51" fmla="*/ 7330440 w 7741920"/>
                  <a:gd name="connsiteY51" fmla="*/ 3535680 h 4160520"/>
                  <a:gd name="connsiteX52" fmla="*/ 7239000 w 7741920"/>
                  <a:gd name="connsiteY52" fmla="*/ 3550920 h 4160520"/>
                  <a:gd name="connsiteX53" fmla="*/ 7162800 w 7741920"/>
                  <a:gd name="connsiteY53" fmla="*/ 3566160 h 4160520"/>
                  <a:gd name="connsiteX54" fmla="*/ 6873240 w 7741920"/>
                  <a:gd name="connsiteY54" fmla="*/ 3596640 h 4160520"/>
                  <a:gd name="connsiteX55" fmla="*/ 6827520 w 7741920"/>
                  <a:gd name="connsiteY55" fmla="*/ 3611880 h 4160520"/>
                  <a:gd name="connsiteX56" fmla="*/ 6736080 w 7741920"/>
                  <a:gd name="connsiteY56" fmla="*/ 3627120 h 4160520"/>
                  <a:gd name="connsiteX57" fmla="*/ 6675120 w 7741920"/>
                  <a:gd name="connsiteY57" fmla="*/ 3657600 h 4160520"/>
                  <a:gd name="connsiteX58" fmla="*/ 6614160 w 7741920"/>
                  <a:gd name="connsiteY58" fmla="*/ 3672840 h 4160520"/>
                  <a:gd name="connsiteX59" fmla="*/ 6568440 w 7741920"/>
                  <a:gd name="connsiteY59" fmla="*/ 3703320 h 4160520"/>
                  <a:gd name="connsiteX60" fmla="*/ 6507480 w 7741920"/>
                  <a:gd name="connsiteY60" fmla="*/ 3733800 h 4160520"/>
                  <a:gd name="connsiteX61" fmla="*/ 6400800 w 7741920"/>
                  <a:gd name="connsiteY61" fmla="*/ 3840480 h 4160520"/>
                  <a:gd name="connsiteX62" fmla="*/ 6355080 w 7741920"/>
                  <a:gd name="connsiteY62" fmla="*/ 3886200 h 4160520"/>
                  <a:gd name="connsiteX63" fmla="*/ 6187440 w 7741920"/>
                  <a:gd name="connsiteY63" fmla="*/ 3931920 h 4160520"/>
                  <a:gd name="connsiteX64" fmla="*/ 5745480 w 7741920"/>
                  <a:gd name="connsiteY64" fmla="*/ 3916680 h 4160520"/>
                  <a:gd name="connsiteX65" fmla="*/ 5699760 w 7741920"/>
                  <a:gd name="connsiteY65" fmla="*/ 3886200 h 4160520"/>
                  <a:gd name="connsiteX66" fmla="*/ 5654040 w 7741920"/>
                  <a:gd name="connsiteY66" fmla="*/ 3901440 h 4160520"/>
                  <a:gd name="connsiteX67" fmla="*/ 5593080 w 7741920"/>
                  <a:gd name="connsiteY67" fmla="*/ 3916680 h 4160520"/>
                  <a:gd name="connsiteX68" fmla="*/ 5379720 w 7741920"/>
                  <a:gd name="connsiteY68" fmla="*/ 3931920 h 4160520"/>
                  <a:gd name="connsiteX69" fmla="*/ 5242560 w 7741920"/>
                  <a:gd name="connsiteY69" fmla="*/ 3947160 h 4160520"/>
                  <a:gd name="connsiteX70" fmla="*/ 5181600 w 7741920"/>
                  <a:gd name="connsiteY70" fmla="*/ 3962400 h 4160520"/>
                  <a:gd name="connsiteX71" fmla="*/ 5059680 w 7741920"/>
                  <a:gd name="connsiteY71" fmla="*/ 4023360 h 4160520"/>
                  <a:gd name="connsiteX72" fmla="*/ 4953000 w 7741920"/>
                  <a:gd name="connsiteY72" fmla="*/ 4038600 h 4160520"/>
                  <a:gd name="connsiteX73" fmla="*/ 4663440 w 7741920"/>
                  <a:gd name="connsiteY73" fmla="*/ 4023360 h 4160520"/>
                  <a:gd name="connsiteX74" fmla="*/ 4602480 w 7741920"/>
                  <a:gd name="connsiteY74" fmla="*/ 4008120 h 4160520"/>
                  <a:gd name="connsiteX75" fmla="*/ 4526280 w 7741920"/>
                  <a:gd name="connsiteY75" fmla="*/ 3992880 h 4160520"/>
                  <a:gd name="connsiteX76" fmla="*/ 4450080 w 7741920"/>
                  <a:gd name="connsiteY76" fmla="*/ 3947160 h 4160520"/>
                  <a:gd name="connsiteX77" fmla="*/ 4206240 w 7741920"/>
                  <a:gd name="connsiteY77" fmla="*/ 3916680 h 4160520"/>
                  <a:gd name="connsiteX78" fmla="*/ 4038600 w 7741920"/>
                  <a:gd name="connsiteY78" fmla="*/ 3870960 h 4160520"/>
                  <a:gd name="connsiteX79" fmla="*/ 3992880 w 7741920"/>
                  <a:gd name="connsiteY79" fmla="*/ 3840480 h 4160520"/>
                  <a:gd name="connsiteX80" fmla="*/ 3886200 w 7741920"/>
                  <a:gd name="connsiteY80" fmla="*/ 3870960 h 4160520"/>
                  <a:gd name="connsiteX81" fmla="*/ 3840480 w 7741920"/>
                  <a:gd name="connsiteY81" fmla="*/ 3901440 h 4160520"/>
                  <a:gd name="connsiteX82" fmla="*/ 3733800 w 7741920"/>
                  <a:gd name="connsiteY82" fmla="*/ 3931920 h 4160520"/>
                  <a:gd name="connsiteX83" fmla="*/ 3566160 w 7741920"/>
                  <a:gd name="connsiteY83" fmla="*/ 3931920 h 4160520"/>
                  <a:gd name="connsiteX84" fmla="*/ 2987040 w 7741920"/>
                  <a:gd name="connsiteY84" fmla="*/ 3916680 h 4160520"/>
                  <a:gd name="connsiteX85" fmla="*/ 2865120 w 7741920"/>
                  <a:gd name="connsiteY85" fmla="*/ 3886200 h 4160520"/>
                  <a:gd name="connsiteX86" fmla="*/ 2484120 w 7741920"/>
                  <a:gd name="connsiteY86" fmla="*/ 3886200 h 4160520"/>
                  <a:gd name="connsiteX87" fmla="*/ 2423160 w 7741920"/>
                  <a:gd name="connsiteY87" fmla="*/ 3992880 h 4160520"/>
                  <a:gd name="connsiteX88" fmla="*/ 2346960 w 7741920"/>
                  <a:gd name="connsiteY88" fmla="*/ 4114800 h 4160520"/>
                  <a:gd name="connsiteX89" fmla="*/ 2301240 w 7741920"/>
                  <a:gd name="connsiteY89" fmla="*/ 4130040 h 4160520"/>
                  <a:gd name="connsiteX90" fmla="*/ 2133600 w 7741920"/>
                  <a:gd name="connsiteY90" fmla="*/ 4160520 h 4160520"/>
                  <a:gd name="connsiteX91" fmla="*/ 1813560 w 7741920"/>
                  <a:gd name="connsiteY91" fmla="*/ 4114800 h 4160520"/>
                  <a:gd name="connsiteX92" fmla="*/ 1341120 w 7741920"/>
                  <a:gd name="connsiteY92" fmla="*/ 4038600 h 4160520"/>
                  <a:gd name="connsiteX93" fmla="*/ 1249680 w 7741920"/>
                  <a:gd name="connsiteY93" fmla="*/ 4023360 h 4160520"/>
                  <a:gd name="connsiteX94" fmla="*/ 1005840 w 7741920"/>
                  <a:gd name="connsiteY94" fmla="*/ 3992880 h 4160520"/>
                  <a:gd name="connsiteX95" fmla="*/ 883920 w 7741920"/>
                  <a:gd name="connsiteY95" fmla="*/ 3962400 h 4160520"/>
                  <a:gd name="connsiteX96" fmla="*/ 777240 w 7741920"/>
                  <a:gd name="connsiteY96" fmla="*/ 3916680 h 4160520"/>
                  <a:gd name="connsiteX97" fmla="*/ 655320 w 7741920"/>
                  <a:gd name="connsiteY97" fmla="*/ 3870960 h 4160520"/>
                  <a:gd name="connsiteX98" fmla="*/ 487680 w 7741920"/>
                  <a:gd name="connsiteY98" fmla="*/ 3825240 h 4160520"/>
                  <a:gd name="connsiteX99" fmla="*/ 396240 w 7741920"/>
                  <a:gd name="connsiteY99" fmla="*/ 3733800 h 4160520"/>
                  <a:gd name="connsiteX100" fmla="*/ 365760 w 7741920"/>
                  <a:gd name="connsiteY100" fmla="*/ 3611880 h 4160520"/>
                  <a:gd name="connsiteX101" fmla="*/ 335280 w 7741920"/>
                  <a:gd name="connsiteY101" fmla="*/ 3474720 h 4160520"/>
                  <a:gd name="connsiteX102" fmla="*/ 289560 w 7741920"/>
                  <a:gd name="connsiteY102" fmla="*/ 3368040 h 4160520"/>
                  <a:gd name="connsiteX103" fmla="*/ 274320 w 7741920"/>
                  <a:gd name="connsiteY103" fmla="*/ 3200400 h 4160520"/>
                  <a:gd name="connsiteX104" fmla="*/ 198120 w 7741920"/>
                  <a:gd name="connsiteY104" fmla="*/ 2849880 h 4160520"/>
                  <a:gd name="connsiteX105" fmla="*/ 137160 w 7741920"/>
                  <a:gd name="connsiteY105" fmla="*/ 2621280 h 4160520"/>
                  <a:gd name="connsiteX106" fmla="*/ 91440 w 7741920"/>
                  <a:gd name="connsiteY106" fmla="*/ 2545080 h 4160520"/>
                  <a:gd name="connsiteX107" fmla="*/ 45720 w 7741920"/>
                  <a:gd name="connsiteY107" fmla="*/ 2423160 h 4160520"/>
                  <a:gd name="connsiteX108" fmla="*/ 0 w 7741920"/>
                  <a:gd name="connsiteY108" fmla="*/ 2057400 h 4160520"/>
                  <a:gd name="connsiteX109" fmla="*/ 60960 w 7741920"/>
                  <a:gd name="connsiteY109" fmla="*/ 1844040 h 4160520"/>
                  <a:gd name="connsiteX110" fmla="*/ 121920 w 7741920"/>
                  <a:gd name="connsiteY110" fmla="*/ 1615440 h 4160520"/>
                  <a:gd name="connsiteX111" fmla="*/ 152400 w 7741920"/>
                  <a:gd name="connsiteY111" fmla="*/ 1524000 h 4160520"/>
                  <a:gd name="connsiteX112" fmla="*/ 198120 w 7741920"/>
                  <a:gd name="connsiteY112" fmla="*/ 883920 h 4160520"/>
                  <a:gd name="connsiteX113" fmla="*/ 243840 w 7741920"/>
                  <a:gd name="connsiteY113" fmla="*/ 579120 h 4160520"/>
                  <a:gd name="connsiteX114" fmla="*/ 289560 w 7741920"/>
                  <a:gd name="connsiteY114" fmla="*/ 396240 h 4160520"/>
                  <a:gd name="connsiteX115" fmla="*/ 304800 w 7741920"/>
                  <a:gd name="connsiteY115" fmla="*/ 304800 h 4160520"/>
                  <a:gd name="connsiteX116" fmla="*/ 381000 w 7741920"/>
                  <a:gd name="connsiteY116" fmla="*/ 259080 h 4160520"/>
                  <a:gd name="connsiteX117" fmla="*/ 411480 w 7741920"/>
                  <a:gd name="connsiteY117" fmla="*/ 213360 h 4160520"/>
                  <a:gd name="connsiteX118" fmla="*/ 548640 w 7741920"/>
                  <a:gd name="connsiteY118" fmla="*/ 137160 h 4160520"/>
                  <a:gd name="connsiteX119" fmla="*/ 655320 w 7741920"/>
                  <a:gd name="connsiteY119" fmla="*/ 76200 h 4160520"/>
                  <a:gd name="connsiteX120" fmla="*/ 975360 w 7741920"/>
                  <a:gd name="connsiteY120" fmla="*/ 106680 h 4160520"/>
                  <a:gd name="connsiteX121" fmla="*/ 1082040 w 7741920"/>
                  <a:gd name="connsiteY121" fmla="*/ 167640 h 4160520"/>
                  <a:gd name="connsiteX122" fmla="*/ 1295400 w 7741920"/>
                  <a:gd name="connsiteY122" fmla="*/ 228600 h 4160520"/>
                  <a:gd name="connsiteX123" fmla="*/ 1478280 w 7741920"/>
                  <a:gd name="connsiteY123" fmla="*/ 213360 h 4160520"/>
                  <a:gd name="connsiteX124" fmla="*/ 1539240 w 7741920"/>
                  <a:gd name="connsiteY124" fmla="*/ 198120 h 4160520"/>
                  <a:gd name="connsiteX125" fmla="*/ 1615440 w 7741920"/>
                  <a:gd name="connsiteY125" fmla="*/ 182880 h 4160520"/>
                  <a:gd name="connsiteX126" fmla="*/ 1752600 w 7741920"/>
                  <a:gd name="connsiteY126" fmla="*/ 121920 h 4160520"/>
                  <a:gd name="connsiteX127" fmla="*/ 1889760 w 7741920"/>
                  <a:gd name="connsiteY127" fmla="*/ 76200 h 4160520"/>
                  <a:gd name="connsiteX128" fmla="*/ 2392680 w 7741920"/>
                  <a:gd name="connsiteY128" fmla="*/ 91440 h 4160520"/>
                  <a:gd name="connsiteX129" fmla="*/ 2545080 w 7741920"/>
                  <a:gd name="connsiteY129" fmla="*/ 320040 h 4160520"/>
                  <a:gd name="connsiteX130" fmla="*/ 2636520 w 7741920"/>
                  <a:gd name="connsiteY130" fmla="*/ 411480 h 4160520"/>
                  <a:gd name="connsiteX131" fmla="*/ 2697480 w 7741920"/>
                  <a:gd name="connsiteY131" fmla="*/ 457200 h 4160520"/>
                  <a:gd name="connsiteX132" fmla="*/ 2941320 w 7741920"/>
                  <a:gd name="connsiteY132" fmla="*/ 472440 h 4160520"/>
                  <a:gd name="connsiteX133" fmla="*/ 2987040 w 7741920"/>
                  <a:gd name="connsiteY133" fmla="*/ 457200 h 4160520"/>
                  <a:gd name="connsiteX134" fmla="*/ 3078480 w 7741920"/>
                  <a:gd name="connsiteY134" fmla="*/ 441960 h 4160520"/>
                  <a:gd name="connsiteX135" fmla="*/ 3154680 w 7741920"/>
                  <a:gd name="connsiteY135" fmla="*/ 411480 h 4160520"/>
                  <a:gd name="connsiteX136" fmla="*/ 3215640 w 7741920"/>
                  <a:gd name="connsiteY136" fmla="*/ 396240 h 4160520"/>
                  <a:gd name="connsiteX137" fmla="*/ 3352800 w 7741920"/>
                  <a:gd name="connsiteY137" fmla="*/ 426720 h 4160520"/>
                  <a:gd name="connsiteX138" fmla="*/ 3398520 w 7741920"/>
                  <a:gd name="connsiteY138" fmla="*/ 457200 h 4160520"/>
                  <a:gd name="connsiteX139" fmla="*/ 3749040 w 7741920"/>
                  <a:gd name="connsiteY139" fmla="*/ 411480 h 4160520"/>
                  <a:gd name="connsiteX140" fmla="*/ 3825240 w 7741920"/>
                  <a:gd name="connsiteY140" fmla="*/ 396240 h 4160520"/>
                  <a:gd name="connsiteX141" fmla="*/ 3870960 w 7741920"/>
                  <a:gd name="connsiteY141" fmla="*/ 381000 h 4160520"/>
                  <a:gd name="connsiteX142" fmla="*/ 3962400 w 7741920"/>
                  <a:gd name="connsiteY142" fmla="*/ 320040 h 4160520"/>
                  <a:gd name="connsiteX143" fmla="*/ 4023360 w 7741920"/>
                  <a:gd name="connsiteY143" fmla="*/ 304800 h 4160520"/>
                  <a:gd name="connsiteX144" fmla="*/ 4084320 w 7741920"/>
                  <a:gd name="connsiteY144" fmla="*/ 274320 h 4160520"/>
                  <a:gd name="connsiteX145" fmla="*/ 4358640 w 7741920"/>
                  <a:gd name="connsiteY145" fmla="*/ 259080 h 4160520"/>
                  <a:gd name="connsiteX146" fmla="*/ 4450080 w 7741920"/>
                  <a:gd name="connsiteY146" fmla="*/ 198120 h 41605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</a:cxnLst>
                <a:rect l="l" t="t" r="r" b="b"/>
                <a:pathLst>
                  <a:path w="7741920" h="4160520">
                    <a:moveTo>
                      <a:pt x="4450080" y="198120"/>
                    </a:moveTo>
                    <a:lnTo>
                      <a:pt x="4450080" y="198120"/>
                    </a:lnTo>
                    <a:cubicBezTo>
                      <a:pt x="4638040" y="193040"/>
                      <a:pt x="4826144" y="191824"/>
                      <a:pt x="5013960" y="182880"/>
                    </a:cubicBezTo>
                    <a:cubicBezTo>
                      <a:pt x="5037860" y="181742"/>
                      <a:pt x="5123928" y="159198"/>
                      <a:pt x="5151120" y="152400"/>
                    </a:cubicBezTo>
                    <a:cubicBezTo>
                      <a:pt x="5171440" y="132080"/>
                      <a:pt x="5188696" y="108143"/>
                      <a:pt x="5212080" y="91440"/>
                    </a:cubicBezTo>
                    <a:cubicBezTo>
                      <a:pt x="5225152" y="82103"/>
                      <a:pt x="5243432" y="83384"/>
                      <a:pt x="5257800" y="76200"/>
                    </a:cubicBezTo>
                    <a:cubicBezTo>
                      <a:pt x="5274183" y="68009"/>
                      <a:pt x="5287137" y="53911"/>
                      <a:pt x="5303520" y="45720"/>
                    </a:cubicBezTo>
                    <a:cubicBezTo>
                      <a:pt x="5327880" y="33540"/>
                      <a:pt x="5387413" y="21751"/>
                      <a:pt x="5410200" y="15240"/>
                    </a:cubicBezTo>
                    <a:cubicBezTo>
                      <a:pt x="5425646" y="10827"/>
                      <a:pt x="5440680" y="5080"/>
                      <a:pt x="5455920" y="0"/>
                    </a:cubicBezTo>
                    <a:cubicBezTo>
                      <a:pt x="5501640" y="5080"/>
                      <a:pt x="5547891" y="6633"/>
                      <a:pt x="5593080" y="15240"/>
                    </a:cubicBezTo>
                    <a:cubicBezTo>
                      <a:pt x="5654806" y="26997"/>
                      <a:pt x="5715542" y="43698"/>
                      <a:pt x="5775960" y="60960"/>
                    </a:cubicBezTo>
                    <a:cubicBezTo>
                      <a:pt x="5898086" y="95853"/>
                      <a:pt x="5847555" y="79745"/>
                      <a:pt x="5928360" y="106680"/>
                    </a:cubicBezTo>
                    <a:cubicBezTo>
                      <a:pt x="6019800" y="101600"/>
                      <a:pt x="6111443" y="99374"/>
                      <a:pt x="6202680" y="91440"/>
                    </a:cubicBezTo>
                    <a:cubicBezTo>
                      <a:pt x="6370622" y="76836"/>
                      <a:pt x="6186271" y="79482"/>
                      <a:pt x="6355080" y="45720"/>
                    </a:cubicBezTo>
                    <a:cubicBezTo>
                      <a:pt x="6405142" y="35708"/>
                      <a:pt x="6456680" y="35560"/>
                      <a:pt x="6507480" y="30480"/>
                    </a:cubicBezTo>
                    <a:cubicBezTo>
                      <a:pt x="6568440" y="35560"/>
                      <a:pt x="6631894" y="27730"/>
                      <a:pt x="6690360" y="45720"/>
                    </a:cubicBezTo>
                    <a:cubicBezTo>
                      <a:pt x="6705714" y="50444"/>
                      <a:pt x="6698416" y="77072"/>
                      <a:pt x="6705600" y="91440"/>
                    </a:cubicBezTo>
                    <a:cubicBezTo>
                      <a:pt x="6718847" y="117934"/>
                      <a:pt x="6736080" y="142240"/>
                      <a:pt x="6751320" y="167640"/>
                    </a:cubicBezTo>
                    <a:cubicBezTo>
                      <a:pt x="6785819" y="305637"/>
                      <a:pt x="6736797" y="138594"/>
                      <a:pt x="6827520" y="320040"/>
                    </a:cubicBezTo>
                    <a:cubicBezTo>
                      <a:pt x="6837680" y="340360"/>
                      <a:pt x="6844369" y="362825"/>
                      <a:pt x="6858000" y="381000"/>
                    </a:cubicBezTo>
                    <a:cubicBezTo>
                      <a:pt x="6875242" y="403989"/>
                      <a:pt x="6901008" y="419520"/>
                      <a:pt x="6918960" y="441960"/>
                    </a:cubicBezTo>
                    <a:cubicBezTo>
                      <a:pt x="6941844" y="470565"/>
                      <a:pt x="6952541" y="509063"/>
                      <a:pt x="6979920" y="533400"/>
                    </a:cubicBezTo>
                    <a:cubicBezTo>
                      <a:pt x="7000367" y="551575"/>
                      <a:pt x="7032033" y="550910"/>
                      <a:pt x="7056120" y="563880"/>
                    </a:cubicBezTo>
                    <a:cubicBezTo>
                      <a:pt x="7098316" y="586601"/>
                      <a:pt x="7131546" y="628457"/>
                      <a:pt x="7178040" y="640080"/>
                    </a:cubicBezTo>
                    <a:lnTo>
                      <a:pt x="7299960" y="670560"/>
                    </a:lnTo>
                    <a:cubicBezTo>
                      <a:pt x="7319492" y="675443"/>
                      <a:pt x="7384776" y="690108"/>
                      <a:pt x="7406640" y="701040"/>
                    </a:cubicBezTo>
                    <a:cubicBezTo>
                      <a:pt x="7524813" y="760126"/>
                      <a:pt x="7383162" y="708454"/>
                      <a:pt x="7498080" y="746760"/>
                    </a:cubicBezTo>
                    <a:cubicBezTo>
                      <a:pt x="7513320" y="762000"/>
                      <a:pt x="7527436" y="778454"/>
                      <a:pt x="7543800" y="792480"/>
                    </a:cubicBezTo>
                    <a:cubicBezTo>
                      <a:pt x="7602662" y="842933"/>
                      <a:pt x="7603210" y="827196"/>
                      <a:pt x="7650480" y="883920"/>
                    </a:cubicBezTo>
                    <a:cubicBezTo>
                      <a:pt x="7662206" y="897991"/>
                      <a:pt x="7670800" y="914400"/>
                      <a:pt x="7680960" y="929640"/>
                    </a:cubicBezTo>
                    <a:cubicBezTo>
                      <a:pt x="7686040" y="949960"/>
                      <a:pt x="7690040" y="970581"/>
                      <a:pt x="7696200" y="990600"/>
                    </a:cubicBezTo>
                    <a:cubicBezTo>
                      <a:pt x="7710373" y="1036662"/>
                      <a:pt x="7741920" y="1127760"/>
                      <a:pt x="7741920" y="1127760"/>
                    </a:cubicBezTo>
                    <a:cubicBezTo>
                      <a:pt x="7736840" y="1239520"/>
                      <a:pt x="7740009" y="1351962"/>
                      <a:pt x="7726680" y="1463040"/>
                    </a:cubicBezTo>
                    <a:cubicBezTo>
                      <a:pt x="7724498" y="1481226"/>
                      <a:pt x="7703639" y="1492022"/>
                      <a:pt x="7696200" y="1508760"/>
                    </a:cubicBezTo>
                    <a:cubicBezTo>
                      <a:pt x="7683151" y="1538120"/>
                      <a:pt x="7675880" y="1569720"/>
                      <a:pt x="7665720" y="1600200"/>
                    </a:cubicBezTo>
                    <a:cubicBezTo>
                      <a:pt x="7654136" y="1634953"/>
                      <a:pt x="7621143" y="1658875"/>
                      <a:pt x="7604760" y="1691640"/>
                    </a:cubicBezTo>
                    <a:cubicBezTo>
                      <a:pt x="7584440" y="1732280"/>
                      <a:pt x="7569004" y="1775754"/>
                      <a:pt x="7543800" y="1813560"/>
                    </a:cubicBezTo>
                    <a:cubicBezTo>
                      <a:pt x="7533640" y="1828800"/>
                      <a:pt x="7521511" y="1842897"/>
                      <a:pt x="7513320" y="1859280"/>
                    </a:cubicBezTo>
                    <a:cubicBezTo>
                      <a:pt x="7506136" y="1873648"/>
                      <a:pt x="7504408" y="1890235"/>
                      <a:pt x="7498080" y="1905000"/>
                    </a:cubicBezTo>
                    <a:cubicBezTo>
                      <a:pt x="7489131" y="1925882"/>
                      <a:pt x="7477760" y="1945640"/>
                      <a:pt x="7467600" y="1965960"/>
                    </a:cubicBezTo>
                    <a:lnTo>
                      <a:pt x="7437120" y="2118360"/>
                    </a:lnTo>
                    <a:lnTo>
                      <a:pt x="7421880" y="2194560"/>
                    </a:lnTo>
                    <a:cubicBezTo>
                      <a:pt x="7432040" y="2225040"/>
                      <a:pt x="7429642" y="2263282"/>
                      <a:pt x="7452360" y="2286000"/>
                    </a:cubicBezTo>
                    <a:cubicBezTo>
                      <a:pt x="7585932" y="2419572"/>
                      <a:pt x="7422472" y="2250134"/>
                      <a:pt x="7528560" y="2377440"/>
                    </a:cubicBezTo>
                    <a:cubicBezTo>
                      <a:pt x="7542358" y="2393997"/>
                      <a:pt x="7562984" y="2404805"/>
                      <a:pt x="7574280" y="2423160"/>
                    </a:cubicBezTo>
                    <a:cubicBezTo>
                      <a:pt x="7652265" y="2549886"/>
                      <a:pt x="7654641" y="2589431"/>
                      <a:pt x="7696200" y="2727960"/>
                    </a:cubicBezTo>
                    <a:cubicBezTo>
                      <a:pt x="7691120" y="2890520"/>
                      <a:pt x="7702177" y="3054391"/>
                      <a:pt x="7680960" y="3215640"/>
                    </a:cubicBezTo>
                    <a:cubicBezTo>
                      <a:pt x="7676181" y="3251959"/>
                      <a:pt x="7640320" y="3276600"/>
                      <a:pt x="7620000" y="3307080"/>
                    </a:cubicBezTo>
                    <a:cubicBezTo>
                      <a:pt x="7586642" y="3357118"/>
                      <a:pt x="7569040" y="3389996"/>
                      <a:pt x="7513320" y="3429000"/>
                    </a:cubicBezTo>
                    <a:cubicBezTo>
                      <a:pt x="7490909" y="3444688"/>
                      <a:pt x="7461589" y="3447246"/>
                      <a:pt x="7437120" y="3459480"/>
                    </a:cubicBezTo>
                    <a:cubicBezTo>
                      <a:pt x="7420737" y="3467671"/>
                      <a:pt x="7406305" y="3479314"/>
                      <a:pt x="7391400" y="3489960"/>
                    </a:cubicBezTo>
                    <a:cubicBezTo>
                      <a:pt x="7370731" y="3504723"/>
                      <a:pt x="7354023" y="3526247"/>
                      <a:pt x="7330440" y="3535680"/>
                    </a:cubicBezTo>
                    <a:cubicBezTo>
                      <a:pt x="7301750" y="3547156"/>
                      <a:pt x="7269402" y="3545392"/>
                      <a:pt x="7239000" y="3550920"/>
                    </a:cubicBezTo>
                    <a:cubicBezTo>
                      <a:pt x="7213515" y="3555554"/>
                      <a:pt x="7188503" y="3562947"/>
                      <a:pt x="7162800" y="3566160"/>
                    </a:cubicBezTo>
                    <a:cubicBezTo>
                      <a:pt x="7066496" y="3578198"/>
                      <a:pt x="6873240" y="3596640"/>
                      <a:pt x="6873240" y="3596640"/>
                    </a:cubicBezTo>
                    <a:cubicBezTo>
                      <a:pt x="6858000" y="3601720"/>
                      <a:pt x="6843202" y="3608395"/>
                      <a:pt x="6827520" y="3611880"/>
                    </a:cubicBezTo>
                    <a:cubicBezTo>
                      <a:pt x="6797355" y="3618583"/>
                      <a:pt x="6765677" y="3618241"/>
                      <a:pt x="6736080" y="3627120"/>
                    </a:cubicBezTo>
                    <a:cubicBezTo>
                      <a:pt x="6714320" y="3633648"/>
                      <a:pt x="6696392" y="3649623"/>
                      <a:pt x="6675120" y="3657600"/>
                    </a:cubicBezTo>
                    <a:cubicBezTo>
                      <a:pt x="6655508" y="3664954"/>
                      <a:pt x="6634480" y="3667760"/>
                      <a:pt x="6614160" y="3672840"/>
                    </a:cubicBezTo>
                    <a:cubicBezTo>
                      <a:pt x="6598920" y="3683000"/>
                      <a:pt x="6584343" y="3694233"/>
                      <a:pt x="6568440" y="3703320"/>
                    </a:cubicBezTo>
                    <a:cubicBezTo>
                      <a:pt x="6548715" y="3714592"/>
                      <a:pt x="6525063" y="3719414"/>
                      <a:pt x="6507480" y="3733800"/>
                    </a:cubicBezTo>
                    <a:cubicBezTo>
                      <a:pt x="6468558" y="3765645"/>
                      <a:pt x="6436360" y="3804920"/>
                      <a:pt x="6400800" y="3840480"/>
                    </a:cubicBezTo>
                    <a:cubicBezTo>
                      <a:pt x="6385560" y="3855720"/>
                      <a:pt x="6375527" y="3879384"/>
                      <a:pt x="6355080" y="3886200"/>
                    </a:cubicBezTo>
                    <a:cubicBezTo>
                      <a:pt x="6269619" y="3914687"/>
                      <a:pt x="6324945" y="3897544"/>
                      <a:pt x="6187440" y="3931920"/>
                    </a:cubicBezTo>
                    <a:cubicBezTo>
                      <a:pt x="6040120" y="3926840"/>
                      <a:pt x="5892244" y="3930439"/>
                      <a:pt x="5745480" y="3916680"/>
                    </a:cubicBezTo>
                    <a:cubicBezTo>
                      <a:pt x="5727244" y="3914970"/>
                      <a:pt x="5717827" y="3889211"/>
                      <a:pt x="5699760" y="3886200"/>
                    </a:cubicBezTo>
                    <a:cubicBezTo>
                      <a:pt x="5683914" y="3883559"/>
                      <a:pt x="5669486" y="3897027"/>
                      <a:pt x="5654040" y="3901440"/>
                    </a:cubicBezTo>
                    <a:cubicBezTo>
                      <a:pt x="5633901" y="3907194"/>
                      <a:pt x="5613897" y="3914367"/>
                      <a:pt x="5593080" y="3916680"/>
                    </a:cubicBezTo>
                    <a:cubicBezTo>
                      <a:pt x="5522215" y="3924554"/>
                      <a:pt x="5450753" y="3925743"/>
                      <a:pt x="5379720" y="3931920"/>
                    </a:cubicBezTo>
                    <a:cubicBezTo>
                      <a:pt x="5333892" y="3935905"/>
                      <a:pt x="5288280" y="3942080"/>
                      <a:pt x="5242560" y="3947160"/>
                    </a:cubicBezTo>
                    <a:cubicBezTo>
                      <a:pt x="5222240" y="3952240"/>
                      <a:pt x="5200852" y="3954149"/>
                      <a:pt x="5181600" y="3962400"/>
                    </a:cubicBezTo>
                    <a:cubicBezTo>
                      <a:pt x="5074228" y="4008416"/>
                      <a:pt x="5210971" y="3985537"/>
                      <a:pt x="5059680" y="4023360"/>
                    </a:cubicBezTo>
                    <a:cubicBezTo>
                      <a:pt x="5024831" y="4032072"/>
                      <a:pt x="4988560" y="4033520"/>
                      <a:pt x="4953000" y="4038600"/>
                    </a:cubicBezTo>
                    <a:cubicBezTo>
                      <a:pt x="4856480" y="4033520"/>
                      <a:pt x="4759730" y="4031733"/>
                      <a:pt x="4663440" y="4023360"/>
                    </a:cubicBezTo>
                    <a:cubicBezTo>
                      <a:pt x="4642573" y="4021546"/>
                      <a:pt x="4622927" y="4012664"/>
                      <a:pt x="4602480" y="4008120"/>
                    </a:cubicBezTo>
                    <a:cubicBezTo>
                      <a:pt x="4577194" y="4002501"/>
                      <a:pt x="4551680" y="3997960"/>
                      <a:pt x="4526280" y="3992880"/>
                    </a:cubicBezTo>
                    <a:cubicBezTo>
                      <a:pt x="4500880" y="3977640"/>
                      <a:pt x="4477583" y="3958161"/>
                      <a:pt x="4450080" y="3947160"/>
                    </a:cubicBezTo>
                    <a:cubicBezTo>
                      <a:pt x="4403767" y="3928635"/>
                      <a:pt x="4215752" y="3917545"/>
                      <a:pt x="4206240" y="3916680"/>
                    </a:cubicBezTo>
                    <a:cubicBezTo>
                      <a:pt x="4165345" y="3908501"/>
                      <a:pt x="4071747" y="3893058"/>
                      <a:pt x="4038600" y="3870960"/>
                    </a:cubicBezTo>
                    <a:lnTo>
                      <a:pt x="3992880" y="3840480"/>
                    </a:lnTo>
                    <a:cubicBezTo>
                      <a:pt x="3973348" y="3845363"/>
                      <a:pt x="3908064" y="3860028"/>
                      <a:pt x="3886200" y="3870960"/>
                    </a:cubicBezTo>
                    <a:cubicBezTo>
                      <a:pt x="3869817" y="3879151"/>
                      <a:pt x="3857486" y="3894638"/>
                      <a:pt x="3840480" y="3901440"/>
                    </a:cubicBezTo>
                    <a:cubicBezTo>
                      <a:pt x="3806142" y="3915175"/>
                      <a:pt x="3769360" y="3921760"/>
                      <a:pt x="3733800" y="3931920"/>
                    </a:cubicBezTo>
                    <a:cubicBezTo>
                      <a:pt x="3628948" y="3896969"/>
                      <a:pt x="3755718" y="3931920"/>
                      <a:pt x="3566160" y="3931920"/>
                    </a:cubicBezTo>
                    <a:cubicBezTo>
                      <a:pt x="3373053" y="3931920"/>
                      <a:pt x="3180080" y="3921760"/>
                      <a:pt x="2987040" y="3916680"/>
                    </a:cubicBezTo>
                    <a:cubicBezTo>
                      <a:pt x="2946400" y="3906520"/>
                      <a:pt x="2906687" y="3891396"/>
                      <a:pt x="2865120" y="3886200"/>
                    </a:cubicBezTo>
                    <a:cubicBezTo>
                      <a:pt x="2652067" y="3859568"/>
                      <a:pt x="2658896" y="3866780"/>
                      <a:pt x="2484120" y="3886200"/>
                    </a:cubicBezTo>
                    <a:cubicBezTo>
                      <a:pt x="2449177" y="3991028"/>
                      <a:pt x="2496971" y="3863710"/>
                      <a:pt x="2423160" y="3992880"/>
                    </a:cubicBezTo>
                    <a:cubicBezTo>
                      <a:pt x="2377324" y="4073092"/>
                      <a:pt x="2459079" y="4018698"/>
                      <a:pt x="2346960" y="4114800"/>
                    </a:cubicBezTo>
                    <a:cubicBezTo>
                      <a:pt x="2334763" y="4125255"/>
                      <a:pt x="2316948" y="4126674"/>
                      <a:pt x="2301240" y="4130040"/>
                    </a:cubicBezTo>
                    <a:cubicBezTo>
                      <a:pt x="2245705" y="4141940"/>
                      <a:pt x="2189480" y="4150360"/>
                      <a:pt x="2133600" y="4160520"/>
                    </a:cubicBezTo>
                    <a:lnTo>
                      <a:pt x="1813560" y="4114800"/>
                    </a:lnTo>
                    <a:cubicBezTo>
                      <a:pt x="1629031" y="4087121"/>
                      <a:pt x="1515351" y="4067638"/>
                      <a:pt x="1341120" y="4038600"/>
                    </a:cubicBezTo>
                    <a:cubicBezTo>
                      <a:pt x="1310640" y="4033520"/>
                      <a:pt x="1280342" y="4027193"/>
                      <a:pt x="1249680" y="4023360"/>
                    </a:cubicBezTo>
                    <a:cubicBezTo>
                      <a:pt x="1168400" y="4013200"/>
                      <a:pt x="1085307" y="4012747"/>
                      <a:pt x="1005840" y="3992880"/>
                    </a:cubicBezTo>
                    <a:cubicBezTo>
                      <a:pt x="965200" y="3982720"/>
                      <a:pt x="923661" y="3975647"/>
                      <a:pt x="883920" y="3962400"/>
                    </a:cubicBezTo>
                    <a:cubicBezTo>
                      <a:pt x="847217" y="3950166"/>
                      <a:pt x="813161" y="3931048"/>
                      <a:pt x="777240" y="3916680"/>
                    </a:cubicBezTo>
                    <a:cubicBezTo>
                      <a:pt x="736941" y="3900560"/>
                      <a:pt x="696709" y="3884030"/>
                      <a:pt x="655320" y="3870960"/>
                    </a:cubicBezTo>
                    <a:cubicBezTo>
                      <a:pt x="600088" y="3853518"/>
                      <a:pt x="543560" y="3840480"/>
                      <a:pt x="487680" y="3825240"/>
                    </a:cubicBezTo>
                    <a:cubicBezTo>
                      <a:pt x="457200" y="3794760"/>
                      <a:pt x="406695" y="3775618"/>
                      <a:pt x="396240" y="3733800"/>
                    </a:cubicBezTo>
                    <a:cubicBezTo>
                      <a:pt x="386080" y="3693160"/>
                      <a:pt x="375355" y="3652657"/>
                      <a:pt x="365760" y="3611880"/>
                    </a:cubicBezTo>
                    <a:cubicBezTo>
                      <a:pt x="355033" y="3566290"/>
                      <a:pt x="349250" y="3519423"/>
                      <a:pt x="335280" y="3474720"/>
                    </a:cubicBezTo>
                    <a:cubicBezTo>
                      <a:pt x="323740" y="3437793"/>
                      <a:pt x="304800" y="3403600"/>
                      <a:pt x="289560" y="3368040"/>
                    </a:cubicBezTo>
                    <a:cubicBezTo>
                      <a:pt x="284480" y="3312160"/>
                      <a:pt x="281501" y="3256049"/>
                      <a:pt x="274320" y="3200400"/>
                    </a:cubicBezTo>
                    <a:cubicBezTo>
                      <a:pt x="234279" y="2890080"/>
                      <a:pt x="284091" y="2978837"/>
                      <a:pt x="198120" y="2849880"/>
                    </a:cubicBezTo>
                    <a:cubicBezTo>
                      <a:pt x="191368" y="2822872"/>
                      <a:pt x="150281" y="2652771"/>
                      <a:pt x="137160" y="2621280"/>
                    </a:cubicBezTo>
                    <a:cubicBezTo>
                      <a:pt x="125767" y="2593937"/>
                      <a:pt x="104687" y="2571574"/>
                      <a:pt x="91440" y="2545080"/>
                    </a:cubicBezTo>
                    <a:cubicBezTo>
                      <a:pt x="88191" y="2538583"/>
                      <a:pt x="50117" y="2445143"/>
                      <a:pt x="45720" y="2423160"/>
                    </a:cubicBezTo>
                    <a:cubicBezTo>
                      <a:pt x="10974" y="2249432"/>
                      <a:pt x="14640" y="2233084"/>
                      <a:pt x="0" y="2057400"/>
                    </a:cubicBezTo>
                    <a:cubicBezTo>
                      <a:pt x="39394" y="1702850"/>
                      <a:pt x="-21875" y="2080711"/>
                      <a:pt x="60960" y="1844040"/>
                    </a:cubicBezTo>
                    <a:cubicBezTo>
                      <a:pt x="87012" y="1769605"/>
                      <a:pt x="100255" y="1691268"/>
                      <a:pt x="121920" y="1615440"/>
                    </a:cubicBezTo>
                    <a:cubicBezTo>
                      <a:pt x="130746" y="1584547"/>
                      <a:pt x="142240" y="1554480"/>
                      <a:pt x="152400" y="1524000"/>
                    </a:cubicBezTo>
                    <a:cubicBezTo>
                      <a:pt x="182078" y="603969"/>
                      <a:pt x="134910" y="1347460"/>
                      <a:pt x="198120" y="883920"/>
                    </a:cubicBezTo>
                    <a:cubicBezTo>
                      <a:pt x="235504" y="609771"/>
                      <a:pt x="186244" y="821024"/>
                      <a:pt x="243840" y="579120"/>
                    </a:cubicBezTo>
                    <a:cubicBezTo>
                      <a:pt x="258394" y="517993"/>
                      <a:pt x="275929" y="457580"/>
                      <a:pt x="289560" y="396240"/>
                    </a:cubicBezTo>
                    <a:cubicBezTo>
                      <a:pt x="296263" y="366075"/>
                      <a:pt x="287660" y="330511"/>
                      <a:pt x="304800" y="304800"/>
                    </a:cubicBezTo>
                    <a:cubicBezTo>
                      <a:pt x="321231" y="280154"/>
                      <a:pt x="355600" y="274320"/>
                      <a:pt x="381000" y="259080"/>
                    </a:cubicBezTo>
                    <a:cubicBezTo>
                      <a:pt x="391160" y="243840"/>
                      <a:pt x="398528" y="226312"/>
                      <a:pt x="411480" y="213360"/>
                    </a:cubicBezTo>
                    <a:cubicBezTo>
                      <a:pt x="436886" y="187954"/>
                      <a:pt x="531367" y="146461"/>
                      <a:pt x="548640" y="137160"/>
                    </a:cubicBezTo>
                    <a:cubicBezTo>
                      <a:pt x="584701" y="117743"/>
                      <a:pt x="619760" y="96520"/>
                      <a:pt x="655320" y="76200"/>
                    </a:cubicBezTo>
                    <a:cubicBezTo>
                      <a:pt x="762000" y="86360"/>
                      <a:pt x="869025" y="93388"/>
                      <a:pt x="975360" y="106680"/>
                    </a:cubicBezTo>
                    <a:cubicBezTo>
                      <a:pt x="1053940" y="116502"/>
                      <a:pt x="994373" y="133547"/>
                      <a:pt x="1082040" y="167640"/>
                    </a:cubicBezTo>
                    <a:cubicBezTo>
                      <a:pt x="1150977" y="194449"/>
                      <a:pt x="1224280" y="208280"/>
                      <a:pt x="1295400" y="228600"/>
                    </a:cubicBezTo>
                    <a:cubicBezTo>
                      <a:pt x="1356360" y="223520"/>
                      <a:pt x="1417581" y="220947"/>
                      <a:pt x="1478280" y="213360"/>
                    </a:cubicBezTo>
                    <a:cubicBezTo>
                      <a:pt x="1499064" y="210762"/>
                      <a:pt x="1518793" y="202664"/>
                      <a:pt x="1539240" y="198120"/>
                    </a:cubicBezTo>
                    <a:cubicBezTo>
                      <a:pt x="1564526" y="192501"/>
                      <a:pt x="1590310" y="189162"/>
                      <a:pt x="1615440" y="182880"/>
                    </a:cubicBezTo>
                    <a:cubicBezTo>
                      <a:pt x="1672775" y="168546"/>
                      <a:pt x="1690732" y="150042"/>
                      <a:pt x="1752600" y="121920"/>
                    </a:cubicBezTo>
                    <a:cubicBezTo>
                      <a:pt x="1822741" y="90038"/>
                      <a:pt x="1821789" y="93193"/>
                      <a:pt x="1889760" y="76200"/>
                    </a:cubicBezTo>
                    <a:cubicBezTo>
                      <a:pt x="2057400" y="81280"/>
                      <a:pt x="2230966" y="46969"/>
                      <a:pt x="2392680" y="91440"/>
                    </a:cubicBezTo>
                    <a:cubicBezTo>
                      <a:pt x="2441985" y="104999"/>
                      <a:pt x="2502978" y="268582"/>
                      <a:pt x="2545080" y="320040"/>
                    </a:cubicBezTo>
                    <a:cubicBezTo>
                      <a:pt x="2572376" y="353402"/>
                      <a:pt x="2602036" y="385617"/>
                      <a:pt x="2636520" y="411480"/>
                    </a:cubicBezTo>
                    <a:cubicBezTo>
                      <a:pt x="2656840" y="426720"/>
                      <a:pt x="2672573" y="452219"/>
                      <a:pt x="2697480" y="457200"/>
                    </a:cubicBezTo>
                    <a:cubicBezTo>
                      <a:pt x="2777337" y="473171"/>
                      <a:pt x="2860040" y="467360"/>
                      <a:pt x="2941320" y="472440"/>
                    </a:cubicBezTo>
                    <a:cubicBezTo>
                      <a:pt x="2956560" y="467360"/>
                      <a:pt x="2971358" y="460685"/>
                      <a:pt x="2987040" y="457200"/>
                    </a:cubicBezTo>
                    <a:cubicBezTo>
                      <a:pt x="3017205" y="450497"/>
                      <a:pt x="3048668" y="450090"/>
                      <a:pt x="3078480" y="441960"/>
                    </a:cubicBezTo>
                    <a:cubicBezTo>
                      <a:pt x="3104873" y="434762"/>
                      <a:pt x="3128727" y="420131"/>
                      <a:pt x="3154680" y="411480"/>
                    </a:cubicBezTo>
                    <a:cubicBezTo>
                      <a:pt x="3174551" y="404856"/>
                      <a:pt x="3195320" y="401320"/>
                      <a:pt x="3215640" y="396240"/>
                    </a:cubicBezTo>
                    <a:cubicBezTo>
                      <a:pt x="3250760" y="402093"/>
                      <a:pt x="3315283" y="407961"/>
                      <a:pt x="3352800" y="426720"/>
                    </a:cubicBezTo>
                    <a:cubicBezTo>
                      <a:pt x="3369183" y="434911"/>
                      <a:pt x="3383280" y="447040"/>
                      <a:pt x="3398520" y="457200"/>
                    </a:cubicBezTo>
                    <a:cubicBezTo>
                      <a:pt x="3580880" y="438964"/>
                      <a:pt x="3548264" y="444943"/>
                      <a:pt x="3749040" y="411480"/>
                    </a:cubicBezTo>
                    <a:cubicBezTo>
                      <a:pt x="3774591" y="407222"/>
                      <a:pt x="3800110" y="402522"/>
                      <a:pt x="3825240" y="396240"/>
                    </a:cubicBezTo>
                    <a:cubicBezTo>
                      <a:pt x="3840825" y="392344"/>
                      <a:pt x="3856917" y="388802"/>
                      <a:pt x="3870960" y="381000"/>
                    </a:cubicBezTo>
                    <a:cubicBezTo>
                      <a:pt x="3902982" y="363210"/>
                      <a:pt x="3926861" y="328925"/>
                      <a:pt x="3962400" y="320040"/>
                    </a:cubicBezTo>
                    <a:cubicBezTo>
                      <a:pt x="3982720" y="314960"/>
                      <a:pt x="4003748" y="312154"/>
                      <a:pt x="4023360" y="304800"/>
                    </a:cubicBezTo>
                    <a:cubicBezTo>
                      <a:pt x="4044632" y="296823"/>
                      <a:pt x="4061810" y="277390"/>
                      <a:pt x="4084320" y="274320"/>
                    </a:cubicBezTo>
                    <a:cubicBezTo>
                      <a:pt x="4175061" y="261946"/>
                      <a:pt x="4267200" y="264160"/>
                      <a:pt x="4358640" y="259080"/>
                    </a:cubicBezTo>
                    <a:lnTo>
                      <a:pt x="4450080" y="19812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sz="2400"/>
              </a:p>
            </p:txBody>
          </p:sp>
          <p:sp>
            <p:nvSpPr>
              <p:cNvPr id="166" name="165 Rayo"/>
              <p:cNvSpPr/>
              <p:nvPr/>
            </p:nvSpPr>
            <p:spPr>
              <a:xfrm rot="1546891">
                <a:off x="3667069" y="2098669"/>
                <a:ext cx="1900123" cy="3490772"/>
              </a:xfrm>
              <a:prstGeom prst="lightningBol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sz="2400"/>
              </a:p>
            </p:txBody>
          </p:sp>
        </p:grpSp>
        <p:sp>
          <p:nvSpPr>
            <p:cNvPr id="24" name="42 CuadroTexto"/>
            <p:cNvSpPr txBox="1"/>
            <p:nvPr/>
          </p:nvSpPr>
          <p:spPr>
            <a:xfrm>
              <a:off x="3995936" y="3685941"/>
              <a:ext cx="1293252" cy="369332"/>
            </a:xfrm>
            <a:prstGeom prst="rect">
              <a:avLst/>
            </a:prstGeom>
            <a:solidFill>
              <a:srgbClr val="CC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419" b="1" dirty="0" smtClean="0"/>
                <a:t>Brecha</a:t>
              </a:r>
              <a:endParaRPr lang="es-ES" b="1" dirty="0"/>
            </a:p>
          </p:txBody>
        </p:sp>
      </p:grpSp>
      <p:grpSp>
        <p:nvGrpSpPr>
          <p:cNvPr id="7" name="Grupo 6"/>
          <p:cNvGrpSpPr/>
          <p:nvPr/>
        </p:nvGrpSpPr>
        <p:grpSpPr>
          <a:xfrm>
            <a:off x="5296580" y="2749045"/>
            <a:ext cx="2667200" cy="1299735"/>
            <a:chOff x="5296580" y="2749045"/>
            <a:chExt cx="2667200" cy="1299735"/>
          </a:xfrm>
        </p:grpSpPr>
        <p:sp>
          <p:nvSpPr>
            <p:cNvPr id="168" name="167 CuadroTexto"/>
            <p:cNvSpPr txBox="1"/>
            <p:nvPr/>
          </p:nvSpPr>
          <p:spPr>
            <a:xfrm>
              <a:off x="6538714" y="3153476"/>
              <a:ext cx="1425066" cy="400110"/>
            </a:xfrm>
            <a:prstGeom prst="rect">
              <a:avLst/>
            </a:prstGeom>
            <a:solidFill>
              <a:srgbClr val="33CC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419" sz="20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Tecnología</a:t>
              </a:r>
              <a:endParaRPr lang="es-E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pic>
          <p:nvPicPr>
            <p:cNvPr id="20" name="2 Imagen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96580" y="2749045"/>
              <a:ext cx="1299735" cy="1299735"/>
            </a:xfrm>
            <a:prstGeom prst="rect">
              <a:avLst/>
            </a:prstGeom>
          </p:spPr>
        </p:pic>
      </p:grpSp>
      <p:grpSp>
        <p:nvGrpSpPr>
          <p:cNvPr id="9" name="Grupo 8"/>
          <p:cNvGrpSpPr/>
          <p:nvPr/>
        </p:nvGrpSpPr>
        <p:grpSpPr>
          <a:xfrm>
            <a:off x="1429203" y="2424418"/>
            <a:ext cx="2566733" cy="1270589"/>
            <a:chOff x="1429203" y="2424418"/>
            <a:chExt cx="2566733" cy="1270589"/>
          </a:xfrm>
        </p:grpSpPr>
        <p:sp>
          <p:nvSpPr>
            <p:cNvPr id="167" name="166 CuadroTexto"/>
            <p:cNvSpPr txBox="1"/>
            <p:nvPr/>
          </p:nvSpPr>
          <p:spPr>
            <a:xfrm>
              <a:off x="2546277" y="2855124"/>
              <a:ext cx="1449659" cy="400110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419" sz="20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Usuarios</a:t>
              </a:r>
              <a:endParaRPr lang="es-E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pic>
          <p:nvPicPr>
            <p:cNvPr id="164" name="163 Imagen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9203" y="2424418"/>
              <a:ext cx="1270589" cy="1270589"/>
            </a:xfrm>
            <a:prstGeom prst="rect">
              <a:avLst/>
            </a:prstGeom>
          </p:spPr>
        </p:pic>
      </p:grpSp>
      <p:grpSp>
        <p:nvGrpSpPr>
          <p:cNvPr id="6" name="Grupo 5"/>
          <p:cNvGrpSpPr/>
          <p:nvPr/>
        </p:nvGrpSpPr>
        <p:grpSpPr>
          <a:xfrm>
            <a:off x="1115616" y="3993620"/>
            <a:ext cx="3096343" cy="1473512"/>
            <a:chOff x="1115616" y="3993620"/>
            <a:chExt cx="3096343" cy="1473512"/>
          </a:xfrm>
        </p:grpSpPr>
        <p:sp>
          <p:nvSpPr>
            <p:cNvPr id="16" name="167 CuadroTexto"/>
            <p:cNvSpPr txBox="1"/>
            <p:nvPr/>
          </p:nvSpPr>
          <p:spPr>
            <a:xfrm>
              <a:off x="2489716" y="4461664"/>
              <a:ext cx="1722243" cy="523220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419" sz="28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Negocio</a:t>
              </a:r>
              <a:endParaRPr lang="es-E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pic>
          <p:nvPicPr>
            <p:cNvPr id="15" name="7 Imagen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5616" y="3993620"/>
              <a:ext cx="1473512" cy="1473512"/>
            </a:xfrm>
            <a:prstGeom prst="rect">
              <a:avLst/>
            </a:prstGeom>
          </p:spPr>
        </p:pic>
      </p:grpSp>
      <p:grpSp>
        <p:nvGrpSpPr>
          <p:cNvPr id="8" name="Grupo 7"/>
          <p:cNvGrpSpPr/>
          <p:nvPr/>
        </p:nvGrpSpPr>
        <p:grpSpPr>
          <a:xfrm>
            <a:off x="5151379" y="4330173"/>
            <a:ext cx="2660981" cy="1158767"/>
            <a:chOff x="5151379" y="4330173"/>
            <a:chExt cx="2660981" cy="1158767"/>
          </a:xfrm>
        </p:grpSpPr>
        <p:sp>
          <p:nvSpPr>
            <p:cNvPr id="19" name="167 CuadroTexto"/>
            <p:cNvSpPr txBox="1"/>
            <p:nvPr/>
          </p:nvSpPr>
          <p:spPr>
            <a:xfrm>
              <a:off x="6223848" y="4649097"/>
              <a:ext cx="1588512" cy="400110"/>
            </a:xfrm>
            <a:prstGeom prst="rect">
              <a:avLst/>
            </a:prstGeom>
            <a:solidFill>
              <a:srgbClr val="FF5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419" sz="20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Aplicaciones</a:t>
              </a:r>
              <a:endParaRPr lang="es-E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pic>
          <p:nvPicPr>
            <p:cNvPr id="17" name="60 Imagen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51379" y="4330173"/>
              <a:ext cx="1158767" cy="1158767"/>
            </a:xfrm>
            <a:prstGeom prst="rect">
              <a:avLst/>
            </a:prstGeom>
          </p:spPr>
        </p:pic>
      </p:grpSp>
      <p:pic>
        <p:nvPicPr>
          <p:cNvPr id="27" name="1 Imagen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5228" y="5852739"/>
            <a:ext cx="562496" cy="549415"/>
          </a:xfrm>
          <a:prstGeom prst="rect">
            <a:avLst/>
          </a:prstGeom>
        </p:spPr>
      </p:pic>
      <p:pic>
        <p:nvPicPr>
          <p:cNvPr id="28" name="27 Imagen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68" y="5852740"/>
            <a:ext cx="714015" cy="576704"/>
          </a:xfrm>
          <a:prstGeom prst="rect">
            <a:avLst/>
          </a:prstGeom>
        </p:spPr>
      </p:pic>
      <p:grpSp>
        <p:nvGrpSpPr>
          <p:cNvPr id="12" name="11 Grupo"/>
          <p:cNvGrpSpPr/>
          <p:nvPr/>
        </p:nvGrpSpPr>
        <p:grpSpPr>
          <a:xfrm>
            <a:off x="502390" y="1340769"/>
            <a:ext cx="8229600" cy="5328592"/>
            <a:chOff x="502390" y="1340769"/>
            <a:chExt cx="8229600" cy="5328592"/>
          </a:xfrm>
        </p:grpSpPr>
        <p:sp>
          <p:nvSpPr>
            <p:cNvPr id="31" name="Rectángulo 10"/>
            <p:cNvSpPr/>
            <p:nvPr/>
          </p:nvSpPr>
          <p:spPr>
            <a:xfrm>
              <a:off x="502390" y="1340769"/>
              <a:ext cx="8229600" cy="5328592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9" name="206 CuadroTexto"/>
            <p:cNvSpPr txBox="1"/>
            <p:nvPr/>
          </p:nvSpPr>
          <p:spPr>
            <a:xfrm>
              <a:off x="1848245" y="2735989"/>
              <a:ext cx="5836197" cy="1544214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lIns="216000" tIns="216000" rIns="216000" bIns="216000" rtlCol="0">
              <a:spAutoFit/>
            </a:bodyPr>
            <a:lstStyle/>
            <a:p>
              <a:pPr algn="just"/>
              <a:r>
                <a:rPr lang="es-419" sz="2400" i="1" dirty="0" smtClean="0">
                  <a:solidFill>
                    <a:schemeClr val="bg1"/>
                  </a:solidFill>
                </a:rPr>
                <a:t>La </a:t>
              </a:r>
              <a:r>
                <a:rPr lang="es-419" sz="2400" b="1" i="1" dirty="0" smtClean="0">
                  <a:solidFill>
                    <a:schemeClr val="bg1"/>
                  </a:solidFill>
                </a:rPr>
                <a:t>brecha</a:t>
              </a:r>
              <a:r>
                <a:rPr lang="es-419" sz="2400" i="1" dirty="0" smtClean="0">
                  <a:solidFill>
                    <a:schemeClr val="bg1"/>
                  </a:solidFill>
                </a:rPr>
                <a:t> creada en las TIC se traduce principalmente en </a:t>
              </a:r>
              <a:r>
                <a:rPr lang="es-419" sz="2400" i="1" u="sng" dirty="0" smtClean="0">
                  <a:solidFill>
                    <a:schemeClr val="bg1"/>
                  </a:solidFill>
                </a:rPr>
                <a:t>deterioro de la imagen</a:t>
              </a:r>
              <a:r>
                <a:rPr lang="es-419" sz="2400" i="1" dirty="0" smtClean="0">
                  <a:solidFill>
                    <a:schemeClr val="bg1"/>
                  </a:solidFill>
                </a:rPr>
                <a:t> y </a:t>
              </a:r>
              <a:r>
                <a:rPr lang="es-419" sz="2400" i="1" u="sng" dirty="0" smtClean="0">
                  <a:solidFill>
                    <a:schemeClr val="bg1"/>
                  </a:solidFill>
                </a:rPr>
                <a:t>pérdidas financieras</a:t>
              </a:r>
              <a:r>
                <a:rPr lang="es-419" sz="2400" i="1" dirty="0" smtClean="0">
                  <a:solidFill>
                    <a:schemeClr val="bg1"/>
                  </a:solidFill>
                </a:rPr>
                <a:t> del negocio.</a:t>
              </a:r>
              <a:endParaRPr lang="es-ES" sz="2400" i="1" dirty="0">
                <a:solidFill>
                  <a:schemeClr val="bg1"/>
                </a:solidFill>
              </a:endParaRPr>
            </a:p>
          </p:txBody>
        </p:sp>
        <p:pic>
          <p:nvPicPr>
            <p:cNvPr id="30" name="Picture 4" descr="Resultado de imagen para gartner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12563" y="5587012"/>
              <a:ext cx="1525821" cy="5787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46528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69" grpId="0"/>
      <p:bldP spid="170" grpId="0"/>
      <p:bldP spid="177" grpId="0" animBg="1"/>
      <p:bldP spid="17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492896"/>
            <a:ext cx="7772400" cy="1107554"/>
          </a:xfrm>
          <a:solidFill>
            <a:srgbClr val="00B050"/>
          </a:solidFill>
        </p:spPr>
        <p:txBody>
          <a:bodyPr/>
          <a:lstStyle/>
          <a:p>
            <a:pPr algn="l"/>
            <a:r>
              <a:rPr lang="es-V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Solución</a:t>
            </a:r>
            <a:endParaRPr lang="es-VE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1966553"/>
            <a:ext cx="2160240" cy="2160240"/>
          </a:xfrm>
          <a:prstGeom prst="rect">
            <a:avLst/>
          </a:prstGeom>
        </p:spPr>
      </p:pic>
      <p:pic>
        <p:nvPicPr>
          <p:cNvPr id="5" name="1 Imagen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7656" y="5513251"/>
            <a:ext cx="910068" cy="888904"/>
          </a:xfrm>
          <a:prstGeom prst="rect">
            <a:avLst/>
          </a:prstGeom>
        </p:spPr>
      </p:pic>
      <p:pic>
        <p:nvPicPr>
          <p:cNvPr id="7" name="6 Imagen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68" y="5405401"/>
            <a:ext cx="1267863" cy="102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568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1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961" y="5916375"/>
            <a:ext cx="533328" cy="520925"/>
          </a:xfrm>
          <a:prstGeom prst="rect">
            <a:avLst/>
          </a:prstGeom>
        </p:spPr>
      </p:pic>
      <p:pic>
        <p:nvPicPr>
          <p:cNvPr id="64" name="63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506" y="5916376"/>
            <a:ext cx="685142" cy="553384"/>
          </a:xfrm>
          <a:prstGeom prst="rect">
            <a:avLst/>
          </a:prstGeom>
        </p:spPr>
      </p:pic>
      <p:cxnSp>
        <p:nvCxnSpPr>
          <p:cNvPr id="52" name="51 Conector recto"/>
          <p:cNvCxnSpPr>
            <a:stCxn id="73" idx="0"/>
            <a:endCxn id="157" idx="0"/>
          </p:cNvCxnSpPr>
          <p:nvPr/>
        </p:nvCxnSpPr>
        <p:spPr>
          <a:xfrm>
            <a:off x="3490800" y="2603716"/>
            <a:ext cx="1194847" cy="304800"/>
          </a:xfrm>
          <a:prstGeom prst="line">
            <a:avLst/>
          </a:prstGeom>
          <a:ln w="476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506506" y="260061"/>
            <a:ext cx="8229600" cy="1143000"/>
          </a:xfrm>
          <a:solidFill>
            <a:srgbClr val="00B050"/>
          </a:solidFill>
        </p:spPr>
        <p:txBody>
          <a:bodyPr>
            <a:normAutofit/>
          </a:bodyPr>
          <a:lstStyle/>
          <a:p>
            <a:r>
              <a:rPr lang="es-VE" sz="4000" dirty="0" smtClean="0">
                <a:solidFill>
                  <a:schemeClr val="bg1"/>
                </a:solidFill>
              </a:rPr>
              <a:t>Solución :: </a:t>
            </a:r>
            <a:r>
              <a:rPr lang="es-VE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Punto de Interconexión</a:t>
            </a:r>
            <a:endParaRPr lang="es-VE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6 Nube"/>
          <p:cNvSpPr/>
          <p:nvPr/>
        </p:nvSpPr>
        <p:spPr>
          <a:xfrm>
            <a:off x="5580112" y="3882163"/>
            <a:ext cx="875421" cy="684128"/>
          </a:xfrm>
          <a:prstGeom prst="cloud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b="1" dirty="0" smtClean="0"/>
              <a:t>B</a:t>
            </a:r>
            <a:endParaRPr lang="es-ES" b="1" dirty="0"/>
          </a:p>
        </p:txBody>
      </p:sp>
      <p:sp>
        <p:nvSpPr>
          <p:cNvPr id="8" name="7 Nube"/>
          <p:cNvSpPr/>
          <p:nvPr/>
        </p:nvSpPr>
        <p:spPr>
          <a:xfrm>
            <a:off x="2298862" y="3739729"/>
            <a:ext cx="1368152" cy="1009050"/>
          </a:xfrm>
          <a:prstGeom prst="cloud">
            <a:avLst/>
          </a:prstGeom>
          <a:solidFill>
            <a:srgbClr val="FF0066"/>
          </a:solidFill>
          <a:ln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600" b="1" dirty="0" smtClean="0"/>
              <a:t>Internet</a:t>
            </a:r>
            <a:endParaRPr lang="es-ES" sz="1600" b="1" dirty="0"/>
          </a:p>
        </p:txBody>
      </p:sp>
      <p:cxnSp>
        <p:nvCxnSpPr>
          <p:cNvPr id="9" name="8 Conector recto"/>
          <p:cNvCxnSpPr>
            <a:stCxn id="7" idx="2"/>
            <a:endCxn id="2" idx="2"/>
          </p:cNvCxnSpPr>
          <p:nvPr/>
        </p:nvCxnSpPr>
        <p:spPr>
          <a:xfrm flipH="1" flipV="1">
            <a:off x="4685195" y="3082874"/>
            <a:ext cx="897632" cy="1141353"/>
          </a:xfrm>
          <a:prstGeom prst="line">
            <a:avLst/>
          </a:prstGeom>
          <a:ln w="4762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"/>
          <p:cNvCxnSpPr>
            <a:stCxn id="2" idx="2"/>
            <a:endCxn id="8" idx="0"/>
          </p:cNvCxnSpPr>
          <p:nvPr/>
        </p:nvCxnSpPr>
        <p:spPr>
          <a:xfrm flipH="1">
            <a:off x="3665874" y="3082874"/>
            <a:ext cx="1019321" cy="1161380"/>
          </a:xfrm>
          <a:prstGeom prst="line">
            <a:avLst/>
          </a:prstGeom>
          <a:ln w="47625">
            <a:solidFill>
              <a:srgbClr val="FF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20 Nube"/>
          <p:cNvSpPr/>
          <p:nvPr/>
        </p:nvSpPr>
        <p:spPr>
          <a:xfrm>
            <a:off x="4183596" y="3882163"/>
            <a:ext cx="875421" cy="684128"/>
          </a:xfrm>
          <a:prstGeom prst="cloud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b="1" dirty="0" smtClean="0"/>
              <a:t>A</a:t>
            </a:r>
            <a:endParaRPr lang="es-ES" b="1" dirty="0"/>
          </a:p>
        </p:txBody>
      </p:sp>
      <p:cxnSp>
        <p:nvCxnSpPr>
          <p:cNvPr id="30" name="29 Conector recto"/>
          <p:cNvCxnSpPr>
            <a:stCxn id="21" idx="3"/>
            <a:endCxn id="2" idx="2"/>
          </p:cNvCxnSpPr>
          <p:nvPr/>
        </p:nvCxnSpPr>
        <p:spPr>
          <a:xfrm flipV="1">
            <a:off x="4621307" y="3082874"/>
            <a:ext cx="63888" cy="838405"/>
          </a:xfrm>
          <a:prstGeom prst="line">
            <a:avLst/>
          </a:prstGeom>
          <a:ln w="4762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"/>
          <p:cNvCxnSpPr>
            <a:stCxn id="21" idx="1"/>
            <a:endCxn id="5" idx="0"/>
          </p:cNvCxnSpPr>
          <p:nvPr/>
        </p:nvCxnSpPr>
        <p:spPr>
          <a:xfrm flipH="1">
            <a:off x="4585778" y="4565563"/>
            <a:ext cx="35529" cy="907689"/>
          </a:xfrm>
          <a:prstGeom prst="line">
            <a:avLst/>
          </a:prstGeom>
          <a:ln w="4762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35 Conector recto"/>
          <p:cNvCxnSpPr>
            <a:stCxn id="6" idx="0"/>
            <a:endCxn id="7" idx="1"/>
          </p:cNvCxnSpPr>
          <p:nvPr/>
        </p:nvCxnSpPr>
        <p:spPr>
          <a:xfrm flipH="1" flipV="1">
            <a:off x="6017823" y="4565563"/>
            <a:ext cx="15927" cy="903296"/>
          </a:xfrm>
          <a:prstGeom prst="line">
            <a:avLst/>
          </a:prstGeom>
          <a:ln w="4762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42 Conector recto"/>
          <p:cNvCxnSpPr>
            <a:stCxn id="3" idx="0"/>
            <a:endCxn id="8" idx="1"/>
          </p:cNvCxnSpPr>
          <p:nvPr/>
        </p:nvCxnSpPr>
        <p:spPr>
          <a:xfrm flipV="1">
            <a:off x="2961059" y="4747705"/>
            <a:ext cx="21879" cy="766196"/>
          </a:xfrm>
          <a:prstGeom prst="line">
            <a:avLst/>
          </a:prstGeom>
          <a:ln w="47625">
            <a:solidFill>
              <a:srgbClr val="FF00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72 Nube"/>
          <p:cNvSpPr/>
          <p:nvPr/>
        </p:nvSpPr>
        <p:spPr>
          <a:xfrm>
            <a:off x="2195736" y="2298916"/>
            <a:ext cx="1296144" cy="609600"/>
          </a:xfrm>
          <a:prstGeom prst="cloud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 smtClean="0"/>
              <a:t>Nubes</a:t>
            </a:r>
            <a:endParaRPr lang="es-ES" dirty="0"/>
          </a:p>
        </p:txBody>
      </p:sp>
      <p:cxnSp>
        <p:nvCxnSpPr>
          <p:cNvPr id="77" name="76 Conector recto"/>
          <p:cNvCxnSpPr>
            <a:stCxn id="121" idx="3"/>
            <a:endCxn id="8" idx="2"/>
          </p:cNvCxnSpPr>
          <p:nvPr/>
        </p:nvCxnSpPr>
        <p:spPr>
          <a:xfrm>
            <a:off x="1952096" y="2750394"/>
            <a:ext cx="351010" cy="1493860"/>
          </a:xfrm>
          <a:prstGeom prst="line">
            <a:avLst/>
          </a:prstGeom>
          <a:ln w="47625">
            <a:solidFill>
              <a:srgbClr val="FF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86 CuadroTexto"/>
          <p:cNvSpPr txBox="1"/>
          <p:nvPr/>
        </p:nvSpPr>
        <p:spPr>
          <a:xfrm>
            <a:off x="7596336" y="5071536"/>
            <a:ext cx="1100906" cy="36933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419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Carrier A</a:t>
            </a:r>
            <a:endParaRPr lang="es-E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8" name="87 CuadroTexto"/>
          <p:cNvSpPr txBox="1"/>
          <p:nvPr/>
        </p:nvSpPr>
        <p:spPr>
          <a:xfrm>
            <a:off x="7596336" y="5468205"/>
            <a:ext cx="1100906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419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Carrier</a:t>
            </a:r>
            <a:r>
              <a:rPr lang="es-419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</a:t>
            </a:r>
            <a:endParaRPr lang="es-E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2" name="11 Grupo"/>
          <p:cNvGrpSpPr/>
          <p:nvPr/>
        </p:nvGrpSpPr>
        <p:grpSpPr>
          <a:xfrm>
            <a:off x="2276983" y="5513901"/>
            <a:ext cx="1368152" cy="948727"/>
            <a:chOff x="2276983" y="5513901"/>
            <a:chExt cx="1368152" cy="948727"/>
          </a:xfrm>
        </p:grpSpPr>
        <p:pic>
          <p:nvPicPr>
            <p:cNvPr id="3" name="2 Imagen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15144" y="5513901"/>
              <a:ext cx="691830" cy="691830"/>
            </a:xfrm>
            <a:prstGeom prst="rect">
              <a:avLst/>
            </a:prstGeom>
          </p:spPr>
        </p:pic>
        <p:sp>
          <p:nvSpPr>
            <p:cNvPr id="104" name="103 CuadroTexto"/>
            <p:cNvSpPr txBox="1"/>
            <p:nvPr/>
          </p:nvSpPr>
          <p:spPr>
            <a:xfrm>
              <a:off x="2276983" y="6093296"/>
              <a:ext cx="13681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419" sz="1600" b="1" dirty="0" smtClean="0"/>
                <a:t>Localidad</a:t>
              </a:r>
              <a:r>
                <a:rPr lang="es-419" b="1" dirty="0" smtClean="0"/>
                <a:t> 1</a:t>
              </a:r>
              <a:endParaRPr lang="es-ES" b="1" dirty="0"/>
            </a:p>
          </p:txBody>
        </p:sp>
      </p:grpSp>
      <p:grpSp>
        <p:nvGrpSpPr>
          <p:cNvPr id="13" name="12 Grupo"/>
          <p:cNvGrpSpPr/>
          <p:nvPr/>
        </p:nvGrpSpPr>
        <p:grpSpPr>
          <a:xfrm>
            <a:off x="3881601" y="5473252"/>
            <a:ext cx="1368152" cy="996508"/>
            <a:chOff x="3881601" y="5473252"/>
            <a:chExt cx="1368152" cy="996508"/>
          </a:xfrm>
        </p:grpSpPr>
        <p:pic>
          <p:nvPicPr>
            <p:cNvPr id="5" name="4 Imagen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1960" y="5473252"/>
              <a:ext cx="747636" cy="747636"/>
            </a:xfrm>
            <a:prstGeom prst="rect">
              <a:avLst/>
            </a:prstGeom>
          </p:spPr>
        </p:pic>
        <p:sp>
          <p:nvSpPr>
            <p:cNvPr id="105" name="104 CuadroTexto"/>
            <p:cNvSpPr txBox="1"/>
            <p:nvPr/>
          </p:nvSpPr>
          <p:spPr>
            <a:xfrm>
              <a:off x="3881601" y="6100428"/>
              <a:ext cx="13681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419" b="1" dirty="0" smtClean="0"/>
                <a:t> </a:t>
              </a:r>
              <a:r>
                <a:rPr lang="es-419" sz="1600" b="1" dirty="0" smtClean="0"/>
                <a:t>Localidad</a:t>
              </a:r>
              <a:r>
                <a:rPr lang="es-419" b="1" dirty="0" smtClean="0"/>
                <a:t> 2</a:t>
              </a:r>
              <a:endParaRPr lang="es-ES" b="1" dirty="0"/>
            </a:p>
          </p:txBody>
        </p:sp>
      </p:grpSp>
      <p:grpSp>
        <p:nvGrpSpPr>
          <p:cNvPr id="14" name="13 Grupo"/>
          <p:cNvGrpSpPr/>
          <p:nvPr/>
        </p:nvGrpSpPr>
        <p:grpSpPr>
          <a:xfrm>
            <a:off x="5349674" y="5468859"/>
            <a:ext cx="1368152" cy="1000901"/>
            <a:chOff x="5349674" y="5468859"/>
            <a:chExt cx="1368152" cy="1000901"/>
          </a:xfrm>
        </p:grpSpPr>
        <p:pic>
          <p:nvPicPr>
            <p:cNvPr id="6" name="5 Imagen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65314" y="5468859"/>
              <a:ext cx="736872" cy="736872"/>
            </a:xfrm>
            <a:prstGeom prst="rect">
              <a:avLst/>
            </a:prstGeom>
          </p:spPr>
        </p:pic>
        <p:sp>
          <p:nvSpPr>
            <p:cNvPr id="106" name="105 CuadroTexto"/>
            <p:cNvSpPr txBox="1"/>
            <p:nvPr/>
          </p:nvSpPr>
          <p:spPr>
            <a:xfrm>
              <a:off x="5349674" y="6100428"/>
              <a:ext cx="13681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419" sz="1600" b="1" dirty="0" smtClean="0"/>
                <a:t>Localidad</a:t>
              </a:r>
              <a:r>
                <a:rPr lang="es-419" b="1" dirty="0" smtClean="0"/>
                <a:t> 3</a:t>
              </a:r>
              <a:endParaRPr lang="es-ES" b="1" dirty="0"/>
            </a:p>
          </p:txBody>
        </p:sp>
      </p:grpSp>
      <p:cxnSp>
        <p:nvCxnSpPr>
          <p:cNvPr id="107" name="106 Conector recto"/>
          <p:cNvCxnSpPr>
            <a:stCxn id="21" idx="1"/>
            <a:endCxn id="3" idx="0"/>
          </p:cNvCxnSpPr>
          <p:nvPr/>
        </p:nvCxnSpPr>
        <p:spPr>
          <a:xfrm flipH="1">
            <a:off x="2961059" y="4565563"/>
            <a:ext cx="1660248" cy="948338"/>
          </a:xfrm>
          <a:prstGeom prst="line">
            <a:avLst/>
          </a:prstGeom>
          <a:ln w="4762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109 Conector recto"/>
          <p:cNvCxnSpPr>
            <a:stCxn id="5" idx="0"/>
            <a:endCxn id="7" idx="1"/>
          </p:cNvCxnSpPr>
          <p:nvPr/>
        </p:nvCxnSpPr>
        <p:spPr>
          <a:xfrm flipV="1">
            <a:off x="4585778" y="4565563"/>
            <a:ext cx="1432045" cy="907689"/>
          </a:xfrm>
          <a:prstGeom prst="line">
            <a:avLst/>
          </a:prstGeom>
          <a:ln w="4762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114 CuadroTexto"/>
          <p:cNvSpPr txBox="1"/>
          <p:nvPr/>
        </p:nvSpPr>
        <p:spPr>
          <a:xfrm>
            <a:off x="2108580" y="1985107"/>
            <a:ext cx="14209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1400" b="1" dirty="0" smtClean="0"/>
              <a:t>Multi-Cloud</a:t>
            </a:r>
            <a:endParaRPr lang="es-ES" sz="1400" b="1" dirty="0"/>
          </a:p>
        </p:txBody>
      </p:sp>
      <p:cxnSp>
        <p:nvCxnSpPr>
          <p:cNvPr id="127" name="126 Conector recto"/>
          <p:cNvCxnSpPr>
            <a:stCxn id="73" idx="1"/>
            <a:endCxn id="8" idx="3"/>
          </p:cNvCxnSpPr>
          <p:nvPr/>
        </p:nvCxnSpPr>
        <p:spPr>
          <a:xfrm>
            <a:off x="2843808" y="2907867"/>
            <a:ext cx="139130" cy="889555"/>
          </a:xfrm>
          <a:prstGeom prst="line">
            <a:avLst/>
          </a:prstGeom>
          <a:ln w="476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28 Grupo"/>
          <p:cNvGrpSpPr/>
          <p:nvPr/>
        </p:nvGrpSpPr>
        <p:grpSpPr>
          <a:xfrm>
            <a:off x="1602016" y="5139315"/>
            <a:ext cx="1626132" cy="613004"/>
            <a:chOff x="1602016" y="5139315"/>
            <a:chExt cx="1626132" cy="613004"/>
          </a:xfrm>
        </p:grpSpPr>
        <p:pic>
          <p:nvPicPr>
            <p:cNvPr id="159" name="158 Imagen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15144" y="5139315"/>
              <a:ext cx="613004" cy="613004"/>
            </a:xfrm>
            <a:prstGeom prst="rect">
              <a:avLst/>
            </a:prstGeom>
          </p:spPr>
        </p:pic>
        <p:sp>
          <p:nvSpPr>
            <p:cNvPr id="160" name="159 CuadroTexto"/>
            <p:cNvSpPr txBox="1"/>
            <p:nvPr/>
          </p:nvSpPr>
          <p:spPr>
            <a:xfrm>
              <a:off x="1602016" y="5210036"/>
              <a:ext cx="10131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419" sz="1400" b="1" dirty="0" smtClean="0"/>
                <a:t>Seguridad</a:t>
              </a:r>
            </a:p>
            <a:p>
              <a:pPr algn="ctr"/>
              <a:r>
                <a:rPr lang="es-419" sz="1400" b="1" dirty="0" smtClean="0"/>
                <a:t>Terminal</a:t>
              </a:r>
              <a:endParaRPr lang="es-ES" sz="1400" b="1" dirty="0"/>
            </a:p>
          </p:txBody>
        </p:sp>
      </p:grpSp>
      <p:sp>
        <p:nvSpPr>
          <p:cNvPr id="163" name="162 CuadroTexto"/>
          <p:cNvSpPr txBox="1"/>
          <p:nvPr/>
        </p:nvSpPr>
        <p:spPr>
          <a:xfrm>
            <a:off x="890148" y="4541457"/>
            <a:ext cx="1080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1400" b="1" dirty="0" smtClean="0"/>
              <a:t>Usuarios</a:t>
            </a:r>
          </a:p>
          <a:p>
            <a:pPr algn="ctr"/>
            <a:r>
              <a:rPr lang="es-419" sz="1400" b="1" dirty="0" smtClean="0"/>
              <a:t>Finales</a:t>
            </a:r>
            <a:endParaRPr lang="es-ES" sz="1400" b="1" dirty="0"/>
          </a:p>
        </p:txBody>
      </p:sp>
      <p:cxnSp>
        <p:nvCxnSpPr>
          <p:cNvPr id="164" name="163 Conector recto"/>
          <p:cNvCxnSpPr>
            <a:stCxn id="185" idx="3"/>
            <a:endCxn id="8" idx="2"/>
          </p:cNvCxnSpPr>
          <p:nvPr/>
        </p:nvCxnSpPr>
        <p:spPr>
          <a:xfrm flipV="1">
            <a:off x="1673839" y="4244254"/>
            <a:ext cx="629267" cy="4013"/>
          </a:xfrm>
          <a:prstGeom prst="line">
            <a:avLst/>
          </a:prstGeom>
          <a:ln w="47625">
            <a:solidFill>
              <a:srgbClr val="00CC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5" name="184 Imagen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522" y="3958108"/>
            <a:ext cx="580317" cy="580317"/>
          </a:xfrm>
          <a:prstGeom prst="rect">
            <a:avLst/>
          </a:prstGeom>
        </p:spPr>
      </p:pic>
      <p:grpSp>
        <p:nvGrpSpPr>
          <p:cNvPr id="17" name="16 Grupo"/>
          <p:cNvGrpSpPr/>
          <p:nvPr/>
        </p:nvGrpSpPr>
        <p:grpSpPr>
          <a:xfrm>
            <a:off x="715187" y="2426214"/>
            <a:ext cx="1236909" cy="1137617"/>
            <a:chOff x="715187" y="2426214"/>
            <a:chExt cx="1236909" cy="1137617"/>
          </a:xfrm>
        </p:grpSpPr>
        <p:pic>
          <p:nvPicPr>
            <p:cNvPr id="121" name="120 Imagen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4964" y="2431828"/>
              <a:ext cx="637132" cy="637132"/>
            </a:xfrm>
            <a:prstGeom prst="rect">
              <a:avLst/>
            </a:prstGeom>
          </p:spPr>
        </p:pic>
        <p:sp>
          <p:nvSpPr>
            <p:cNvPr id="122" name="121 CuadroTexto"/>
            <p:cNvSpPr txBox="1"/>
            <p:nvPr/>
          </p:nvSpPr>
          <p:spPr>
            <a:xfrm>
              <a:off x="820536" y="3040611"/>
              <a:ext cx="10801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419" sz="1400" b="1" dirty="0" smtClean="0"/>
                <a:t>Amenazas</a:t>
              </a:r>
            </a:p>
            <a:p>
              <a:pPr algn="ctr"/>
              <a:r>
                <a:rPr lang="es-419" sz="1400" b="1" dirty="0" smtClean="0"/>
                <a:t>Externas</a:t>
              </a:r>
              <a:endParaRPr lang="es-ES" sz="1400" b="1" dirty="0"/>
            </a:p>
          </p:txBody>
        </p:sp>
        <p:pic>
          <p:nvPicPr>
            <p:cNvPr id="188" name="187 Imagen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187" y="2426214"/>
              <a:ext cx="642746" cy="642746"/>
            </a:xfrm>
            <a:prstGeom prst="rect">
              <a:avLst/>
            </a:prstGeom>
          </p:spPr>
        </p:pic>
      </p:grpSp>
      <p:sp>
        <p:nvSpPr>
          <p:cNvPr id="207" name="206 CuadroTexto"/>
          <p:cNvSpPr txBox="1"/>
          <p:nvPr/>
        </p:nvSpPr>
        <p:spPr>
          <a:xfrm>
            <a:off x="7064803" y="1628800"/>
            <a:ext cx="1609438" cy="738664"/>
          </a:xfrm>
          <a:prstGeom prst="rect">
            <a:avLst/>
          </a:prstGeom>
          <a:solidFill>
            <a:srgbClr val="CCFF3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419" sz="1400" b="1" dirty="0" smtClean="0"/>
              <a:t>Arquitectura</a:t>
            </a:r>
          </a:p>
          <a:p>
            <a:pPr algn="ctr"/>
            <a:r>
              <a:rPr lang="es-419" sz="1400" b="1" dirty="0" smtClean="0"/>
              <a:t>Orientada a</a:t>
            </a:r>
          </a:p>
          <a:p>
            <a:pPr algn="ctr"/>
            <a:r>
              <a:rPr lang="es-419" sz="1400" b="1" dirty="0" smtClean="0"/>
              <a:t>Interconexión</a:t>
            </a:r>
            <a:endParaRPr lang="es-ES" sz="1400" b="1" dirty="0"/>
          </a:p>
        </p:txBody>
      </p:sp>
      <p:sp>
        <p:nvSpPr>
          <p:cNvPr id="208" name="207 CuadroTexto"/>
          <p:cNvSpPr txBox="1"/>
          <p:nvPr/>
        </p:nvSpPr>
        <p:spPr>
          <a:xfrm>
            <a:off x="7067018" y="2383637"/>
            <a:ext cx="1609438" cy="523220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419" sz="1400" b="1" dirty="0" smtClean="0">
                <a:solidFill>
                  <a:schemeClr val="bg1"/>
                </a:solidFill>
              </a:rPr>
              <a:t>Experiencia del</a:t>
            </a:r>
            <a:r>
              <a:rPr lang="es-ES" sz="1400" b="1" dirty="0" smtClean="0">
                <a:solidFill>
                  <a:schemeClr val="bg1"/>
                </a:solidFill>
              </a:rPr>
              <a:t> Usuario </a:t>
            </a:r>
            <a:r>
              <a:rPr lang="es-419" sz="1400" b="1" dirty="0" smtClean="0">
                <a:solidFill>
                  <a:schemeClr val="bg1"/>
                </a:solidFill>
              </a:rPr>
              <a:t>Final</a:t>
            </a:r>
            <a:endParaRPr lang="es-ES" sz="1400" b="1" dirty="0" smtClean="0">
              <a:solidFill>
                <a:schemeClr val="bg1"/>
              </a:solidFill>
            </a:endParaRPr>
          </a:p>
        </p:txBody>
      </p:sp>
      <p:sp>
        <p:nvSpPr>
          <p:cNvPr id="209" name="208 Rectángulo"/>
          <p:cNvSpPr/>
          <p:nvPr/>
        </p:nvSpPr>
        <p:spPr>
          <a:xfrm>
            <a:off x="6372200" y="3921279"/>
            <a:ext cx="13391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419" sz="1400" b="1" dirty="0"/>
              <a:t>Multi-Punto</a:t>
            </a:r>
          </a:p>
          <a:p>
            <a:pPr algn="ctr"/>
            <a:r>
              <a:rPr lang="es-419" sz="1400" b="1" dirty="0"/>
              <a:t>Multi-Carrier</a:t>
            </a:r>
          </a:p>
        </p:txBody>
      </p:sp>
      <p:grpSp>
        <p:nvGrpSpPr>
          <p:cNvPr id="18" name="17 Grupo"/>
          <p:cNvGrpSpPr/>
          <p:nvPr/>
        </p:nvGrpSpPr>
        <p:grpSpPr>
          <a:xfrm>
            <a:off x="3793898" y="1481065"/>
            <a:ext cx="1788929" cy="1772798"/>
            <a:chOff x="3791183" y="1534223"/>
            <a:chExt cx="1788929" cy="1772798"/>
          </a:xfrm>
        </p:grpSpPr>
        <p:sp>
          <p:nvSpPr>
            <p:cNvPr id="154" name="153 Elipse"/>
            <p:cNvSpPr/>
            <p:nvPr/>
          </p:nvSpPr>
          <p:spPr>
            <a:xfrm>
              <a:off x="3791183" y="1534223"/>
              <a:ext cx="1788929" cy="177279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13" name="112 CuadroTexto"/>
            <p:cNvSpPr txBox="1"/>
            <p:nvPr/>
          </p:nvSpPr>
          <p:spPr>
            <a:xfrm>
              <a:off x="3995546" y="1573030"/>
              <a:ext cx="13681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400" b="1" dirty="0" smtClean="0">
                  <a:solidFill>
                    <a:srgbClr val="002060"/>
                  </a:solidFill>
                </a:rPr>
                <a:t>Punto de Interconexión</a:t>
              </a:r>
              <a:endParaRPr lang="es-ES" sz="1400" b="1" dirty="0">
                <a:solidFill>
                  <a:srgbClr val="002060"/>
                </a:solidFill>
              </a:endParaRPr>
            </a:p>
          </p:txBody>
        </p:sp>
        <p:pic>
          <p:nvPicPr>
            <p:cNvPr id="2" name="1 Imagen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880" y="2051290"/>
              <a:ext cx="1219200" cy="1084742"/>
            </a:xfrm>
            <a:prstGeom prst="rect">
              <a:avLst/>
            </a:prstGeom>
          </p:spPr>
        </p:pic>
      </p:grpSp>
      <p:grpSp>
        <p:nvGrpSpPr>
          <p:cNvPr id="16" name="15 Grupo"/>
          <p:cNvGrpSpPr/>
          <p:nvPr/>
        </p:nvGrpSpPr>
        <p:grpSpPr>
          <a:xfrm>
            <a:off x="4316257" y="2908516"/>
            <a:ext cx="1578552" cy="738779"/>
            <a:chOff x="4316257" y="2908516"/>
            <a:chExt cx="1578552" cy="738779"/>
          </a:xfrm>
        </p:grpSpPr>
        <p:sp>
          <p:nvSpPr>
            <p:cNvPr id="120" name="119 CuadroTexto"/>
            <p:cNvSpPr txBox="1"/>
            <p:nvPr/>
          </p:nvSpPr>
          <p:spPr>
            <a:xfrm>
              <a:off x="4932040" y="3022004"/>
              <a:ext cx="962769" cy="523220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419" sz="1400" b="1" dirty="0" smtClean="0"/>
                <a:t>Seguridad</a:t>
              </a:r>
            </a:p>
            <a:p>
              <a:pPr algn="ctr"/>
              <a:r>
                <a:rPr lang="es-419" sz="1400" b="1" dirty="0" smtClean="0"/>
                <a:t>Perimetral</a:t>
              </a:r>
              <a:endParaRPr lang="es-ES" sz="1400" b="1" dirty="0"/>
            </a:p>
          </p:txBody>
        </p:sp>
        <p:pic>
          <p:nvPicPr>
            <p:cNvPr id="157" name="156 Imagen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16257" y="2908516"/>
              <a:ext cx="738779" cy="738779"/>
            </a:xfrm>
            <a:prstGeom prst="rect">
              <a:avLst/>
            </a:prstGeom>
          </p:spPr>
        </p:pic>
      </p:grpSp>
      <p:sp>
        <p:nvSpPr>
          <p:cNvPr id="59" name="58 CuadroTexto"/>
          <p:cNvSpPr txBox="1"/>
          <p:nvPr/>
        </p:nvSpPr>
        <p:spPr>
          <a:xfrm>
            <a:off x="6582736" y="5280392"/>
            <a:ext cx="1080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1400" b="1" dirty="0" smtClean="0"/>
              <a:t>Usuarios</a:t>
            </a:r>
          </a:p>
          <a:p>
            <a:pPr algn="ctr"/>
            <a:r>
              <a:rPr lang="es-419" sz="1400" b="1" dirty="0" smtClean="0"/>
              <a:t>Finales</a:t>
            </a:r>
            <a:endParaRPr lang="es-ES" sz="1400" b="1" dirty="0"/>
          </a:p>
        </p:txBody>
      </p:sp>
      <p:cxnSp>
        <p:nvCxnSpPr>
          <p:cNvPr id="60" name="59 Conector recto"/>
          <p:cNvCxnSpPr>
            <a:stCxn id="61" idx="1"/>
            <a:endCxn id="6" idx="3"/>
          </p:cNvCxnSpPr>
          <p:nvPr/>
        </p:nvCxnSpPr>
        <p:spPr>
          <a:xfrm flipH="1">
            <a:off x="6402186" y="5002230"/>
            <a:ext cx="402062" cy="835065"/>
          </a:xfrm>
          <a:prstGeom prst="line">
            <a:avLst/>
          </a:prstGeom>
          <a:ln w="47625">
            <a:solidFill>
              <a:srgbClr val="00CC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60 Imagen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4712071"/>
            <a:ext cx="580317" cy="580317"/>
          </a:xfrm>
          <a:prstGeom prst="rect">
            <a:avLst/>
          </a:prstGeom>
        </p:spPr>
      </p:pic>
      <p:sp>
        <p:nvSpPr>
          <p:cNvPr id="54" name="53 CuadroTexto"/>
          <p:cNvSpPr txBox="1"/>
          <p:nvPr/>
        </p:nvSpPr>
        <p:spPr>
          <a:xfrm>
            <a:off x="5508104" y="1979134"/>
            <a:ext cx="962769" cy="738664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419" sz="1400" b="1" dirty="0" smtClean="0">
                <a:solidFill>
                  <a:schemeClr val="bg1"/>
                </a:solidFill>
              </a:rPr>
              <a:t>Data Center</a:t>
            </a:r>
          </a:p>
          <a:p>
            <a:pPr algn="ctr"/>
            <a:r>
              <a:rPr lang="es-419" sz="1400" b="1" dirty="0" smtClean="0">
                <a:solidFill>
                  <a:schemeClr val="bg1"/>
                </a:solidFill>
              </a:rPr>
              <a:t>PoP</a:t>
            </a:r>
            <a:endParaRPr lang="es-ES" sz="1400" b="1" dirty="0">
              <a:solidFill>
                <a:schemeClr val="bg1"/>
              </a:solidFill>
            </a:endParaRPr>
          </a:p>
        </p:txBody>
      </p:sp>
      <p:grpSp>
        <p:nvGrpSpPr>
          <p:cNvPr id="20" name="Grupo 19"/>
          <p:cNvGrpSpPr/>
          <p:nvPr/>
        </p:nvGrpSpPr>
        <p:grpSpPr>
          <a:xfrm>
            <a:off x="502390" y="1430829"/>
            <a:ext cx="8229600" cy="4981563"/>
            <a:chOff x="506506" y="1430497"/>
            <a:chExt cx="8229600" cy="4981563"/>
          </a:xfrm>
        </p:grpSpPr>
        <p:grpSp>
          <p:nvGrpSpPr>
            <p:cNvPr id="15" name="Grupo 14"/>
            <p:cNvGrpSpPr/>
            <p:nvPr/>
          </p:nvGrpSpPr>
          <p:grpSpPr>
            <a:xfrm>
              <a:off x="506506" y="1430497"/>
              <a:ext cx="8229600" cy="4981563"/>
              <a:chOff x="506506" y="1430497"/>
              <a:chExt cx="8229600" cy="4981563"/>
            </a:xfrm>
          </p:grpSpPr>
          <p:sp>
            <p:nvSpPr>
              <p:cNvPr id="11" name="Rectángulo 10"/>
              <p:cNvSpPr/>
              <p:nvPr/>
            </p:nvSpPr>
            <p:spPr>
              <a:xfrm>
                <a:off x="506506" y="1430497"/>
                <a:ext cx="8229600" cy="4981563"/>
              </a:xfrm>
              <a:prstGeom prst="rect">
                <a:avLst/>
              </a:prstGeom>
              <a:solidFill>
                <a:schemeClr val="tx1">
                  <a:alpha val="7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55" name="206 CuadroTexto"/>
              <p:cNvSpPr txBox="1"/>
              <p:nvPr/>
            </p:nvSpPr>
            <p:spPr>
              <a:xfrm>
                <a:off x="1852361" y="2735657"/>
                <a:ext cx="5836197" cy="1544214"/>
              </a:xfrm>
              <a:prstGeom prst="rect">
                <a:avLst/>
              </a:prstGeom>
              <a:solidFill>
                <a:srgbClr val="0070C0"/>
              </a:solidFill>
            </p:spPr>
            <p:txBody>
              <a:bodyPr wrap="square" lIns="216000" tIns="216000" rIns="216000" bIns="216000" rtlCol="0">
                <a:spAutoFit/>
              </a:bodyPr>
              <a:lstStyle/>
              <a:p>
                <a:pPr algn="just"/>
                <a:r>
                  <a:rPr lang="es-419" sz="2400" i="1" dirty="0" smtClean="0">
                    <a:solidFill>
                      <a:schemeClr val="bg1"/>
                    </a:solidFill>
                  </a:rPr>
                  <a:t>El </a:t>
                </a:r>
                <a:r>
                  <a:rPr lang="es-419" sz="2400" b="1" i="1" dirty="0" smtClean="0">
                    <a:solidFill>
                      <a:schemeClr val="bg1"/>
                    </a:solidFill>
                  </a:rPr>
                  <a:t>Data Center </a:t>
                </a:r>
                <a:r>
                  <a:rPr lang="es-419" sz="2400" i="1" dirty="0" smtClean="0">
                    <a:solidFill>
                      <a:schemeClr val="bg1"/>
                    </a:solidFill>
                  </a:rPr>
                  <a:t>es el </a:t>
                </a:r>
                <a:r>
                  <a:rPr lang="es-419" sz="2400" b="1" i="1" u="sng" dirty="0" smtClean="0">
                    <a:solidFill>
                      <a:schemeClr val="bg1"/>
                    </a:solidFill>
                  </a:rPr>
                  <a:t>punto de interconexión natural</a:t>
                </a:r>
                <a:r>
                  <a:rPr lang="es-419" sz="2400" b="1" i="1" dirty="0" smtClean="0">
                    <a:solidFill>
                      <a:schemeClr val="bg1"/>
                    </a:solidFill>
                  </a:rPr>
                  <a:t> </a:t>
                </a:r>
                <a:r>
                  <a:rPr lang="es-419" sz="2400" i="1" dirty="0" smtClean="0">
                    <a:solidFill>
                      <a:schemeClr val="bg1"/>
                    </a:solidFill>
                  </a:rPr>
                  <a:t>para habilitar plataformas de misión crítica y operación continua.</a:t>
                </a:r>
                <a:endParaRPr lang="es-ES" sz="2400" i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028" name="Picture 4" descr="Resultado de imagen para gartner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16679" y="5586680"/>
              <a:ext cx="1525821" cy="5787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95873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20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20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21" grpId="0" animBg="1"/>
      <p:bldP spid="73" grpId="0" animBg="1"/>
      <p:bldP spid="87" grpId="0" animBg="1"/>
      <p:bldP spid="88" grpId="0" animBg="1"/>
      <p:bldP spid="115" grpId="0"/>
      <p:bldP spid="163" grpId="0"/>
      <p:bldP spid="207" grpId="0" animBg="1"/>
      <p:bldP spid="208" grpId="0" animBg="1"/>
      <p:bldP spid="209" grpId="0"/>
      <p:bldP spid="59" grpId="0"/>
      <p:bldP spid="5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</p:spPr>
        <p:txBody>
          <a:bodyPr/>
          <a:lstStyle/>
          <a:p>
            <a:pPr algn="l"/>
            <a:r>
              <a:rPr lang="es-VE" dirty="0" smtClean="0">
                <a:solidFill>
                  <a:schemeClr val="bg1"/>
                </a:solidFill>
              </a:rPr>
              <a:t>   Solución :: </a:t>
            </a:r>
            <a:r>
              <a:rPr lang="es-VE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Posibilidades</a:t>
            </a:r>
            <a:endParaRPr lang="es-VE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s-VE" b="1" i="1" u="sng" dirty="0" smtClean="0">
                <a:solidFill>
                  <a:srgbClr val="FF0066"/>
                </a:solidFill>
              </a:rPr>
              <a:t>No</a:t>
            </a:r>
            <a:r>
              <a:rPr lang="es-VE" b="1" i="1" dirty="0" smtClean="0">
                <a:solidFill>
                  <a:srgbClr val="FF0066"/>
                </a:solidFill>
              </a:rPr>
              <a:t> posee un Punto de Interconexión?</a:t>
            </a:r>
          </a:p>
          <a:p>
            <a:pPr marL="0" indent="0" algn="just">
              <a:buNone/>
            </a:pPr>
            <a:r>
              <a:rPr lang="es-VE" b="1" i="1" dirty="0" smtClean="0">
                <a:solidFill>
                  <a:srgbClr val="0070C0"/>
                </a:solidFill>
              </a:rPr>
              <a:t>    Cierre la brecha del negocio y la tecnología…</a:t>
            </a:r>
          </a:p>
          <a:p>
            <a:pPr algn="just"/>
            <a:r>
              <a:rPr lang="es-VE" sz="2400" b="1" dirty="0" smtClean="0"/>
              <a:t>Estandarización de interconexiones </a:t>
            </a:r>
            <a:r>
              <a:rPr lang="es-VE" sz="2400" dirty="0" smtClean="0"/>
              <a:t>entre usuarios y aplicaciones de las diversas localidades.</a:t>
            </a:r>
          </a:p>
          <a:p>
            <a:pPr algn="just"/>
            <a:r>
              <a:rPr lang="es-VE" sz="2400" b="1" dirty="0" smtClean="0"/>
              <a:t>Consolidación de redes</a:t>
            </a:r>
            <a:r>
              <a:rPr lang="es-VE" sz="2400" dirty="0" smtClean="0"/>
              <a:t> privadas virtuales (VPN) y públicas accesibles desde Internet.</a:t>
            </a:r>
          </a:p>
          <a:p>
            <a:pPr algn="just"/>
            <a:r>
              <a:rPr lang="es-VE" sz="2400" b="1" dirty="0" smtClean="0"/>
              <a:t>Punto de inspección y control de seguridad (PICS) </a:t>
            </a:r>
            <a:r>
              <a:rPr lang="es-VE" sz="2400" dirty="0" smtClean="0"/>
              <a:t>frente a riesgos y amenazas, especialmente desde/hacia Internet. </a:t>
            </a:r>
          </a:p>
          <a:p>
            <a:pPr algn="just"/>
            <a:r>
              <a:rPr lang="es-VE" sz="2400" b="1" dirty="0" smtClean="0"/>
              <a:t>Acceso directo al abanico </a:t>
            </a:r>
            <a:r>
              <a:rPr lang="es-VE" sz="2400" dirty="0" smtClean="0"/>
              <a:t>de funcionalidades y servicios propios del centro de datos.</a:t>
            </a:r>
          </a:p>
          <a:p>
            <a:pPr marL="0" indent="0" algn="just">
              <a:buNone/>
            </a:pPr>
            <a:endParaRPr lang="es-VE" sz="2400" dirty="0"/>
          </a:p>
        </p:txBody>
      </p:sp>
      <p:pic>
        <p:nvPicPr>
          <p:cNvPr id="3" name="2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5832" y="173892"/>
            <a:ext cx="1368152" cy="1368152"/>
          </a:xfrm>
          <a:prstGeom prst="rect">
            <a:avLst/>
          </a:prstGeom>
        </p:spPr>
      </p:pic>
      <p:pic>
        <p:nvPicPr>
          <p:cNvPr id="7" name="1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803" y="6045180"/>
            <a:ext cx="463656" cy="452874"/>
          </a:xfrm>
          <a:prstGeom prst="rect">
            <a:avLst/>
          </a:prstGeom>
        </p:spPr>
      </p:pic>
      <p:pic>
        <p:nvPicPr>
          <p:cNvPr id="8" name="7 Imagen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69" y="6045180"/>
            <a:ext cx="594489" cy="48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173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</p:spPr>
        <p:txBody>
          <a:bodyPr/>
          <a:lstStyle/>
          <a:p>
            <a:pPr algn="l"/>
            <a:r>
              <a:rPr lang="es-VE" dirty="0" smtClean="0">
                <a:solidFill>
                  <a:schemeClr val="bg1"/>
                </a:solidFill>
              </a:rPr>
              <a:t>   Solución :: </a:t>
            </a:r>
            <a:r>
              <a:rPr lang="es-VE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Posibilidades</a:t>
            </a:r>
            <a:endParaRPr lang="es-VE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s-VE" b="1" i="1" dirty="0" smtClean="0">
                <a:solidFill>
                  <a:srgbClr val="00B050"/>
                </a:solidFill>
              </a:rPr>
              <a:t>Si ya posee un Punto de Interconexión? </a:t>
            </a:r>
          </a:p>
          <a:p>
            <a:pPr marL="0" indent="0" algn="just">
              <a:buNone/>
            </a:pPr>
            <a:r>
              <a:rPr lang="es-VE" b="1" i="1" dirty="0">
                <a:solidFill>
                  <a:srgbClr val="0070C0"/>
                </a:solidFill>
              </a:rPr>
              <a:t> </a:t>
            </a:r>
            <a:r>
              <a:rPr lang="es-VE" b="1" i="1" dirty="0" smtClean="0">
                <a:solidFill>
                  <a:srgbClr val="0070C0"/>
                </a:solidFill>
              </a:rPr>
              <a:t>   Maximice su aprovechamiento…</a:t>
            </a:r>
          </a:p>
          <a:p>
            <a:pPr algn="just"/>
            <a:r>
              <a:rPr lang="es-VE" sz="2400" b="1" dirty="0" smtClean="0"/>
              <a:t>Punto de inspección y control (PICS) </a:t>
            </a:r>
            <a:r>
              <a:rPr lang="es-VE" sz="2400" dirty="0" smtClean="0"/>
              <a:t>de riesgos y amenazas de seguridad, especialmente desde/hacia Internet. </a:t>
            </a:r>
          </a:p>
          <a:p>
            <a:pPr algn="just"/>
            <a:r>
              <a:rPr lang="es-VE" sz="2400" b="1" dirty="0"/>
              <a:t>Distribución de tráfico</a:t>
            </a:r>
            <a:r>
              <a:rPr lang="es-VE" sz="2400" dirty="0"/>
              <a:t> entre localidades y nubes de terceros (</a:t>
            </a:r>
            <a:r>
              <a:rPr lang="es-VE" sz="2400" dirty="0" err="1"/>
              <a:t>e.g</a:t>
            </a:r>
            <a:r>
              <a:rPr lang="es-VE" sz="2400" dirty="0"/>
              <a:t>. </a:t>
            </a:r>
            <a:r>
              <a:rPr lang="es-VE" sz="2400" dirty="0" err="1"/>
              <a:t>Daycohost</a:t>
            </a:r>
            <a:r>
              <a:rPr lang="es-VE" sz="2400" dirty="0"/>
              <a:t>, AWS, </a:t>
            </a:r>
            <a:r>
              <a:rPr lang="es-VE" sz="2400" dirty="0" err="1"/>
              <a:t>Azure</a:t>
            </a:r>
            <a:r>
              <a:rPr lang="es-VE" sz="2400" dirty="0"/>
              <a:t>, SAP).</a:t>
            </a:r>
          </a:p>
          <a:p>
            <a:pPr algn="just"/>
            <a:r>
              <a:rPr lang="es-VE" sz="2400" b="1" dirty="0" smtClean="0"/>
              <a:t>Estrategia de continuidad del negocio </a:t>
            </a:r>
            <a:r>
              <a:rPr lang="es-VE" sz="2400" dirty="0" smtClean="0"/>
              <a:t>usando dos o más PoPs como centros de datos homologados para lograr alta disponibilidad, sitio alterno o de recuperación de desastres.</a:t>
            </a:r>
          </a:p>
          <a:p>
            <a:pPr marL="0" indent="0" algn="just">
              <a:buNone/>
            </a:pPr>
            <a:endParaRPr lang="es-VE" sz="2400" dirty="0"/>
          </a:p>
        </p:txBody>
      </p:sp>
      <p:pic>
        <p:nvPicPr>
          <p:cNvPr id="3" name="2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5832" y="173892"/>
            <a:ext cx="1368152" cy="1368152"/>
          </a:xfrm>
          <a:prstGeom prst="rect">
            <a:avLst/>
          </a:prstGeom>
        </p:spPr>
      </p:pic>
      <p:pic>
        <p:nvPicPr>
          <p:cNvPr id="7" name="1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2173" y="5805263"/>
            <a:ext cx="611102" cy="596891"/>
          </a:xfrm>
          <a:prstGeom prst="rect">
            <a:avLst/>
          </a:prstGeom>
        </p:spPr>
      </p:pic>
      <p:pic>
        <p:nvPicPr>
          <p:cNvPr id="8" name="7 Imagen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5709470"/>
            <a:ext cx="951100" cy="76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029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539552" y="1595138"/>
            <a:ext cx="5904656" cy="4525963"/>
          </a:xfrm>
        </p:spPr>
        <p:txBody>
          <a:bodyPr>
            <a:noAutofit/>
          </a:bodyPr>
          <a:lstStyle/>
          <a:p>
            <a:pPr marL="457200" lvl="1" indent="0" algn="just">
              <a:buNone/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</a:rPr>
              <a:t>Reducción de Complejidad y </a:t>
            </a:r>
            <a:r>
              <a:rPr lang="es-ES" b="1" dirty="0" smtClean="0">
                <a:solidFill>
                  <a:schemeClr val="accent6">
                    <a:lumMod val="75000"/>
                  </a:schemeClr>
                </a:solidFill>
              </a:rPr>
              <a:t>Optimización de Costos</a:t>
            </a:r>
          </a:p>
          <a:p>
            <a:pPr lvl="1" algn="just"/>
            <a:endParaRPr lang="es-ES" sz="1100" b="1" dirty="0" smtClean="0"/>
          </a:p>
          <a:p>
            <a:pPr lvl="1" algn="just"/>
            <a:r>
              <a:rPr lang="es-ES" sz="2000" b="1" dirty="0" smtClean="0"/>
              <a:t>Múltiples </a:t>
            </a:r>
            <a:r>
              <a:rPr lang="es-ES" sz="2000" b="1" dirty="0"/>
              <a:t>proveedores de telecomunicaciones </a:t>
            </a:r>
            <a:r>
              <a:rPr lang="es-ES" sz="1800" dirty="0"/>
              <a:t>(Carriers</a:t>
            </a:r>
            <a:r>
              <a:rPr lang="es-ES" sz="1800" dirty="0" smtClean="0"/>
              <a:t>) reducen </a:t>
            </a:r>
            <a:r>
              <a:rPr lang="es-ES" sz="1800" dirty="0"/>
              <a:t>la complejidad de construir una red diversa, robusta y resiliente </a:t>
            </a:r>
            <a:r>
              <a:rPr lang="es-ES" sz="1800" dirty="0" smtClean="0"/>
              <a:t>entre localidades.  </a:t>
            </a:r>
          </a:p>
          <a:p>
            <a:pPr lvl="1" algn="just"/>
            <a:r>
              <a:rPr lang="es-ES" sz="2000" b="1" dirty="0" smtClean="0"/>
              <a:t>Entorno </a:t>
            </a:r>
            <a:r>
              <a:rPr lang="es-ES" sz="2000" b="1" dirty="0"/>
              <a:t>neutral e independientemente de </a:t>
            </a:r>
            <a:r>
              <a:rPr lang="es-ES" sz="2000" b="1" dirty="0" smtClean="0"/>
              <a:t> restricciones</a:t>
            </a:r>
            <a:r>
              <a:rPr lang="es-ES" sz="1800" dirty="0" smtClean="0"/>
              <a:t>, facilita </a:t>
            </a:r>
            <a:r>
              <a:rPr lang="es-ES" sz="1800" dirty="0"/>
              <a:t>la selección y combinación costo-eficiente de tecnologías y </a:t>
            </a:r>
            <a:r>
              <a:rPr lang="es-ES" sz="1800" dirty="0" smtClean="0"/>
              <a:t>servicios.  </a:t>
            </a:r>
          </a:p>
          <a:p>
            <a:pPr lvl="1" algn="just"/>
            <a:r>
              <a:rPr lang="es-ES" sz="1800" b="1" dirty="0" smtClean="0"/>
              <a:t>R</a:t>
            </a:r>
            <a:r>
              <a:rPr lang="es-ES" sz="2000" b="1" dirty="0" smtClean="0"/>
              <a:t>e-uso </a:t>
            </a:r>
            <a:r>
              <a:rPr lang="es-ES" sz="2000" b="1" dirty="0"/>
              <a:t>inmediato de la infraestructura </a:t>
            </a:r>
            <a:r>
              <a:rPr lang="es-ES" sz="1800" dirty="0"/>
              <a:t>medular </a:t>
            </a:r>
            <a:r>
              <a:rPr lang="es-ES" sz="1800" dirty="0" smtClean="0"/>
              <a:t>reduciendo </a:t>
            </a:r>
            <a:r>
              <a:rPr lang="es-ES" sz="1800" dirty="0"/>
              <a:t>tiempo, esfuerzo y costos de procura de equipos, componentes, partes y </a:t>
            </a:r>
            <a:r>
              <a:rPr lang="es-ES" sz="1800" dirty="0" smtClean="0"/>
              <a:t>piezas.</a:t>
            </a:r>
            <a:endParaRPr lang="es-VE" sz="3200" dirty="0"/>
          </a:p>
        </p:txBody>
      </p:sp>
      <p:pic>
        <p:nvPicPr>
          <p:cNvPr id="10" name="9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7321" y="4293096"/>
            <a:ext cx="1502296" cy="1502296"/>
          </a:xfrm>
          <a:prstGeom prst="rect">
            <a:avLst/>
          </a:prstGeom>
        </p:spPr>
      </p:pic>
      <p:pic>
        <p:nvPicPr>
          <p:cNvPr id="2" name="1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0018" y="1628800"/>
            <a:ext cx="1515276" cy="1515276"/>
          </a:xfrm>
          <a:prstGeom prst="rect">
            <a:avLst/>
          </a:prstGeom>
        </p:spPr>
      </p:pic>
      <p:pic>
        <p:nvPicPr>
          <p:cNvPr id="6" name="5 Imagen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9258" y="2952240"/>
            <a:ext cx="1488311" cy="1488311"/>
          </a:xfrm>
          <a:prstGeom prst="rect">
            <a:avLst/>
          </a:prstGeom>
        </p:spPr>
      </p:pic>
      <p:sp>
        <p:nvSpPr>
          <p:cNvPr id="8" name="3 Título"/>
          <p:cNvSpPr txBox="1">
            <a:spLocks/>
          </p:cNvSpPr>
          <p:nvPr/>
        </p:nvSpPr>
        <p:spPr>
          <a:xfrm>
            <a:off x="467544" y="260648"/>
            <a:ext cx="8229600" cy="1143000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VE" smtClean="0">
                <a:solidFill>
                  <a:schemeClr val="bg1"/>
                </a:solidFill>
              </a:rPr>
              <a:t>Ventajas :: PoP en Data Center</a:t>
            </a:r>
            <a:endParaRPr lang="es-VE" dirty="0">
              <a:solidFill>
                <a:schemeClr val="bg1"/>
              </a:solidFill>
            </a:endParaRPr>
          </a:p>
        </p:txBody>
      </p:sp>
      <p:pic>
        <p:nvPicPr>
          <p:cNvPr id="12" name="1 Imagen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5292" y="5795392"/>
            <a:ext cx="582277" cy="568736"/>
          </a:xfrm>
          <a:prstGeom prst="rect">
            <a:avLst/>
          </a:prstGeom>
        </p:spPr>
      </p:pic>
      <p:pic>
        <p:nvPicPr>
          <p:cNvPr id="13" name="12 Imagen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69" y="5695496"/>
            <a:ext cx="908698" cy="73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275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5915000" cy="4525963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</a:rPr>
              <a:t>Reducción de Tiempos de Procura </a:t>
            </a:r>
            <a:r>
              <a:rPr lang="es-ES" b="1" dirty="0" smtClean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s-ES" b="1" dirty="0" smtClean="0">
                <a:solidFill>
                  <a:schemeClr val="accent6">
                    <a:lumMod val="75000"/>
                  </a:schemeClr>
                </a:solidFill>
              </a:rPr>
            </a:br>
            <a:r>
              <a:rPr lang="es-ES" b="1" dirty="0" smtClean="0">
                <a:solidFill>
                  <a:schemeClr val="accent6">
                    <a:lumMod val="75000"/>
                  </a:schemeClr>
                </a:solidFill>
              </a:rPr>
              <a:t>e Implementación</a:t>
            </a:r>
            <a:br>
              <a:rPr lang="es-ES" b="1" dirty="0" smtClean="0">
                <a:solidFill>
                  <a:schemeClr val="accent6">
                    <a:lumMod val="75000"/>
                  </a:schemeClr>
                </a:solidFill>
              </a:rPr>
            </a:br>
            <a:endParaRPr lang="es-ES" sz="1050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457200" lvl="1" indent="0" algn="just">
              <a:buNone/>
            </a:pPr>
            <a:r>
              <a:rPr lang="es-ES" sz="2000" dirty="0" smtClean="0"/>
              <a:t>El</a:t>
            </a:r>
            <a:r>
              <a:rPr lang="es-ES" sz="2000" b="1" dirty="0" smtClean="0"/>
              <a:t> inventario </a:t>
            </a:r>
            <a:r>
              <a:rPr lang="es-ES" sz="2000" b="1" dirty="0"/>
              <a:t>de capacidades </a:t>
            </a:r>
            <a:r>
              <a:rPr lang="es-ES" sz="2000" b="1" dirty="0" smtClean="0"/>
              <a:t>y funcionalidades homologado </a:t>
            </a:r>
            <a:r>
              <a:rPr lang="es-ES" sz="2000" dirty="0" smtClean="0"/>
              <a:t>de los centros de datos, permite:</a:t>
            </a:r>
          </a:p>
          <a:p>
            <a:pPr lvl="1" algn="just"/>
            <a:r>
              <a:rPr lang="es-ES" sz="2000" b="1" dirty="0" smtClean="0"/>
              <a:t>Satisfacer </a:t>
            </a:r>
            <a:r>
              <a:rPr lang="es-ES" sz="2000" dirty="0"/>
              <a:t>y escalar </a:t>
            </a:r>
            <a:r>
              <a:rPr lang="es-ES" sz="2000" dirty="0" smtClean="0"/>
              <a:t>según la </a:t>
            </a:r>
            <a:r>
              <a:rPr lang="es-ES" sz="2000" b="1" dirty="0" smtClean="0"/>
              <a:t>demanda</a:t>
            </a:r>
            <a:r>
              <a:rPr lang="es-ES" sz="2000" dirty="0" smtClean="0"/>
              <a:t>.</a:t>
            </a:r>
          </a:p>
          <a:p>
            <a:pPr lvl="1" algn="just"/>
            <a:r>
              <a:rPr lang="es-ES" sz="2000" b="1" dirty="0" smtClean="0"/>
              <a:t>Racionalizar</a:t>
            </a:r>
            <a:r>
              <a:rPr lang="es-ES" sz="2000" b="1" dirty="0"/>
              <a:t>, </a:t>
            </a:r>
            <a:r>
              <a:rPr lang="es-ES" sz="2000" b="1" dirty="0" smtClean="0"/>
              <a:t>engranar y justificar </a:t>
            </a:r>
            <a:r>
              <a:rPr lang="es-ES" sz="2000" b="1" dirty="0"/>
              <a:t>el presupuesto </a:t>
            </a:r>
            <a:r>
              <a:rPr lang="es-ES" sz="2000" dirty="0"/>
              <a:t>de inversión (CAPEX) y operación (OPEX) de </a:t>
            </a:r>
            <a:r>
              <a:rPr lang="es-ES" sz="2000" dirty="0" smtClean="0"/>
              <a:t>TI.</a:t>
            </a:r>
          </a:p>
          <a:p>
            <a:pPr lvl="1" algn="just"/>
            <a:r>
              <a:rPr lang="es-ES" sz="2000" b="1" dirty="0" smtClean="0"/>
              <a:t>Ajustar </a:t>
            </a:r>
            <a:r>
              <a:rPr lang="es-ES" sz="2000" b="1" dirty="0"/>
              <a:t>los tiempos </a:t>
            </a:r>
            <a:r>
              <a:rPr lang="es-ES" sz="2000" dirty="0"/>
              <a:t>requeridos para lograr el retorno de inversión (ROI) según las necesidades </a:t>
            </a:r>
            <a:r>
              <a:rPr lang="es-ES" sz="2000" dirty="0" smtClean="0"/>
              <a:t>y retos financieros del negocio.</a:t>
            </a:r>
            <a:endParaRPr lang="es-VE" sz="2000" dirty="0"/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224" y="4149080"/>
            <a:ext cx="1574427" cy="1574427"/>
          </a:xfrm>
          <a:prstGeom prst="rect">
            <a:avLst/>
          </a:prstGeom>
        </p:spPr>
      </p:pic>
      <p:pic>
        <p:nvPicPr>
          <p:cNvPr id="7" name="6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1544218"/>
            <a:ext cx="1524742" cy="1524742"/>
          </a:xfrm>
          <a:prstGeom prst="rect">
            <a:avLst/>
          </a:prstGeom>
        </p:spPr>
      </p:pic>
      <p:sp>
        <p:nvSpPr>
          <p:cNvPr id="8" name="3 Título"/>
          <p:cNvSpPr txBox="1">
            <a:spLocks/>
          </p:cNvSpPr>
          <p:nvPr/>
        </p:nvSpPr>
        <p:spPr>
          <a:xfrm>
            <a:off x="467544" y="260648"/>
            <a:ext cx="8229600" cy="1143000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VE" smtClean="0">
                <a:solidFill>
                  <a:schemeClr val="bg1"/>
                </a:solidFill>
              </a:rPr>
              <a:t>Ventajas :: PoP en Data Center</a:t>
            </a:r>
            <a:endParaRPr lang="es-VE" dirty="0">
              <a:solidFill>
                <a:schemeClr val="bg1"/>
              </a:solidFill>
            </a:endParaRPr>
          </a:p>
        </p:txBody>
      </p:sp>
      <p:pic>
        <p:nvPicPr>
          <p:cNvPr id="3" name="2 Imagen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2" y="2775890"/>
            <a:ext cx="1574427" cy="1574427"/>
          </a:xfrm>
          <a:prstGeom prst="rect">
            <a:avLst/>
          </a:prstGeom>
        </p:spPr>
      </p:pic>
      <p:pic>
        <p:nvPicPr>
          <p:cNvPr id="10" name="1 Imagen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5399" y="6038488"/>
            <a:ext cx="572170" cy="558864"/>
          </a:xfrm>
          <a:prstGeom prst="rect">
            <a:avLst/>
          </a:prstGeom>
        </p:spPr>
      </p:pic>
      <p:pic>
        <p:nvPicPr>
          <p:cNvPr id="11" name="10 Imagen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69" y="5973172"/>
            <a:ext cx="772794" cy="62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058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5554960" cy="4709120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</a:rPr>
              <a:t>Diversificación de </a:t>
            </a:r>
            <a:r>
              <a:rPr lang="es-ES" b="1" dirty="0" smtClean="0">
                <a:solidFill>
                  <a:schemeClr val="accent6">
                    <a:lumMod val="75000"/>
                  </a:schemeClr>
                </a:solidFill>
              </a:rPr>
              <a:t>Riesgos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</a:rPr>
              <a:t>para la Continuidad </a:t>
            </a:r>
            <a:r>
              <a:rPr lang="es-ES" b="1" dirty="0" smtClean="0">
                <a:solidFill>
                  <a:schemeClr val="accent6">
                    <a:lumMod val="75000"/>
                  </a:schemeClr>
                </a:solidFill>
              </a:rPr>
              <a:t>Operativa</a:t>
            </a:r>
          </a:p>
          <a:p>
            <a:pPr lvl="1" algn="just"/>
            <a:endParaRPr lang="es-ES" sz="900" b="1" dirty="0" smtClean="0"/>
          </a:p>
          <a:p>
            <a:pPr lvl="1" algn="just"/>
            <a:r>
              <a:rPr lang="es-ES" sz="1900" b="1" dirty="0" smtClean="0"/>
              <a:t>Múltiples </a:t>
            </a:r>
            <a:r>
              <a:rPr lang="es-ES" sz="1900" b="1" dirty="0"/>
              <a:t>vías de entrada y salida hacia redes de </a:t>
            </a:r>
            <a:r>
              <a:rPr lang="es-ES" sz="1900" b="1" dirty="0" smtClean="0"/>
              <a:t>datos, eléctricas y sistemas electrógenos </a:t>
            </a:r>
            <a:r>
              <a:rPr lang="es-ES" sz="1900" dirty="0" smtClean="0"/>
              <a:t>reducen la dependencia de un único proveedor </a:t>
            </a:r>
            <a:r>
              <a:rPr lang="es-ES" sz="1900" dirty="0"/>
              <a:t>e</a:t>
            </a:r>
            <a:r>
              <a:rPr lang="es-ES" sz="1900" dirty="0" smtClean="0"/>
              <a:t> intermitencia de los servicios públicos.</a:t>
            </a:r>
          </a:p>
          <a:p>
            <a:pPr lvl="1" algn="just"/>
            <a:r>
              <a:rPr lang="es-ES" sz="1900" b="1" dirty="0" smtClean="0"/>
              <a:t>Visión de economía de escala </a:t>
            </a:r>
            <a:r>
              <a:rPr lang="es-ES" sz="1900" dirty="0" smtClean="0"/>
              <a:t>requerida para la atención y operación continua de múltiples clientes en cada uno de los centros de datos. </a:t>
            </a:r>
          </a:p>
          <a:p>
            <a:pPr lvl="1" algn="just"/>
            <a:r>
              <a:rPr lang="es-ES" sz="1900" b="1" dirty="0" smtClean="0"/>
              <a:t>Resiliencia (N+1) ante </a:t>
            </a:r>
            <a:r>
              <a:rPr lang="es-ES" sz="1900" b="1" dirty="0"/>
              <a:t>fallas en </a:t>
            </a:r>
            <a:r>
              <a:rPr lang="es-ES" sz="1900" b="1" u="sng" dirty="0"/>
              <a:t>centros de datos</a:t>
            </a:r>
            <a:r>
              <a:rPr lang="es-ES" sz="1900" b="1" dirty="0"/>
              <a:t>, equipos, partes, piezas y componentes</a:t>
            </a:r>
            <a:r>
              <a:rPr lang="es-ES" sz="1900" dirty="0"/>
              <a:t>, eliminan y/o reducen </a:t>
            </a:r>
            <a:r>
              <a:rPr lang="es-ES" sz="1900" dirty="0" smtClean="0"/>
              <a:t>puntos </a:t>
            </a:r>
            <a:r>
              <a:rPr lang="es-ES" sz="1900" dirty="0"/>
              <a:t>únicos de </a:t>
            </a:r>
            <a:r>
              <a:rPr lang="es-ES" sz="1900" dirty="0" smtClean="0"/>
              <a:t>falla.</a:t>
            </a:r>
            <a:endParaRPr lang="es-ES" sz="1900" dirty="0"/>
          </a:p>
          <a:p>
            <a:pPr lvl="1" algn="just"/>
            <a:endParaRPr lang="es-ES" sz="1800" dirty="0"/>
          </a:p>
        </p:txBody>
      </p:sp>
      <p:pic>
        <p:nvPicPr>
          <p:cNvPr id="2" name="1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0574" y="1612956"/>
            <a:ext cx="1473161" cy="1473161"/>
          </a:xfrm>
          <a:prstGeom prst="rect">
            <a:avLst/>
          </a:prstGeom>
        </p:spPr>
      </p:pic>
      <p:pic>
        <p:nvPicPr>
          <p:cNvPr id="9" name="8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7154" y="4624716"/>
            <a:ext cx="1219200" cy="1219200"/>
          </a:xfrm>
          <a:prstGeom prst="rect">
            <a:avLst/>
          </a:prstGeom>
        </p:spPr>
      </p:pic>
      <p:pic>
        <p:nvPicPr>
          <p:cNvPr id="10" name="9 Imagen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8877" y="3227047"/>
            <a:ext cx="1219200" cy="1219200"/>
          </a:xfrm>
          <a:prstGeom prst="rect">
            <a:avLst/>
          </a:prstGeom>
        </p:spPr>
      </p:pic>
      <p:pic>
        <p:nvPicPr>
          <p:cNvPr id="11" name="10 Imagen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077" y="3227047"/>
            <a:ext cx="1219200" cy="1219200"/>
          </a:xfrm>
          <a:prstGeom prst="rect">
            <a:avLst/>
          </a:prstGeom>
        </p:spPr>
      </p:pic>
      <p:pic>
        <p:nvPicPr>
          <p:cNvPr id="12" name="11 Imagen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954" y="4624716"/>
            <a:ext cx="1219200" cy="1219200"/>
          </a:xfrm>
          <a:prstGeom prst="rect">
            <a:avLst/>
          </a:prstGeom>
        </p:spPr>
      </p:pic>
      <p:sp>
        <p:nvSpPr>
          <p:cNvPr id="13" name="3 Título"/>
          <p:cNvSpPr txBox="1">
            <a:spLocks/>
          </p:cNvSpPr>
          <p:nvPr/>
        </p:nvSpPr>
        <p:spPr>
          <a:xfrm>
            <a:off x="467544" y="260648"/>
            <a:ext cx="8229600" cy="1143000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VE" smtClean="0">
                <a:solidFill>
                  <a:schemeClr val="bg1"/>
                </a:solidFill>
              </a:rPr>
              <a:t>Ventajas :: PoP en Data Center</a:t>
            </a:r>
            <a:endParaRPr lang="es-VE" dirty="0">
              <a:solidFill>
                <a:schemeClr val="bg1"/>
              </a:solidFill>
            </a:endParaRPr>
          </a:p>
        </p:txBody>
      </p:sp>
      <p:pic>
        <p:nvPicPr>
          <p:cNvPr id="15" name="1 Imagen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1959" y="5843915"/>
            <a:ext cx="571530" cy="558239"/>
          </a:xfrm>
          <a:prstGeom prst="rect">
            <a:avLst/>
          </a:prstGeom>
        </p:spPr>
      </p:pic>
      <p:pic>
        <p:nvPicPr>
          <p:cNvPr id="16" name="15 Imagen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016" y="5843916"/>
            <a:ext cx="893744" cy="72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833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457199" y="1600200"/>
            <a:ext cx="5816173" cy="4635201"/>
          </a:xfrm>
        </p:spPr>
        <p:txBody>
          <a:bodyPr>
            <a:noAutofit/>
          </a:bodyPr>
          <a:lstStyle/>
          <a:p>
            <a:pPr marL="457200" lvl="1" indent="0" algn="just">
              <a:buNone/>
            </a:pPr>
            <a:r>
              <a:rPr lang="es-ES" b="1" dirty="0" smtClean="0">
                <a:solidFill>
                  <a:schemeClr val="accent6">
                    <a:lumMod val="75000"/>
                  </a:schemeClr>
                </a:solidFill>
              </a:rPr>
              <a:t>Prevención y reacción oportuna ante riesgos y amenazas de seguridad informática</a:t>
            </a:r>
          </a:p>
          <a:p>
            <a:pPr lvl="1" algn="just"/>
            <a:endParaRPr lang="es-ES" sz="1050" b="1" dirty="0" smtClean="0"/>
          </a:p>
          <a:p>
            <a:pPr lvl="1" algn="just"/>
            <a:r>
              <a:rPr lang="es-ES" sz="1900" b="1" dirty="0" smtClean="0"/>
              <a:t>Diversificación de riesgos en capas (anillos)</a:t>
            </a:r>
            <a:r>
              <a:rPr lang="es-ES" sz="1900" dirty="0" smtClean="0"/>
              <a:t> de seguridad física y lógica con </a:t>
            </a:r>
            <a:r>
              <a:rPr lang="es-ES" sz="1900" b="1" dirty="0" smtClean="0"/>
              <a:t>economía de escala.</a:t>
            </a:r>
          </a:p>
          <a:p>
            <a:pPr lvl="1" algn="just"/>
            <a:r>
              <a:rPr lang="es-ES" sz="1900" b="1" dirty="0"/>
              <a:t>Puntos de inspección y control de seguridad (PICS)</a:t>
            </a:r>
            <a:r>
              <a:rPr lang="es-ES" sz="1900" dirty="0"/>
              <a:t> </a:t>
            </a:r>
            <a:r>
              <a:rPr lang="es-ES" sz="1900" dirty="0" smtClean="0"/>
              <a:t>con mejor </a:t>
            </a:r>
            <a:r>
              <a:rPr lang="es-ES" sz="1900" dirty="0"/>
              <a:t>visibilidad y prevención </a:t>
            </a:r>
            <a:r>
              <a:rPr lang="es-ES" sz="1900" dirty="0" smtClean="0"/>
              <a:t>ante </a:t>
            </a:r>
            <a:r>
              <a:rPr lang="es-ES" sz="1900" dirty="0"/>
              <a:t>siniestros.</a:t>
            </a:r>
            <a:endParaRPr lang="es-ES" sz="1900" b="1" dirty="0"/>
          </a:p>
          <a:p>
            <a:pPr lvl="1" algn="just"/>
            <a:r>
              <a:rPr lang="es-ES" sz="1900" b="1" dirty="0" smtClean="0"/>
              <a:t>Acceso a tecnología de última generación </a:t>
            </a:r>
            <a:r>
              <a:rPr lang="es-ES" sz="1900" dirty="0" smtClean="0"/>
              <a:t>de detección (IDS) y bloqueo (IPS)  de  ataques masivos (DDoS), cortafuegos (FW) y control de tráfico (TS).</a:t>
            </a:r>
          </a:p>
        </p:txBody>
      </p:sp>
      <p:pic>
        <p:nvPicPr>
          <p:cNvPr id="3" name="2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8380" y="1916832"/>
            <a:ext cx="1214590" cy="1214590"/>
          </a:xfrm>
          <a:prstGeom prst="rect">
            <a:avLst/>
          </a:prstGeom>
        </p:spPr>
      </p:pic>
      <p:pic>
        <p:nvPicPr>
          <p:cNvPr id="6" name="5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6063" y="2708920"/>
            <a:ext cx="1064436" cy="1064436"/>
          </a:xfrm>
          <a:prstGeom prst="rect">
            <a:avLst/>
          </a:prstGeom>
        </p:spPr>
      </p:pic>
      <p:pic>
        <p:nvPicPr>
          <p:cNvPr id="7" name="6 Imagen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8380" y="3284984"/>
            <a:ext cx="1271972" cy="1271972"/>
          </a:xfrm>
          <a:prstGeom prst="rect">
            <a:avLst/>
          </a:prstGeom>
        </p:spPr>
      </p:pic>
      <p:pic>
        <p:nvPicPr>
          <p:cNvPr id="8" name="7 Imagen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5295" y="4149080"/>
            <a:ext cx="1255204" cy="1255204"/>
          </a:xfrm>
          <a:prstGeom prst="rect">
            <a:avLst/>
          </a:prstGeom>
        </p:spPr>
      </p:pic>
      <p:pic>
        <p:nvPicPr>
          <p:cNvPr id="13" name="12 Imagen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8127" y="5013176"/>
            <a:ext cx="1222225" cy="1222225"/>
          </a:xfrm>
          <a:prstGeom prst="rect">
            <a:avLst/>
          </a:prstGeom>
        </p:spPr>
      </p:pic>
      <p:sp>
        <p:nvSpPr>
          <p:cNvPr id="14" name="3 Título"/>
          <p:cNvSpPr txBox="1">
            <a:spLocks/>
          </p:cNvSpPr>
          <p:nvPr/>
        </p:nvSpPr>
        <p:spPr>
          <a:xfrm>
            <a:off x="467544" y="260648"/>
            <a:ext cx="8229600" cy="1143000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VE" smtClean="0">
                <a:solidFill>
                  <a:schemeClr val="bg1"/>
                </a:solidFill>
              </a:rPr>
              <a:t>Ventajas :: PoP en Data Center</a:t>
            </a:r>
            <a:endParaRPr lang="es-VE" dirty="0">
              <a:solidFill>
                <a:schemeClr val="bg1"/>
              </a:solidFill>
            </a:endParaRPr>
          </a:p>
        </p:txBody>
      </p:sp>
      <p:pic>
        <p:nvPicPr>
          <p:cNvPr id="16" name="1 Imagen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5776" y="5902113"/>
            <a:ext cx="511948" cy="500042"/>
          </a:xfrm>
          <a:prstGeom prst="rect">
            <a:avLst/>
          </a:prstGeom>
        </p:spPr>
      </p:pic>
      <p:pic>
        <p:nvPicPr>
          <p:cNvPr id="17" name="16 Imagen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69" y="5917422"/>
            <a:ext cx="633932" cy="512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49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5842992" cy="4525963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s-ES" b="1" dirty="0" smtClean="0">
                <a:solidFill>
                  <a:schemeClr val="accent6">
                    <a:lumMod val="75000"/>
                  </a:schemeClr>
                </a:solidFill>
              </a:rPr>
              <a:t>Optimización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</a:rPr>
              <a:t>de la Experiencia </a:t>
            </a:r>
            <a:endParaRPr lang="es-ES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457200" lvl="1" indent="0">
              <a:buNone/>
            </a:pPr>
            <a:r>
              <a:rPr lang="es-ES" b="1" dirty="0" smtClean="0">
                <a:solidFill>
                  <a:schemeClr val="accent6">
                    <a:lumMod val="75000"/>
                  </a:schemeClr>
                </a:solidFill>
              </a:rPr>
              <a:t>del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</a:rPr>
              <a:t>Usuario </a:t>
            </a:r>
            <a:r>
              <a:rPr lang="es-ES" b="1" dirty="0" smtClean="0">
                <a:solidFill>
                  <a:schemeClr val="accent6">
                    <a:lumMod val="75000"/>
                  </a:schemeClr>
                </a:solidFill>
              </a:rPr>
              <a:t>Final</a:t>
            </a:r>
            <a:endParaRPr lang="es-ES" dirty="0">
              <a:solidFill>
                <a:schemeClr val="accent6">
                  <a:lumMod val="75000"/>
                </a:schemeClr>
              </a:solidFill>
            </a:endParaRPr>
          </a:p>
          <a:p>
            <a:pPr marL="457200" lvl="1" indent="0" algn="just">
              <a:buNone/>
            </a:pPr>
            <a:endParaRPr lang="es-ES" sz="1000" b="1" dirty="0" smtClean="0"/>
          </a:p>
          <a:p>
            <a:pPr marL="457200" lvl="1" indent="0" algn="just">
              <a:buNone/>
            </a:pPr>
            <a:r>
              <a:rPr lang="es-ES" sz="2000" b="1" dirty="0" smtClean="0"/>
              <a:t>Múltiples </a:t>
            </a:r>
            <a:r>
              <a:rPr lang="es-ES" sz="2000" b="1" dirty="0"/>
              <a:t>centros de datos </a:t>
            </a:r>
            <a:r>
              <a:rPr lang="es-ES" sz="2000" dirty="0" smtClean="0"/>
              <a:t>permiten:</a:t>
            </a:r>
          </a:p>
          <a:p>
            <a:pPr lvl="1" algn="just"/>
            <a:r>
              <a:rPr lang="es-ES" sz="2000" b="1" dirty="0" smtClean="0"/>
              <a:t>Construir </a:t>
            </a:r>
            <a:r>
              <a:rPr lang="es-ES" sz="2000" b="1" dirty="0"/>
              <a:t>una red orientada</a:t>
            </a:r>
            <a:r>
              <a:rPr lang="es-ES" sz="2000" dirty="0"/>
              <a:t> a lograr la mejor experiencia </a:t>
            </a:r>
            <a:r>
              <a:rPr lang="es-ES" sz="2000" b="1" dirty="0"/>
              <a:t>al usuario </a:t>
            </a:r>
            <a:r>
              <a:rPr lang="es-ES" sz="2000" b="1" dirty="0" smtClean="0"/>
              <a:t>final.</a:t>
            </a:r>
          </a:p>
          <a:p>
            <a:pPr lvl="1" algn="just"/>
            <a:r>
              <a:rPr lang="es-ES" sz="2000" b="1" dirty="0" smtClean="0"/>
              <a:t>Segmentar </a:t>
            </a:r>
            <a:r>
              <a:rPr lang="es-ES" sz="2000" b="1" dirty="0"/>
              <a:t>la demanda </a:t>
            </a:r>
            <a:r>
              <a:rPr lang="es-ES" sz="2000" dirty="0"/>
              <a:t>previniendo </a:t>
            </a:r>
            <a:r>
              <a:rPr lang="es-ES" sz="2000" b="1" dirty="0"/>
              <a:t>cuellos de botella </a:t>
            </a:r>
            <a:r>
              <a:rPr lang="es-ES" sz="2000" dirty="0"/>
              <a:t>en el acceso a las aplicaciones y </a:t>
            </a:r>
            <a:r>
              <a:rPr lang="es-ES" sz="2000" dirty="0" smtClean="0"/>
              <a:t>datos.</a:t>
            </a:r>
          </a:p>
          <a:p>
            <a:pPr lvl="1" algn="just"/>
            <a:r>
              <a:rPr lang="es-ES" sz="2000" b="1" dirty="0" smtClean="0"/>
              <a:t>Reducir </a:t>
            </a:r>
            <a:r>
              <a:rPr lang="es-ES" sz="2000" b="1" dirty="0"/>
              <a:t>los tiempos de respuesta </a:t>
            </a:r>
            <a:r>
              <a:rPr lang="es-ES" sz="2000" dirty="0"/>
              <a:t>de </a:t>
            </a:r>
            <a:r>
              <a:rPr lang="es-ES" sz="2000" dirty="0" smtClean="0"/>
              <a:t>y </a:t>
            </a:r>
            <a:r>
              <a:rPr lang="es-ES" sz="2000" dirty="0"/>
              <a:t>transferencia de contenido al ubicarlos en el centro de datos más cercano al usuario final.  </a:t>
            </a:r>
            <a:endParaRPr lang="es-VE" sz="2000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3713" y="4373510"/>
            <a:ext cx="1528603" cy="1528603"/>
          </a:xfrm>
          <a:prstGeom prst="rect">
            <a:avLst/>
          </a:prstGeom>
        </p:spPr>
      </p:pic>
      <p:pic>
        <p:nvPicPr>
          <p:cNvPr id="9" name="8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9329" y="2852936"/>
            <a:ext cx="1624390" cy="1624390"/>
          </a:xfrm>
          <a:prstGeom prst="rect">
            <a:avLst/>
          </a:prstGeom>
        </p:spPr>
      </p:pic>
      <p:pic>
        <p:nvPicPr>
          <p:cNvPr id="10" name="9 Imagen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6036" y="1551171"/>
            <a:ext cx="1466586" cy="1466586"/>
          </a:xfrm>
          <a:prstGeom prst="rect">
            <a:avLst/>
          </a:prstGeom>
        </p:spPr>
      </p:pic>
      <p:sp>
        <p:nvSpPr>
          <p:cNvPr id="11" name="3 Título"/>
          <p:cNvSpPr txBox="1">
            <a:spLocks/>
          </p:cNvSpPr>
          <p:nvPr/>
        </p:nvSpPr>
        <p:spPr>
          <a:xfrm>
            <a:off x="467544" y="260648"/>
            <a:ext cx="8229600" cy="1143000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VE" smtClean="0">
                <a:solidFill>
                  <a:schemeClr val="bg1"/>
                </a:solidFill>
              </a:rPr>
              <a:t>Ventajas :: PoP en Data Center</a:t>
            </a:r>
            <a:endParaRPr lang="es-VE" dirty="0">
              <a:solidFill>
                <a:schemeClr val="bg1"/>
              </a:solidFill>
            </a:endParaRPr>
          </a:p>
        </p:txBody>
      </p:sp>
      <p:pic>
        <p:nvPicPr>
          <p:cNvPr id="13" name="1 Imagen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5776" y="5902113"/>
            <a:ext cx="511948" cy="500042"/>
          </a:xfrm>
          <a:prstGeom prst="rect">
            <a:avLst/>
          </a:prstGeom>
        </p:spPr>
      </p:pic>
      <p:pic>
        <p:nvPicPr>
          <p:cNvPr id="14" name="13 Imagen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69" y="5917422"/>
            <a:ext cx="633932" cy="512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940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solidFill>
            <a:srgbClr val="0070C0"/>
          </a:solidFill>
        </p:spPr>
        <p:txBody>
          <a:bodyPr/>
          <a:lstStyle/>
          <a:p>
            <a:r>
              <a:rPr lang="es-VE" dirty="0">
                <a:solidFill>
                  <a:schemeClr val="bg1"/>
                </a:solidFill>
              </a:rPr>
              <a:t>Ventajas :: PoP en Data Center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5770984" cy="4525963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</a:rPr>
              <a:t>Impulso de Estrategias de </a:t>
            </a:r>
            <a:r>
              <a:rPr lang="es-ES" b="1" dirty="0" smtClean="0">
                <a:solidFill>
                  <a:schemeClr val="accent6">
                    <a:lumMod val="75000"/>
                  </a:schemeClr>
                </a:solidFill>
              </a:rPr>
              <a:t>Continuidad del Negocio</a:t>
            </a:r>
          </a:p>
          <a:p>
            <a:pPr lvl="1" algn="just"/>
            <a:endParaRPr lang="es-ES" sz="1200" b="1" dirty="0" smtClean="0"/>
          </a:p>
          <a:p>
            <a:pPr marL="457200" lvl="1" indent="0" algn="just">
              <a:buNone/>
            </a:pPr>
            <a:r>
              <a:rPr lang="es-ES" sz="2200" b="1" dirty="0" smtClean="0"/>
              <a:t>Múltiples </a:t>
            </a:r>
            <a:r>
              <a:rPr lang="es-ES" sz="2200" b="1" dirty="0"/>
              <a:t>centros de datos </a:t>
            </a:r>
            <a:r>
              <a:rPr lang="es-ES" sz="2200" dirty="0" smtClean="0"/>
              <a:t>permiten: </a:t>
            </a:r>
          </a:p>
          <a:p>
            <a:pPr lvl="1" algn="just"/>
            <a:r>
              <a:rPr lang="es-ES" sz="2200" dirty="0" smtClean="0"/>
              <a:t>Crear </a:t>
            </a:r>
            <a:r>
              <a:rPr lang="es-ES" sz="2200" dirty="0"/>
              <a:t>diversas soluciones </a:t>
            </a:r>
            <a:r>
              <a:rPr lang="es-ES" sz="2200" dirty="0" smtClean="0"/>
              <a:t>basadas </a:t>
            </a:r>
            <a:r>
              <a:rPr lang="es-ES" sz="2200" dirty="0"/>
              <a:t>en un </a:t>
            </a:r>
            <a:r>
              <a:rPr lang="es-ES" sz="2200" b="1" dirty="0"/>
              <a:t>sitio principal y/o alterno</a:t>
            </a:r>
            <a:r>
              <a:rPr lang="es-ES" sz="2200" dirty="0"/>
              <a:t> fuera de las localidades del negocio.</a:t>
            </a:r>
            <a:endParaRPr lang="es-ES" sz="2200" b="1" dirty="0" smtClean="0"/>
          </a:p>
          <a:p>
            <a:pPr lvl="1" algn="just"/>
            <a:r>
              <a:rPr lang="es-ES" sz="2200" b="1" dirty="0" smtClean="0"/>
              <a:t>I</a:t>
            </a:r>
            <a:r>
              <a:rPr lang="es-ES" sz="2200" dirty="0" smtClean="0"/>
              <a:t>mplementar </a:t>
            </a:r>
            <a:r>
              <a:rPr lang="es-ES" sz="2200" b="1" dirty="0"/>
              <a:t>p</a:t>
            </a:r>
            <a:r>
              <a:rPr lang="es-ES" sz="2200" b="1" dirty="0" smtClean="0"/>
              <a:t>lanes </a:t>
            </a:r>
            <a:r>
              <a:rPr lang="es-ES" sz="2200" b="1" dirty="0"/>
              <a:t>empresariales </a:t>
            </a:r>
            <a:r>
              <a:rPr lang="es-ES" sz="2200" dirty="0"/>
              <a:t>de distintas envergadura para </a:t>
            </a:r>
            <a:r>
              <a:rPr lang="es-ES" sz="2200" b="1" dirty="0" smtClean="0"/>
              <a:t>continuidad </a:t>
            </a:r>
            <a:r>
              <a:rPr lang="es-ES" sz="2200" b="1" dirty="0"/>
              <a:t>y recuperación ante </a:t>
            </a:r>
            <a:r>
              <a:rPr lang="es-ES" sz="2200" b="1" dirty="0" smtClean="0"/>
              <a:t>desastres.</a:t>
            </a:r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1628569"/>
            <a:ext cx="1540130" cy="1540130"/>
          </a:xfrm>
          <a:prstGeom prst="rect">
            <a:avLst/>
          </a:prstGeom>
        </p:spPr>
      </p:pic>
      <p:pic>
        <p:nvPicPr>
          <p:cNvPr id="8" name="7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4743" y="4221088"/>
            <a:ext cx="1523076" cy="1523076"/>
          </a:xfrm>
          <a:prstGeom prst="rect">
            <a:avLst/>
          </a:prstGeom>
        </p:spPr>
      </p:pic>
      <p:pic>
        <p:nvPicPr>
          <p:cNvPr id="9" name="1 Imagen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2689" y="5699246"/>
            <a:ext cx="747583" cy="730198"/>
          </a:xfrm>
          <a:prstGeom prst="rect">
            <a:avLst/>
          </a:prstGeom>
        </p:spPr>
      </p:pic>
      <p:pic>
        <p:nvPicPr>
          <p:cNvPr id="10" name="9 Imagen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5699246"/>
            <a:ext cx="1001041" cy="808533"/>
          </a:xfrm>
          <a:prstGeom prst="rect">
            <a:avLst/>
          </a:prstGeom>
        </p:spPr>
      </p:pic>
      <p:pic>
        <p:nvPicPr>
          <p:cNvPr id="2" name="1 Imagen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1152" y="2924944"/>
            <a:ext cx="1523076" cy="152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834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solidFill>
            <a:srgbClr val="0070C0"/>
          </a:solidFill>
        </p:spPr>
        <p:txBody>
          <a:bodyPr/>
          <a:lstStyle/>
          <a:p>
            <a:r>
              <a:rPr lang="es-VE" dirty="0">
                <a:solidFill>
                  <a:schemeClr val="bg1"/>
                </a:solidFill>
              </a:rPr>
              <a:t>Ventajas :: </a:t>
            </a:r>
            <a:r>
              <a:rPr lang="es-VE" dirty="0" smtClean="0">
                <a:solidFill>
                  <a:schemeClr val="bg1"/>
                </a:solidFill>
              </a:rPr>
              <a:t>PoP en Data Center</a:t>
            </a:r>
            <a:endParaRPr lang="es-VE" dirty="0">
              <a:solidFill>
                <a:schemeClr val="bg1"/>
              </a:solidFill>
            </a:endParaRPr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5698976" cy="4525963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s-ES" b="1" dirty="0" smtClean="0">
                <a:solidFill>
                  <a:schemeClr val="accent6">
                    <a:lumMod val="75000"/>
                  </a:schemeClr>
                </a:solidFill>
              </a:rPr>
              <a:t>Maximización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</a:rPr>
              <a:t>de la Agregación </a:t>
            </a:r>
            <a:r>
              <a:rPr lang="es-ES" b="1" dirty="0" smtClean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s-ES" b="1" dirty="0" smtClean="0">
                <a:solidFill>
                  <a:schemeClr val="accent6">
                    <a:lumMod val="75000"/>
                  </a:schemeClr>
                </a:solidFill>
              </a:rPr>
            </a:br>
            <a:r>
              <a:rPr lang="es-ES" b="1" dirty="0" smtClean="0">
                <a:solidFill>
                  <a:schemeClr val="accent6">
                    <a:lumMod val="75000"/>
                  </a:schemeClr>
                </a:solidFill>
              </a:rPr>
              <a:t>de Valor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</a:rPr>
              <a:t>al </a:t>
            </a:r>
            <a:r>
              <a:rPr lang="es-ES" b="1" dirty="0" smtClean="0">
                <a:solidFill>
                  <a:schemeClr val="accent6">
                    <a:lumMod val="75000"/>
                  </a:schemeClr>
                </a:solidFill>
              </a:rPr>
              <a:t>Negocio</a:t>
            </a:r>
          </a:p>
          <a:p>
            <a:pPr lvl="1" algn="just"/>
            <a:endParaRPr lang="es-ES" sz="2000" b="1" dirty="0" smtClean="0"/>
          </a:p>
          <a:p>
            <a:pPr lvl="1" algn="just"/>
            <a:r>
              <a:rPr lang="es-ES" sz="2000" b="1" dirty="0" smtClean="0"/>
              <a:t>Gestión </a:t>
            </a:r>
            <a:r>
              <a:rPr lang="es-ES" sz="2000" b="1" dirty="0"/>
              <a:t>centralizada y homogénea </a:t>
            </a:r>
            <a:r>
              <a:rPr lang="es-ES" sz="2000" dirty="0" smtClean="0"/>
              <a:t>de </a:t>
            </a:r>
            <a:r>
              <a:rPr lang="es-ES" sz="2000" dirty="0"/>
              <a:t>tecnología independientemente de su ubicación </a:t>
            </a:r>
            <a:r>
              <a:rPr lang="es-ES" sz="2000" dirty="0" smtClean="0"/>
              <a:t>geográfica.</a:t>
            </a:r>
          </a:p>
          <a:p>
            <a:pPr lvl="1" algn="just"/>
            <a:r>
              <a:rPr lang="es-ES" sz="2000" b="1" dirty="0" smtClean="0"/>
              <a:t>Enfocarse </a:t>
            </a:r>
            <a:r>
              <a:rPr lang="es-ES" sz="2000" b="1" dirty="0"/>
              <a:t>en </a:t>
            </a:r>
            <a:r>
              <a:rPr lang="es-ES" sz="2000" b="1" dirty="0" smtClean="0"/>
              <a:t>entregar más </a:t>
            </a:r>
            <a:r>
              <a:rPr lang="es-ES" sz="2000" b="1" dirty="0"/>
              <a:t>valor </a:t>
            </a:r>
            <a:r>
              <a:rPr lang="es-ES" sz="2000" b="1" dirty="0" smtClean="0"/>
              <a:t>al negocio</a:t>
            </a:r>
            <a:r>
              <a:rPr lang="es-ES" sz="2000" dirty="0" smtClean="0"/>
              <a:t> delegando </a:t>
            </a:r>
            <a:r>
              <a:rPr lang="es-ES" sz="2000" dirty="0"/>
              <a:t>los retos </a:t>
            </a:r>
            <a:r>
              <a:rPr lang="es-ES" sz="2000" dirty="0" smtClean="0"/>
              <a:t>de </a:t>
            </a:r>
            <a:r>
              <a:rPr lang="es-ES" sz="2000" dirty="0"/>
              <a:t>la administración de la </a:t>
            </a:r>
            <a:r>
              <a:rPr lang="es-ES" sz="2000" dirty="0" smtClean="0"/>
              <a:t>infraestructura.</a:t>
            </a:r>
          </a:p>
          <a:p>
            <a:pPr lvl="1" algn="just"/>
            <a:r>
              <a:rPr lang="es-ES" sz="2000" dirty="0" smtClean="0"/>
              <a:t>Todo esto </a:t>
            </a:r>
            <a:r>
              <a:rPr lang="es-ES" sz="2000" b="1" dirty="0" smtClean="0"/>
              <a:t>sin perder </a:t>
            </a:r>
            <a:r>
              <a:rPr lang="es-ES" sz="2000" b="1" dirty="0"/>
              <a:t>el control y </a:t>
            </a:r>
            <a:r>
              <a:rPr lang="es-ES" sz="2000" b="1" dirty="0" smtClean="0"/>
              <a:t>liderazgo.</a:t>
            </a:r>
            <a:endParaRPr lang="es-VE" sz="2000" b="1" dirty="0"/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2942" y="4371057"/>
            <a:ext cx="1519748" cy="1519748"/>
          </a:xfrm>
          <a:prstGeom prst="rect">
            <a:avLst/>
          </a:prstGeom>
        </p:spPr>
      </p:pic>
      <p:pic>
        <p:nvPicPr>
          <p:cNvPr id="3" name="2 Imagen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3515" y="1627917"/>
            <a:ext cx="1609175" cy="1609175"/>
          </a:xfrm>
          <a:prstGeom prst="rect">
            <a:avLst/>
          </a:prstGeom>
        </p:spPr>
      </p:pic>
      <p:pic>
        <p:nvPicPr>
          <p:cNvPr id="8" name="1 Imagen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1991" y="5661247"/>
            <a:ext cx="758547" cy="740907"/>
          </a:xfrm>
          <a:prstGeom prst="rect">
            <a:avLst/>
          </a:prstGeom>
        </p:spPr>
      </p:pic>
      <p:pic>
        <p:nvPicPr>
          <p:cNvPr id="9" name="8 Imagen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5517232"/>
            <a:ext cx="1129406" cy="912212"/>
          </a:xfrm>
          <a:prstGeom prst="rect">
            <a:avLst/>
          </a:prstGeom>
        </p:spPr>
      </p:pic>
      <p:pic>
        <p:nvPicPr>
          <p:cNvPr id="2" name="1 Imagen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298" y="2996952"/>
            <a:ext cx="1579240" cy="157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881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solidFill>
            <a:srgbClr val="0070C0"/>
          </a:solidFill>
        </p:spPr>
        <p:txBody>
          <a:bodyPr/>
          <a:lstStyle/>
          <a:p>
            <a:r>
              <a:rPr lang="es-VE" dirty="0">
                <a:solidFill>
                  <a:schemeClr val="bg1"/>
                </a:solidFill>
              </a:rPr>
              <a:t>Ventajas :: </a:t>
            </a:r>
            <a:r>
              <a:rPr lang="es-VE" dirty="0" smtClean="0">
                <a:solidFill>
                  <a:schemeClr val="bg1"/>
                </a:solidFill>
              </a:rPr>
              <a:t>PoP en Data Center</a:t>
            </a:r>
            <a:endParaRPr lang="es-VE" dirty="0">
              <a:solidFill>
                <a:schemeClr val="bg1"/>
              </a:solidFill>
            </a:endParaRPr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5915000" cy="4525963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s-VE" b="1" dirty="0">
                <a:solidFill>
                  <a:schemeClr val="accent6">
                    <a:lumMod val="75000"/>
                  </a:schemeClr>
                </a:solidFill>
              </a:rPr>
              <a:t>Experiencia con </a:t>
            </a:r>
            <a:r>
              <a:rPr lang="es-VE" b="1" dirty="0" smtClean="0">
                <a:solidFill>
                  <a:schemeClr val="accent6">
                    <a:lumMod val="75000"/>
                  </a:schemeClr>
                </a:solidFill>
              </a:rPr>
              <a:t>capacidad</a:t>
            </a:r>
            <a:br>
              <a:rPr lang="es-VE" b="1" dirty="0" smtClean="0">
                <a:solidFill>
                  <a:schemeClr val="accent6">
                    <a:lumMod val="75000"/>
                  </a:schemeClr>
                </a:solidFill>
              </a:rPr>
            </a:br>
            <a:r>
              <a:rPr lang="es-VE" b="1" dirty="0" smtClean="0">
                <a:solidFill>
                  <a:schemeClr val="accent6">
                    <a:lumMod val="75000"/>
                  </a:schemeClr>
                </a:solidFill>
              </a:rPr>
              <a:t>de respuesta al negocio</a:t>
            </a:r>
          </a:p>
          <a:p>
            <a:pPr lvl="1" algn="just"/>
            <a:r>
              <a:rPr lang="es-VE" sz="2200" dirty="0" smtClean="0"/>
              <a:t>Experticia en configurar </a:t>
            </a:r>
            <a:r>
              <a:rPr lang="es-VE" sz="2200" dirty="0"/>
              <a:t>y gestionar la </a:t>
            </a:r>
            <a:r>
              <a:rPr lang="es-VE" sz="2200" b="1" dirty="0"/>
              <a:t>seguridad física y lógica</a:t>
            </a:r>
            <a:r>
              <a:rPr lang="es-VE" sz="2200" dirty="0"/>
              <a:t> de la infraestructura tecnológica de la </a:t>
            </a:r>
            <a:r>
              <a:rPr lang="es-VE" sz="2200" b="1" dirty="0"/>
              <a:t>nube </a:t>
            </a:r>
            <a:r>
              <a:rPr lang="es-VE" sz="2200" b="1" dirty="0" smtClean="0"/>
              <a:t>empresarial.</a:t>
            </a:r>
          </a:p>
          <a:p>
            <a:pPr lvl="1" algn="just"/>
            <a:r>
              <a:rPr lang="es-VE" sz="2200" b="1" dirty="0" smtClean="0"/>
              <a:t>Rigurosidad </a:t>
            </a:r>
            <a:r>
              <a:rPr lang="es-VE" sz="2200" b="1" dirty="0"/>
              <a:t>en estándares, prácticas y marcos de trabajo</a:t>
            </a:r>
            <a:r>
              <a:rPr lang="es-VE" sz="2200" dirty="0"/>
              <a:t> de identificación, protección, detección, respuesta y recuperación</a:t>
            </a:r>
            <a:r>
              <a:rPr lang="es-VE" sz="2200" b="1" dirty="0"/>
              <a:t> </a:t>
            </a:r>
            <a:r>
              <a:rPr lang="es-VE" sz="2200" dirty="0"/>
              <a:t>ante </a:t>
            </a:r>
            <a:r>
              <a:rPr lang="es-VE" sz="2200" b="1" dirty="0"/>
              <a:t>incidentes y problemas</a:t>
            </a:r>
            <a:r>
              <a:rPr lang="es-VE" sz="2200" dirty="0"/>
              <a:t>.</a:t>
            </a:r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377" y="4078027"/>
            <a:ext cx="1435224" cy="1435224"/>
          </a:xfrm>
          <a:prstGeom prst="rect">
            <a:avLst/>
          </a:prstGeom>
        </p:spPr>
      </p:pic>
      <p:pic>
        <p:nvPicPr>
          <p:cNvPr id="7" name="6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762" y="1564663"/>
            <a:ext cx="1476878" cy="1476878"/>
          </a:xfrm>
          <a:prstGeom prst="rect">
            <a:avLst/>
          </a:prstGeom>
        </p:spPr>
      </p:pic>
      <p:pic>
        <p:nvPicPr>
          <p:cNvPr id="8" name="7 Imagen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2270" y="2780928"/>
            <a:ext cx="1423352" cy="1423352"/>
          </a:xfrm>
          <a:prstGeom prst="rect">
            <a:avLst/>
          </a:prstGeom>
        </p:spPr>
      </p:pic>
      <p:pic>
        <p:nvPicPr>
          <p:cNvPr id="10" name="1 Imagen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6663" y="5472970"/>
            <a:ext cx="910068" cy="888904"/>
          </a:xfrm>
          <a:prstGeom prst="rect">
            <a:avLst/>
          </a:prstGeom>
        </p:spPr>
      </p:pic>
      <p:pic>
        <p:nvPicPr>
          <p:cNvPr id="11" name="10 Imagen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68" y="5405401"/>
            <a:ext cx="1267863" cy="102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876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75000"/>
            </a:schemeClr>
          </a:solidFill>
        </p:spPr>
        <p:txBody>
          <a:bodyPr>
            <a:normAutofit/>
          </a:bodyPr>
          <a:lstStyle/>
          <a:p>
            <a:r>
              <a:rPr lang="es-VE" sz="3800" dirty="0" smtClean="0">
                <a:solidFill>
                  <a:schemeClr val="bg1"/>
                </a:solidFill>
              </a:rPr>
              <a:t>  Valor Agregado :: PoP en Data Center</a:t>
            </a:r>
            <a:endParaRPr lang="es-VE" sz="3800" dirty="0">
              <a:solidFill>
                <a:schemeClr val="bg1"/>
              </a:solidFill>
            </a:endParaRPr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6347048" cy="4525963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s-VE" b="1" dirty="0" smtClean="0">
                <a:solidFill>
                  <a:schemeClr val="accent6">
                    <a:lumMod val="75000"/>
                  </a:schemeClr>
                </a:solidFill>
              </a:rPr>
              <a:t>Implícito / Invaluable</a:t>
            </a:r>
          </a:p>
          <a:p>
            <a:pPr lvl="1"/>
            <a:r>
              <a:rPr lang="es-VE" sz="2200" b="1" dirty="0" smtClean="0"/>
              <a:t>Asesoría </a:t>
            </a:r>
            <a:r>
              <a:rPr lang="es-VE" sz="2200" dirty="0" smtClean="0"/>
              <a:t>en el diseño e implementación de una red segura para su infraestructura tecnológica.</a:t>
            </a:r>
          </a:p>
          <a:p>
            <a:pPr lvl="1"/>
            <a:r>
              <a:rPr lang="es-VE" sz="2200" b="1" dirty="0" smtClean="0"/>
              <a:t>Monitoreo</a:t>
            </a:r>
            <a:r>
              <a:rPr lang="es-VE" sz="2200" dirty="0" smtClean="0"/>
              <a:t> </a:t>
            </a:r>
            <a:r>
              <a:rPr lang="es-VE" sz="2200" dirty="0"/>
              <a:t>del estado de los componentes y aplicaciones de la infraestructura tecnológica.</a:t>
            </a:r>
          </a:p>
          <a:p>
            <a:pPr lvl="1"/>
            <a:r>
              <a:rPr lang="es-VE" sz="2200" b="1" dirty="0"/>
              <a:t>Detección y protección </a:t>
            </a:r>
            <a:r>
              <a:rPr lang="es-VE" sz="2200" dirty="0"/>
              <a:t>de riesgos y amenazas </a:t>
            </a:r>
            <a:r>
              <a:rPr lang="es-VE" sz="2200" dirty="0" smtClean="0"/>
              <a:t> </a:t>
            </a:r>
            <a:r>
              <a:rPr lang="es-VE" sz="2200" dirty="0"/>
              <a:t>de seguridad </a:t>
            </a:r>
            <a:r>
              <a:rPr lang="es-VE" sz="2200" dirty="0" smtClean="0"/>
              <a:t>informática.</a:t>
            </a:r>
            <a:endParaRPr lang="es-VE" sz="2200" dirty="0"/>
          </a:p>
          <a:p>
            <a:pPr lvl="1"/>
            <a:r>
              <a:rPr lang="es-VE" sz="2200" b="1" dirty="0"/>
              <a:t>Control y gestión </a:t>
            </a:r>
            <a:r>
              <a:rPr lang="es-VE" sz="2200" dirty="0"/>
              <a:t>de incidentes y problemas</a:t>
            </a:r>
            <a:r>
              <a:rPr lang="es-VE" sz="2200" b="1" dirty="0"/>
              <a:t> </a:t>
            </a:r>
            <a:r>
              <a:rPr lang="es-VE" sz="2200" dirty="0"/>
              <a:t>de la infraestructura tecnológica.</a:t>
            </a:r>
          </a:p>
          <a:p>
            <a:pPr lvl="1"/>
            <a:r>
              <a:rPr lang="es-VE" sz="2200" b="1" dirty="0"/>
              <a:t>Modelo de Atención</a:t>
            </a:r>
            <a:r>
              <a:rPr lang="es-VE" sz="2200" b="1" i="1" dirty="0"/>
              <a:t> </a:t>
            </a:r>
            <a:r>
              <a:rPr lang="es-VE" sz="2200" i="1" dirty="0"/>
              <a:t>Estándar</a:t>
            </a:r>
            <a:r>
              <a:rPr lang="es-VE" sz="2200" dirty="0"/>
              <a:t> o </a:t>
            </a:r>
            <a:r>
              <a:rPr lang="es-VE" sz="2200" i="1" dirty="0"/>
              <a:t>Premium</a:t>
            </a:r>
            <a:r>
              <a:rPr lang="es-VE" sz="2200" dirty="0"/>
              <a:t> ambos en formato 24x7x365.</a:t>
            </a:r>
          </a:p>
        </p:txBody>
      </p:sp>
      <p:pic>
        <p:nvPicPr>
          <p:cNvPr id="3" name="2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256" y="4149080"/>
            <a:ext cx="1440160" cy="1440160"/>
          </a:xfrm>
          <a:prstGeom prst="rect">
            <a:avLst/>
          </a:prstGeom>
        </p:spPr>
      </p:pic>
      <p:pic>
        <p:nvPicPr>
          <p:cNvPr id="8" name="1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9653" y="5782904"/>
            <a:ext cx="611102" cy="596891"/>
          </a:xfrm>
          <a:prstGeom prst="rect">
            <a:avLst/>
          </a:prstGeom>
        </p:spPr>
      </p:pic>
      <p:pic>
        <p:nvPicPr>
          <p:cNvPr id="9" name="8 Imagen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68" y="5733256"/>
            <a:ext cx="861947" cy="696188"/>
          </a:xfrm>
          <a:prstGeom prst="rect">
            <a:avLst/>
          </a:prstGeom>
        </p:spPr>
      </p:pic>
      <p:pic>
        <p:nvPicPr>
          <p:cNvPr id="6" name="5 Imagen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7706" y="1628800"/>
            <a:ext cx="1440160" cy="1440160"/>
          </a:xfrm>
          <a:prstGeom prst="rect">
            <a:avLst/>
          </a:prstGeom>
        </p:spPr>
      </p:pic>
      <p:pic>
        <p:nvPicPr>
          <p:cNvPr id="2" name="1 Imagen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8918" y="2903635"/>
            <a:ext cx="1461469" cy="146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618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Paralelogramo"/>
          <p:cNvSpPr/>
          <p:nvPr/>
        </p:nvSpPr>
        <p:spPr>
          <a:xfrm>
            <a:off x="1115616" y="476672"/>
            <a:ext cx="7488832" cy="720080"/>
          </a:xfrm>
          <a:prstGeom prst="parallelogram">
            <a:avLst/>
          </a:prstGeom>
          <a:solidFill>
            <a:srgbClr val="0070C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r>
              <a:rPr lang="es-VE" sz="3200" b="1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Preguntas</a:t>
            </a:r>
            <a:endParaRPr lang="es-VE" sz="32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8 Paralelogramo"/>
          <p:cNvSpPr/>
          <p:nvPr/>
        </p:nvSpPr>
        <p:spPr>
          <a:xfrm>
            <a:off x="504996" y="476672"/>
            <a:ext cx="446056" cy="720080"/>
          </a:xfrm>
          <a:prstGeom prst="parallelogram">
            <a:avLst>
              <a:gd name="adj" fmla="val 40775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VE" sz="3600" i="1" dirty="0">
              <a:solidFill>
                <a:schemeClr val="bg1"/>
              </a:solidFill>
            </a:endParaRPr>
          </a:p>
        </p:txBody>
      </p:sp>
      <p:sp>
        <p:nvSpPr>
          <p:cNvPr id="10" name="9 Paralelogramo"/>
          <p:cNvSpPr/>
          <p:nvPr/>
        </p:nvSpPr>
        <p:spPr>
          <a:xfrm>
            <a:off x="812042" y="476672"/>
            <a:ext cx="446056" cy="720080"/>
          </a:xfrm>
          <a:prstGeom prst="parallelogram">
            <a:avLst>
              <a:gd name="adj" fmla="val 40775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VE" sz="3600" i="1" dirty="0"/>
          </a:p>
        </p:txBody>
      </p:sp>
      <p:pic>
        <p:nvPicPr>
          <p:cNvPr id="7" name="1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7656" y="5513251"/>
            <a:ext cx="910068" cy="888904"/>
          </a:xfrm>
          <a:prstGeom prst="rect">
            <a:avLst/>
          </a:prstGeom>
        </p:spPr>
      </p:pic>
      <p:pic>
        <p:nvPicPr>
          <p:cNvPr id="8" name="7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68" y="5405401"/>
            <a:ext cx="1267863" cy="1024043"/>
          </a:xfrm>
          <a:prstGeom prst="rect">
            <a:avLst/>
          </a:prstGeom>
        </p:spPr>
      </p:pic>
      <p:sp>
        <p:nvSpPr>
          <p:cNvPr id="3" name="2 Rectángulo"/>
          <p:cNvSpPr/>
          <p:nvPr/>
        </p:nvSpPr>
        <p:spPr>
          <a:xfrm>
            <a:off x="2646040" y="1988839"/>
            <a:ext cx="516632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VE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reitmaiero@daycohost.com</a:t>
            </a:r>
          </a:p>
          <a:p>
            <a:endParaRPr lang="es-VE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s-VE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www.daycohost.com</a:t>
            </a:r>
          </a:p>
          <a:p>
            <a:endParaRPr lang="es-VE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s-VE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@daycohost.com</a:t>
            </a:r>
          </a:p>
        </p:txBody>
      </p:sp>
      <p:pic>
        <p:nvPicPr>
          <p:cNvPr id="2050" name="Picture 2" descr="Resultado de imagen para twitter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5960" y="3949210"/>
            <a:ext cx="792088" cy="631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Resultado de imagen para email"/>
          <p:cNvSpPr>
            <a:spLocks noChangeAspect="1" noChangeArrowheads="1"/>
          </p:cNvSpPr>
          <p:nvPr/>
        </p:nvSpPr>
        <p:spPr bwMode="auto">
          <a:xfrm>
            <a:off x="155575" y="-1858963"/>
            <a:ext cx="3914775" cy="3886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VE"/>
          </a:p>
        </p:txBody>
      </p:sp>
      <p:sp>
        <p:nvSpPr>
          <p:cNvPr id="12" name="AutoShape 6" descr="Resultado de imagen para email"/>
          <p:cNvSpPr>
            <a:spLocks noChangeAspect="1" noChangeArrowheads="1"/>
          </p:cNvSpPr>
          <p:nvPr/>
        </p:nvSpPr>
        <p:spPr bwMode="auto">
          <a:xfrm>
            <a:off x="307975" y="-1706563"/>
            <a:ext cx="3914775" cy="3886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VE"/>
          </a:p>
        </p:txBody>
      </p:sp>
      <p:sp>
        <p:nvSpPr>
          <p:cNvPr id="13" name="AutoShape 8" descr="Resultado de imagen para email"/>
          <p:cNvSpPr>
            <a:spLocks noChangeAspect="1" noChangeArrowheads="1"/>
          </p:cNvSpPr>
          <p:nvPr/>
        </p:nvSpPr>
        <p:spPr bwMode="auto">
          <a:xfrm>
            <a:off x="155575" y="-1165225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VE"/>
          </a:p>
        </p:txBody>
      </p:sp>
      <p:sp>
        <p:nvSpPr>
          <p:cNvPr id="14" name="AutoShape 11" descr="Resultado de imagen para website icon"/>
          <p:cNvSpPr>
            <a:spLocks noChangeAspect="1" noChangeArrowheads="1"/>
          </p:cNvSpPr>
          <p:nvPr/>
        </p:nvSpPr>
        <p:spPr bwMode="auto">
          <a:xfrm>
            <a:off x="155575" y="-1858963"/>
            <a:ext cx="3886200" cy="3886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VE"/>
          </a:p>
        </p:txBody>
      </p:sp>
      <p:pic>
        <p:nvPicPr>
          <p:cNvPr id="15" name="14 Imagen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190" y="1916832"/>
            <a:ext cx="834850" cy="834850"/>
          </a:xfrm>
          <a:prstGeom prst="rect">
            <a:avLst/>
          </a:prstGeom>
        </p:spPr>
      </p:pic>
      <p:pic>
        <p:nvPicPr>
          <p:cNvPr id="16" name="15 Imagen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3186" y="2914178"/>
            <a:ext cx="802854" cy="80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378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Subtítulo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s-VE" sz="2000" b="1" dirty="0"/>
              <a:t>Declaración de Responsabilidad</a:t>
            </a:r>
          </a:p>
          <a:p>
            <a:endParaRPr lang="es-VE" sz="1600" dirty="0"/>
          </a:p>
          <a:p>
            <a:pPr marL="0" indent="0" algn="just">
              <a:buNone/>
            </a:pPr>
            <a:r>
              <a:rPr lang="es-VE" sz="1600" dirty="0"/>
              <a:t>El contenido de esta presentación es de carácter confidencial, informativo y sin fines comerciales, no implica un compromiso de desarrollo, lanzamiento o cronograma de entrega de característica o funcionalidad alguna, no debe confiarse en ella en la toma de decisiones, ni puede incorporarse o tomarse como referencia en un contrato. Así mismo, está prohibido el uso, distribución y reproducción por cualquier medio de forma parcial o total, sin autorización Dayco Host y/o terceros tenientes de derechos de autor, según sea aplicable.</a:t>
            </a:r>
          </a:p>
          <a:p>
            <a:endParaRPr lang="es-VE" sz="1600" dirty="0"/>
          </a:p>
          <a:p>
            <a:pPr marL="0" indent="0">
              <a:buNone/>
            </a:pPr>
            <a:r>
              <a:rPr lang="es-VE" sz="2000" b="1" dirty="0"/>
              <a:t>Declaración de Derechos de Autor</a:t>
            </a:r>
            <a:endParaRPr lang="es-VE" sz="2000" dirty="0"/>
          </a:p>
          <a:p>
            <a:endParaRPr lang="es-VE" sz="1600" dirty="0"/>
          </a:p>
          <a:p>
            <a:pPr marL="0" indent="0" algn="just">
              <a:buNone/>
            </a:pPr>
            <a:r>
              <a:rPr lang="es-VE" sz="1600" dirty="0" smtClean="0"/>
              <a:t>Dayco </a:t>
            </a:r>
            <a:r>
              <a:rPr lang="es-VE" sz="1600" dirty="0"/>
              <a:t>Host y su logotipo son marcas registradas, el resto de las marcas y logotipos de la presentación pertenecen a sus registrantes </a:t>
            </a:r>
            <a:r>
              <a:rPr lang="es-VE" sz="1600" dirty="0" smtClean="0"/>
              <a:t>y autores </a:t>
            </a:r>
            <a:r>
              <a:rPr lang="es-VE" sz="1600" dirty="0"/>
              <a:t>intelectuales.</a:t>
            </a:r>
          </a:p>
        </p:txBody>
      </p:sp>
      <p:sp>
        <p:nvSpPr>
          <p:cNvPr id="6" name="5 Paralelogramo"/>
          <p:cNvSpPr/>
          <p:nvPr/>
        </p:nvSpPr>
        <p:spPr>
          <a:xfrm>
            <a:off x="1115616" y="476672"/>
            <a:ext cx="7488832" cy="720080"/>
          </a:xfrm>
          <a:prstGeom prst="parallelogram">
            <a:avLst/>
          </a:prstGeom>
          <a:solidFill>
            <a:srgbClr val="0070C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r>
              <a:rPr lang="es-VE" sz="3200" b="1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Declaraciones legales</a:t>
            </a:r>
            <a:endParaRPr lang="es-VE" sz="32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8 Paralelogramo"/>
          <p:cNvSpPr/>
          <p:nvPr/>
        </p:nvSpPr>
        <p:spPr>
          <a:xfrm>
            <a:off x="504996" y="476672"/>
            <a:ext cx="446056" cy="720080"/>
          </a:xfrm>
          <a:prstGeom prst="parallelogram">
            <a:avLst>
              <a:gd name="adj" fmla="val 40775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VE" sz="3600" i="1" dirty="0">
              <a:solidFill>
                <a:schemeClr val="bg1"/>
              </a:solidFill>
            </a:endParaRPr>
          </a:p>
        </p:txBody>
      </p:sp>
      <p:sp>
        <p:nvSpPr>
          <p:cNvPr id="10" name="9 Paralelogramo"/>
          <p:cNvSpPr/>
          <p:nvPr/>
        </p:nvSpPr>
        <p:spPr>
          <a:xfrm>
            <a:off x="812042" y="476672"/>
            <a:ext cx="446056" cy="720080"/>
          </a:xfrm>
          <a:prstGeom prst="parallelogram">
            <a:avLst>
              <a:gd name="adj" fmla="val 40775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VE" sz="3600" i="1" dirty="0"/>
          </a:p>
        </p:txBody>
      </p:sp>
      <p:pic>
        <p:nvPicPr>
          <p:cNvPr id="7" name="1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7656" y="5513251"/>
            <a:ext cx="910068" cy="888904"/>
          </a:xfrm>
          <a:prstGeom prst="rect">
            <a:avLst/>
          </a:prstGeom>
        </p:spPr>
      </p:pic>
      <p:pic>
        <p:nvPicPr>
          <p:cNvPr id="8" name="7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68" y="5405401"/>
            <a:ext cx="1267863" cy="102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390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1196</TotalTime>
  <Words>1073</Words>
  <Application>Microsoft Office PowerPoint</Application>
  <PresentationFormat>Presentación en pantalla (4:3)</PresentationFormat>
  <Paragraphs>167</Paragraphs>
  <Slides>22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5" baseType="lpstr">
      <vt:lpstr>Arial</vt:lpstr>
      <vt:lpstr>Calibri</vt:lpstr>
      <vt:lpstr>Tema de Office</vt:lpstr>
      <vt:lpstr>Continuidad Operativa</vt:lpstr>
      <vt:lpstr>:: Agenda ::</vt:lpstr>
      <vt:lpstr>   Problemática</vt:lpstr>
      <vt:lpstr>Problemática :: Conectividad</vt:lpstr>
      <vt:lpstr>Problemática :: Seguridad</vt:lpstr>
      <vt:lpstr>:: Causa ::</vt:lpstr>
      <vt:lpstr>:: Efecto ::</vt:lpstr>
      <vt:lpstr>   Solución</vt:lpstr>
      <vt:lpstr>Solución :: Punto de Interconexión</vt:lpstr>
      <vt:lpstr>   Solución :: Posibilidades</vt:lpstr>
      <vt:lpstr>   Solución :: Posibilidades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Ventajas :: PoP en Data Center</vt:lpstr>
      <vt:lpstr>Ventajas :: PoP en Data Center</vt:lpstr>
      <vt:lpstr>Ventajas :: PoP en Data Center</vt:lpstr>
      <vt:lpstr>  Valor Agregado :: PoP en Data Center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Conectividad y Seguridad</dc:title>
  <dc:creator>Olaf Reitmaier</dc:creator>
  <cp:lastModifiedBy>Olaf Reitmaier</cp:lastModifiedBy>
  <cp:revision>195</cp:revision>
  <dcterms:created xsi:type="dcterms:W3CDTF">2017-04-18T11:46:56Z</dcterms:created>
  <dcterms:modified xsi:type="dcterms:W3CDTF">2018-12-05T13:00:20Z</dcterms:modified>
</cp:coreProperties>
</file>