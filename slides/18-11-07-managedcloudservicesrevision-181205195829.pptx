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3" r:id="rId1"/>
  </p:sldMasterIdLst>
  <p:sldIdLst>
    <p:sldId id="256" r:id="rId2"/>
    <p:sldId id="271" r:id="rId3"/>
    <p:sldId id="272" r:id="rId4"/>
    <p:sldId id="257" r:id="rId5"/>
    <p:sldId id="258" r:id="rId6"/>
    <p:sldId id="278" r:id="rId7"/>
    <p:sldId id="270" r:id="rId8"/>
    <p:sldId id="280" r:id="rId9"/>
    <p:sldId id="277" r:id="rId10"/>
    <p:sldId id="259" r:id="rId11"/>
    <p:sldId id="260" r:id="rId12"/>
    <p:sldId id="269" r:id="rId13"/>
    <p:sldId id="263" r:id="rId14"/>
    <p:sldId id="267" r:id="rId15"/>
    <p:sldId id="264" r:id="rId16"/>
    <p:sldId id="268" r:id="rId17"/>
    <p:sldId id="262" r:id="rId18"/>
    <p:sldId id="265" r:id="rId19"/>
    <p:sldId id="274" r:id="rId20"/>
    <p:sldId id="27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498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65201-6A20-4792-AF8B-33721B6A5818}" type="datetimeFigureOut">
              <a:rPr lang="es-VE" smtClean="0"/>
              <a:t>05/12/2018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1877D-7957-4EE7-AA73-DA320410309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331769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65201-6A20-4792-AF8B-33721B6A5818}" type="datetimeFigureOut">
              <a:rPr lang="es-VE" smtClean="0"/>
              <a:t>05/12/2018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1877D-7957-4EE7-AA73-DA320410309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798090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65201-6A20-4792-AF8B-33721B6A5818}" type="datetimeFigureOut">
              <a:rPr lang="es-VE" smtClean="0"/>
              <a:t>05/12/2018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1877D-7957-4EE7-AA73-DA320410309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626022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65201-6A20-4792-AF8B-33721B6A5818}" type="datetimeFigureOut">
              <a:rPr lang="es-VE" smtClean="0"/>
              <a:t>05/12/2018</a:t>
            </a:fld>
            <a:endParaRPr lang="es-V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1877D-7957-4EE7-AA73-DA320410309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457709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65201-6A20-4792-AF8B-33721B6A5818}" type="datetimeFigureOut">
              <a:rPr lang="es-VE" smtClean="0"/>
              <a:t>05/12/2018</a:t>
            </a:fld>
            <a:endParaRPr lang="es-V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1877D-7957-4EE7-AA73-DA3204103098}" type="slidenum">
              <a:rPr lang="es-VE" smtClean="0"/>
              <a:t>‹Nº›</a:t>
            </a:fld>
            <a:endParaRPr lang="es-VE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09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65201-6A20-4792-AF8B-33721B6A5818}" type="datetimeFigureOut">
              <a:rPr lang="es-VE" smtClean="0"/>
              <a:t>05/12/2018</a:t>
            </a:fld>
            <a:endParaRPr lang="es-V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1877D-7957-4EE7-AA73-DA3204103098}" type="slidenum">
              <a:rPr lang="es-VE" smtClean="0"/>
              <a:t>‹Nº›</a:t>
            </a:fld>
            <a:endParaRPr lang="es-VE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625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65201-6A20-4792-AF8B-33721B6A5818}" type="datetimeFigureOut">
              <a:rPr lang="es-VE" smtClean="0"/>
              <a:t>05/12/2018</a:t>
            </a:fld>
            <a:endParaRPr lang="es-V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1877D-7957-4EE7-AA73-DA320410309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239992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65201-6A20-4792-AF8B-33721B6A5818}" type="datetimeFigureOut">
              <a:rPr lang="es-VE" smtClean="0"/>
              <a:t>05/12/2018</a:t>
            </a:fld>
            <a:endParaRPr lang="es-V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1877D-7957-4EE7-AA73-DA320410309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408275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65201-6A20-4792-AF8B-33721B6A5818}" type="datetimeFigureOut">
              <a:rPr lang="es-VE" smtClean="0"/>
              <a:t>05/12/2018</a:t>
            </a:fld>
            <a:endParaRPr lang="es-V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1877D-7957-4EE7-AA73-DA320410309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679438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65201-6A20-4792-AF8B-33721B6A5818}" type="datetimeFigureOut">
              <a:rPr lang="es-VE" smtClean="0"/>
              <a:t>05/12/2018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1877D-7957-4EE7-AA73-DA320410309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761412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65201-6A20-4792-AF8B-33721B6A5818}" type="datetimeFigureOut">
              <a:rPr lang="es-VE" smtClean="0"/>
              <a:t>05/12/2018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1877D-7957-4EE7-AA73-DA320410309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984342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A765201-6A20-4792-AF8B-33721B6A5818}" type="datetimeFigureOut">
              <a:rPr lang="es-VE" smtClean="0"/>
              <a:t>05/12/2018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31877D-7957-4EE7-AA73-DA320410309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78608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olafrv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png"/><Relationship Id="rId11" Type="http://schemas.microsoft.com/office/2007/relationships/hdphoto" Target="../media/hdphoto2.wdp"/><Relationship Id="rId5" Type="http://schemas.openxmlformats.org/officeDocument/2006/relationships/image" Target="../media/image19.png"/><Relationship Id="rId10" Type="http://schemas.openxmlformats.org/officeDocument/2006/relationships/image" Target="../media/image23.png"/><Relationship Id="rId4" Type="http://schemas.openxmlformats.org/officeDocument/2006/relationships/image" Target="../media/image18.png"/><Relationship Id="rId9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31.png"/><Relationship Id="rId5" Type="http://schemas.openxmlformats.org/officeDocument/2006/relationships/image" Target="../media/image27.png"/><Relationship Id="rId10" Type="http://schemas.openxmlformats.org/officeDocument/2006/relationships/image" Target="../media/image2.png"/><Relationship Id="rId4" Type="http://schemas.openxmlformats.org/officeDocument/2006/relationships/image" Target="../media/image26.png"/><Relationship Id="rId9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2540290"/>
            <a:ext cx="12192000" cy="1345910"/>
          </a:xfrm>
          <a:solidFill>
            <a:schemeClr val="tx1"/>
          </a:solidFill>
        </p:spPr>
        <p:txBody>
          <a:bodyPr anchor="ctr" anchorCtr="0"/>
          <a:lstStyle/>
          <a:p>
            <a:r>
              <a:rPr lang="es-MX" b="1" dirty="0" err="1" smtClean="0">
                <a:solidFill>
                  <a:schemeClr val="bg1"/>
                </a:solidFill>
              </a:rPr>
              <a:t>Managed</a:t>
            </a:r>
            <a:r>
              <a:rPr lang="es-MX" b="1" dirty="0" smtClean="0">
                <a:solidFill>
                  <a:schemeClr val="bg1"/>
                </a:solidFill>
              </a:rPr>
              <a:t> Cloud </a:t>
            </a:r>
            <a:r>
              <a:rPr lang="es-MX" b="1" dirty="0" err="1" smtClean="0">
                <a:solidFill>
                  <a:schemeClr val="bg1"/>
                </a:solidFill>
              </a:rPr>
              <a:t>Services</a:t>
            </a:r>
            <a:endParaRPr lang="es-VE" b="1" dirty="0">
              <a:solidFill>
                <a:schemeClr val="bg1"/>
              </a:solidFill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3924300" y="4368800"/>
            <a:ext cx="4572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3600" b="1" dirty="0" smtClean="0"/>
              <a:t>Olaf Reitmaier</a:t>
            </a:r>
          </a:p>
          <a:p>
            <a:pPr algn="ctr"/>
            <a:r>
              <a:rPr lang="es-419" sz="3600" b="1" dirty="0" smtClean="0">
                <a:hlinkClick r:id="rId2"/>
              </a:rPr>
              <a:t>olafrv@gmail.com</a:t>
            </a:r>
            <a:endParaRPr lang="es-419" sz="3600" b="1" dirty="0" smtClean="0"/>
          </a:p>
          <a:p>
            <a:pPr algn="ctr"/>
            <a:r>
              <a:rPr lang="es-419" sz="3600" b="1" dirty="0" err="1" smtClean="0"/>
              <a:t>November</a:t>
            </a:r>
            <a:r>
              <a:rPr lang="es-419" sz="3600" b="1" dirty="0" smtClean="0"/>
              <a:t>, 2018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488409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upo 25"/>
          <p:cNvGrpSpPr/>
          <p:nvPr/>
        </p:nvGrpSpPr>
        <p:grpSpPr>
          <a:xfrm>
            <a:off x="8558746" y="1734875"/>
            <a:ext cx="976778" cy="1747607"/>
            <a:chOff x="6151432" y="1875430"/>
            <a:chExt cx="1237458" cy="2083420"/>
          </a:xfrm>
        </p:grpSpPr>
        <p:sp>
          <p:nvSpPr>
            <p:cNvPr id="9" name="Trapecio 8"/>
            <p:cNvSpPr/>
            <p:nvPr/>
          </p:nvSpPr>
          <p:spPr>
            <a:xfrm>
              <a:off x="6151432" y="1875430"/>
              <a:ext cx="1237458" cy="1037940"/>
            </a:xfrm>
            <a:prstGeom prst="trapezoid">
              <a:avLst>
                <a:gd name="adj" fmla="val 66441"/>
              </a:avLst>
            </a:prstGeom>
            <a:solidFill>
              <a:srgbClr val="6600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 sz="9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" name="Trapecio 9"/>
            <p:cNvSpPr/>
            <p:nvPr/>
          </p:nvSpPr>
          <p:spPr>
            <a:xfrm flipV="1">
              <a:off x="6159806" y="2904457"/>
              <a:ext cx="1221750" cy="1054393"/>
            </a:xfrm>
            <a:prstGeom prst="trapezoid">
              <a:avLst>
                <a:gd name="adj" fmla="val 10478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>
                <a:solidFill>
                  <a:schemeClr val="tx1"/>
                </a:solidFill>
              </a:endParaRPr>
            </a:p>
          </p:txBody>
        </p:sp>
      </p:grpSp>
      <p:grpSp>
        <p:nvGrpSpPr>
          <p:cNvPr id="24" name="Grupo 23"/>
          <p:cNvGrpSpPr/>
          <p:nvPr/>
        </p:nvGrpSpPr>
        <p:grpSpPr>
          <a:xfrm>
            <a:off x="7951254" y="2656234"/>
            <a:ext cx="2192583" cy="2053217"/>
            <a:chOff x="7951254" y="2656234"/>
            <a:chExt cx="2192583" cy="2053217"/>
          </a:xfrm>
        </p:grpSpPr>
        <p:sp>
          <p:nvSpPr>
            <p:cNvPr id="13" name="Trapecio 12"/>
            <p:cNvSpPr/>
            <p:nvPr/>
          </p:nvSpPr>
          <p:spPr>
            <a:xfrm>
              <a:off x="7951254" y="2656234"/>
              <a:ext cx="2192583" cy="983191"/>
            </a:xfrm>
            <a:prstGeom prst="trapezoid">
              <a:avLst>
                <a:gd name="adj" fmla="val 67144"/>
              </a:avLst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 sz="16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Usuario</a:t>
              </a:r>
            </a:p>
            <a:p>
              <a:pPr algn="ctr"/>
              <a:r>
                <a:rPr lang="es-419" sz="16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/ Cliente</a:t>
              </a:r>
            </a:p>
          </p:txBody>
        </p:sp>
        <p:sp>
          <p:nvSpPr>
            <p:cNvPr id="14" name="Trapecio 13"/>
            <p:cNvSpPr/>
            <p:nvPr/>
          </p:nvSpPr>
          <p:spPr>
            <a:xfrm flipV="1">
              <a:off x="7951255" y="3631340"/>
              <a:ext cx="2192582" cy="1078111"/>
            </a:xfrm>
            <a:prstGeom prst="trapezoid">
              <a:avLst>
                <a:gd name="adj" fmla="val 10478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Grupo 28"/>
          <p:cNvGrpSpPr/>
          <p:nvPr/>
        </p:nvGrpSpPr>
        <p:grpSpPr>
          <a:xfrm>
            <a:off x="7389117" y="3694236"/>
            <a:ext cx="3311014" cy="1950453"/>
            <a:chOff x="6024715" y="3390442"/>
            <a:chExt cx="3311014" cy="1950453"/>
          </a:xfrm>
        </p:grpSpPr>
        <p:sp>
          <p:nvSpPr>
            <p:cNvPr id="15" name="Trapecio 14"/>
            <p:cNvSpPr/>
            <p:nvPr/>
          </p:nvSpPr>
          <p:spPr>
            <a:xfrm>
              <a:off x="6024715" y="3390442"/>
              <a:ext cx="3311013" cy="948550"/>
            </a:xfrm>
            <a:prstGeom prst="trapezoid">
              <a:avLst>
                <a:gd name="adj" fmla="val 67144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Entorno de TI</a:t>
              </a:r>
              <a:endParaRPr lang="es-VE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6" name="Trapecio 15"/>
            <p:cNvSpPr/>
            <p:nvPr/>
          </p:nvSpPr>
          <p:spPr>
            <a:xfrm flipV="1">
              <a:off x="6024715" y="4332449"/>
              <a:ext cx="3311014" cy="1008446"/>
            </a:xfrm>
            <a:prstGeom prst="trapezoid">
              <a:avLst>
                <a:gd name="adj" fmla="val 10478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Grupo 29"/>
          <p:cNvGrpSpPr/>
          <p:nvPr/>
        </p:nvGrpSpPr>
        <p:grpSpPr>
          <a:xfrm>
            <a:off x="6843428" y="4706195"/>
            <a:ext cx="4365522" cy="1940137"/>
            <a:chOff x="5574890" y="4413033"/>
            <a:chExt cx="4240161" cy="1940137"/>
          </a:xfrm>
        </p:grpSpPr>
        <p:sp>
          <p:nvSpPr>
            <p:cNvPr id="17" name="Trapecio 16"/>
            <p:cNvSpPr/>
            <p:nvPr/>
          </p:nvSpPr>
          <p:spPr>
            <a:xfrm>
              <a:off x="5574890" y="4413033"/>
              <a:ext cx="4240161" cy="934405"/>
            </a:xfrm>
            <a:prstGeom prst="trapezoid">
              <a:avLst>
                <a:gd name="adj" fmla="val 67144"/>
              </a:avLst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 sz="20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Plataforma de TI</a:t>
              </a:r>
              <a:endParaRPr lang="es-VE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8" name="Trapecio 17"/>
            <p:cNvSpPr/>
            <p:nvPr/>
          </p:nvSpPr>
          <p:spPr>
            <a:xfrm flipV="1">
              <a:off x="5581099" y="5344723"/>
              <a:ext cx="4233951" cy="1008447"/>
            </a:xfrm>
            <a:prstGeom prst="trapezoid">
              <a:avLst>
                <a:gd name="adj" fmla="val 10478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>
                <a:solidFill>
                  <a:schemeClr val="tx1"/>
                </a:solidFill>
              </a:endParaRPr>
            </a:p>
          </p:txBody>
        </p:sp>
      </p:grpSp>
      <p:sp>
        <p:nvSpPr>
          <p:cNvPr id="19" name="Trapecio 18"/>
          <p:cNvSpPr/>
          <p:nvPr/>
        </p:nvSpPr>
        <p:spPr>
          <a:xfrm>
            <a:off x="6275615" y="5713809"/>
            <a:ext cx="5471652" cy="967943"/>
          </a:xfrm>
          <a:prstGeom prst="trapezoid">
            <a:avLst>
              <a:gd name="adj" fmla="val 67144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Infraestructura de TI</a:t>
            </a:r>
            <a:endParaRPr lang="es-VE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64" name="Grupo 63"/>
          <p:cNvGrpSpPr/>
          <p:nvPr/>
        </p:nvGrpSpPr>
        <p:grpSpPr>
          <a:xfrm>
            <a:off x="1114553" y="1690688"/>
            <a:ext cx="7953243" cy="910228"/>
            <a:chOff x="1114553" y="1690688"/>
            <a:chExt cx="7953243" cy="910228"/>
          </a:xfrm>
        </p:grpSpPr>
        <p:sp>
          <p:nvSpPr>
            <p:cNvPr id="22" name="Rectángulo 21"/>
            <p:cNvSpPr/>
            <p:nvPr/>
          </p:nvSpPr>
          <p:spPr>
            <a:xfrm>
              <a:off x="1114553" y="1737752"/>
              <a:ext cx="7935662" cy="863164"/>
            </a:xfrm>
            <a:prstGeom prst="rect">
              <a:avLst/>
            </a:prstGeom>
            <a:solidFill>
              <a:srgbClr val="6600CC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/>
            </a:p>
          </p:txBody>
        </p:sp>
        <p:sp>
          <p:nvSpPr>
            <p:cNvPr id="36" name="CuadroTexto 35"/>
            <p:cNvSpPr txBox="1"/>
            <p:nvPr/>
          </p:nvSpPr>
          <p:spPr>
            <a:xfrm>
              <a:off x="1254902" y="1690688"/>
              <a:ext cx="2286000" cy="369332"/>
            </a:xfrm>
            <a:prstGeom prst="rect">
              <a:avLst/>
            </a:prstGeom>
            <a:solidFill>
              <a:srgbClr val="6600CC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s-419" dirty="0" smtClean="0">
                  <a:solidFill>
                    <a:schemeClr val="bg1"/>
                  </a:solidFill>
                  <a:latin typeface="Haettenschweiler" panose="020B0706040902060204" pitchFamily="34" charset="0"/>
                  <a:ea typeface="Verdana" panose="020B0604030504040204" pitchFamily="34" charset="0"/>
                  <a:cs typeface="Lucida Sans Unicode" panose="020B0602030504020204" pitchFamily="34" charset="0"/>
                </a:rPr>
                <a:t>Transformación Digital</a:t>
              </a:r>
              <a:endParaRPr lang="es-VE" dirty="0">
                <a:solidFill>
                  <a:schemeClr val="bg1"/>
                </a:solidFill>
                <a:latin typeface="Haettenschweiler" panose="020B0706040902060204" pitchFamily="34" charset="0"/>
                <a:ea typeface="Verdana" panose="020B060403050404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6" name="CuadroTexto 5"/>
            <p:cNvSpPr txBox="1"/>
            <p:nvPr/>
          </p:nvSpPr>
          <p:spPr>
            <a:xfrm>
              <a:off x="1254902" y="2077508"/>
              <a:ext cx="316469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419" sz="1400" dirty="0" smtClean="0"/>
                <a:t>Sortear el impacto de las tendencias digitales y la competencia en el negocio</a:t>
              </a:r>
              <a:endParaRPr lang="es-VE" sz="1400" dirty="0"/>
            </a:p>
          </p:txBody>
        </p:sp>
        <p:sp>
          <p:nvSpPr>
            <p:cNvPr id="11" name="CuadroTexto 10"/>
            <p:cNvSpPr txBox="1"/>
            <p:nvPr/>
          </p:nvSpPr>
          <p:spPr>
            <a:xfrm>
              <a:off x="6849821" y="1789800"/>
              <a:ext cx="2217975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419" sz="1400" b="1" dirty="0" smtClean="0"/>
                <a:t>Agotamiento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419" sz="1400" b="1" dirty="0" smtClean="0"/>
                <a:t>Estancamiento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419" sz="1400" b="1" i="1" dirty="0" smtClean="0"/>
                <a:t>Ictus</a:t>
              </a:r>
              <a:r>
                <a:rPr lang="es-419" sz="1400" b="1" dirty="0" smtClean="0"/>
                <a:t> exponencial</a:t>
              </a:r>
            </a:p>
          </p:txBody>
        </p:sp>
      </p:grpSp>
      <p:grpSp>
        <p:nvGrpSpPr>
          <p:cNvPr id="28" name="Grupo 27"/>
          <p:cNvGrpSpPr/>
          <p:nvPr/>
        </p:nvGrpSpPr>
        <p:grpSpPr>
          <a:xfrm>
            <a:off x="1130211" y="5669058"/>
            <a:ext cx="7770049" cy="1022760"/>
            <a:chOff x="1130211" y="5669058"/>
            <a:chExt cx="7770049" cy="1022760"/>
          </a:xfrm>
        </p:grpSpPr>
        <p:sp>
          <p:nvSpPr>
            <p:cNvPr id="34" name="Rectángulo 33"/>
            <p:cNvSpPr/>
            <p:nvPr/>
          </p:nvSpPr>
          <p:spPr>
            <a:xfrm>
              <a:off x="1130211" y="5704551"/>
              <a:ext cx="7770049" cy="977201"/>
            </a:xfrm>
            <a:prstGeom prst="rect">
              <a:avLst/>
            </a:prstGeom>
            <a:solidFill>
              <a:schemeClr val="accent2">
                <a:lumMod val="7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/>
            </a:p>
          </p:txBody>
        </p:sp>
        <p:sp>
          <p:nvSpPr>
            <p:cNvPr id="39" name="CuadroTexto 38"/>
            <p:cNvSpPr txBox="1"/>
            <p:nvPr/>
          </p:nvSpPr>
          <p:spPr>
            <a:xfrm>
              <a:off x="1305523" y="5669058"/>
              <a:ext cx="2286000" cy="36933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s-419" dirty="0" smtClean="0">
                  <a:solidFill>
                    <a:schemeClr val="bg1"/>
                  </a:solidFill>
                  <a:latin typeface="Haettenschweiler" panose="020B0706040902060204" pitchFamily="34" charset="0"/>
                  <a:ea typeface="Verdana" panose="020B0604030504040204" pitchFamily="34" charset="0"/>
                  <a:cs typeface="Lucida Sans Unicode" panose="020B0602030504020204" pitchFamily="34" charset="0"/>
                </a:rPr>
                <a:t>Capacidad y Desempeño</a:t>
              </a:r>
              <a:endParaRPr lang="es-VE" dirty="0">
                <a:solidFill>
                  <a:schemeClr val="bg1"/>
                </a:solidFill>
                <a:latin typeface="Haettenschweiler" panose="020B0706040902060204" pitchFamily="34" charset="0"/>
                <a:ea typeface="Verdana" panose="020B060403050404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49" name="CuadroTexto 48"/>
            <p:cNvSpPr txBox="1"/>
            <p:nvPr/>
          </p:nvSpPr>
          <p:spPr>
            <a:xfrm>
              <a:off x="1272302" y="6045205"/>
              <a:ext cx="30417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419" sz="1400" dirty="0" smtClean="0"/>
                <a:t>Construir la infraestructura necesaria para soportar el negocio actual y futuro</a:t>
              </a:r>
              <a:endParaRPr lang="es-VE" sz="1400" dirty="0"/>
            </a:p>
          </p:txBody>
        </p:sp>
        <p:sp>
          <p:nvSpPr>
            <p:cNvPr id="50" name="CuadroTexto 49"/>
            <p:cNvSpPr txBox="1"/>
            <p:nvPr/>
          </p:nvSpPr>
          <p:spPr>
            <a:xfrm>
              <a:off x="4583723" y="5676155"/>
              <a:ext cx="226787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419" sz="1200" b="1" dirty="0" smtClean="0"/>
                <a:t>Internet y redes privadas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419" sz="1200" b="1" dirty="0" smtClean="0"/>
                <a:t>Servidores, aplicaciones</a:t>
              </a:r>
              <a:br>
                <a:rPr lang="es-419" sz="1200" b="1" dirty="0" smtClean="0"/>
              </a:br>
              <a:r>
                <a:rPr lang="es-419" sz="1200" b="1" dirty="0" smtClean="0"/>
                <a:t>y bases de datos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419" sz="1200" b="1" dirty="0" smtClean="0"/>
                <a:t>Recursos humanos asociados a TI</a:t>
              </a:r>
            </a:p>
          </p:txBody>
        </p:sp>
      </p:grpSp>
      <p:grpSp>
        <p:nvGrpSpPr>
          <p:cNvPr id="58" name="Grupo 57"/>
          <p:cNvGrpSpPr/>
          <p:nvPr/>
        </p:nvGrpSpPr>
        <p:grpSpPr>
          <a:xfrm>
            <a:off x="1130211" y="4677807"/>
            <a:ext cx="7789933" cy="952702"/>
            <a:chOff x="1130211" y="4677807"/>
            <a:chExt cx="7789933" cy="952702"/>
          </a:xfrm>
        </p:grpSpPr>
        <p:sp>
          <p:nvSpPr>
            <p:cNvPr id="33" name="Rectángulo 32"/>
            <p:cNvSpPr/>
            <p:nvPr/>
          </p:nvSpPr>
          <p:spPr>
            <a:xfrm>
              <a:off x="1130211" y="4696104"/>
              <a:ext cx="7789933" cy="934405"/>
            </a:xfrm>
            <a:prstGeom prst="rect">
              <a:avLst/>
            </a:prstGeom>
            <a:solidFill>
              <a:schemeClr val="accent6">
                <a:lumMod val="7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/>
            </a:p>
          </p:txBody>
        </p:sp>
        <p:sp>
          <p:nvSpPr>
            <p:cNvPr id="40" name="CuadroTexto 39"/>
            <p:cNvSpPr txBox="1"/>
            <p:nvPr/>
          </p:nvSpPr>
          <p:spPr>
            <a:xfrm>
              <a:off x="1282077" y="4677807"/>
              <a:ext cx="2286000" cy="36933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s-VE" dirty="0" smtClean="0">
                  <a:solidFill>
                    <a:schemeClr val="bg1"/>
                  </a:solidFill>
                  <a:latin typeface="Haettenschweiler" panose="020B0706040902060204" pitchFamily="34" charset="0"/>
                  <a:ea typeface="Verdana" panose="020B0604030504040204" pitchFamily="34" charset="0"/>
                  <a:cs typeface="Lucida Sans Unicode" panose="020B0602030504020204" pitchFamily="34" charset="0"/>
                </a:rPr>
                <a:t>Continuidad Operativa</a:t>
              </a:r>
              <a:endParaRPr lang="es-VE" dirty="0">
                <a:solidFill>
                  <a:schemeClr val="bg1"/>
                </a:solidFill>
                <a:latin typeface="Haettenschweiler" panose="020B0706040902060204" pitchFamily="34" charset="0"/>
                <a:ea typeface="Verdana" panose="020B060403050404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48" name="CuadroTexto 47"/>
            <p:cNvSpPr txBox="1"/>
            <p:nvPr/>
          </p:nvSpPr>
          <p:spPr>
            <a:xfrm>
              <a:off x="1317246" y="5084854"/>
              <a:ext cx="366932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419" sz="1400" dirty="0" smtClean="0"/>
                <a:t>Garantizar la continuidad y recuperabilidad</a:t>
              </a:r>
              <a:br>
                <a:rPr lang="es-419" sz="1400" dirty="0" smtClean="0"/>
              </a:br>
              <a:r>
                <a:rPr lang="es-419" sz="1400" dirty="0" smtClean="0"/>
                <a:t>de las plataformas que soportan el negocio</a:t>
              </a:r>
              <a:endParaRPr lang="es-VE" sz="1400" dirty="0"/>
            </a:p>
          </p:txBody>
        </p:sp>
        <p:sp>
          <p:nvSpPr>
            <p:cNvPr id="51" name="CuadroTexto 50"/>
            <p:cNvSpPr txBox="1"/>
            <p:nvPr/>
          </p:nvSpPr>
          <p:spPr>
            <a:xfrm>
              <a:off x="4902830" y="4754166"/>
              <a:ext cx="233030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419" sz="1200" b="1" dirty="0" smtClean="0"/>
                <a:t>Aplicaciones, sistemas y servicios críticos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419" sz="1200" b="1" dirty="0" smtClean="0"/>
                <a:t>Monitoreo &amp; Visibilidad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419" sz="1200" b="1" dirty="0" smtClean="0"/>
                <a:t>Sitio principal y alterno</a:t>
              </a:r>
              <a:endParaRPr lang="es-419" sz="1200" b="1" dirty="0"/>
            </a:p>
          </p:txBody>
        </p:sp>
      </p:grpSp>
      <p:grpSp>
        <p:nvGrpSpPr>
          <p:cNvPr id="60" name="Grupo 59"/>
          <p:cNvGrpSpPr/>
          <p:nvPr/>
        </p:nvGrpSpPr>
        <p:grpSpPr>
          <a:xfrm>
            <a:off x="1130213" y="2645861"/>
            <a:ext cx="7770048" cy="991342"/>
            <a:chOff x="1130213" y="2645861"/>
            <a:chExt cx="7770048" cy="991342"/>
          </a:xfrm>
        </p:grpSpPr>
        <p:sp>
          <p:nvSpPr>
            <p:cNvPr id="31" name="Rectángulo 30"/>
            <p:cNvSpPr/>
            <p:nvPr/>
          </p:nvSpPr>
          <p:spPr>
            <a:xfrm>
              <a:off x="1130213" y="2659874"/>
              <a:ext cx="7770048" cy="977329"/>
            </a:xfrm>
            <a:prstGeom prst="rect">
              <a:avLst/>
            </a:prstGeom>
            <a:solidFill>
              <a:schemeClr val="accent4">
                <a:lumMod val="7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/>
            </a:p>
          </p:txBody>
        </p:sp>
        <p:sp>
          <p:nvSpPr>
            <p:cNvPr id="37" name="CuadroTexto 36"/>
            <p:cNvSpPr txBox="1"/>
            <p:nvPr/>
          </p:nvSpPr>
          <p:spPr>
            <a:xfrm>
              <a:off x="1254902" y="2645861"/>
              <a:ext cx="2286000" cy="369332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s-419" dirty="0" smtClean="0">
                  <a:solidFill>
                    <a:schemeClr val="bg1"/>
                  </a:solidFill>
                  <a:latin typeface="Haettenschweiler" panose="020B0706040902060204" pitchFamily="34" charset="0"/>
                  <a:ea typeface="Verdana" panose="020B0604030504040204" pitchFamily="34" charset="0"/>
                  <a:cs typeface="Lucida Sans Unicode" panose="020B0602030504020204" pitchFamily="34" charset="0"/>
                </a:rPr>
                <a:t>Experiencia del Usuario</a:t>
              </a:r>
              <a:endParaRPr lang="es-VE" dirty="0">
                <a:solidFill>
                  <a:schemeClr val="bg1"/>
                </a:solidFill>
                <a:latin typeface="Haettenschweiler" panose="020B0706040902060204" pitchFamily="34" charset="0"/>
                <a:ea typeface="Verdana" panose="020B060403050404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35" name="CuadroTexto 34"/>
            <p:cNvSpPr txBox="1"/>
            <p:nvPr/>
          </p:nvSpPr>
          <p:spPr>
            <a:xfrm>
              <a:off x="1254902" y="3036558"/>
              <a:ext cx="30591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419" sz="1400" dirty="0" smtClean="0"/>
                <a:t>Estudiar y evaluar la experiencia del usuario final a beneficio del negocio</a:t>
              </a:r>
              <a:endParaRPr lang="es-VE" sz="1400" dirty="0"/>
            </a:p>
          </p:txBody>
        </p:sp>
        <p:sp>
          <p:nvSpPr>
            <p:cNvPr id="52" name="CuadroTexto 51"/>
            <p:cNvSpPr txBox="1"/>
            <p:nvPr/>
          </p:nvSpPr>
          <p:spPr>
            <a:xfrm>
              <a:off x="5959577" y="2768815"/>
              <a:ext cx="239897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419" sz="1400" b="1" dirty="0" smtClean="0"/>
                <a:t>Sensación &amp; Motivación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419" sz="1400" b="1" dirty="0" smtClean="0"/>
                <a:t>Captación &amp; Retención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419" sz="1400" b="1" dirty="0" smtClean="0"/>
                <a:t>Interacción (Canales)</a:t>
              </a:r>
              <a:endParaRPr lang="es-419" sz="1400" b="1" dirty="0"/>
            </a:p>
          </p:txBody>
        </p:sp>
      </p:grpSp>
      <p:grpSp>
        <p:nvGrpSpPr>
          <p:cNvPr id="59" name="Grupo 58"/>
          <p:cNvGrpSpPr/>
          <p:nvPr/>
        </p:nvGrpSpPr>
        <p:grpSpPr>
          <a:xfrm>
            <a:off x="1130213" y="3658749"/>
            <a:ext cx="7789932" cy="981778"/>
            <a:chOff x="1130213" y="3658749"/>
            <a:chExt cx="7789932" cy="981778"/>
          </a:xfrm>
        </p:grpSpPr>
        <p:sp>
          <p:nvSpPr>
            <p:cNvPr id="32" name="Rectángulo 31"/>
            <p:cNvSpPr/>
            <p:nvPr/>
          </p:nvSpPr>
          <p:spPr>
            <a:xfrm>
              <a:off x="1130213" y="3698689"/>
              <a:ext cx="7789932" cy="941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/>
            </a:p>
          </p:txBody>
        </p:sp>
        <p:sp>
          <p:nvSpPr>
            <p:cNvPr id="38" name="CuadroTexto 37"/>
            <p:cNvSpPr txBox="1"/>
            <p:nvPr/>
          </p:nvSpPr>
          <p:spPr>
            <a:xfrm>
              <a:off x="1254902" y="3658749"/>
              <a:ext cx="2286000" cy="369332"/>
            </a:xfrm>
            <a:prstGeom prst="rect">
              <a:avLst/>
            </a:prstGeom>
            <a:solidFill>
              <a:srgbClr val="0070C0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s-419" dirty="0" smtClean="0">
                  <a:solidFill>
                    <a:schemeClr val="bg1"/>
                  </a:solidFill>
                  <a:latin typeface="Haettenschweiler" panose="020B0706040902060204" pitchFamily="34" charset="0"/>
                  <a:ea typeface="Verdana" panose="020B0604030504040204" pitchFamily="34" charset="0"/>
                  <a:cs typeface="Lucida Sans Unicode" panose="020B0602030504020204" pitchFamily="34" charset="0"/>
                </a:rPr>
                <a:t>Optimización de Servicios</a:t>
              </a:r>
              <a:endParaRPr lang="es-VE" dirty="0">
                <a:solidFill>
                  <a:schemeClr val="bg1"/>
                </a:solidFill>
                <a:latin typeface="Haettenschweiler" panose="020B0706040902060204" pitchFamily="34" charset="0"/>
                <a:ea typeface="Verdana" panose="020B060403050404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43" name="CuadroTexto 42"/>
            <p:cNvSpPr txBox="1"/>
            <p:nvPr/>
          </p:nvSpPr>
          <p:spPr>
            <a:xfrm>
              <a:off x="1198767" y="4032534"/>
              <a:ext cx="338495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419" sz="1400" dirty="0" smtClean="0"/>
                <a:t>Optimizar los modelos de finanzas, operación y servicio del negocio</a:t>
              </a:r>
              <a:endParaRPr lang="es-VE" sz="1400" dirty="0"/>
            </a:p>
          </p:txBody>
        </p:sp>
        <p:sp>
          <p:nvSpPr>
            <p:cNvPr id="54" name="CuadroTexto 53"/>
            <p:cNvSpPr txBox="1"/>
            <p:nvPr/>
          </p:nvSpPr>
          <p:spPr>
            <a:xfrm>
              <a:off x="5326902" y="3782176"/>
              <a:ext cx="2562725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419" sz="1400" b="1" dirty="0" smtClean="0"/>
                <a:t>Justificación CAPEX / OPEX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419" sz="1400" b="1" dirty="0" smtClean="0"/>
                <a:t>Tercerización &amp; Alianzas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419" sz="1400" b="1" dirty="0" smtClean="0"/>
                <a:t>Regulatorio &amp; Legal</a:t>
              </a:r>
            </a:p>
          </p:txBody>
        </p:sp>
      </p:grpSp>
      <p:sp>
        <p:nvSpPr>
          <p:cNvPr id="20" name="CuadroTexto 19"/>
          <p:cNvSpPr txBox="1"/>
          <p:nvPr/>
        </p:nvSpPr>
        <p:spPr>
          <a:xfrm>
            <a:off x="8684334" y="2266764"/>
            <a:ext cx="8454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Negocio</a:t>
            </a:r>
            <a:endParaRPr lang="es-VE" sz="1400" dirty="0"/>
          </a:p>
        </p:txBody>
      </p:sp>
      <p:sp>
        <p:nvSpPr>
          <p:cNvPr id="21" name="Título 20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29013"/>
          </a:xfrm>
          <a:solidFill>
            <a:schemeClr val="accent5">
              <a:lumMod val="5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s-419" b="1" dirty="0" smtClean="0">
                <a:solidFill>
                  <a:schemeClr val="bg1"/>
                </a:solidFill>
              </a:rPr>
              <a:t>Digital </a:t>
            </a:r>
            <a:r>
              <a:rPr lang="es-419" b="1" dirty="0" err="1" smtClean="0">
                <a:solidFill>
                  <a:schemeClr val="bg1"/>
                </a:solidFill>
              </a:rPr>
              <a:t>Age</a:t>
            </a:r>
            <a:r>
              <a:rPr lang="es-419" b="1" dirty="0" smtClean="0">
                <a:solidFill>
                  <a:schemeClr val="bg1"/>
                </a:solidFill>
              </a:rPr>
              <a:t> Enterprise </a:t>
            </a:r>
            <a:r>
              <a:rPr lang="es-419" b="1" dirty="0" err="1" smtClean="0">
                <a:solidFill>
                  <a:schemeClr val="bg1"/>
                </a:solidFill>
              </a:rPr>
              <a:t>Needs</a:t>
            </a:r>
            <a:endParaRPr lang="es-VE" b="1" dirty="0">
              <a:solidFill>
                <a:schemeClr val="bg1"/>
              </a:solidFill>
            </a:endParaRPr>
          </a:p>
        </p:txBody>
      </p:sp>
      <p:sp>
        <p:nvSpPr>
          <p:cNvPr id="42" name="Redondear rectángulo de esquina diagonal 41"/>
          <p:cNvSpPr/>
          <p:nvPr/>
        </p:nvSpPr>
        <p:spPr>
          <a:xfrm>
            <a:off x="9107034" y="1729355"/>
            <a:ext cx="1548245" cy="440361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 smtClean="0"/>
              <a:t>Reinvención</a:t>
            </a:r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2729653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/>
      <p:bldP spid="4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upo 26"/>
          <p:cNvGrpSpPr/>
          <p:nvPr/>
        </p:nvGrpSpPr>
        <p:grpSpPr>
          <a:xfrm>
            <a:off x="2851084" y="1664536"/>
            <a:ext cx="7162794" cy="1747607"/>
            <a:chOff x="2875148" y="1664536"/>
            <a:chExt cx="7162794" cy="1747607"/>
          </a:xfrm>
        </p:grpSpPr>
        <p:sp>
          <p:nvSpPr>
            <p:cNvPr id="57" name="Rectángulo 56"/>
            <p:cNvSpPr/>
            <p:nvPr/>
          </p:nvSpPr>
          <p:spPr>
            <a:xfrm>
              <a:off x="3362360" y="1672013"/>
              <a:ext cx="6675582" cy="863164"/>
            </a:xfrm>
            <a:prstGeom prst="rect">
              <a:avLst/>
            </a:prstGeom>
            <a:solidFill>
              <a:srgbClr val="6600CC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/>
            </a:p>
          </p:txBody>
        </p:sp>
        <p:grpSp>
          <p:nvGrpSpPr>
            <p:cNvPr id="8" name="Grupo 7"/>
            <p:cNvGrpSpPr/>
            <p:nvPr/>
          </p:nvGrpSpPr>
          <p:grpSpPr>
            <a:xfrm>
              <a:off x="2875148" y="1664536"/>
              <a:ext cx="976778" cy="1747607"/>
              <a:chOff x="2875148" y="1664536"/>
              <a:chExt cx="976778" cy="1747607"/>
            </a:xfrm>
          </p:grpSpPr>
          <p:grpSp>
            <p:nvGrpSpPr>
              <p:cNvPr id="26" name="Grupo 25"/>
              <p:cNvGrpSpPr/>
              <p:nvPr/>
            </p:nvGrpSpPr>
            <p:grpSpPr>
              <a:xfrm>
                <a:off x="2875148" y="1664536"/>
                <a:ext cx="976778" cy="1747607"/>
                <a:chOff x="6151432" y="1875430"/>
                <a:chExt cx="1237458" cy="2083420"/>
              </a:xfrm>
            </p:grpSpPr>
            <p:sp>
              <p:nvSpPr>
                <p:cNvPr id="9" name="Trapecio 8"/>
                <p:cNvSpPr/>
                <p:nvPr/>
              </p:nvSpPr>
              <p:spPr>
                <a:xfrm>
                  <a:off x="6151432" y="1875430"/>
                  <a:ext cx="1237458" cy="1037940"/>
                </a:xfrm>
                <a:prstGeom prst="trapezoid">
                  <a:avLst>
                    <a:gd name="adj" fmla="val 66441"/>
                  </a:avLst>
                </a:prstGeom>
                <a:solidFill>
                  <a:srgbClr val="6600C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VE" sz="900" b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10" name="Trapecio 9"/>
                <p:cNvSpPr/>
                <p:nvPr/>
              </p:nvSpPr>
              <p:spPr>
                <a:xfrm flipV="1">
                  <a:off x="6159806" y="2904457"/>
                  <a:ext cx="1221750" cy="1054393"/>
                </a:xfrm>
                <a:prstGeom prst="trapezoid">
                  <a:avLst>
                    <a:gd name="adj" fmla="val 104783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VE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20" name="CuadroTexto 19"/>
              <p:cNvSpPr txBox="1"/>
              <p:nvPr/>
            </p:nvSpPr>
            <p:spPr>
              <a:xfrm>
                <a:off x="3000736" y="2196425"/>
                <a:ext cx="84540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419" sz="14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Negocio</a:t>
                </a:r>
                <a:endParaRPr lang="es-VE" sz="1400" dirty="0"/>
              </a:p>
            </p:txBody>
          </p:sp>
        </p:grpSp>
      </p:grpSp>
      <p:grpSp>
        <p:nvGrpSpPr>
          <p:cNvPr id="25" name="Grupo 24"/>
          <p:cNvGrpSpPr/>
          <p:nvPr/>
        </p:nvGrpSpPr>
        <p:grpSpPr>
          <a:xfrm>
            <a:off x="2243592" y="2585895"/>
            <a:ext cx="7790172" cy="2053217"/>
            <a:chOff x="2267656" y="2585895"/>
            <a:chExt cx="7790172" cy="2053217"/>
          </a:xfrm>
        </p:grpSpPr>
        <p:sp>
          <p:nvSpPr>
            <p:cNvPr id="56" name="Rectángulo 55"/>
            <p:cNvSpPr/>
            <p:nvPr/>
          </p:nvSpPr>
          <p:spPr>
            <a:xfrm>
              <a:off x="3378020" y="2594135"/>
              <a:ext cx="6679808" cy="977329"/>
            </a:xfrm>
            <a:prstGeom prst="rect">
              <a:avLst/>
            </a:prstGeom>
            <a:solidFill>
              <a:schemeClr val="accent4">
                <a:lumMod val="7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/>
            </a:p>
          </p:txBody>
        </p:sp>
        <p:grpSp>
          <p:nvGrpSpPr>
            <p:cNvPr id="7" name="Grupo 6"/>
            <p:cNvGrpSpPr/>
            <p:nvPr/>
          </p:nvGrpSpPr>
          <p:grpSpPr>
            <a:xfrm>
              <a:off x="2267656" y="2585895"/>
              <a:ext cx="2192583" cy="2053217"/>
              <a:chOff x="2267656" y="2585895"/>
              <a:chExt cx="2192583" cy="2053217"/>
            </a:xfrm>
          </p:grpSpPr>
          <p:sp>
            <p:nvSpPr>
              <p:cNvPr id="13" name="Trapecio 12"/>
              <p:cNvSpPr/>
              <p:nvPr/>
            </p:nvSpPr>
            <p:spPr>
              <a:xfrm>
                <a:off x="2267656" y="2585895"/>
                <a:ext cx="2192583" cy="983191"/>
              </a:xfrm>
              <a:prstGeom prst="trapezoid">
                <a:avLst>
                  <a:gd name="adj" fmla="val 67144"/>
                </a:avLst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419" sz="1600" b="1" dirty="0" smtClean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Usuario</a:t>
                </a:r>
              </a:p>
              <a:p>
                <a:pPr algn="ctr"/>
                <a:r>
                  <a:rPr lang="es-419" sz="1600" b="1" dirty="0" smtClean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/ Cliente</a:t>
                </a:r>
              </a:p>
            </p:txBody>
          </p:sp>
          <p:sp>
            <p:nvSpPr>
              <p:cNvPr id="14" name="Trapecio 13"/>
              <p:cNvSpPr/>
              <p:nvPr/>
            </p:nvSpPr>
            <p:spPr>
              <a:xfrm flipV="1">
                <a:off x="2267657" y="3561001"/>
                <a:ext cx="2192582" cy="1078111"/>
              </a:xfrm>
              <a:prstGeom prst="trapezoid">
                <a:avLst>
                  <a:gd name="adj" fmla="val 104783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VE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4" name="Grupo 23"/>
          <p:cNvGrpSpPr/>
          <p:nvPr/>
        </p:nvGrpSpPr>
        <p:grpSpPr>
          <a:xfrm>
            <a:off x="1681455" y="3623897"/>
            <a:ext cx="8352309" cy="1950453"/>
            <a:chOff x="1705519" y="3623897"/>
            <a:chExt cx="8352309" cy="1950453"/>
          </a:xfrm>
        </p:grpSpPr>
        <p:sp>
          <p:nvSpPr>
            <p:cNvPr id="55" name="Rectángulo 54"/>
            <p:cNvSpPr/>
            <p:nvPr/>
          </p:nvSpPr>
          <p:spPr>
            <a:xfrm>
              <a:off x="3378020" y="3632950"/>
              <a:ext cx="6679808" cy="941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/>
            </a:p>
          </p:txBody>
        </p:sp>
        <p:grpSp>
          <p:nvGrpSpPr>
            <p:cNvPr id="29" name="Grupo 28"/>
            <p:cNvGrpSpPr/>
            <p:nvPr/>
          </p:nvGrpSpPr>
          <p:grpSpPr>
            <a:xfrm>
              <a:off x="1705519" y="3623897"/>
              <a:ext cx="3311014" cy="1950453"/>
              <a:chOff x="6024715" y="3390442"/>
              <a:chExt cx="3311014" cy="1950453"/>
            </a:xfrm>
          </p:grpSpPr>
          <p:sp>
            <p:nvSpPr>
              <p:cNvPr id="15" name="Trapecio 14"/>
              <p:cNvSpPr/>
              <p:nvPr/>
            </p:nvSpPr>
            <p:spPr>
              <a:xfrm>
                <a:off x="6024715" y="3390442"/>
                <a:ext cx="3311013" cy="948550"/>
              </a:xfrm>
              <a:prstGeom prst="trapezoid">
                <a:avLst>
                  <a:gd name="adj" fmla="val 67144"/>
                </a:avLst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419" b="1" dirty="0" smtClean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Entorno de TI</a:t>
                </a:r>
                <a:endParaRPr lang="es-VE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6" name="Trapecio 15"/>
              <p:cNvSpPr/>
              <p:nvPr/>
            </p:nvSpPr>
            <p:spPr>
              <a:xfrm flipV="1">
                <a:off x="6024715" y="4332449"/>
                <a:ext cx="3311014" cy="1008446"/>
              </a:xfrm>
              <a:prstGeom prst="trapezoid">
                <a:avLst>
                  <a:gd name="adj" fmla="val 104783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VE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3" name="Grupo 22"/>
          <p:cNvGrpSpPr/>
          <p:nvPr/>
        </p:nvGrpSpPr>
        <p:grpSpPr>
          <a:xfrm>
            <a:off x="1135766" y="4630365"/>
            <a:ext cx="8878112" cy="1945628"/>
            <a:chOff x="1159830" y="4630365"/>
            <a:chExt cx="8878112" cy="1945628"/>
          </a:xfrm>
        </p:grpSpPr>
        <p:sp>
          <p:nvSpPr>
            <p:cNvPr id="53" name="Rectángulo 52"/>
            <p:cNvSpPr/>
            <p:nvPr/>
          </p:nvSpPr>
          <p:spPr>
            <a:xfrm>
              <a:off x="3378018" y="4630365"/>
              <a:ext cx="6659924" cy="934405"/>
            </a:xfrm>
            <a:prstGeom prst="rect">
              <a:avLst/>
            </a:prstGeom>
            <a:solidFill>
              <a:schemeClr val="accent6">
                <a:lumMod val="7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/>
            </a:p>
          </p:txBody>
        </p:sp>
        <p:grpSp>
          <p:nvGrpSpPr>
            <p:cNvPr id="30" name="Grupo 29"/>
            <p:cNvGrpSpPr/>
            <p:nvPr/>
          </p:nvGrpSpPr>
          <p:grpSpPr>
            <a:xfrm>
              <a:off x="1159830" y="4635856"/>
              <a:ext cx="4365522" cy="1940137"/>
              <a:chOff x="5574890" y="4413033"/>
              <a:chExt cx="4240161" cy="1940137"/>
            </a:xfrm>
          </p:grpSpPr>
          <p:sp>
            <p:nvSpPr>
              <p:cNvPr id="17" name="Trapecio 16"/>
              <p:cNvSpPr/>
              <p:nvPr/>
            </p:nvSpPr>
            <p:spPr>
              <a:xfrm>
                <a:off x="5574890" y="4413033"/>
                <a:ext cx="4240161" cy="934405"/>
              </a:xfrm>
              <a:prstGeom prst="trapezoid">
                <a:avLst>
                  <a:gd name="adj" fmla="val 67144"/>
                </a:avLst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419" sz="2000" b="1" dirty="0" smtClean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Plataforma de TI</a:t>
                </a:r>
                <a:endParaRPr lang="es-VE" sz="2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8" name="Trapecio 17"/>
              <p:cNvSpPr/>
              <p:nvPr/>
            </p:nvSpPr>
            <p:spPr>
              <a:xfrm flipV="1">
                <a:off x="5581099" y="5344723"/>
                <a:ext cx="4233951" cy="1008447"/>
              </a:xfrm>
              <a:prstGeom prst="trapezoid">
                <a:avLst>
                  <a:gd name="adj" fmla="val 104783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VE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2" name="Grupo 11"/>
          <p:cNvGrpSpPr/>
          <p:nvPr/>
        </p:nvGrpSpPr>
        <p:grpSpPr>
          <a:xfrm>
            <a:off x="567953" y="5638812"/>
            <a:ext cx="9445925" cy="977201"/>
            <a:chOff x="592017" y="5638812"/>
            <a:chExt cx="9445925" cy="977201"/>
          </a:xfrm>
        </p:grpSpPr>
        <p:sp>
          <p:nvSpPr>
            <p:cNvPr id="47" name="Rectángulo 46"/>
            <p:cNvSpPr/>
            <p:nvPr/>
          </p:nvSpPr>
          <p:spPr>
            <a:xfrm>
              <a:off x="3378018" y="5638812"/>
              <a:ext cx="6659924" cy="977201"/>
            </a:xfrm>
            <a:prstGeom prst="rect">
              <a:avLst/>
            </a:prstGeom>
            <a:solidFill>
              <a:schemeClr val="accent2">
                <a:lumMod val="7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/>
            </a:p>
          </p:txBody>
        </p:sp>
        <p:sp>
          <p:nvSpPr>
            <p:cNvPr id="19" name="Trapecio 18"/>
            <p:cNvSpPr/>
            <p:nvPr/>
          </p:nvSpPr>
          <p:spPr>
            <a:xfrm>
              <a:off x="592017" y="5643470"/>
              <a:ext cx="5471652" cy="967943"/>
            </a:xfrm>
            <a:prstGeom prst="trapezoid">
              <a:avLst>
                <a:gd name="adj" fmla="val 67144"/>
              </a:avLst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 sz="28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Infraestructura de TI</a:t>
              </a:r>
              <a:endParaRPr lang="es-VE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21" name="Título 20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9420"/>
          </a:xfrm>
          <a:solidFill>
            <a:schemeClr val="accent5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419" b="1" dirty="0" smtClean="0">
                <a:solidFill>
                  <a:schemeClr val="bg1"/>
                </a:solidFill>
              </a:rPr>
              <a:t>Digital </a:t>
            </a:r>
            <a:r>
              <a:rPr lang="es-419" b="1" dirty="0" err="1" smtClean="0">
                <a:solidFill>
                  <a:schemeClr val="bg1"/>
                </a:solidFill>
              </a:rPr>
              <a:t>Age</a:t>
            </a:r>
            <a:r>
              <a:rPr lang="es-419" b="1" dirty="0" smtClean="0">
                <a:solidFill>
                  <a:schemeClr val="bg1"/>
                </a:solidFill>
              </a:rPr>
              <a:t> TI </a:t>
            </a:r>
            <a:r>
              <a:rPr lang="es-419" b="1" dirty="0" err="1" smtClean="0">
                <a:solidFill>
                  <a:schemeClr val="bg1"/>
                </a:solidFill>
              </a:rPr>
              <a:t>Maturity</a:t>
            </a:r>
            <a:r>
              <a:rPr lang="es-419" b="1" dirty="0" smtClean="0">
                <a:solidFill>
                  <a:schemeClr val="bg1"/>
                </a:solidFill>
              </a:rPr>
              <a:t> </a:t>
            </a:r>
            <a:endParaRPr lang="es-VE" b="1" dirty="0">
              <a:solidFill>
                <a:schemeClr val="bg1"/>
              </a:solidFill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6107108" y="1274732"/>
            <a:ext cx="1254369" cy="369332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419" b="1" dirty="0" smtClean="0">
                <a:solidFill>
                  <a:schemeClr val="bg1"/>
                </a:solidFill>
              </a:rPr>
              <a:t>Propiedad</a:t>
            </a:r>
            <a:endParaRPr lang="es-VE" b="1" dirty="0">
              <a:solidFill>
                <a:schemeClr val="bg1"/>
              </a:solidFill>
            </a:endParaRPr>
          </a:p>
        </p:txBody>
      </p:sp>
      <p:sp>
        <p:nvSpPr>
          <p:cNvPr id="45" name="CuadroTexto 44"/>
          <p:cNvSpPr txBox="1"/>
          <p:nvPr/>
        </p:nvSpPr>
        <p:spPr>
          <a:xfrm>
            <a:off x="7397573" y="1286764"/>
            <a:ext cx="1378147" cy="353943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419" sz="1700" b="1" dirty="0" smtClean="0">
                <a:solidFill>
                  <a:schemeClr val="bg1"/>
                </a:solidFill>
              </a:rPr>
              <a:t>Arquitectura</a:t>
            </a:r>
            <a:endParaRPr lang="es-VE" sz="1700" b="1" dirty="0">
              <a:solidFill>
                <a:schemeClr val="bg1"/>
              </a:solidFill>
            </a:endParaRPr>
          </a:p>
        </p:txBody>
      </p:sp>
      <p:sp>
        <p:nvSpPr>
          <p:cNvPr id="46" name="CuadroTexto 45"/>
          <p:cNvSpPr txBox="1"/>
          <p:nvPr/>
        </p:nvSpPr>
        <p:spPr>
          <a:xfrm>
            <a:off x="8807637" y="1274732"/>
            <a:ext cx="1254370" cy="369332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419" b="1" dirty="0" smtClean="0">
                <a:solidFill>
                  <a:schemeClr val="bg1"/>
                </a:solidFill>
              </a:rPr>
              <a:t>Servicio</a:t>
            </a:r>
            <a:endParaRPr lang="es-VE" b="1" dirty="0">
              <a:solidFill>
                <a:schemeClr val="bg1"/>
              </a:solidFill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6107108" y="4091354"/>
            <a:ext cx="1254369" cy="252005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b="1" dirty="0" smtClean="0">
                <a:solidFill>
                  <a:schemeClr val="tx1"/>
                </a:solidFill>
              </a:rPr>
              <a:t>Propia</a:t>
            </a:r>
            <a:endParaRPr lang="es-VE" b="1" dirty="0">
              <a:solidFill>
                <a:schemeClr val="tx1"/>
              </a:solidFill>
            </a:endParaRPr>
          </a:p>
        </p:txBody>
      </p:sp>
      <p:sp>
        <p:nvSpPr>
          <p:cNvPr id="79" name="Rectángulo 78"/>
          <p:cNvSpPr/>
          <p:nvPr/>
        </p:nvSpPr>
        <p:spPr>
          <a:xfrm>
            <a:off x="6107108" y="1691226"/>
            <a:ext cx="1254369" cy="232793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b="1" dirty="0" smtClean="0">
                <a:solidFill>
                  <a:schemeClr val="tx1"/>
                </a:solidFill>
              </a:rPr>
              <a:t>Tercero</a:t>
            </a:r>
            <a:endParaRPr lang="es-VE" b="1" dirty="0">
              <a:solidFill>
                <a:schemeClr val="tx1"/>
              </a:solidFill>
            </a:endParaRPr>
          </a:p>
        </p:txBody>
      </p:sp>
      <p:sp>
        <p:nvSpPr>
          <p:cNvPr id="80" name="Rectángulo 79"/>
          <p:cNvSpPr/>
          <p:nvPr/>
        </p:nvSpPr>
        <p:spPr>
          <a:xfrm>
            <a:off x="7431817" y="5241145"/>
            <a:ext cx="1254369" cy="137026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b="1" dirty="0" smtClean="0">
                <a:solidFill>
                  <a:schemeClr val="tx1"/>
                </a:solidFill>
              </a:rPr>
              <a:t>Servidores</a:t>
            </a:r>
            <a:endParaRPr lang="es-VE" b="1" dirty="0">
              <a:solidFill>
                <a:schemeClr val="tx1"/>
              </a:solidFill>
            </a:endParaRPr>
          </a:p>
        </p:txBody>
      </p:sp>
      <p:sp>
        <p:nvSpPr>
          <p:cNvPr id="81" name="Rectángulo 80"/>
          <p:cNvSpPr/>
          <p:nvPr/>
        </p:nvSpPr>
        <p:spPr>
          <a:xfrm>
            <a:off x="7431816" y="3048000"/>
            <a:ext cx="1254369" cy="211910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b="1" dirty="0" smtClean="0">
                <a:solidFill>
                  <a:schemeClr val="tx1"/>
                </a:solidFill>
              </a:rPr>
              <a:t>Nube</a:t>
            </a:r>
          </a:p>
          <a:p>
            <a:pPr algn="ctr"/>
            <a:r>
              <a:rPr lang="es-419" b="1" dirty="0" smtClean="0">
                <a:solidFill>
                  <a:schemeClr val="tx1"/>
                </a:solidFill>
              </a:rPr>
              <a:t>Privada</a:t>
            </a:r>
          </a:p>
          <a:p>
            <a:pPr algn="ctr"/>
            <a:r>
              <a:rPr lang="es-419" b="1" dirty="0" smtClean="0">
                <a:solidFill>
                  <a:schemeClr val="tx1"/>
                </a:solidFill>
              </a:rPr>
              <a:t>/ Publica</a:t>
            </a:r>
          </a:p>
        </p:txBody>
      </p:sp>
      <p:sp>
        <p:nvSpPr>
          <p:cNvPr id="82" name="Rectángulo 81"/>
          <p:cNvSpPr/>
          <p:nvPr/>
        </p:nvSpPr>
        <p:spPr>
          <a:xfrm>
            <a:off x="7431816" y="1691226"/>
            <a:ext cx="1254369" cy="129528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b="1" dirty="0" smtClean="0">
                <a:solidFill>
                  <a:schemeClr val="tx1"/>
                </a:solidFill>
              </a:rPr>
              <a:t>Nube</a:t>
            </a:r>
          </a:p>
          <a:p>
            <a:pPr algn="ctr"/>
            <a:r>
              <a:rPr lang="es-419" b="1" dirty="0" smtClean="0">
                <a:solidFill>
                  <a:schemeClr val="tx1"/>
                </a:solidFill>
              </a:rPr>
              <a:t>Hibrida</a:t>
            </a:r>
          </a:p>
        </p:txBody>
      </p:sp>
      <p:sp>
        <p:nvSpPr>
          <p:cNvPr id="84" name="Rectángulo 83"/>
          <p:cNvSpPr/>
          <p:nvPr/>
        </p:nvSpPr>
        <p:spPr>
          <a:xfrm>
            <a:off x="8815491" y="4159906"/>
            <a:ext cx="1254369" cy="140486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b="1" dirty="0" smtClean="0">
                <a:solidFill>
                  <a:schemeClr val="tx1"/>
                </a:solidFill>
              </a:rPr>
              <a:t>IaaS</a:t>
            </a:r>
          </a:p>
          <a:p>
            <a:pPr algn="ctr"/>
            <a:r>
              <a:rPr lang="es-419" b="1" dirty="0" smtClean="0">
                <a:solidFill>
                  <a:schemeClr val="tx1"/>
                </a:solidFill>
              </a:rPr>
              <a:t>PaaS</a:t>
            </a:r>
          </a:p>
        </p:txBody>
      </p:sp>
      <p:sp>
        <p:nvSpPr>
          <p:cNvPr id="85" name="Rectángulo 84"/>
          <p:cNvSpPr/>
          <p:nvPr/>
        </p:nvSpPr>
        <p:spPr>
          <a:xfrm>
            <a:off x="8815491" y="3057781"/>
            <a:ext cx="1254369" cy="103357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b="1" dirty="0" smtClean="0">
                <a:solidFill>
                  <a:schemeClr val="tx1"/>
                </a:solidFill>
              </a:rPr>
              <a:t>PaaS</a:t>
            </a:r>
          </a:p>
          <a:p>
            <a:pPr algn="ctr"/>
            <a:r>
              <a:rPr lang="es-419" b="1" dirty="0" smtClean="0">
                <a:solidFill>
                  <a:schemeClr val="tx1"/>
                </a:solidFill>
              </a:rPr>
              <a:t>IaaS</a:t>
            </a:r>
          </a:p>
        </p:txBody>
      </p:sp>
      <p:sp>
        <p:nvSpPr>
          <p:cNvPr id="86" name="Rectángulo 85"/>
          <p:cNvSpPr/>
          <p:nvPr/>
        </p:nvSpPr>
        <p:spPr>
          <a:xfrm>
            <a:off x="8795606" y="1681099"/>
            <a:ext cx="1274254" cy="130541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b="1" dirty="0" smtClean="0">
                <a:solidFill>
                  <a:schemeClr val="tx1"/>
                </a:solidFill>
              </a:rPr>
              <a:t>PaaS</a:t>
            </a:r>
          </a:p>
          <a:p>
            <a:pPr algn="ctr"/>
            <a:r>
              <a:rPr lang="es-419" b="1" dirty="0" smtClean="0">
                <a:solidFill>
                  <a:schemeClr val="tx1"/>
                </a:solidFill>
              </a:rPr>
              <a:t>SaaS</a:t>
            </a:r>
          </a:p>
        </p:txBody>
      </p:sp>
      <p:sp>
        <p:nvSpPr>
          <p:cNvPr id="87" name="Rectángulo 86"/>
          <p:cNvSpPr/>
          <p:nvPr/>
        </p:nvSpPr>
        <p:spPr>
          <a:xfrm>
            <a:off x="8795605" y="5636035"/>
            <a:ext cx="1254369" cy="96475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b="1" dirty="0" smtClean="0">
                <a:solidFill>
                  <a:schemeClr val="tx1"/>
                </a:solidFill>
              </a:rPr>
              <a:t>IaaS</a:t>
            </a:r>
          </a:p>
        </p:txBody>
      </p:sp>
      <p:sp>
        <p:nvSpPr>
          <p:cNvPr id="88" name="CuadroTexto 87"/>
          <p:cNvSpPr txBox="1"/>
          <p:nvPr/>
        </p:nvSpPr>
        <p:spPr>
          <a:xfrm>
            <a:off x="10120621" y="1274732"/>
            <a:ext cx="1254370" cy="369332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419" b="1" dirty="0" smtClean="0">
                <a:solidFill>
                  <a:schemeClr val="bg1"/>
                </a:solidFill>
              </a:rPr>
              <a:t>Tiempo</a:t>
            </a:r>
            <a:endParaRPr lang="es-VE" b="1" dirty="0">
              <a:solidFill>
                <a:schemeClr val="bg1"/>
              </a:solidFill>
            </a:endParaRPr>
          </a:p>
        </p:txBody>
      </p:sp>
      <p:sp>
        <p:nvSpPr>
          <p:cNvPr id="89" name="Rectángulo 88"/>
          <p:cNvSpPr/>
          <p:nvPr/>
        </p:nvSpPr>
        <p:spPr>
          <a:xfrm>
            <a:off x="10128475" y="4627589"/>
            <a:ext cx="1254369" cy="946761"/>
          </a:xfrm>
          <a:prstGeom prst="rect">
            <a:avLst/>
          </a:prstGeom>
          <a:solidFill>
            <a:schemeClr val="accent2">
              <a:lumMod val="60000"/>
              <a:lumOff val="4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400" b="1" dirty="0" smtClean="0">
                <a:solidFill>
                  <a:schemeClr val="tx1"/>
                </a:solidFill>
              </a:rPr>
              <a:t>Incidentes y Problemas de </a:t>
            </a:r>
          </a:p>
          <a:p>
            <a:pPr algn="ctr"/>
            <a:r>
              <a:rPr lang="es-419" sz="1400" b="1" dirty="0" smtClean="0">
                <a:solidFill>
                  <a:schemeClr val="tx1"/>
                </a:solidFill>
              </a:rPr>
              <a:t>Plataforma</a:t>
            </a:r>
          </a:p>
        </p:txBody>
      </p:sp>
      <p:sp>
        <p:nvSpPr>
          <p:cNvPr id="90" name="Rectángulo 89"/>
          <p:cNvSpPr/>
          <p:nvPr/>
        </p:nvSpPr>
        <p:spPr>
          <a:xfrm>
            <a:off x="10116752" y="2594135"/>
            <a:ext cx="1254369" cy="1991268"/>
          </a:xfrm>
          <a:prstGeom prst="rect">
            <a:avLst/>
          </a:prstGeom>
          <a:solidFill>
            <a:schemeClr val="accent4">
              <a:lumMod val="60000"/>
              <a:lumOff val="4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400" b="1" dirty="0" smtClean="0">
                <a:solidFill>
                  <a:schemeClr val="tx1"/>
                </a:solidFill>
              </a:rPr>
              <a:t>Incidentes y Problemas en</a:t>
            </a:r>
          </a:p>
          <a:p>
            <a:pPr algn="ctr"/>
            <a:r>
              <a:rPr lang="es-419" sz="1400" b="1" dirty="0" smtClean="0">
                <a:solidFill>
                  <a:schemeClr val="tx1"/>
                </a:solidFill>
              </a:rPr>
              <a:t>Aplicaciones, Sistemas, Servicios,</a:t>
            </a:r>
          </a:p>
          <a:p>
            <a:pPr algn="ctr"/>
            <a:r>
              <a:rPr lang="es-419" sz="1400" b="1" dirty="0" smtClean="0">
                <a:solidFill>
                  <a:schemeClr val="tx1"/>
                </a:solidFill>
              </a:rPr>
              <a:t>Usuarios</a:t>
            </a:r>
          </a:p>
        </p:txBody>
      </p:sp>
      <p:sp>
        <p:nvSpPr>
          <p:cNvPr id="91" name="Rectángulo 90"/>
          <p:cNvSpPr/>
          <p:nvPr/>
        </p:nvSpPr>
        <p:spPr>
          <a:xfrm>
            <a:off x="10108590" y="1681099"/>
            <a:ext cx="1254369" cy="877525"/>
          </a:xfrm>
          <a:prstGeom prst="rect">
            <a:avLst/>
          </a:prstGeom>
          <a:solidFill>
            <a:srgbClr val="00B05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600" b="1" dirty="0" smtClean="0">
                <a:solidFill>
                  <a:schemeClr val="tx1"/>
                </a:solidFill>
              </a:rPr>
              <a:t>Potenciar </a:t>
            </a:r>
            <a:br>
              <a:rPr lang="es-419" sz="1600" b="1" dirty="0" smtClean="0">
                <a:solidFill>
                  <a:schemeClr val="tx1"/>
                </a:solidFill>
              </a:rPr>
            </a:br>
            <a:r>
              <a:rPr lang="es-419" sz="1600" b="1" dirty="0" smtClean="0">
                <a:solidFill>
                  <a:schemeClr val="tx1"/>
                </a:solidFill>
              </a:rPr>
              <a:t>el Negocio</a:t>
            </a:r>
          </a:p>
        </p:txBody>
      </p:sp>
      <p:sp>
        <p:nvSpPr>
          <p:cNvPr id="92" name="Rectángulo 91"/>
          <p:cNvSpPr/>
          <p:nvPr/>
        </p:nvSpPr>
        <p:spPr>
          <a:xfrm>
            <a:off x="10108589" y="5654031"/>
            <a:ext cx="1254369" cy="946761"/>
          </a:xfrm>
          <a:prstGeom prst="rect">
            <a:avLst/>
          </a:prstGeom>
          <a:solidFill>
            <a:srgbClr val="FF000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200" b="1" dirty="0" smtClean="0">
                <a:solidFill>
                  <a:schemeClr val="tx1"/>
                </a:solidFill>
              </a:rPr>
              <a:t>Incidentes y Problemas de</a:t>
            </a:r>
          </a:p>
          <a:p>
            <a:pPr algn="ctr"/>
            <a:r>
              <a:rPr lang="es-419" sz="1200" b="1" dirty="0" smtClean="0">
                <a:solidFill>
                  <a:schemeClr val="tx1"/>
                </a:solidFill>
              </a:rPr>
              <a:t>Infraestructura</a:t>
            </a:r>
          </a:p>
        </p:txBody>
      </p:sp>
    </p:spTree>
    <p:extLst>
      <p:ext uri="{BB962C8B-B14F-4D97-AF65-F5344CB8AC3E}">
        <p14:creationId xmlns:p14="http://schemas.microsoft.com/office/powerpoint/2010/main" val="658791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9" grpId="0" animBg="1"/>
      <p:bldP spid="80" grpId="0" animBg="1"/>
      <p:bldP spid="81" grpId="0" animBg="1"/>
      <p:bldP spid="82" grpId="0" animBg="1"/>
      <p:bldP spid="84" grpId="0" animBg="1"/>
      <p:bldP spid="85" grpId="0" animBg="1"/>
      <p:bldP spid="86" grpId="0" animBg="1"/>
      <p:bldP spid="87" grpId="0" animBg="1"/>
      <p:bldP spid="89" grpId="0" animBg="1"/>
      <p:bldP spid="90" grpId="0" animBg="1"/>
      <p:bldP spid="91" grpId="0" animBg="1"/>
      <p:bldP spid="9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814647"/>
          </a:xfrm>
          <a:solidFill>
            <a:schemeClr val="accent5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MX" b="1" dirty="0">
                <a:solidFill>
                  <a:schemeClr val="bg1"/>
                </a:solidFill>
              </a:rPr>
              <a:t>Cloud </a:t>
            </a:r>
            <a:r>
              <a:rPr lang="es-MX" b="1" dirty="0" err="1">
                <a:solidFill>
                  <a:schemeClr val="bg1"/>
                </a:solidFill>
              </a:rPr>
              <a:t>Service</a:t>
            </a:r>
            <a:r>
              <a:rPr lang="es-MX" b="1" dirty="0">
                <a:solidFill>
                  <a:schemeClr val="bg1"/>
                </a:solidFill>
              </a:rPr>
              <a:t> </a:t>
            </a:r>
            <a:r>
              <a:rPr lang="es-MX" b="1" dirty="0" err="1">
                <a:solidFill>
                  <a:schemeClr val="bg1"/>
                </a:solidFill>
              </a:rPr>
              <a:t>Providers</a:t>
            </a:r>
            <a:r>
              <a:rPr lang="es-MX" b="1" dirty="0">
                <a:solidFill>
                  <a:schemeClr val="bg1"/>
                </a:solidFill>
              </a:rPr>
              <a:t> (CSP)</a:t>
            </a:r>
            <a:endParaRPr lang="es-VE" b="1" dirty="0">
              <a:solidFill>
                <a:schemeClr val="bg1"/>
              </a:solidFill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63" t="29555" r="16837" b="28956"/>
          <a:stretch/>
        </p:blipFill>
        <p:spPr>
          <a:xfrm>
            <a:off x="1983628" y="2392216"/>
            <a:ext cx="3860220" cy="2254599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5331" y="2416505"/>
            <a:ext cx="3903042" cy="2230310"/>
          </a:xfrm>
          <a:prstGeom prst="rect">
            <a:avLst/>
          </a:prstGeom>
        </p:spPr>
      </p:pic>
      <p:sp>
        <p:nvSpPr>
          <p:cNvPr id="8" name="CuadroTexto 7"/>
          <p:cNvSpPr txBox="1"/>
          <p:nvPr/>
        </p:nvSpPr>
        <p:spPr>
          <a:xfrm>
            <a:off x="4793360" y="5025177"/>
            <a:ext cx="24439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 smtClean="0"/>
              <a:t>¿</a:t>
            </a:r>
            <a:r>
              <a:rPr lang="es-MX" sz="4400" dirty="0" err="1" smtClean="0"/>
              <a:t>Titans</a:t>
            </a:r>
            <a:r>
              <a:rPr lang="es-MX" sz="4400" dirty="0" smtClean="0"/>
              <a:t>?</a:t>
            </a:r>
            <a:endParaRPr lang="es-VE" sz="4400" dirty="0"/>
          </a:p>
        </p:txBody>
      </p:sp>
    </p:spTree>
    <p:extLst>
      <p:ext uri="{BB962C8B-B14F-4D97-AF65-F5344CB8AC3E}">
        <p14:creationId xmlns:p14="http://schemas.microsoft.com/office/powerpoint/2010/main" val="3824726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781396"/>
          </a:xfrm>
          <a:solidFill>
            <a:schemeClr val="accent5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MX" b="1" dirty="0">
                <a:solidFill>
                  <a:schemeClr val="bg1"/>
                </a:solidFill>
              </a:rPr>
              <a:t>Cloud </a:t>
            </a:r>
            <a:r>
              <a:rPr lang="es-MX" b="1" dirty="0" err="1">
                <a:solidFill>
                  <a:schemeClr val="bg1"/>
                </a:solidFill>
              </a:rPr>
              <a:t>Services</a:t>
            </a:r>
            <a:r>
              <a:rPr lang="es-MX" b="1" dirty="0">
                <a:solidFill>
                  <a:schemeClr val="bg1"/>
                </a:solidFill>
              </a:rPr>
              <a:t> </a:t>
            </a:r>
            <a:r>
              <a:rPr lang="es-MX" b="1" dirty="0" err="1">
                <a:solidFill>
                  <a:schemeClr val="bg1"/>
                </a:solidFill>
              </a:rPr>
              <a:t>Models</a:t>
            </a:r>
            <a:endParaRPr lang="es-VE" b="1" dirty="0">
              <a:solidFill>
                <a:schemeClr val="bg1"/>
              </a:solidFill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5065" y="1690688"/>
            <a:ext cx="9525000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82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798022"/>
          </a:xfrm>
          <a:solidFill>
            <a:schemeClr val="accent5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MX" b="1" dirty="0">
                <a:solidFill>
                  <a:schemeClr val="bg1"/>
                </a:solidFill>
              </a:rPr>
              <a:t>Cloud </a:t>
            </a:r>
            <a:r>
              <a:rPr lang="es-MX" b="1" dirty="0" err="1">
                <a:solidFill>
                  <a:schemeClr val="bg1"/>
                </a:solidFill>
              </a:rPr>
              <a:t>Services</a:t>
            </a:r>
            <a:r>
              <a:rPr lang="es-MX" b="1" dirty="0">
                <a:solidFill>
                  <a:schemeClr val="bg1"/>
                </a:solidFill>
              </a:rPr>
              <a:t> </a:t>
            </a:r>
            <a:r>
              <a:rPr lang="es-MX" b="1" dirty="0" err="1">
                <a:solidFill>
                  <a:schemeClr val="bg1"/>
                </a:solidFill>
              </a:rPr>
              <a:t>Problems</a:t>
            </a:r>
            <a:r>
              <a:rPr lang="es-MX" b="1" dirty="0">
                <a:solidFill>
                  <a:schemeClr val="bg1"/>
                </a:solidFill>
              </a:rPr>
              <a:t> (CSP)?</a:t>
            </a:r>
            <a:endParaRPr lang="es-VE" b="1" dirty="0">
              <a:solidFill>
                <a:schemeClr val="bg1"/>
              </a:solidFill>
            </a:endParaRPr>
          </a:p>
        </p:txBody>
      </p:sp>
      <p:grpSp>
        <p:nvGrpSpPr>
          <p:cNvPr id="6" name="Grupo 5"/>
          <p:cNvGrpSpPr/>
          <p:nvPr/>
        </p:nvGrpSpPr>
        <p:grpSpPr>
          <a:xfrm>
            <a:off x="1088968" y="1438129"/>
            <a:ext cx="10160923" cy="5294526"/>
            <a:chOff x="1088968" y="1438129"/>
            <a:chExt cx="10160923" cy="5294526"/>
          </a:xfrm>
        </p:grpSpPr>
        <p:sp>
          <p:nvSpPr>
            <p:cNvPr id="4" name="CuadroTexto 3"/>
            <p:cNvSpPr txBox="1"/>
            <p:nvPr/>
          </p:nvSpPr>
          <p:spPr>
            <a:xfrm>
              <a:off x="1088968" y="3439061"/>
              <a:ext cx="144641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3600" b="1" dirty="0" smtClean="0">
                  <a:solidFill>
                    <a:srgbClr val="0070C0"/>
                  </a:solidFill>
                </a:rPr>
                <a:t>2014…</a:t>
              </a:r>
              <a:endParaRPr lang="es-VE" sz="3600" b="1" dirty="0">
                <a:solidFill>
                  <a:srgbClr val="0070C0"/>
                </a:solidFill>
              </a:endParaRPr>
            </a:p>
          </p:txBody>
        </p:sp>
        <p:pic>
          <p:nvPicPr>
            <p:cNvPr id="7" name="Imagen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82434" y="1438129"/>
              <a:ext cx="7373991" cy="5294526"/>
            </a:xfrm>
            <a:prstGeom prst="rect">
              <a:avLst/>
            </a:prstGeom>
          </p:spPr>
        </p:pic>
        <p:sp>
          <p:nvSpPr>
            <p:cNvPr id="5" name="CuadroTexto 4"/>
            <p:cNvSpPr txBox="1"/>
            <p:nvPr/>
          </p:nvSpPr>
          <p:spPr>
            <a:xfrm>
              <a:off x="9803477" y="3439061"/>
              <a:ext cx="144641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3600" b="1" dirty="0" smtClean="0">
                  <a:solidFill>
                    <a:srgbClr val="0070C0"/>
                  </a:solidFill>
                </a:rPr>
                <a:t>…2018</a:t>
              </a:r>
              <a:endParaRPr lang="es-VE" sz="3600" b="1" dirty="0">
                <a:solidFill>
                  <a:srgbClr val="0070C0"/>
                </a:solidFill>
              </a:endParaRPr>
            </a:p>
          </p:txBody>
        </p:sp>
        <p:sp>
          <p:nvSpPr>
            <p:cNvPr id="3" name="Rectángulo 2"/>
            <p:cNvSpPr/>
            <p:nvPr/>
          </p:nvSpPr>
          <p:spPr>
            <a:xfrm>
              <a:off x="8509000" y="6019800"/>
              <a:ext cx="1079500" cy="7128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80255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814647"/>
          </a:xfrm>
          <a:solidFill>
            <a:schemeClr val="accent5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MX" b="1" dirty="0">
                <a:solidFill>
                  <a:schemeClr val="bg1"/>
                </a:solidFill>
              </a:rPr>
              <a:t>Cloud </a:t>
            </a:r>
            <a:r>
              <a:rPr lang="es-MX" b="1" dirty="0" err="1">
                <a:solidFill>
                  <a:schemeClr val="bg1"/>
                </a:solidFill>
              </a:rPr>
              <a:t>Services</a:t>
            </a:r>
            <a:r>
              <a:rPr lang="es-MX" b="1" dirty="0">
                <a:solidFill>
                  <a:schemeClr val="bg1"/>
                </a:solidFill>
              </a:rPr>
              <a:t> </a:t>
            </a:r>
            <a:r>
              <a:rPr lang="es-MX" b="1" dirty="0" err="1">
                <a:solidFill>
                  <a:schemeClr val="bg1"/>
                </a:solidFill>
              </a:rPr>
              <a:t>Problems</a:t>
            </a:r>
            <a:r>
              <a:rPr lang="es-MX" b="1" dirty="0">
                <a:solidFill>
                  <a:schemeClr val="bg1"/>
                </a:solidFill>
              </a:rPr>
              <a:t> (CSP)?</a:t>
            </a:r>
            <a:endParaRPr lang="es-VE" b="1" dirty="0">
              <a:solidFill>
                <a:schemeClr val="bg1"/>
              </a:solidFill>
            </a:endParaRPr>
          </a:p>
        </p:txBody>
      </p:sp>
      <p:grpSp>
        <p:nvGrpSpPr>
          <p:cNvPr id="7" name="Grupo 6"/>
          <p:cNvGrpSpPr/>
          <p:nvPr/>
        </p:nvGrpSpPr>
        <p:grpSpPr>
          <a:xfrm>
            <a:off x="1088968" y="1388225"/>
            <a:ext cx="10485119" cy="5091872"/>
            <a:chOff x="1088968" y="1388225"/>
            <a:chExt cx="10485119" cy="5091872"/>
          </a:xfrm>
        </p:grpSpPr>
        <p:pic>
          <p:nvPicPr>
            <p:cNvPr id="3" name="Imagen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57945" y="1388225"/>
              <a:ext cx="7097556" cy="5091872"/>
            </a:xfrm>
            <a:prstGeom prst="rect">
              <a:avLst/>
            </a:prstGeom>
          </p:spPr>
        </p:pic>
        <p:sp>
          <p:nvSpPr>
            <p:cNvPr id="4" name="CuadroTexto 3"/>
            <p:cNvSpPr txBox="1"/>
            <p:nvPr/>
          </p:nvSpPr>
          <p:spPr>
            <a:xfrm>
              <a:off x="1088968" y="3439061"/>
              <a:ext cx="144641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3600" b="1" dirty="0" smtClean="0">
                  <a:solidFill>
                    <a:srgbClr val="0070C0"/>
                  </a:solidFill>
                </a:rPr>
                <a:t>2014…</a:t>
              </a:r>
              <a:endParaRPr lang="es-VE" sz="3600" b="1" dirty="0">
                <a:solidFill>
                  <a:srgbClr val="0070C0"/>
                </a:solidFill>
              </a:endParaRPr>
            </a:p>
          </p:txBody>
        </p:sp>
        <p:sp>
          <p:nvSpPr>
            <p:cNvPr id="5" name="CuadroTexto 4"/>
            <p:cNvSpPr txBox="1"/>
            <p:nvPr/>
          </p:nvSpPr>
          <p:spPr>
            <a:xfrm>
              <a:off x="10127673" y="3469904"/>
              <a:ext cx="144641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3600" b="1" dirty="0" smtClean="0">
                  <a:solidFill>
                    <a:srgbClr val="0070C0"/>
                  </a:solidFill>
                </a:rPr>
                <a:t>…2018</a:t>
              </a:r>
              <a:endParaRPr lang="es-VE" sz="3600" b="1" dirty="0">
                <a:solidFill>
                  <a:srgbClr val="0070C0"/>
                </a:solidFill>
              </a:endParaRPr>
            </a:p>
          </p:txBody>
        </p:sp>
        <p:sp>
          <p:nvSpPr>
            <p:cNvPr id="6" name="Rectángulo 5"/>
            <p:cNvSpPr/>
            <p:nvPr/>
          </p:nvSpPr>
          <p:spPr>
            <a:xfrm>
              <a:off x="9012087" y="5767242"/>
              <a:ext cx="1079500" cy="7128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21996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881149"/>
          </a:xfrm>
          <a:solidFill>
            <a:schemeClr val="accent5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MX" b="1" dirty="0">
                <a:solidFill>
                  <a:schemeClr val="bg1"/>
                </a:solidFill>
              </a:rPr>
              <a:t>Cloud </a:t>
            </a:r>
            <a:r>
              <a:rPr lang="es-MX" b="1" dirty="0" err="1">
                <a:solidFill>
                  <a:schemeClr val="bg1"/>
                </a:solidFill>
              </a:rPr>
              <a:t>Services</a:t>
            </a:r>
            <a:r>
              <a:rPr lang="es-MX" b="1" dirty="0">
                <a:solidFill>
                  <a:schemeClr val="bg1"/>
                </a:solidFill>
              </a:rPr>
              <a:t> </a:t>
            </a:r>
            <a:r>
              <a:rPr lang="es-MX" b="1" dirty="0" err="1">
                <a:solidFill>
                  <a:schemeClr val="bg1"/>
                </a:solidFill>
              </a:rPr>
              <a:t>Problems</a:t>
            </a:r>
            <a:r>
              <a:rPr lang="es-MX" b="1" dirty="0">
                <a:solidFill>
                  <a:schemeClr val="bg1"/>
                </a:solidFill>
              </a:rPr>
              <a:t> </a:t>
            </a:r>
            <a:r>
              <a:rPr lang="es-MX" b="1" dirty="0" smtClean="0">
                <a:solidFill>
                  <a:schemeClr val="bg1"/>
                </a:solidFill>
              </a:rPr>
              <a:t>(CSP)?</a:t>
            </a:r>
            <a:endParaRPr lang="es-VE" b="1" dirty="0">
              <a:solidFill>
                <a:schemeClr val="bg1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852" y="1246909"/>
            <a:ext cx="10530149" cy="5079076"/>
          </a:xfrm>
          <a:prstGeom prst="rect">
            <a:avLst/>
          </a:prstGeom>
        </p:spPr>
      </p:pic>
      <p:sp>
        <p:nvSpPr>
          <p:cNvPr id="9" name="Rectángulo 8"/>
          <p:cNvSpPr/>
          <p:nvPr/>
        </p:nvSpPr>
        <p:spPr>
          <a:xfrm>
            <a:off x="1497951" y="1481182"/>
            <a:ext cx="1455761" cy="62961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 err="1" smtClean="0">
                <a:solidFill>
                  <a:schemeClr val="bg1"/>
                </a:solidFill>
              </a:rPr>
              <a:t>IaaS</a:t>
            </a:r>
            <a:endParaRPr lang="es-VE" sz="3600" b="1" dirty="0">
              <a:solidFill>
                <a:schemeClr val="bg1"/>
              </a:solidFill>
            </a:endParaRPr>
          </a:p>
        </p:txBody>
      </p:sp>
      <p:sp>
        <p:nvSpPr>
          <p:cNvPr id="10" name="Rectángulo 9"/>
          <p:cNvSpPr/>
          <p:nvPr/>
        </p:nvSpPr>
        <p:spPr>
          <a:xfrm>
            <a:off x="1497951" y="3413447"/>
            <a:ext cx="1448937" cy="62961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 err="1">
                <a:solidFill>
                  <a:schemeClr val="bg1"/>
                </a:solidFill>
              </a:rPr>
              <a:t>P</a:t>
            </a:r>
            <a:r>
              <a:rPr lang="es-MX" sz="3600" b="1" dirty="0" err="1" smtClean="0">
                <a:solidFill>
                  <a:schemeClr val="bg1"/>
                </a:solidFill>
              </a:rPr>
              <a:t>aaS</a:t>
            </a:r>
            <a:endParaRPr lang="es-VE" sz="3600" b="1" dirty="0">
              <a:solidFill>
                <a:schemeClr val="bg1"/>
              </a:solidFill>
            </a:endParaRPr>
          </a:p>
        </p:txBody>
      </p:sp>
      <p:sp>
        <p:nvSpPr>
          <p:cNvPr id="11" name="Rectángulo 10"/>
          <p:cNvSpPr/>
          <p:nvPr/>
        </p:nvSpPr>
        <p:spPr>
          <a:xfrm>
            <a:off x="1525248" y="5186954"/>
            <a:ext cx="1428464" cy="62961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 smtClean="0">
                <a:solidFill>
                  <a:schemeClr val="bg1"/>
                </a:solidFill>
              </a:rPr>
              <a:t>SaaS</a:t>
            </a:r>
            <a:endParaRPr lang="es-VE" sz="3600" b="1" dirty="0">
              <a:solidFill>
                <a:schemeClr val="bg1"/>
              </a:solidFill>
            </a:endParaRPr>
          </a:p>
        </p:txBody>
      </p:sp>
      <p:sp>
        <p:nvSpPr>
          <p:cNvPr id="12" name="Rectángulo 11"/>
          <p:cNvSpPr/>
          <p:nvPr/>
        </p:nvSpPr>
        <p:spPr>
          <a:xfrm>
            <a:off x="8883786" y="5186954"/>
            <a:ext cx="2151797" cy="6296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 err="1" smtClean="0">
                <a:solidFill>
                  <a:schemeClr val="bg1"/>
                </a:solidFill>
              </a:rPr>
              <a:t>CloudArch</a:t>
            </a:r>
            <a:endParaRPr lang="es-VE" sz="3200" b="1" dirty="0">
              <a:solidFill>
                <a:schemeClr val="bg1"/>
              </a:solidFill>
            </a:endParaRPr>
          </a:p>
        </p:txBody>
      </p:sp>
      <p:sp>
        <p:nvSpPr>
          <p:cNvPr id="13" name="Rectángulo 12"/>
          <p:cNvSpPr/>
          <p:nvPr/>
        </p:nvSpPr>
        <p:spPr>
          <a:xfrm>
            <a:off x="9056573" y="3471637"/>
            <a:ext cx="1806222" cy="6296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 err="1" smtClean="0">
                <a:solidFill>
                  <a:schemeClr val="bg1"/>
                </a:solidFill>
              </a:rPr>
              <a:t>DevOps</a:t>
            </a:r>
            <a:endParaRPr lang="es-VE" sz="3200" b="1" dirty="0">
              <a:solidFill>
                <a:schemeClr val="bg1"/>
              </a:solidFill>
            </a:endParaRPr>
          </a:p>
        </p:txBody>
      </p:sp>
      <p:sp>
        <p:nvSpPr>
          <p:cNvPr id="14" name="Rectángulo 13"/>
          <p:cNvSpPr/>
          <p:nvPr/>
        </p:nvSpPr>
        <p:spPr>
          <a:xfrm>
            <a:off x="9056573" y="1490441"/>
            <a:ext cx="1806222" cy="6296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 err="1" smtClean="0">
                <a:solidFill>
                  <a:schemeClr val="bg1"/>
                </a:solidFill>
              </a:rPr>
              <a:t>SysOps</a:t>
            </a:r>
            <a:endParaRPr lang="es-VE" sz="3200" b="1" dirty="0">
              <a:solidFill>
                <a:schemeClr val="bg1"/>
              </a:solidFill>
            </a:endParaRPr>
          </a:p>
        </p:txBody>
      </p:sp>
      <p:sp>
        <p:nvSpPr>
          <p:cNvPr id="15" name="Rectángulo 14"/>
          <p:cNvSpPr/>
          <p:nvPr/>
        </p:nvSpPr>
        <p:spPr>
          <a:xfrm>
            <a:off x="5170517" y="5186953"/>
            <a:ext cx="2118153" cy="6296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 smtClean="0">
                <a:solidFill>
                  <a:schemeClr val="bg1"/>
                </a:solidFill>
              </a:rPr>
              <a:t>High </a:t>
            </a:r>
            <a:r>
              <a:rPr lang="es-MX" sz="3200" b="1" dirty="0" err="1" smtClean="0">
                <a:solidFill>
                  <a:schemeClr val="bg1"/>
                </a:solidFill>
              </a:rPr>
              <a:t>Value</a:t>
            </a:r>
            <a:endParaRPr lang="es-VE" sz="3200" b="1" dirty="0">
              <a:solidFill>
                <a:schemeClr val="bg1"/>
              </a:solidFill>
            </a:endParaRPr>
          </a:p>
        </p:txBody>
      </p:sp>
      <p:sp>
        <p:nvSpPr>
          <p:cNvPr id="16" name="Rectángulo 15"/>
          <p:cNvSpPr/>
          <p:nvPr/>
        </p:nvSpPr>
        <p:spPr>
          <a:xfrm>
            <a:off x="5170516" y="1481182"/>
            <a:ext cx="2118153" cy="6296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 err="1" smtClean="0">
                <a:solidFill>
                  <a:schemeClr val="bg1"/>
                </a:solidFill>
              </a:rPr>
              <a:t>Low</a:t>
            </a:r>
            <a:r>
              <a:rPr lang="es-MX" sz="3200" b="1" dirty="0" smtClean="0">
                <a:solidFill>
                  <a:schemeClr val="bg1"/>
                </a:solidFill>
              </a:rPr>
              <a:t> </a:t>
            </a:r>
            <a:r>
              <a:rPr lang="es-MX" sz="3200" b="1" dirty="0" err="1" smtClean="0">
                <a:solidFill>
                  <a:schemeClr val="bg1"/>
                </a:solidFill>
              </a:rPr>
              <a:t>Value</a:t>
            </a:r>
            <a:endParaRPr lang="es-VE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1838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881149"/>
          </a:xfrm>
          <a:solidFill>
            <a:schemeClr val="accent5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MX" b="1" dirty="0">
                <a:solidFill>
                  <a:schemeClr val="bg1"/>
                </a:solidFill>
              </a:rPr>
              <a:t>Cloud </a:t>
            </a:r>
            <a:r>
              <a:rPr lang="es-MX" b="1" dirty="0" err="1">
                <a:solidFill>
                  <a:schemeClr val="bg1"/>
                </a:solidFill>
              </a:rPr>
              <a:t>Services</a:t>
            </a:r>
            <a:r>
              <a:rPr lang="es-MX" b="1" dirty="0">
                <a:solidFill>
                  <a:schemeClr val="bg1"/>
                </a:solidFill>
              </a:rPr>
              <a:t> </a:t>
            </a:r>
            <a:r>
              <a:rPr lang="es-MX" b="1" dirty="0" err="1">
                <a:solidFill>
                  <a:schemeClr val="bg1"/>
                </a:solidFill>
              </a:rPr>
              <a:t>Problems</a:t>
            </a:r>
            <a:r>
              <a:rPr lang="es-MX" b="1" dirty="0">
                <a:solidFill>
                  <a:schemeClr val="bg1"/>
                </a:solidFill>
              </a:rPr>
              <a:t> (CSP)?</a:t>
            </a:r>
            <a:endParaRPr lang="es-VE" b="1" dirty="0">
              <a:solidFill>
                <a:schemeClr val="bg1"/>
              </a:solidFill>
            </a:endParaRPr>
          </a:p>
        </p:txBody>
      </p:sp>
      <p:sp>
        <p:nvSpPr>
          <p:cNvPr id="6" name="Marcador de contenido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err="1" smtClean="0"/>
              <a:t>Lack</a:t>
            </a:r>
            <a:r>
              <a:rPr lang="es-MX" dirty="0" smtClean="0"/>
              <a:t> of:</a:t>
            </a:r>
          </a:p>
          <a:p>
            <a:pPr lvl="1"/>
            <a:r>
              <a:rPr lang="es-MX" dirty="0" err="1" smtClean="0"/>
              <a:t>Knowledge</a:t>
            </a:r>
            <a:r>
              <a:rPr lang="es-MX" dirty="0" smtClean="0"/>
              <a:t> &amp; </a:t>
            </a:r>
            <a:r>
              <a:rPr lang="es-MX" dirty="0" err="1" smtClean="0"/>
              <a:t>Expertice</a:t>
            </a:r>
            <a:endParaRPr lang="es-MX" dirty="0" smtClean="0"/>
          </a:p>
          <a:p>
            <a:pPr lvl="1"/>
            <a:r>
              <a:rPr lang="es-MX" dirty="0" smtClean="0"/>
              <a:t>Time to Try &amp; </a:t>
            </a:r>
            <a:r>
              <a:rPr lang="es-MX" dirty="0" err="1" smtClean="0"/>
              <a:t>Learn</a:t>
            </a:r>
            <a:r>
              <a:rPr lang="es-MX" dirty="0" smtClean="0"/>
              <a:t> </a:t>
            </a:r>
            <a:r>
              <a:rPr lang="es-MX" dirty="0" err="1" smtClean="0"/>
              <a:t>The</a:t>
            </a:r>
            <a:r>
              <a:rPr lang="es-MX" dirty="0" smtClean="0"/>
              <a:t> Cloud</a:t>
            </a:r>
          </a:p>
          <a:p>
            <a:pPr lvl="1"/>
            <a:r>
              <a:rPr lang="es-MX" dirty="0" smtClean="0"/>
              <a:t>Real Cloud </a:t>
            </a:r>
            <a:r>
              <a:rPr lang="es-MX" dirty="0" err="1" smtClean="0"/>
              <a:t>Enabled</a:t>
            </a:r>
            <a:r>
              <a:rPr lang="es-MX" dirty="0" smtClean="0"/>
              <a:t> &amp; </a:t>
            </a:r>
            <a:r>
              <a:rPr lang="es-MX" dirty="0" err="1" smtClean="0"/>
              <a:t>Native</a:t>
            </a:r>
            <a:r>
              <a:rPr lang="es-MX" dirty="0" smtClean="0"/>
              <a:t> TI (</a:t>
            </a:r>
            <a:r>
              <a:rPr lang="es-MX" dirty="0" err="1" smtClean="0"/>
              <a:t>Legacy</a:t>
            </a:r>
            <a:r>
              <a:rPr lang="es-MX" dirty="0" smtClean="0"/>
              <a:t>)</a:t>
            </a:r>
          </a:p>
          <a:p>
            <a:pPr lvl="1"/>
            <a:r>
              <a:rPr lang="es-MX" dirty="0" err="1"/>
              <a:t>Value</a:t>
            </a:r>
            <a:r>
              <a:rPr lang="es-MX" dirty="0"/>
              <a:t> </a:t>
            </a:r>
            <a:r>
              <a:rPr lang="es-MX" dirty="0" err="1"/>
              <a:t>Proposition</a:t>
            </a:r>
            <a:r>
              <a:rPr lang="es-MX" dirty="0"/>
              <a:t> </a:t>
            </a:r>
            <a:r>
              <a:rPr lang="es-MX" dirty="0" err="1"/>
              <a:t>Understanding</a:t>
            </a:r>
            <a:endParaRPr lang="es-MX" dirty="0"/>
          </a:p>
          <a:p>
            <a:pPr lvl="1"/>
            <a:r>
              <a:rPr lang="es-MX" dirty="0" err="1" smtClean="0"/>
              <a:t>Multi</a:t>
            </a:r>
            <a:r>
              <a:rPr lang="es-MX" dirty="0" smtClean="0"/>
              <a:t>-Cloud </a:t>
            </a:r>
            <a:r>
              <a:rPr lang="es-MX" dirty="0" err="1" smtClean="0"/>
              <a:t>Connetivity</a:t>
            </a:r>
            <a:r>
              <a:rPr lang="es-MX" dirty="0" smtClean="0"/>
              <a:t> &amp; </a:t>
            </a:r>
            <a:r>
              <a:rPr lang="es-MX" dirty="0" err="1" smtClean="0"/>
              <a:t>Integration</a:t>
            </a:r>
            <a:endParaRPr lang="es-MX" dirty="0" smtClean="0"/>
          </a:p>
          <a:p>
            <a:r>
              <a:rPr lang="es-MX" dirty="0" smtClean="0"/>
              <a:t>Cloud </a:t>
            </a:r>
            <a:r>
              <a:rPr lang="es-MX" dirty="0" err="1" smtClean="0"/>
              <a:t>still</a:t>
            </a:r>
            <a:r>
              <a:rPr lang="es-MX" dirty="0" smtClean="0"/>
              <a:t> has TI </a:t>
            </a:r>
            <a:r>
              <a:rPr lang="es-MX" dirty="0" err="1" smtClean="0"/>
              <a:t>complexity</a:t>
            </a:r>
            <a:r>
              <a:rPr lang="es-MX" dirty="0"/>
              <a:t> </a:t>
            </a:r>
            <a:r>
              <a:rPr lang="es-MX" dirty="0" smtClean="0"/>
              <a:t>(</a:t>
            </a:r>
            <a:r>
              <a:rPr lang="es-MX" dirty="0" err="1" smtClean="0"/>
              <a:t>Hundred</a:t>
            </a:r>
            <a:r>
              <a:rPr lang="es-MX" dirty="0" smtClean="0"/>
              <a:t> of New </a:t>
            </a:r>
            <a:r>
              <a:rPr lang="es-MX" dirty="0" err="1" smtClean="0"/>
              <a:t>Features</a:t>
            </a:r>
            <a:r>
              <a:rPr lang="es-MX" dirty="0" smtClean="0"/>
              <a:t> </a:t>
            </a:r>
            <a:r>
              <a:rPr lang="es-MX" dirty="0" err="1" smtClean="0"/>
              <a:t>Every</a:t>
            </a:r>
            <a:r>
              <a:rPr lang="es-MX" dirty="0" smtClean="0"/>
              <a:t> </a:t>
            </a:r>
            <a:r>
              <a:rPr lang="es-MX" dirty="0" err="1" smtClean="0"/>
              <a:t>Year</a:t>
            </a:r>
            <a:r>
              <a:rPr lang="es-MX" dirty="0" smtClean="0"/>
              <a:t>)</a:t>
            </a:r>
          </a:p>
          <a:p>
            <a:r>
              <a:rPr lang="es-MX" dirty="0" err="1" smtClean="0"/>
              <a:t>Missing</a:t>
            </a:r>
            <a:r>
              <a:rPr lang="es-MX" dirty="0" smtClean="0"/>
              <a:t> Real </a:t>
            </a:r>
            <a:r>
              <a:rPr lang="es-MX" dirty="0" err="1"/>
              <a:t>Value</a:t>
            </a:r>
            <a:r>
              <a:rPr lang="es-MX" dirty="0"/>
              <a:t> </a:t>
            </a:r>
            <a:r>
              <a:rPr lang="es-MX" dirty="0" err="1"/>
              <a:t>Seeding</a:t>
            </a:r>
            <a:r>
              <a:rPr lang="es-MX" dirty="0"/>
              <a:t> &amp; </a:t>
            </a:r>
            <a:r>
              <a:rPr lang="es-MX" dirty="0" err="1" smtClean="0"/>
              <a:t>Harvesting</a:t>
            </a:r>
            <a:r>
              <a:rPr lang="es-MX" dirty="0" smtClean="0"/>
              <a:t>!</a:t>
            </a:r>
            <a:endParaRPr lang="es-MX" dirty="0"/>
          </a:p>
          <a:p>
            <a:endParaRPr lang="es-MX" dirty="0" smtClean="0"/>
          </a:p>
        </p:txBody>
      </p:sp>
      <p:sp>
        <p:nvSpPr>
          <p:cNvPr id="7" name="CuadroTexto 6"/>
          <p:cNvSpPr txBox="1"/>
          <p:nvPr/>
        </p:nvSpPr>
        <p:spPr>
          <a:xfrm>
            <a:off x="8204662" y="2117337"/>
            <a:ext cx="21308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5400" b="1" i="1" dirty="0" smtClean="0">
                <a:solidFill>
                  <a:srgbClr val="0070C0"/>
                </a:solidFill>
              </a:rPr>
              <a:t>2018…</a:t>
            </a:r>
            <a:endParaRPr lang="es-VE" sz="5400" b="1" i="1" dirty="0">
              <a:solidFill>
                <a:srgbClr val="0070C0"/>
              </a:solidFill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3668683" y="5503025"/>
            <a:ext cx="5220393" cy="584775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3200" dirty="0" smtClean="0">
                <a:solidFill>
                  <a:schemeClr val="bg1"/>
                </a:solidFill>
              </a:rPr>
              <a:t>¿Dónde están los </a:t>
            </a:r>
            <a:r>
              <a:rPr lang="es-MX" sz="3200" b="1" dirty="0" smtClean="0">
                <a:solidFill>
                  <a:schemeClr val="bg1"/>
                </a:solidFill>
              </a:rPr>
              <a:t>humanos</a:t>
            </a:r>
            <a:r>
              <a:rPr lang="es-MX" sz="3200" dirty="0" smtClean="0">
                <a:solidFill>
                  <a:schemeClr val="bg1"/>
                </a:solidFill>
              </a:rPr>
              <a:t>?</a:t>
            </a:r>
            <a:endParaRPr lang="es-VE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7636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856211"/>
          </a:xfrm>
          <a:solidFill>
            <a:schemeClr val="accent5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MX" b="1" dirty="0">
                <a:solidFill>
                  <a:schemeClr val="bg1"/>
                </a:solidFill>
              </a:rPr>
              <a:t>Cloud </a:t>
            </a:r>
            <a:r>
              <a:rPr lang="es-MX" b="1" dirty="0" err="1">
                <a:solidFill>
                  <a:schemeClr val="bg1"/>
                </a:solidFill>
              </a:rPr>
              <a:t>Services</a:t>
            </a:r>
            <a:r>
              <a:rPr lang="es-MX" b="1" dirty="0">
                <a:solidFill>
                  <a:schemeClr val="bg1"/>
                </a:solidFill>
              </a:rPr>
              <a:t> vs. Real </a:t>
            </a:r>
            <a:r>
              <a:rPr lang="es-MX" b="1" dirty="0" err="1">
                <a:solidFill>
                  <a:schemeClr val="bg1"/>
                </a:solidFill>
              </a:rPr>
              <a:t>Users</a:t>
            </a:r>
            <a:endParaRPr lang="es-VE" b="1" dirty="0">
              <a:solidFill>
                <a:schemeClr val="bg1"/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 sz="36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CloudArch</a:t>
            </a:r>
            <a:r>
              <a:rPr lang="es-MX" sz="36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</a:p>
          <a:p>
            <a:pPr lvl="1"/>
            <a:r>
              <a:rPr lang="es-MX" sz="3200" dirty="0" err="1" smtClean="0"/>
              <a:t>Architects</a:t>
            </a:r>
            <a:r>
              <a:rPr lang="es-MX" sz="3200" dirty="0" smtClean="0"/>
              <a:t>, Managers, </a:t>
            </a:r>
            <a:r>
              <a:rPr lang="es-MX" sz="3200" dirty="0" err="1" smtClean="0"/>
              <a:t>Financials</a:t>
            </a:r>
            <a:r>
              <a:rPr lang="es-MX" sz="3200" dirty="0" smtClean="0"/>
              <a:t> (</a:t>
            </a:r>
            <a:r>
              <a:rPr lang="es-MX" sz="3200" dirty="0" err="1" smtClean="0"/>
              <a:t>Billing</a:t>
            </a:r>
            <a:r>
              <a:rPr lang="es-MX" sz="3200" dirty="0" smtClean="0"/>
              <a:t>).</a:t>
            </a:r>
          </a:p>
          <a:p>
            <a:r>
              <a:rPr lang="es-MX" sz="36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DevOps</a:t>
            </a:r>
            <a:r>
              <a:rPr lang="es-MX" sz="36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</a:p>
          <a:p>
            <a:pPr lvl="1"/>
            <a:r>
              <a:rPr lang="es-MX" sz="3200" dirty="0" err="1" smtClean="0"/>
              <a:t>Developers</a:t>
            </a:r>
            <a:endParaRPr lang="es-MX" sz="3200" dirty="0" smtClean="0"/>
          </a:p>
          <a:p>
            <a:r>
              <a:rPr lang="es-MX" sz="36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SysOps</a:t>
            </a:r>
            <a:r>
              <a:rPr lang="es-MX" sz="36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</a:p>
          <a:p>
            <a:pPr lvl="1"/>
            <a:r>
              <a:rPr lang="es-MX" sz="3200" dirty="0" err="1" smtClean="0"/>
              <a:t>Systems</a:t>
            </a:r>
            <a:r>
              <a:rPr lang="es-MX" sz="3200" dirty="0" smtClean="0"/>
              <a:t> </a:t>
            </a:r>
            <a:r>
              <a:rPr lang="es-MX" sz="3200" dirty="0" err="1" smtClean="0"/>
              <a:t>Administrators</a:t>
            </a:r>
            <a:r>
              <a:rPr lang="es-MX" sz="3200" dirty="0" smtClean="0"/>
              <a:t> &amp; </a:t>
            </a:r>
            <a:r>
              <a:rPr lang="es-MX" sz="3200" dirty="0" err="1" smtClean="0"/>
              <a:t>Operators</a:t>
            </a:r>
            <a:r>
              <a:rPr lang="es-MX" sz="3200" dirty="0" smtClean="0"/>
              <a:t>.</a:t>
            </a:r>
          </a:p>
          <a:p>
            <a:endParaRPr lang="es-VE" sz="3600" dirty="0"/>
          </a:p>
        </p:txBody>
      </p:sp>
    </p:spTree>
    <p:extLst>
      <p:ext uri="{BB962C8B-B14F-4D97-AF65-F5344CB8AC3E}">
        <p14:creationId xmlns:p14="http://schemas.microsoft.com/office/powerpoint/2010/main" val="2018197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748145"/>
          </a:xfrm>
          <a:solidFill>
            <a:schemeClr val="accent5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MX" b="1" dirty="0">
                <a:solidFill>
                  <a:schemeClr val="bg1"/>
                </a:solidFill>
              </a:rPr>
              <a:t>Cloud </a:t>
            </a:r>
            <a:r>
              <a:rPr lang="es-MX" b="1" dirty="0" err="1">
                <a:solidFill>
                  <a:schemeClr val="bg1"/>
                </a:solidFill>
              </a:rPr>
              <a:t>Service</a:t>
            </a:r>
            <a:r>
              <a:rPr lang="es-MX" b="1" dirty="0">
                <a:solidFill>
                  <a:schemeClr val="bg1"/>
                </a:solidFill>
              </a:rPr>
              <a:t> </a:t>
            </a:r>
            <a:r>
              <a:rPr lang="es-MX" b="1" dirty="0" err="1" smtClean="0">
                <a:solidFill>
                  <a:schemeClr val="bg1"/>
                </a:solidFill>
              </a:rPr>
              <a:t>Map</a:t>
            </a:r>
            <a:r>
              <a:rPr lang="es-MX" b="1" dirty="0" smtClean="0">
                <a:solidFill>
                  <a:schemeClr val="bg1"/>
                </a:solidFill>
              </a:rPr>
              <a:t> (</a:t>
            </a:r>
            <a:r>
              <a:rPr lang="es-MX" b="1" dirty="0" err="1" smtClean="0">
                <a:solidFill>
                  <a:schemeClr val="bg1"/>
                </a:solidFill>
              </a:rPr>
              <a:t>Common</a:t>
            </a:r>
            <a:r>
              <a:rPr lang="es-MX" b="1" dirty="0" smtClean="0">
                <a:solidFill>
                  <a:schemeClr val="bg1"/>
                </a:solidFill>
              </a:rPr>
              <a:t>)</a:t>
            </a:r>
            <a:endParaRPr lang="es-VE" b="1" dirty="0">
              <a:solidFill>
                <a:schemeClr val="bg1"/>
              </a:solidFill>
            </a:endParaRPr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21218" y="1557684"/>
            <a:ext cx="4529202" cy="4351338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1968" y="2238625"/>
            <a:ext cx="1268078" cy="1170533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8960936" y="3409158"/>
            <a:ext cx="211014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 err="1" smtClean="0"/>
              <a:t>Certified</a:t>
            </a:r>
            <a:r>
              <a:rPr lang="es-MX" b="1" dirty="0" smtClean="0"/>
              <a:t> Software</a:t>
            </a:r>
          </a:p>
          <a:p>
            <a:pPr algn="ctr"/>
            <a:r>
              <a:rPr lang="es-MX" dirty="0" err="1" smtClean="0"/>
              <a:t>for</a:t>
            </a:r>
            <a:r>
              <a:rPr lang="es-MX" dirty="0" smtClean="0"/>
              <a:t> </a:t>
            </a:r>
            <a:r>
              <a:rPr lang="es-MX" dirty="0" err="1" smtClean="0"/>
              <a:t>the</a:t>
            </a:r>
            <a:r>
              <a:rPr lang="es-MX" dirty="0" smtClean="0"/>
              <a:t> Cloud</a:t>
            </a:r>
          </a:p>
          <a:p>
            <a:pPr algn="ctr"/>
            <a:r>
              <a:rPr lang="es-MX" dirty="0" smtClean="0"/>
              <a:t>(</a:t>
            </a:r>
            <a:r>
              <a:rPr lang="es-MX" dirty="0" err="1" smtClean="0"/>
              <a:t>Images</a:t>
            </a:r>
            <a:r>
              <a:rPr lang="es-MX" dirty="0" smtClean="0"/>
              <a:t>)</a:t>
            </a:r>
          </a:p>
          <a:p>
            <a:pPr algn="ctr"/>
            <a:endParaRPr lang="es-MX" dirty="0"/>
          </a:p>
          <a:p>
            <a:pPr algn="ctr"/>
            <a:r>
              <a:rPr lang="es-MX" i="1" dirty="0" smtClean="0"/>
              <a:t>{ </a:t>
            </a:r>
            <a:r>
              <a:rPr lang="es-MX" i="1" dirty="0" err="1" smtClean="0"/>
              <a:t>Bring</a:t>
            </a:r>
            <a:r>
              <a:rPr lang="es-MX" i="1" dirty="0" smtClean="0"/>
              <a:t> </a:t>
            </a:r>
            <a:r>
              <a:rPr lang="es-MX" i="1" dirty="0" err="1" smtClean="0"/>
              <a:t>Your</a:t>
            </a:r>
            <a:r>
              <a:rPr lang="es-MX" i="1" dirty="0" smtClean="0"/>
              <a:t> </a:t>
            </a:r>
            <a:r>
              <a:rPr lang="es-MX" i="1" dirty="0" err="1" smtClean="0"/>
              <a:t>Own</a:t>
            </a:r>
            <a:r>
              <a:rPr lang="es-MX" i="1" dirty="0" smtClean="0"/>
              <a:t> </a:t>
            </a:r>
            <a:r>
              <a:rPr lang="es-MX" i="1" dirty="0" err="1" smtClean="0"/>
              <a:t>License</a:t>
            </a:r>
            <a:r>
              <a:rPr lang="es-MX" i="1" dirty="0" smtClean="0"/>
              <a:t> }</a:t>
            </a:r>
            <a:endParaRPr lang="es-VE" i="1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63" t="29555" r="16837" b="28956"/>
          <a:stretch/>
        </p:blipFill>
        <p:spPr>
          <a:xfrm>
            <a:off x="781320" y="1314011"/>
            <a:ext cx="2938436" cy="1716222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653" y="4349857"/>
            <a:ext cx="2676525" cy="1714500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992" y="3030233"/>
            <a:ext cx="2563091" cy="146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667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839585"/>
          </a:xfrm>
          <a:solidFill>
            <a:schemeClr val="accent5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MX" b="1" dirty="0">
                <a:solidFill>
                  <a:schemeClr val="bg1"/>
                </a:solidFill>
              </a:rPr>
              <a:t>Cloud </a:t>
            </a:r>
            <a:r>
              <a:rPr lang="es-MX" b="1" dirty="0" err="1">
                <a:solidFill>
                  <a:schemeClr val="bg1"/>
                </a:solidFill>
              </a:rPr>
              <a:t>Managed</a:t>
            </a:r>
            <a:r>
              <a:rPr lang="es-MX" b="1" dirty="0">
                <a:solidFill>
                  <a:schemeClr val="bg1"/>
                </a:solidFill>
              </a:rPr>
              <a:t> </a:t>
            </a:r>
            <a:r>
              <a:rPr lang="es-MX" b="1" dirty="0" err="1">
                <a:solidFill>
                  <a:schemeClr val="bg1"/>
                </a:solidFill>
              </a:rPr>
              <a:t>Services</a:t>
            </a:r>
            <a:endParaRPr lang="es-VE" b="1" dirty="0">
              <a:solidFill>
                <a:schemeClr val="bg1"/>
              </a:solidFill>
            </a:endParaRPr>
          </a:p>
        </p:txBody>
      </p:sp>
      <p:sp>
        <p:nvSpPr>
          <p:cNvPr id="17" name="Marcador de contenido 2"/>
          <p:cNvSpPr txBox="1">
            <a:spLocks/>
          </p:cNvSpPr>
          <p:nvPr/>
        </p:nvSpPr>
        <p:spPr>
          <a:xfrm>
            <a:off x="845127" y="1944774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36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Flavors</a:t>
            </a:r>
            <a:r>
              <a:rPr lang="es-MX" sz="36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</a:t>
            </a:r>
          </a:p>
          <a:p>
            <a:r>
              <a:rPr lang="es-MX" sz="3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Standard</a:t>
            </a:r>
          </a:p>
          <a:p>
            <a:r>
              <a:rPr lang="es-MX" sz="360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Special</a:t>
            </a:r>
            <a:r>
              <a:rPr lang="es-MX" sz="3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s-MX" sz="360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Projects</a:t>
            </a:r>
            <a:endParaRPr lang="es-MX" sz="36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s-MX" sz="360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Advisory</a:t>
            </a:r>
            <a:endParaRPr lang="es-MX" sz="32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s-VE" sz="3600" dirty="0"/>
          </a:p>
        </p:txBody>
      </p:sp>
      <p:sp>
        <p:nvSpPr>
          <p:cNvPr id="4" name="Marcador de contenido 2"/>
          <p:cNvSpPr txBox="1">
            <a:spLocks/>
          </p:cNvSpPr>
          <p:nvPr/>
        </p:nvSpPr>
        <p:spPr>
          <a:xfrm>
            <a:off x="5860473" y="1944774"/>
            <a:ext cx="5500254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36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Scope</a:t>
            </a:r>
            <a:r>
              <a:rPr lang="es-MX" sz="36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(Standard):</a:t>
            </a:r>
          </a:p>
          <a:p>
            <a:r>
              <a:rPr lang="es-MX" sz="3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User</a:t>
            </a:r>
            <a:r>
              <a:rPr lang="es-MX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s-MX" sz="360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Guide</a:t>
            </a:r>
            <a:r>
              <a:rPr lang="es-MX" sz="3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(</a:t>
            </a:r>
            <a:r>
              <a:rPr lang="es-MX" sz="360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What</a:t>
            </a:r>
            <a:r>
              <a:rPr lang="es-MX" sz="3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  <a:endParaRPr lang="es-MX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s-MX" sz="360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Specifications</a:t>
            </a:r>
            <a:r>
              <a:rPr lang="es-MX" sz="3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(</a:t>
            </a:r>
            <a:r>
              <a:rPr lang="es-MX" sz="360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How</a:t>
            </a:r>
            <a:r>
              <a:rPr lang="es-MX" sz="3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</a:p>
          <a:p>
            <a:r>
              <a:rPr lang="es-MX" sz="360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Term</a:t>
            </a:r>
            <a:r>
              <a:rPr lang="es-MX" sz="3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&amp; </a:t>
            </a:r>
            <a:r>
              <a:rPr lang="es-MX" sz="360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Conditions</a:t>
            </a:r>
            <a:r>
              <a:rPr lang="es-MX" sz="3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(</a:t>
            </a:r>
            <a:r>
              <a:rPr lang="es-MX" sz="360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Why</a:t>
            </a:r>
            <a:r>
              <a:rPr lang="es-MX" sz="3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</a:p>
          <a:p>
            <a:endParaRPr lang="es-VE" sz="3600" dirty="0"/>
          </a:p>
        </p:txBody>
      </p:sp>
    </p:spTree>
    <p:extLst>
      <p:ext uri="{BB962C8B-B14F-4D97-AF65-F5344CB8AC3E}">
        <p14:creationId xmlns:p14="http://schemas.microsoft.com/office/powerpoint/2010/main" val="1216146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806335"/>
          </a:xfrm>
          <a:solidFill>
            <a:schemeClr val="accent5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MX" b="1" dirty="0">
                <a:solidFill>
                  <a:schemeClr val="bg1"/>
                </a:solidFill>
              </a:rPr>
              <a:t>Cloud </a:t>
            </a:r>
            <a:r>
              <a:rPr lang="es-MX" b="1" dirty="0" err="1">
                <a:solidFill>
                  <a:schemeClr val="bg1"/>
                </a:solidFill>
              </a:rPr>
              <a:t>Managed</a:t>
            </a:r>
            <a:r>
              <a:rPr lang="es-MX" b="1" dirty="0">
                <a:solidFill>
                  <a:schemeClr val="bg1"/>
                </a:solidFill>
              </a:rPr>
              <a:t> </a:t>
            </a:r>
            <a:r>
              <a:rPr lang="es-MX" b="1" dirty="0" err="1">
                <a:solidFill>
                  <a:schemeClr val="bg1"/>
                </a:solidFill>
              </a:rPr>
              <a:t>Services</a:t>
            </a:r>
            <a:r>
              <a:rPr lang="es-MX" b="1" dirty="0">
                <a:solidFill>
                  <a:schemeClr val="bg1"/>
                </a:solidFill>
              </a:rPr>
              <a:t> (Standard)</a:t>
            </a:r>
            <a:endParaRPr lang="es-VE" b="1" dirty="0">
              <a:solidFill>
                <a:schemeClr val="bg1"/>
              </a:solidFill>
            </a:endParaRPr>
          </a:p>
        </p:txBody>
      </p:sp>
      <p:sp>
        <p:nvSpPr>
          <p:cNvPr id="17" name="Marcador de contenido 2"/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3600" b="1" dirty="0" err="1" smtClean="0">
                <a:solidFill>
                  <a:srgbClr val="0070C0"/>
                </a:solidFill>
              </a:rPr>
              <a:t>CloudArch</a:t>
            </a:r>
            <a:r>
              <a:rPr lang="es-MX" sz="3600" b="1" dirty="0" smtClean="0">
                <a:solidFill>
                  <a:srgbClr val="0070C0"/>
                </a:solidFill>
              </a:rPr>
              <a:t>: </a:t>
            </a:r>
          </a:p>
          <a:p>
            <a:pPr lvl="1"/>
            <a:r>
              <a:rPr lang="es-MX" sz="3200" dirty="0" err="1" smtClean="0">
                <a:solidFill>
                  <a:srgbClr val="0070C0"/>
                </a:solidFill>
              </a:rPr>
              <a:t>Design</a:t>
            </a:r>
            <a:r>
              <a:rPr lang="es-MX" sz="3200" dirty="0" smtClean="0">
                <a:solidFill>
                  <a:srgbClr val="0070C0"/>
                </a:solidFill>
              </a:rPr>
              <a:t>, </a:t>
            </a:r>
            <a:r>
              <a:rPr lang="es-MX" sz="3200" dirty="0" err="1" smtClean="0">
                <a:solidFill>
                  <a:srgbClr val="0070C0"/>
                </a:solidFill>
              </a:rPr>
              <a:t>Sizing</a:t>
            </a:r>
            <a:r>
              <a:rPr lang="es-MX" sz="3200" dirty="0" smtClean="0">
                <a:solidFill>
                  <a:srgbClr val="0070C0"/>
                </a:solidFill>
              </a:rPr>
              <a:t>, </a:t>
            </a:r>
            <a:r>
              <a:rPr lang="es-MX" sz="3200" dirty="0" err="1" smtClean="0">
                <a:solidFill>
                  <a:srgbClr val="0070C0"/>
                </a:solidFill>
              </a:rPr>
              <a:t>Orchestation</a:t>
            </a:r>
            <a:r>
              <a:rPr lang="es-MX" sz="3200" dirty="0" smtClean="0">
                <a:solidFill>
                  <a:srgbClr val="0070C0"/>
                </a:solidFill>
              </a:rPr>
              <a:t>, </a:t>
            </a:r>
            <a:r>
              <a:rPr lang="es-MX" sz="3200" dirty="0" err="1" smtClean="0">
                <a:solidFill>
                  <a:srgbClr val="0070C0"/>
                </a:solidFill>
              </a:rPr>
              <a:t>Assesment</a:t>
            </a:r>
            <a:r>
              <a:rPr lang="es-MX" sz="3200" dirty="0" smtClean="0">
                <a:solidFill>
                  <a:srgbClr val="0070C0"/>
                </a:solidFill>
              </a:rPr>
              <a:t>.</a:t>
            </a:r>
          </a:p>
          <a:p>
            <a:r>
              <a:rPr lang="es-MX" sz="3600" b="1" dirty="0" err="1" smtClean="0">
                <a:solidFill>
                  <a:srgbClr val="0070C0"/>
                </a:solidFill>
              </a:rPr>
              <a:t>SysOps</a:t>
            </a:r>
            <a:r>
              <a:rPr lang="es-MX" sz="3600" b="1" dirty="0" smtClean="0">
                <a:solidFill>
                  <a:srgbClr val="0070C0"/>
                </a:solidFill>
              </a:rPr>
              <a:t>: </a:t>
            </a:r>
          </a:p>
          <a:p>
            <a:pPr lvl="1"/>
            <a:r>
              <a:rPr lang="es-MX" sz="3200" dirty="0" err="1" smtClean="0">
                <a:solidFill>
                  <a:srgbClr val="0070C0"/>
                </a:solidFill>
              </a:rPr>
              <a:t>Systems</a:t>
            </a:r>
            <a:r>
              <a:rPr lang="es-MX" sz="3200" dirty="0" smtClean="0">
                <a:solidFill>
                  <a:srgbClr val="0070C0"/>
                </a:solidFill>
              </a:rPr>
              <a:t> </a:t>
            </a:r>
            <a:r>
              <a:rPr lang="es-MX" sz="3200" dirty="0" err="1" smtClean="0">
                <a:solidFill>
                  <a:srgbClr val="0070C0"/>
                </a:solidFill>
              </a:rPr>
              <a:t>Administration</a:t>
            </a:r>
            <a:r>
              <a:rPr lang="es-MX" sz="3200" dirty="0" smtClean="0">
                <a:solidFill>
                  <a:srgbClr val="0070C0"/>
                </a:solidFill>
              </a:rPr>
              <a:t>, </a:t>
            </a:r>
            <a:r>
              <a:rPr lang="es-MX" sz="3200" dirty="0" err="1" smtClean="0">
                <a:solidFill>
                  <a:srgbClr val="0070C0"/>
                </a:solidFill>
              </a:rPr>
              <a:t>Migrations</a:t>
            </a:r>
            <a:r>
              <a:rPr lang="es-MX" sz="3200" dirty="0" smtClean="0">
                <a:solidFill>
                  <a:srgbClr val="0070C0"/>
                </a:solidFill>
              </a:rPr>
              <a:t>, </a:t>
            </a:r>
            <a:r>
              <a:rPr lang="es-MX" sz="3200" dirty="0" err="1" smtClean="0">
                <a:solidFill>
                  <a:srgbClr val="0070C0"/>
                </a:solidFill>
              </a:rPr>
              <a:t>Life</a:t>
            </a:r>
            <a:r>
              <a:rPr lang="es-MX" sz="3200" dirty="0" smtClean="0">
                <a:solidFill>
                  <a:srgbClr val="0070C0"/>
                </a:solidFill>
              </a:rPr>
              <a:t> </a:t>
            </a:r>
            <a:r>
              <a:rPr lang="es-MX" sz="3200" dirty="0" err="1" smtClean="0">
                <a:solidFill>
                  <a:srgbClr val="0070C0"/>
                </a:solidFill>
              </a:rPr>
              <a:t>Cycle</a:t>
            </a:r>
            <a:r>
              <a:rPr lang="es-MX" sz="3200" dirty="0" smtClean="0">
                <a:solidFill>
                  <a:srgbClr val="0070C0"/>
                </a:solidFill>
              </a:rPr>
              <a:t>.</a:t>
            </a:r>
          </a:p>
          <a:p>
            <a:r>
              <a:rPr lang="es-MX" sz="3600" b="1" dirty="0" err="1" smtClean="0">
                <a:solidFill>
                  <a:schemeClr val="bg2">
                    <a:lumMod val="90000"/>
                  </a:schemeClr>
                </a:solidFill>
              </a:rPr>
              <a:t>DevOps</a:t>
            </a:r>
            <a:r>
              <a:rPr lang="es-MX" sz="3600" b="1" dirty="0" smtClean="0">
                <a:solidFill>
                  <a:schemeClr val="bg2">
                    <a:lumMod val="90000"/>
                  </a:schemeClr>
                </a:solidFill>
              </a:rPr>
              <a:t>: </a:t>
            </a:r>
          </a:p>
          <a:p>
            <a:pPr lvl="1"/>
            <a:r>
              <a:rPr lang="es-MX" sz="3200" dirty="0" err="1" smtClean="0">
                <a:solidFill>
                  <a:schemeClr val="bg2">
                    <a:lumMod val="90000"/>
                  </a:schemeClr>
                </a:solidFill>
              </a:rPr>
              <a:t>Applications</a:t>
            </a:r>
            <a:r>
              <a:rPr lang="es-MX" sz="3200" dirty="0" smtClean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s-MX" sz="3200" dirty="0" err="1" smtClean="0">
                <a:solidFill>
                  <a:schemeClr val="bg2">
                    <a:lumMod val="90000"/>
                  </a:schemeClr>
                </a:solidFill>
              </a:rPr>
              <a:t>Development</a:t>
            </a:r>
            <a:r>
              <a:rPr lang="es-MX" sz="3200" dirty="0" smtClean="0">
                <a:solidFill>
                  <a:schemeClr val="bg2">
                    <a:lumMod val="90000"/>
                  </a:schemeClr>
                </a:solidFill>
              </a:rPr>
              <a:t>, </a:t>
            </a:r>
            <a:r>
              <a:rPr lang="es-MX" sz="3200" dirty="0" err="1" smtClean="0">
                <a:solidFill>
                  <a:schemeClr val="bg2">
                    <a:lumMod val="90000"/>
                  </a:schemeClr>
                </a:solidFill>
              </a:rPr>
              <a:t>Build</a:t>
            </a:r>
            <a:r>
              <a:rPr lang="es-MX" sz="3200" dirty="0" smtClean="0">
                <a:solidFill>
                  <a:schemeClr val="bg2">
                    <a:lumMod val="90000"/>
                  </a:schemeClr>
                </a:solidFill>
              </a:rPr>
              <a:t>, </a:t>
            </a:r>
            <a:r>
              <a:rPr lang="es-MX" sz="3200" dirty="0" err="1" smtClean="0">
                <a:solidFill>
                  <a:schemeClr val="bg2">
                    <a:lumMod val="90000"/>
                  </a:schemeClr>
                </a:solidFill>
              </a:rPr>
              <a:t>Deployment</a:t>
            </a:r>
            <a:r>
              <a:rPr lang="es-MX" sz="3200" dirty="0" smtClean="0">
                <a:solidFill>
                  <a:schemeClr val="bg2">
                    <a:lumMod val="90000"/>
                  </a:schemeClr>
                </a:solidFill>
              </a:rPr>
              <a:t>.</a:t>
            </a:r>
          </a:p>
          <a:p>
            <a:endParaRPr lang="es-VE" sz="3600" dirty="0"/>
          </a:p>
        </p:txBody>
      </p:sp>
    </p:spTree>
    <p:extLst>
      <p:ext uri="{BB962C8B-B14F-4D97-AF65-F5344CB8AC3E}">
        <p14:creationId xmlns:p14="http://schemas.microsoft.com/office/powerpoint/2010/main" val="4068713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781396"/>
          </a:xfrm>
          <a:solidFill>
            <a:schemeClr val="accent5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MX" b="1" dirty="0">
                <a:solidFill>
                  <a:schemeClr val="bg1"/>
                </a:solidFill>
              </a:rPr>
              <a:t>Cloud </a:t>
            </a:r>
            <a:r>
              <a:rPr lang="es-MX" b="1" dirty="0" err="1">
                <a:solidFill>
                  <a:schemeClr val="bg1"/>
                </a:solidFill>
              </a:rPr>
              <a:t>Managed</a:t>
            </a:r>
            <a:r>
              <a:rPr lang="es-MX" b="1" dirty="0">
                <a:solidFill>
                  <a:schemeClr val="bg1"/>
                </a:solidFill>
              </a:rPr>
              <a:t> </a:t>
            </a:r>
            <a:r>
              <a:rPr lang="es-MX" b="1" dirty="0" err="1">
                <a:solidFill>
                  <a:schemeClr val="bg1"/>
                </a:solidFill>
              </a:rPr>
              <a:t>Services</a:t>
            </a:r>
            <a:r>
              <a:rPr lang="es-MX" b="1" dirty="0">
                <a:solidFill>
                  <a:schemeClr val="bg1"/>
                </a:solidFill>
              </a:rPr>
              <a:t> (Standard)</a:t>
            </a:r>
            <a:endParaRPr lang="es-VE" b="1" dirty="0">
              <a:solidFill>
                <a:schemeClr val="bg1"/>
              </a:solidFill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158" y="1768453"/>
            <a:ext cx="1152686" cy="1143160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158" y="3327694"/>
            <a:ext cx="1156214" cy="1186116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158" y="4887880"/>
            <a:ext cx="1171736" cy="1022470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2767" y="4766093"/>
            <a:ext cx="1167841" cy="1220925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07039" y="1733824"/>
            <a:ext cx="1167841" cy="1212415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92767" y="3229749"/>
            <a:ext cx="1182113" cy="1218208"/>
          </a:xfrm>
          <a:prstGeom prst="rect">
            <a:avLst/>
          </a:prstGeom>
        </p:spPr>
      </p:pic>
      <p:sp>
        <p:nvSpPr>
          <p:cNvPr id="15" name="CuadroTexto 14"/>
          <p:cNvSpPr txBox="1"/>
          <p:nvPr/>
        </p:nvSpPr>
        <p:spPr>
          <a:xfrm>
            <a:off x="2380969" y="1763189"/>
            <a:ext cx="25520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 smtClean="0"/>
              <a:t>AWS </a:t>
            </a:r>
            <a:r>
              <a:rPr lang="es-MX" sz="1400" dirty="0" err="1" smtClean="0"/>
              <a:t>Elastic</a:t>
            </a:r>
            <a:r>
              <a:rPr lang="es-MX" sz="1400" dirty="0" smtClean="0"/>
              <a:t> Computing</a:t>
            </a:r>
          </a:p>
          <a:p>
            <a:r>
              <a:rPr lang="es-MX" sz="1400" dirty="0" err="1" smtClean="0"/>
              <a:t>Azure</a:t>
            </a:r>
            <a:r>
              <a:rPr lang="es-MX" sz="1400" dirty="0" smtClean="0"/>
              <a:t> Virtual Machines</a:t>
            </a:r>
            <a:endParaRPr lang="es-VE" sz="1400" dirty="0"/>
          </a:p>
        </p:txBody>
      </p:sp>
      <p:sp>
        <p:nvSpPr>
          <p:cNvPr id="16" name="CuadroTexto 15"/>
          <p:cNvSpPr txBox="1"/>
          <p:nvPr/>
        </p:nvSpPr>
        <p:spPr>
          <a:xfrm>
            <a:off x="2380969" y="3327694"/>
            <a:ext cx="2909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 smtClean="0"/>
              <a:t>AWS </a:t>
            </a:r>
            <a:r>
              <a:rPr lang="es-MX" sz="1400" dirty="0" err="1" smtClean="0"/>
              <a:t>Elastic</a:t>
            </a:r>
            <a:r>
              <a:rPr lang="es-MX" sz="1400" dirty="0" smtClean="0"/>
              <a:t> Block Storage</a:t>
            </a:r>
          </a:p>
          <a:p>
            <a:r>
              <a:rPr lang="es-MX" sz="1400" dirty="0" err="1" smtClean="0"/>
              <a:t>Azure</a:t>
            </a:r>
            <a:r>
              <a:rPr lang="es-MX" sz="1400" dirty="0" smtClean="0"/>
              <a:t>  Disk </a:t>
            </a:r>
            <a:r>
              <a:rPr lang="es-MX" sz="1400" dirty="0" err="1" smtClean="0"/>
              <a:t>storage</a:t>
            </a:r>
            <a:endParaRPr lang="es-VE" sz="1400" dirty="0"/>
          </a:p>
        </p:txBody>
      </p:sp>
      <p:sp>
        <p:nvSpPr>
          <p:cNvPr id="18" name="CuadroTexto 17"/>
          <p:cNvSpPr txBox="1"/>
          <p:nvPr/>
        </p:nvSpPr>
        <p:spPr>
          <a:xfrm>
            <a:off x="2380969" y="4853031"/>
            <a:ext cx="290945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 smtClean="0"/>
              <a:t>AWS Virtual </a:t>
            </a:r>
            <a:r>
              <a:rPr lang="es-MX" sz="1100" dirty="0" err="1" smtClean="0"/>
              <a:t>Private</a:t>
            </a:r>
            <a:r>
              <a:rPr lang="es-MX" sz="1100" dirty="0" smtClean="0"/>
              <a:t> Cloud</a:t>
            </a:r>
          </a:p>
          <a:p>
            <a:r>
              <a:rPr lang="es-MX" sz="1100" dirty="0" smtClean="0"/>
              <a:t>AWS VPN Gateway</a:t>
            </a:r>
          </a:p>
          <a:p>
            <a:r>
              <a:rPr lang="es-MX" sz="1100" dirty="0" smtClean="0"/>
              <a:t>AWS </a:t>
            </a:r>
            <a:r>
              <a:rPr lang="es-MX" sz="1100" dirty="0" err="1" smtClean="0"/>
              <a:t>DirectConnect</a:t>
            </a:r>
            <a:endParaRPr lang="es-MX" sz="1100" dirty="0" smtClean="0"/>
          </a:p>
          <a:p>
            <a:r>
              <a:rPr lang="es-MX" sz="1100" dirty="0" smtClean="0"/>
              <a:t>AWS </a:t>
            </a:r>
            <a:r>
              <a:rPr lang="es-MX" sz="1100" dirty="0" err="1" smtClean="0"/>
              <a:t>Route</a:t>
            </a:r>
            <a:r>
              <a:rPr lang="es-MX" sz="1100" dirty="0" smtClean="0"/>
              <a:t> 53</a:t>
            </a:r>
          </a:p>
          <a:p>
            <a:r>
              <a:rPr lang="es-MX" sz="1100" dirty="0" smtClean="0"/>
              <a:t>AWS WAF / </a:t>
            </a:r>
            <a:r>
              <a:rPr lang="es-MX" sz="1100" dirty="0" err="1" smtClean="0"/>
              <a:t>Shield</a:t>
            </a:r>
            <a:endParaRPr lang="es-MX" sz="1100" dirty="0" smtClean="0"/>
          </a:p>
          <a:p>
            <a:r>
              <a:rPr lang="es-MX" sz="1100" dirty="0" err="1" smtClean="0"/>
              <a:t>Azure</a:t>
            </a:r>
            <a:r>
              <a:rPr lang="es-MX" sz="1100" dirty="0" smtClean="0"/>
              <a:t> Virtual Network</a:t>
            </a:r>
          </a:p>
          <a:p>
            <a:r>
              <a:rPr lang="es-MX" sz="1100" dirty="0" err="1" smtClean="0"/>
              <a:t>Azure</a:t>
            </a:r>
            <a:r>
              <a:rPr lang="es-MX" sz="1100" dirty="0" smtClean="0"/>
              <a:t> VPN Gateway</a:t>
            </a:r>
          </a:p>
          <a:p>
            <a:r>
              <a:rPr lang="es-MX" sz="1100" dirty="0" err="1" smtClean="0"/>
              <a:t>Azure</a:t>
            </a:r>
            <a:r>
              <a:rPr lang="es-MX" sz="1100" dirty="0" smtClean="0"/>
              <a:t> </a:t>
            </a:r>
            <a:r>
              <a:rPr lang="es-MX" sz="1100" dirty="0" err="1" smtClean="0"/>
              <a:t>ExpressRoute</a:t>
            </a:r>
            <a:endParaRPr lang="es-MX" sz="1100" dirty="0" smtClean="0"/>
          </a:p>
          <a:p>
            <a:r>
              <a:rPr lang="es-MX" sz="1100" dirty="0" err="1" smtClean="0"/>
              <a:t>Azure</a:t>
            </a:r>
            <a:r>
              <a:rPr lang="es-MX" sz="1100" dirty="0" smtClean="0"/>
              <a:t> DNS</a:t>
            </a:r>
          </a:p>
          <a:p>
            <a:r>
              <a:rPr lang="es-MX" sz="1100" dirty="0" err="1" smtClean="0"/>
              <a:t>Azure</a:t>
            </a:r>
            <a:r>
              <a:rPr lang="es-MX" sz="1100" dirty="0" smtClean="0"/>
              <a:t> WAF</a:t>
            </a:r>
          </a:p>
          <a:p>
            <a:endParaRPr lang="es-VE" dirty="0"/>
          </a:p>
        </p:txBody>
      </p:sp>
      <p:sp>
        <p:nvSpPr>
          <p:cNvPr id="19" name="CuadroTexto 18"/>
          <p:cNvSpPr txBox="1"/>
          <p:nvPr/>
        </p:nvSpPr>
        <p:spPr>
          <a:xfrm>
            <a:off x="7197168" y="1690688"/>
            <a:ext cx="2552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AWS </a:t>
            </a:r>
            <a:r>
              <a:rPr lang="es-MX" dirty="0" err="1" smtClean="0"/>
              <a:t>Elastic</a:t>
            </a:r>
            <a:r>
              <a:rPr lang="es-MX" dirty="0" smtClean="0"/>
              <a:t> Computing</a:t>
            </a:r>
          </a:p>
          <a:p>
            <a:r>
              <a:rPr lang="es-MX" dirty="0" err="1" smtClean="0"/>
              <a:t>Azure</a:t>
            </a:r>
            <a:r>
              <a:rPr lang="es-MX" dirty="0" smtClean="0"/>
              <a:t> Virtual Machines</a:t>
            </a:r>
            <a:endParaRPr lang="es-VE" dirty="0"/>
          </a:p>
        </p:txBody>
      </p:sp>
      <p:sp>
        <p:nvSpPr>
          <p:cNvPr id="21" name="CuadroTexto 20"/>
          <p:cNvSpPr txBox="1"/>
          <p:nvPr/>
        </p:nvSpPr>
        <p:spPr>
          <a:xfrm>
            <a:off x="7197168" y="3229749"/>
            <a:ext cx="37267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AWS </a:t>
            </a:r>
            <a:r>
              <a:rPr lang="es-MX" dirty="0" err="1" smtClean="0"/>
              <a:t>Identity</a:t>
            </a:r>
            <a:r>
              <a:rPr lang="es-MX" dirty="0" smtClean="0"/>
              <a:t> and Access </a:t>
            </a:r>
            <a:r>
              <a:rPr lang="es-MX" dirty="0" err="1" smtClean="0"/>
              <a:t>Mgmt</a:t>
            </a:r>
            <a:r>
              <a:rPr lang="es-MX" dirty="0" smtClean="0"/>
              <a:t>.</a:t>
            </a:r>
          </a:p>
          <a:p>
            <a:r>
              <a:rPr lang="es-MX" dirty="0" err="1" smtClean="0"/>
              <a:t>Azure</a:t>
            </a:r>
            <a:r>
              <a:rPr lang="es-MX" dirty="0" smtClean="0"/>
              <a:t> Active </a:t>
            </a:r>
            <a:r>
              <a:rPr lang="es-MX" dirty="0" err="1" smtClean="0"/>
              <a:t>Directory</a:t>
            </a:r>
            <a:r>
              <a:rPr lang="es-MX" dirty="0" smtClean="0"/>
              <a:t> </a:t>
            </a:r>
            <a:r>
              <a:rPr lang="es-MX" dirty="0" err="1" smtClean="0"/>
              <a:t>aaS</a:t>
            </a:r>
            <a:endParaRPr lang="es-MX" dirty="0" smtClean="0"/>
          </a:p>
        </p:txBody>
      </p:sp>
      <p:sp>
        <p:nvSpPr>
          <p:cNvPr id="17" name="CuadroTexto 16"/>
          <p:cNvSpPr txBox="1"/>
          <p:nvPr/>
        </p:nvSpPr>
        <p:spPr>
          <a:xfrm>
            <a:off x="7197168" y="4683753"/>
            <a:ext cx="286123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 smtClean="0"/>
              <a:t>AWS </a:t>
            </a:r>
            <a:r>
              <a:rPr lang="es-MX" dirty="0" err="1" smtClean="0"/>
              <a:t>CloudWatch</a:t>
            </a:r>
            <a:endParaRPr lang="es-MX" sz="1600" dirty="0" smtClean="0"/>
          </a:p>
          <a:p>
            <a:r>
              <a:rPr lang="es-MX" sz="1600" dirty="0" err="1" smtClean="0"/>
              <a:t>Azure</a:t>
            </a:r>
            <a:r>
              <a:rPr lang="es-MX" sz="1600" dirty="0" smtClean="0"/>
              <a:t> Monitor</a:t>
            </a:r>
          </a:p>
        </p:txBody>
      </p:sp>
    </p:spTree>
    <p:extLst>
      <p:ext uri="{BB962C8B-B14F-4D97-AF65-F5344CB8AC3E}">
        <p14:creationId xmlns:p14="http://schemas.microsoft.com/office/powerpoint/2010/main" val="2133307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847898"/>
          </a:xfrm>
          <a:solidFill>
            <a:schemeClr val="accent5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MX" b="1" dirty="0">
                <a:solidFill>
                  <a:schemeClr val="bg1"/>
                </a:solidFill>
              </a:rPr>
              <a:t>Cloud </a:t>
            </a:r>
            <a:r>
              <a:rPr lang="es-MX" b="1" dirty="0" err="1">
                <a:solidFill>
                  <a:schemeClr val="bg1"/>
                </a:solidFill>
              </a:rPr>
              <a:t>Managed</a:t>
            </a:r>
            <a:r>
              <a:rPr lang="es-MX" b="1" dirty="0">
                <a:solidFill>
                  <a:schemeClr val="bg1"/>
                </a:solidFill>
              </a:rPr>
              <a:t> </a:t>
            </a:r>
            <a:r>
              <a:rPr lang="es-MX" b="1" dirty="0" err="1">
                <a:solidFill>
                  <a:schemeClr val="bg1"/>
                </a:solidFill>
              </a:rPr>
              <a:t>Services</a:t>
            </a:r>
            <a:r>
              <a:rPr lang="es-MX" b="1" dirty="0">
                <a:solidFill>
                  <a:schemeClr val="bg1"/>
                </a:solidFill>
              </a:rPr>
              <a:t> (</a:t>
            </a:r>
            <a:r>
              <a:rPr lang="es-MX" b="1" dirty="0" err="1">
                <a:solidFill>
                  <a:schemeClr val="bg1"/>
                </a:solidFill>
              </a:rPr>
              <a:t>Special</a:t>
            </a:r>
            <a:r>
              <a:rPr lang="es-MX" b="1" dirty="0">
                <a:solidFill>
                  <a:schemeClr val="bg1"/>
                </a:solidFill>
              </a:rPr>
              <a:t> </a:t>
            </a:r>
            <a:r>
              <a:rPr lang="es-MX" b="1" dirty="0" err="1">
                <a:solidFill>
                  <a:schemeClr val="bg1"/>
                </a:solidFill>
              </a:rPr>
              <a:t>Projects</a:t>
            </a:r>
            <a:r>
              <a:rPr lang="es-MX" b="1" dirty="0">
                <a:solidFill>
                  <a:schemeClr val="bg1"/>
                </a:solidFill>
              </a:rPr>
              <a:t>)</a:t>
            </a:r>
            <a:endParaRPr lang="es-VE" b="1" dirty="0">
              <a:solidFill>
                <a:schemeClr val="bg1"/>
              </a:solidFill>
            </a:endParaRPr>
          </a:p>
        </p:txBody>
      </p:sp>
      <p:sp>
        <p:nvSpPr>
          <p:cNvPr id="17" name="Marcador de contenido 2"/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3600" b="1" dirty="0" err="1" smtClean="0">
                <a:solidFill>
                  <a:srgbClr val="0070C0"/>
                </a:solidFill>
              </a:rPr>
              <a:t>CloudArch</a:t>
            </a:r>
            <a:r>
              <a:rPr lang="es-MX" sz="3600" b="1" dirty="0" smtClean="0">
                <a:solidFill>
                  <a:srgbClr val="0070C0"/>
                </a:solidFill>
              </a:rPr>
              <a:t>: </a:t>
            </a:r>
          </a:p>
          <a:p>
            <a:pPr lvl="1"/>
            <a:r>
              <a:rPr lang="es-MX" sz="3200" dirty="0" err="1" smtClean="0">
                <a:solidFill>
                  <a:srgbClr val="0070C0"/>
                </a:solidFill>
              </a:rPr>
              <a:t>Design</a:t>
            </a:r>
            <a:r>
              <a:rPr lang="es-MX" sz="3200" dirty="0" smtClean="0">
                <a:solidFill>
                  <a:srgbClr val="0070C0"/>
                </a:solidFill>
              </a:rPr>
              <a:t>, </a:t>
            </a:r>
            <a:r>
              <a:rPr lang="es-MX" sz="3200" dirty="0" err="1" smtClean="0">
                <a:solidFill>
                  <a:srgbClr val="0070C0"/>
                </a:solidFill>
              </a:rPr>
              <a:t>Sizing</a:t>
            </a:r>
            <a:r>
              <a:rPr lang="es-MX" sz="3200" dirty="0" smtClean="0">
                <a:solidFill>
                  <a:srgbClr val="0070C0"/>
                </a:solidFill>
              </a:rPr>
              <a:t>, </a:t>
            </a:r>
            <a:r>
              <a:rPr lang="es-MX" sz="3200" dirty="0" err="1" smtClean="0">
                <a:solidFill>
                  <a:srgbClr val="0070C0"/>
                </a:solidFill>
              </a:rPr>
              <a:t>Orchestation</a:t>
            </a:r>
            <a:r>
              <a:rPr lang="es-MX" sz="3200" dirty="0" smtClean="0">
                <a:solidFill>
                  <a:srgbClr val="0070C0"/>
                </a:solidFill>
              </a:rPr>
              <a:t>, </a:t>
            </a:r>
            <a:r>
              <a:rPr lang="es-MX" sz="3200" dirty="0" err="1" smtClean="0">
                <a:solidFill>
                  <a:srgbClr val="0070C0"/>
                </a:solidFill>
              </a:rPr>
              <a:t>Assesment</a:t>
            </a:r>
            <a:r>
              <a:rPr lang="es-MX" sz="3200" dirty="0" smtClean="0">
                <a:solidFill>
                  <a:srgbClr val="0070C0"/>
                </a:solidFill>
              </a:rPr>
              <a:t>.</a:t>
            </a:r>
          </a:p>
          <a:p>
            <a:r>
              <a:rPr lang="es-MX" sz="3600" b="1" dirty="0" err="1" smtClean="0">
                <a:solidFill>
                  <a:srgbClr val="0070C0"/>
                </a:solidFill>
              </a:rPr>
              <a:t>SysOps</a:t>
            </a:r>
            <a:r>
              <a:rPr lang="es-MX" sz="3600" b="1" dirty="0" smtClean="0">
                <a:solidFill>
                  <a:srgbClr val="0070C0"/>
                </a:solidFill>
              </a:rPr>
              <a:t>: </a:t>
            </a:r>
          </a:p>
          <a:p>
            <a:pPr lvl="1"/>
            <a:r>
              <a:rPr lang="es-MX" sz="3200" dirty="0" err="1" smtClean="0">
                <a:solidFill>
                  <a:srgbClr val="0070C0"/>
                </a:solidFill>
              </a:rPr>
              <a:t>Systems</a:t>
            </a:r>
            <a:r>
              <a:rPr lang="es-MX" sz="3200" dirty="0" smtClean="0">
                <a:solidFill>
                  <a:srgbClr val="0070C0"/>
                </a:solidFill>
              </a:rPr>
              <a:t> </a:t>
            </a:r>
            <a:r>
              <a:rPr lang="es-MX" sz="3200" dirty="0" err="1" smtClean="0">
                <a:solidFill>
                  <a:srgbClr val="0070C0"/>
                </a:solidFill>
              </a:rPr>
              <a:t>Administration</a:t>
            </a:r>
            <a:r>
              <a:rPr lang="es-MX" sz="3200" dirty="0" smtClean="0">
                <a:solidFill>
                  <a:srgbClr val="0070C0"/>
                </a:solidFill>
              </a:rPr>
              <a:t>, </a:t>
            </a:r>
            <a:r>
              <a:rPr lang="es-MX" sz="3200" dirty="0" err="1" smtClean="0">
                <a:solidFill>
                  <a:srgbClr val="0070C0"/>
                </a:solidFill>
              </a:rPr>
              <a:t>Migrations</a:t>
            </a:r>
            <a:r>
              <a:rPr lang="es-MX" sz="3200" dirty="0" smtClean="0">
                <a:solidFill>
                  <a:srgbClr val="0070C0"/>
                </a:solidFill>
              </a:rPr>
              <a:t>, </a:t>
            </a:r>
            <a:r>
              <a:rPr lang="es-MX" sz="3200" dirty="0" err="1" smtClean="0">
                <a:solidFill>
                  <a:srgbClr val="0070C0"/>
                </a:solidFill>
              </a:rPr>
              <a:t>Life</a:t>
            </a:r>
            <a:r>
              <a:rPr lang="es-MX" sz="3200" dirty="0" smtClean="0">
                <a:solidFill>
                  <a:srgbClr val="0070C0"/>
                </a:solidFill>
              </a:rPr>
              <a:t> </a:t>
            </a:r>
            <a:r>
              <a:rPr lang="es-MX" sz="3200" dirty="0" err="1" smtClean="0">
                <a:solidFill>
                  <a:srgbClr val="0070C0"/>
                </a:solidFill>
              </a:rPr>
              <a:t>Cycle</a:t>
            </a:r>
            <a:r>
              <a:rPr lang="es-MX" sz="3200" dirty="0" smtClean="0">
                <a:solidFill>
                  <a:srgbClr val="0070C0"/>
                </a:solidFill>
              </a:rPr>
              <a:t>.</a:t>
            </a:r>
          </a:p>
          <a:p>
            <a:r>
              <a:rPr lang="es-MX" sz="3600" b="1" dirty="0" err="1" smtClean="0">
                <a:solidFill>
                  <a:srgbClr val="0070C0"/>
                </a:solidFill>
              </a:rPr>
              <a:t>DevOps</a:t>
            </a:r>
            <a:r>
              <a:rPr lang="es-MX" sz="3600" b="1" dirty="0" smtClean="0">
                <a:solidFill>
                  <a:srgbClr val="0070C0"/>
                </a:solidFill>
              </a:rPr>
              <a:t>: </a:t>
            </a:r>
          </a:p>
          <a:p>
            <a:pPr lvl="1"/>
            <a:r>
              <a:rPr lang="es-MX" sz="3200" dirty="0" err="1" smtClean="0">
                <a:solidFill>
                  <a:srgbClr val="0070C0"/>
                </a:solidFill>
              </a:rPr>
              <a:t>Applications</a:t>
            </a:r>
            <a:r>
              <a:rPr lang="es-MX" sz="3200" dirty="0" smtClean="0">
                <a:solidFill>
                  <a:srgbClr val="0070C0"/>
                </a:solidFill>
              </a:rPr>
              <a:t> </a:t>
            </a:r>
            <a:r>
              <a:rPr lang="es-MX" sz="3200" dirty="0" err="1" smtClean="0">
                <a:solidFill>
                  <a:srgbClr val="0070C0"/>
                </a:solidFill>
              </a:rPr>
              <a:t>Development</a:t>
            </a:r>
            <a:r>
              <a:rPr lang="es-MX" sz="3200" dirty="0" smtClean="0">
                <a:solidFill>
                  <a:srgbClr val="0070C0"/>
                </a:solidFill>
              </a:rPr>
              <a:t>, </a:t>
            </a:r>
            <a:r>
              <a:rPr lang="es-MX" sz="3200" dirty="0" err="1" smtClean="0">
                <a:solidFill>
                  <a:srgbClr val="0070C0"/>
                </a:solidFill>
              </a:rPr>
              <a:t>Build</a:t>
            </a:r>
            <a:r>
              <a:rPr lang="es-MX" sz="3200" dirty="0" smtClean="0">
                <a:solidFill>
                  <a:srgbClr val="0070C0"/>
                </a:solidFill>
              </a:rPr>
              <a:t>, </a:t>
            </a:r>
            <a:r>
              <a:rPr lang="es-MX" sz="3200" dirty="0" err="1" smtClean="0">
                <a:solidFill>
                  <a:srgbClr val="0070C0"/>
                </a:solidFill>
              </a:rPr>
              <a:t>Deployment</a:t>
            </a:r>
            <a:r>
              <a:rPr lang="es-MX" sz="3200" dirty="0" smtClean="0">
                <a:solidFill>
                  <a:srgbClr val="0070C0"/>
                </a:solidFill>
              </a:rPr>
              <a:t>.</a:t>
            </a:r>
          </a:p>
          <a:p>
            <a:endParaRPr lang="es-VE" sz="3600" dirty="0"/>
          </a:p>
        </p:txBody>
      </p:sp>
    </p:spTree>
    <p:extLst>
      <p:ext uri="{BB962C8B-B14F-4D97-AF65-F5344CB8AC3E}">
        <p14:creationId xmlns:p14="http://schemas.microsoft.com/office/powerpoint/2010/main" val="3365094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876768"/>
          </a:xfrm>
          <a:solidFill>
            <a:schemeClr val="accent5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MX" b="1" dirty="0">
                <a:solidFill>
                  <a:schemeClr val="bg1"/>
                </a:solidFill>
              </a:rPr>
              <a:t>Cloud </a:t>
            </a:r>
            <a:r>
              <a:rPr lang="es-MX" b="1" dirty="0" err="1">
                <a:solidFill>
                  <a:schemeClr val="bg1"/>
                </a:solidFill>
              </a:rPr>
              <a:t>Managed</a:t>
            </a:r>
            <a:r>
              <a:rPr lang="es-MX" b="1" dirty="0">
                <a:solidFill>
                  <a:schemeClr val="bg1"/>
                </a:solidFill>
              </a:rPr>
              <a:t> </a:t>
            </a:r>
            <a:r>
              <a:rPr lang="es-MX" b="1" dirty="0" err="1">
                <a:solidFill>
                  <a:schemeClr val="bg1"/>
                </a:solidFill>
              </a:rPr>
              <a:t>Services</a:t>
            </a:r>
            <a:r>
              <a:rPr lang="es-MX" b="1" dirty="0">
                <a:solidFill>
                  <a:schemeClr val="bg1"/>
                </a:solidFill>
              </a:rPr>
              <a:t> (</a:t>
            </a:r>
            <a:r>
              <a:rPr lang="es-MX" b="1" dirty="0" err="1">
                <a:solidFill>
                  <a:schemeClr val="bg1"/>
                </a:solidFill>
              </a:rPr>
              <a:t>Advisory</a:t>
            </a:r>
            <a:r>
              <a:rPr lang="es-MX" b="1" dirty="0">
                <a:solidFill>
                  <a:schemeClr val="bg1"/>
                </a:solidFill>
              </a:rPr>
              <a:t>)</a:t>
            </a:r>
            <a:endParaRPr lang="es-VE" b="1" dirty="0">
              <a:solidFill>
                <a:schemeClr val="bg1"/>
              </a:solidFill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938" y="1818177"/>
            <a:ext cx="1167841" cy="1220925"/>
          </a:xfrm>
          <a:prstGeom prst="rect">
            <a:avLst/>
          </a:prstGeom>
        </p:spPr>
      </p:pic>
      <p:sp>
        <p:nvSpPr>
          <p:cNvPr id="20" name="CuadroTexto 19"/>
          <p:cNvSpPr txBox="1"/>
          <p:nvPr/>
        </p:nvSpPr>
        <p:spPr>
          <a:xfrm>
            <a:off x="2420451" y="1944833"/>
            <a:ext cx="28612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 smtClean="0"/>
              <a:t>AWS </a:t>
            </a:r>
            <a:r>
              <a:rPr lang="es-MX" sz="2000" dirty="0" err="1" smtClean="0"/>
              <a:t>Trusted</a:t>
            </a:r>
            <a:r>
              <a:rPr lang="es-MX" sz="2000" dirty="0" smtClean="0"/>
              <a:t> </a:t>
            </a:r>
            <a:r>
              <a:rPr lang="es-MX" sz="2000" dirty="0" err="1" smtClean="0"/>
              <a:t>Advisor</a:t>
            </a:r>
            <a:endParaRPr lang="es-MX" sz="2000" dirty="0" smtClean="0"/>
          </a:p>
          <a:p>
            <a:r>
              <a:rPr lang="es-MX" sz="2000" dirty="0" err="1" smtClean="0"/>
              <a:t>Azure</a:t>
            </a:r>
            <a:r>
              <a:rPr lang="es-MX" sz="2000" dirty="0" smtClean="0"/>
              <a:t> </a:t>
            </a:r>
            <a:r>
              <a:rPr lang="es-MX" sz="2000" dirty="0" err="1" smtClean="0"/>
              <a:t>Advisor</a:t>
            </a:r>
            <a:endParaRPr lang="es-VE" sz="2000" dirty="0"/>
          </a:p>
        </p:txBody>
      </p:sp>
      <p:sp>
        <p:nvSpPr>
          <p:cNvPr id="17" name="Marcador de contenido 2"/>
          <p:cNvSpPr txBox="1">
            <a:spLocks/>
          </p:cNvSpPr>
          <p:nvPr/>
        </p:nvSpPr>
        <p:spPr>
          <a:xfrm>
            <a:off x="997938" y="3614751"/>
            <a:ext cx="10355862" cy="273772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36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Capacity</a:t>
            </a:r>
            <a:r>
              <a:rPr lang="es-MX" sz="36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s-MX" sz="36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Planning</a:t>
            </a:r>
            <a:endParaRPr lang="es-MX" sz="3600" b="1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s-MX" sz="36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Capacity</a:t>
            </a:r>
            <a:r>
              <a:rPr lang="es-MX" sz="36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s-MX" sz="36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Optimization</a:t>
            </a:r>
            <a:endParaRPr lang="es-MX" sz="3600" b="1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s-MX" sz="36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Services</a:t>
            </a:r>
            <a:r>
              <a:rPr lang="es-MX" sz="36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s-MX" sz="36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Health</a:t>
            </a:r>
            <a:endParaRPr lang="es-MX" sz="36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s-MX" sz="36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Security </a:t>
            </a:r>
            <a:r>
              <a:rPr lang="es-MX" sz="36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Compliant</a:t>
            </a:r>
            <a:endParaRPr lang="es-MX" sz="3600" b="1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2" name="Rectángulo redondeado 21"/>
          <p:cNvSpPr/>
          <p:nvPr/>
        </p:nvSpPr>
        <p:spPr>
          <a:xfrm>
            <a:off x="6336937" y="1690688"/>
            <a:ext cx="3398461" cy="1551226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Cloud Team</a:t>
            </a:r>
            <a:endParaRPr lang="es-VE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Rectángulo redondeado 22"/>
          <p:cNvSpPr/>
          <p:nvPr/>
        </p:nvSpPr>
        <p:spPr>
          <a:xfrm>
            <a:off x="6336937" y="3241914"/>
            <a:ext cx="3447698" cy="1480174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dirty="0" smtClean="0"/>
              <a:t> </a:t>
            </a:r>
            <a:r>
              <a:rPr lang="es-MX" sz="2800" dirty="0" err="1" smtClean="0"/>
              <a:t>Trusted</a:t>
            </a:r>
            <a:r>
              <a:rPr lang="es-MX" sz="2800" dirty="0" smtClean="0"/>
              <a:t> </a:t>
            </a:r>
            <a:r>
              <a:rPr lang="es-MX" sz="2800" dirty="0" err="1" smtClean="0"/>
              <a:t>Advisory</a:t>
            </a:r>
            <a:r>
              <a:rPr lang="es-MX" sz="2800" dirty="0" smtClean="0"/>
              <a:t> Services</a:t>
            </a:r>
            <a:endParaRPr lang="es-VE" sz="2800" dirty="0"/>
          </a:p>
        </p:txBody>
      </p:sp>
      <p:sp>
        <p:nvSpPr>
          <p:cNvPr id="24" name="Rectángulo redondeado 23"/>
          <p:cNvSpPr/>
          <p:nvPr/>
        </p:nvSpPr>
        <p:spPr>
          <a:xfrm>
            <a:off x="6336937" y="4708604"/>
            <a:ext cx="3447698" cy="975516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dirty="0" err="1" smtClean="0"/>
              <a:t>Action</a:t>
            </a:r>
            <a:r>
              <a:rPr lang="es-MX" sz="2800" dirty="0" smtClean="0"/>
              <a:t> </a:t>
            </a:r>
            <a:r>
              <a:rPr lang="es-MX" sz="2800" dirty="0" err="1" smtClean="0"/>
              <a:t>Plans</a:t>
            </a:r>
            <a:endParaRPr lang="es-VE" sz="2800" dirty="0"/>
          </a:p>
        </p:txBody>
      </p:sp>
      <p:grpSp>
        <p:nvGrpSpPr>
          <p:cNvPr id="4" name="Grupo 3"/>
          <p:cNvGrpSpPr/>
          <p:nvPr/>
        </p:nvGrpSpPr>
        <p:grpSpPr>
          <a:xfrm>
            <a:off x="9553089" y="4864186"/>
            <a:ext cx="1323368" cy="686395"/>
            <a:chOff x="9565477" y="5439835"/>
            <a:chExt cx="1323368" cy="686395"/>
          </a:xfrm>
          <a:solidFill>
            <a:schemeClr val="accent6">
              <a:lumMod val="75000"/>
            </a:schemeClr>
          </a:solidFill>
        </p:grpSpPr>
        <p:sp>
          <p:nvSpPr>
            <p:cNvPr id="3" name="Flecha derecha 2"/>
            <p:cNvSpPr/>
            <p:nvPr/>
          </p:nvSpPr>
          <p:spPr>
            <a:xfrm>
              <a:off x="9565477" y="5439835"/>
              <a:ext cx="1037230" cy="677835"/>
            </a:xfrm>
            <a:prstGeom prst="right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/>
            </a:p>
          </p:txBody>
        </p:sp>
        <p:sp>
          <p:nvSpPr>
            <p:cNvPr id="25" name="Flecha derecha 24"/>
            <p:cNvSpPr/>
            <p:nvPr/>
          </p:nvSpPr>
          <p:spPr>
            <a:xfrm>
              <a:off x="9851615" y="5448395"/>
              <a:ext cx="1037230" cy="677835"/>
            </a:xfrm>
            <a:prstGeom prst="right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/>
            </a:p>
          </p:txBody>
        </p:sp>
      </p:grpSp>
      <p:sp>
        <p:nvSpPr>
          <p:cNvPr id="26" name="Flecha derecha 25"/>
          <p:cNvSpPr/>
          <p:nvPr/>
        </p:nvSpPr>
        <p:spPr>
          <a:xfrm>
            <a:off x="9266951" y="4874913"/>
            <a:ext cx="1037230" cy="677835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29" name="Flecha derecha 28"/>
          <p:cNvSpPr/>
          <p:nvPr/>
        </p:nvSpPr>
        <p:spPr>
          <a:xfrm>
            <a:off x="5290695" y="1944833"/>
            <a:ext cx="1037230" cy="677835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5" name="Cerrar llave 4"/>
          <p:cNvSpPr/>
          <p:nvPr/>
        </p:nvSpPr>
        <p:spPr>
          <a:xfrm>
            <a:off x="4681182" y="1690688"/>
            <a:ext cx="600501" cy="1202637"/>
          </a:xfrm>
          <a:prstGeom prst="rightBrace">
            <a:avLst>
              <a:gd name="adj1" fmla="val 37879"/>
              <a:gd name="adj2" fmla="val 50000"/>
            </a:avLst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601523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884976"/>
          </a:xfrm>
          <a:solidFill>
            <a:schemeClr val="accent5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MX" b="1" dirty="0">
                <a:solidFill>
                  <a:schemeClr val="bg1"/>
                </a:solidFill>
              </a:rPr>
              <a:t>Cloud </a:t>
            </a:r>
            <a:r>
              <a:rPr lang="es-MX" b="1" dirty="0" err="1">
                <a:solidFill>
                  <a:schemeClr val="bg1"/>
                </a:solidFill>
              </a:rPr>
              <a:t>Managed</a:t>
            </a:r>
            <a:r>
              <a:rPr lang="es-MX" b="1" dirty="0">
                <a:solidFill>
                  <a:schemeClr val="bg1"/>
                </a:solidFill>
              </a:rPr>
              <a:t> </a:t>
            </a:r>
            <a:r>
              <a:rPr lang="es-MX" b="1" dirty="0" err="1">
                <a:solidFill>
                  <a:schemeClr val="bg1"/>
                </a:solidFill>
              </a:rPr>
              <a:t>Services</a:t>
            </a:r>
            <a:r>
              <a:rPr lang="es-MX" b="1" dirty="0">
                <a:solidFill>
                  <a:schemeClr val="bg1"/>
                </a:solidFill>
              </a:rPr>
              <a:t> (</a:t>
            </a:r>
            <a:r>
              <a:rPr lang="es-MX" b="1" dirty="0" err="1">
                <a:solidFill>
                  <a:schemeClr val="bg1"/>
                </a:solidFill>
              </a:rPr>
              <a:t>Special</a:t>
            </a:r>
            <a:r>
              <a:rPr lang="es-MX" b="1" dirty="0">
                <a:solidFill>
                  <a:schemeClr val="bg1"/>
                </a:solidFill>
              </a:rPr>
              <a:t> </a:t>
            </a:r>
            <a:r>
              <a:rPr lang="es-MX" b="1" dirty="0" err="1">
                <a:solidFill>
                  <a:schemeClr val="bg1"/>
                </a:solidFill>
              </a:rPr>
              <a:t>Projects</a:t>
            </a:r>
            <a:r>
              <a:rPr lang="es-MX" b="1" dirty="0">
                <a:solidFill>
                  <a:schemeClr val="bg1"/>
                </a:solidFill>
              </a:rPr>
              <a:t>)</a:t>
            </a:r>
            <a:endParaRPr lang="es-VE" b="1" dirty="0">
              <a:solidFill>
                <a:schemeClr val="bg1"/>
              </a:solidFill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437" y="1947013"/>
            <a:ext cx="1105054" cy="1143160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437" y="3381907"/>
            <a:ext cx="1105054" cy="1146912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437" y="4957957"/>
            <a:ext cx="1105054" cy="1013658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0287" y="1947013"/>
            <a:ext cx="1125969" cy="1143160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0288" y="3381907"/>
            <a:ext cx="1125968" cy="1146912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60287" y="4957957"/>
            <a:ext cx="1125969" cy="1032625"/>
          </a:xfrm>
          <a:prstGeom prst="rect">
            <a:avLst/>
          </a:prstGeom>
        </p:spPr>
      </p:pic>
      <p:sp>
        <p:nvSpPr>
          <p:cNvPr id="25" name="Marcador de contenido 2"/>
          <p:cNvSpPr txBox="1">
            <a:spLocks/>
          </p:cNvSpPr>
          <p:nvPr/>
        </p:nvSpPr>
        <p:spPr>
          <a:xfrm>
            <a:off x="4472052" y="1779694"/>
            <a:ext cx="688174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36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Process</a:t>
            </a:r>
            <a:r>
              <a:rPr lang="es-MX" sz="36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s-MX" sz="36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Logic</a:t>
            </a:r>
            <a:endParaRPr lang="es-MX" sz="3600" b="1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s-MX" sz="3600" b="1" dirty="0" err="1" smtClean="0">
                <a:solidFill>
                  <a:srgbClr val="0070C0"/>
                </a:solidFill>
              </a:rPr>
              <a:t>Database</a:t>
            </a:r>
            <a:r>
              <a:rPr lang="es-MX" sz="3600" b="1" dirty="0" smtClean="0">
                <a:solidFill>
                  <a:srgbClr val="0070C0"/>
                </a:solidFill>
              </a:rPr>
              <a:t> </a:t>
            </a:r>
            <a:r>
              <a:rPr lang="es-MX" sz="3600" b="1" dirty="0" err="1" smtClean="0">
                <a:solidFill>
                  <a:srgbClr val="0070C0"/>
                </a:solidFill>
              </a:rPr>
              <a:t>aaS</a:t>
            </a:r>
            <a:endParaRPr lang="es-MX" sz="3600" b="1" dirty="0" smtClean="0">
              <a:solidFill>
                <a:srgbClr val="0070C0"/>
              </a:solidFill>
            </a:endParaRPr>
          </a:p>
          <a:p>
            <a:r>
              <a:rPr lang="es-MX" sz="3600" b="1" dirty="0" err="1" smtClean="0">
                <a:solidFill>
                  <a:srgbClr val="0070C0"/>
                </a:solidFill>
              </a:rPr>
              <a:t>Developer</a:t>
            </a:r>
            <a:r>
              <a:rPr lang="es-MX" sz="3600" b="1" dirty="0" smtClean="0">
                <a:solidFill>
                  <a:srgbClr val="0070C0"/>
                </a:solidFill>
              </a:rPr>
              <a:t> Tools</a:t>
            </a:r>
            <a:endParaRPr lang="es-MX" sz="3200" dirty="0" smtClean="0">
              <a:solidFill>
                <a:srgbClr val="0070C0"/>
              </a:solidFill>
            </a:endParaRPr>
          </a:p>
          <a:p>
            <a:r>
              <a:rPr lang="es-MX" sz="3600" b="1" dirty="0" err="1" smtClean="0">
                <a:solidFill>
                  <a:srgbClr val="0070C0"/>
                </a:solidFill>
              </a:rPr>
              <a:t>Analytics</a:t>
            </a:r>
            <a:r>
              <a:rPr lang="es-MX" sz="3600" b="1" dirty="0" smtClean="0">
                <a:solidFill>
                  <a:srgbClr val="0070C0"/>
                </a:solidFill>
              </a:rPr>
              <a:t> &amp; Big Data</a:t>
            </a:r>
          </a:p>
          <a:p>
            <a:r>
              <a:rPr lang="es-MX" sz="3600" b="1" dirty="0" smtClean="0">
                <a:solidFill>
                  <a:srgbClr val="0070C0"/>
                </a:solidFill>
              </a:rPr>
              <a:t>Internet of </a:t>
            </a:r>
            <a:r>
              <a:rPr lang="es-MX" sz="3600" b="1" dirty="0" err="1" smtClean="0">
                <a:solidFill>
                  <a:srgbClr val="0070C0"/>
                </a:solidFill>
              </a:rPr>
              <a:t>Things</a:t>
            </a:r>
            <a:r>
              <a:rPr lang="es-MX" sz="3600" b="1" dirty="0" smtClean="0">
                <a:solidFill>
                  <a:srgbClr val="0070C0"/>
                </a:solidFill>
              </a:rPr>
              <a:t> (</a:t>
            </a:r>
            <a:r>
              <a:rPr lang="es-MX" sz="3600" b="1" dirty="0" err="1" smtClean="0">
                <a:solidFill>
                  <a:srgbClr val="0070C0"/>
                </a:solidFill>
              </a:rPr>
              <a:t>IoT</a:t>
            </a:r>
            <a:r>
              <a:rPr lang="es-MX" sz="3600" b="1" dirty="0" smtClean="0">
                <a:solidFill>
                  <a:srgbClr val="0070C0"/>
                </a:solidFill>
              </a:rPr>
              <a:t>)</a:t>
            </a:r>
          </a:p>
          <a:p>
            <a:r>
              <a:rPr lang="es-MX" sz="3600" b="1" dirty="0" smtClean="0">
                <a:solidFill>
                  <a:srgbClr val="0070C0"/>
                </a:solidFill>
              </a:rPr>
              <a:t>Mobile </a:t>
            </a:r>
            <a:r>
              <a:rPr lang="es-MX" sz="3600" b="1" dirty="0" err="1" smtClean="0">
                <a:solidFill>
                  <a:srgbClr val="0070C0"/>
                </a:solidFill>
              </a:rPr>
              <a:t>Services</a:t>
            </a:r>
            <a:r>
              <a:rPr lang="es-MX" sz="3600" b="1" dirty="0" smtClean="0">
                <a:solidFill>
                  <a:srgbClr val="0070C0"/>
                </a:solidFill>
              </a:rPr>
              <a:t> (</a:t>
            </a:r>
            <a:r>
              <a:rPr lang="es-MX" sz="3600" b="1" dirty="0" err="1" smtClean="0">
                <a:solidFill>
                  <a:srgbClr val="0070C0"/>
                </a:solidFill>
              </a:rPr>
              <a:t>AppDev</a:t>
            </a:r>
            <a:r>
              <a:rPr lang="es-MX" sz="3600" b="1" dirty="0" smtClean="0">
                <a:solidFill>
                  <a:srgbClr val="0070C0"/>
                </a:solidFill>
              </a:rPr>
              <a:t>)</a:t>
            </a:r>
          </a:p>
          <a:p>
            <a:r>
              <a:rPr lang="es-MX" sz="3600" b="1" dirty="0" smtClean="0">
                <a:solidFill>
                  <a:srgbClr val="0070C0"/>
                </a:solidFill>
              </a:rPr>
              <a:t>Artificial </a:t>
            </a:r>
            <a:r>
              <a:rPr lang="es-MX" sz="3600" b="1" dirty="0" err="1" smtClean="0">
                <a:solidFill>
                  <a:srgbClr val="0070C0"/>
                </a:solidFill>
              </a:rPr>
              <a:t>Intelligence</a:t>
            </a:r>
            <a:r>
              <a:rPr lang="es-MX" sz="3600" b="1" dirty="0" smtClean="0">
                <a:solidFill>
                  <a:srgbClr val="0070C0"/>
                </a:solidFill>
              </a:rPr>
              <a:t> (I.A)</a:t>
            </a:r>
          </a:p>
        </p:txBody>
      </p:sp>
      <p:sp>
        <p:nvSpPr>
          <p:cNvPr id="26" name="Rectángulo 25"/>
          <p:cNvSpPr/>
          <p:nvPr/>
        </p:nvSpPr>
        <p:spPr>
          <a:xfrm>
            <a:off x="9994708" y="2744426"/>
            <a:ext cx="161953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AWS Lambda</a:t>
            </a:r>
          </a:p>
          <a:p>
            <a:pPr algn="ctr"/>
            <a:r>
              <a:rPr lang="es-MX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AWS </a:t>
            </a:r>
            <a:r>
              <a:rPr lang="es-MX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Functions</a:t>
            </a:r>
            <a:endParaRPr lang="es-MX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7" name="Imagen 26"/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PencilGrayscale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228134" y="1560827"/>
            <a:ext cx="1152686" cy="1143160"/>
          </a:xfrm>
          <a:prstGeom prst="rect">
            <a:avLst/>
          </a:prstGeom>
        </p:spPr>
      </p:pic>
      <p:pic>
        <p:nvPicPr>
          <p:cNvPr id="28" name="Imagen 27"/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artisticPencilGrayscale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228134" y="3919715"/>
            <a:ext cx="1182113" cy="1218208"/>
          </a:xfrm>
          <a:prstGeom prst="rect">
            <a:avLst/>
          </a:prstGeom>
        </p:spPr>
      </p:pic>
      <p:sp>
        <p:nvSpPr>
          <p:cNvPr id="29" name="CuadroTexto 28"/>
          <p:cNvSpPr txBox="1"/>
          <p:nvPr/>
        </p:nvSpPr>
        <p:spPr>
          <a:xfrm>
            <a:off x="10176532" y="5226929"/>
            <a:ext cx="1255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AWS/</a:t>
            </a:r>
            <a:r>
              <a:rPr lang="es-MX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Azure</a:t>
            </a:r>
            <a:r>
              <a:rPr lang="es-MX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br>
              <a:rPr lang="es-MX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s-MX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Messaging</a:t>
            </a:r>
            <a:endParaRPr lang="es-V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9265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ángulo redondeado 38"/>
          <p:cNvSpPr/>
          <p:nvPr/>
        </p:nvSpPr>
        <p:spPr>
          <a:xfrm>
            <a:off x="3001782" y="5875969"/>
            <a:ext cx="7053128" cy="552844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dirty="0" smtClean="0"/>
              <a:t> Cloud </a:t>
            </a:r>
            <a:r>
              <a:rPr lang="es-MX" sz="2800" dirty="0" err="1" smtClean="0"/>
              <a:t>Ecosystem</a:t>
            </a:r>
            <a:endParaRPr lang="es-VE" sz="2800" dirty="0"/>
          </a:p>
        </p:txBody>
      </p:sp>
      <p:sp>
        <p:nvSpPr>
          <p:cNvPr id="34" name="Rectángulo redondeado 33"/>
          <p:cNvSpPr/>
          <p:nvPr/>
        </p:nvSpPr>
        <p:spPr>
          <a:xfrm>
            <a:off x="5366012" y="1499619"/>
            <a:ext cx="2324668" cy="890398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dirty="0" err="1" smtClean="0"/>
              <a:t>Operation</a:t>
            </a:r>
            <a:r>
              <a:rPr lang="es-MX" sz="2800" dirty="0" smtClean="0"/>
              <a:t/>
            </a:r>
            <a:br>
              <a:rPr lang="es-MX" sz="2800" dirty="0" smtClean="0"/>
            </a:br>
            <a:r>
              <a:rPr lang="es-MX" sz="2800" dirty="0" err="1" smtClean="0"/>
              <a:t>Team</a:t>
            </a:r>
            <a:endParaRPr lang="es-VE" sz="2800" dirty="0"/>
          </a:p>
        </p:txBody>
      </p:sp>
      <p:sp>
        <p:nvSpPr>
          <p:cNvPr id="11" name="Rectángulo redondeado 10"/>
          <p:cNvSpPr/>
          <p:nvPr/>
        </p:nvSpPr>
        <p:spPr>
          <a:xfrm>
            <a:off x="2715906" y="2984947"/>
            <a:ext cx="7233312" cy="2196918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846548"/>
          </a:xfrm>
          <a:solidFill>
            <a:schemeClr val="accent5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MX" b="1" dirty="0" smtClean="0">
                <a:solidFill>
                  <a:schemeClr val="bg1"/>
                </a:solidFill>
              </a:rPr>
              <a:t> </a:t>
            </a:r>
            <a:r>
              <a:rPr lang="es-MX" b="1" dirty="0">
                <a:solidFill>
                  <a:schemeClr val="bg1"/>
                </a:solidFill>
              </a:rPr>
              <a:t>Cloud Team</a:t>
            </a:r>
            <a:endParaRPr lang="es-VE" b="1" dirty="0">
              <a:solidFill>
                <a:schemeClr val="bg1"/>
              </a:solidFill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1847086" y="4440833"/>
            <a:ext cx="1455761" cy="62961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 err="1" smtClean="0">
                <a:solidFill>
                  <a:schemeClr val="bg1"/>
                </a:solidFill>
              </a:rPr>
              <a:t>IaaS</a:t>
            </a:r>
            <a:endParaRPr lang="es-VE" sz="3600" b="1" dirty="0">
              <a:solidFill>
                <a:schemeClr val="bg1"/>
              </a:solidFill>
            </a:endParaRPr>
          </a:p>
        </p:txBody>
      </p:sp>
      <p:sp>
        <p:nvSpPr>
          <p:cNvPr id="26" name="Rectángulo 25"/>
          <p:cNvSpPr/>
          <p:nvPr/>
        </p:nvSpPr>
        <p:spPr>
          <a:xfrm>
            <a:off x="1853910" y="3756092"/>
            <a:ext cx="1448937" cy="62961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 err="1">
                <a:solidFill>
                  <a:schemeClr val="bg1"/>
                </a:solidFill>
              </a:rPr>
              <a:t>P</a:t>
            </a:r>
            <a:r>
              <a:rPr lang="es-MX" sz="3600" b="1" dirty="0" err="1" smtClean="0">
                <a:solidFill>
                  <a:schemeClr val="bg1"/>
                </a:solidFill>
              </a:rPr>
              <a:t>aaS</a:t>
            </a:r>
            <a:endParaRPr lang="es-VE" sz="3600" b="1" dirty="0">
              <a:solidFill>
                <a:schemeClr val="bg1"/>
              </a:solidFill>
            </a:endParaRPr>
          </a:p>
        </p:txBody>
      </p:sp>
      <p:sp>
        <p:nvSpPr>
          <p:cNvPr id="27" name="Rectángulo 26"/>
          <p:cNvSpPr/>
          <p:nvPr/>
        </p:nvSpPr>
        <p:spPr>
          <a:xfrm>
            <a:off x="1874383" y="3050583"/>
            <a:ext cx="1428464" cy="62961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 smtClean="0">
                <a:solidFill>
                  <a:schemeClr val="bg1"/>
                </a:solidFill>
              </a:rPr>
              <a:t>SaaS</a:t>
            </a:r>
            <a:endParaRPr lang="es-VE" sz="3600" b="1" dirty="0">
              <a:solidFill>
                <a:schemeClr val="bg1"/>
              </a:solidFill>
            </a:endParaRPr>
          </a:p>
        </p:txBody>
      </p:sp>
      <p:sp>
        <p:nvSpPr>
          <p:cNvPr id="28" name="Rectángulo 27"/>
          <p:cNvSpPr/>
          <p:nvPr/>
        </p:nvSpPr>
        <p:spPr>
          <a:xfrm>
            <a:off x="3480514" y="3497296"/>
            <a:ext cx="2151797" cy="6296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 err="1" smtClean="0">
                <a:solidFill>
                  <a:schemeClr val="bg1"/>
                </a:solidFill>
              </a:rPr>
              <a:t>CloudArch</a:t>
            </a:r>
            <a:endParaRPr lang="es-VE" sz="3200" b="1" dirty="0">
              <a:solidFill>
                <a:schemeClr val="bg1"/>
              </a:solidFill>
            </a:endParaRPr>
          </a:p>
        </p:txBody>
      </p:sp>
      <p:sp>
        <p:nvSpPr>
          <p:cNvPr id="29" name="Rectángulo 28"/>
          <p:cNvSpPr/>
          <p:nvPr/>
        </p:nvSpPr>
        <p:spPr>
          <a:xfrm>
            <a:off x="7779392" y="3482737"/>
            <a:ext cx="1806222" cy="6296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 err="1" smtClean="0">
                <a:solidFill>
                  <a:schemeClr val="bg1"/>
                </a:solidFill>
              </a:rPr>
              <a:t>DevOps</a:t>
            </a:r>
            <a:endParaRPr lang="es-VE" sz="3200" b="1" dirty="0">
              <a:solidFill>
                <a:schemeClr val="bg1"/>
              </a:solidFill>
            </a:endParaRPr>
          </a:p>
        </p:txBody>
      </p:sp>
      <p:sp>
        <p:nvSpPr>
          <p:cNvPr id="30" name="Rectángulo 29"/>
          <p:cNvSpPr/>
          <p:nvPr/>
        </p:nvSpPr>
        <p:spPr>
          <a:xfrm>
            <a:off x="5825318" y="3497296"/>
            <a:ext cx="1806222" cy="6296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 err="1" smtClean="0">
                <a:solidFill>
                  <a:schemeClr val="bg1"/>
                </a:solidFill>
              </a:rPr>
              <a:t>SysOps</a:t>
            </a:r>
            <a:endParaRPr lang="es-VE" sz="3200" b="1" dirty="0">
              <a:solidFill>
                <a:schemeClr val="bg1"/>
              </a:solidFill>
            </a:endParaRPr>
          </a:p>
        </p:txBody>
      </p:sp>
      <p:sp>
        <p:nvSpPr>
          <p:cNvPr id="31" name="Rectángulo 30"/>
          <p:cNvSpPr/>
          <p:nvPr/>
        </p:nvSpPr>
        <p:spPr>
          <a:xfrm>
            <a:off x="3907810" y="5286519"/>
            <a:ext cx="2424752" cy="62961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 err="1" smtClean="0">
                <a:solidFill>
                  <a:srgbClr val="0070C0"/>
                </a:solidFill>
              </a:rPr>
              <a:t>Insourcing</a:t>
            </a:r>
            <a:endParaRPr lang="es-VE" sz="3200" b="1" dirty="0">
              <a:solidFill>
                <a:srgbClr val="0070C0"/>
              </a:solidFill>
            </a:endParaRPr>
          </a:p>
        </p:txBody>
      </p:sp>
      <p:sp>
        <p:nvSpPr>
          <p:cNvPr id="32" name="Rectángulo 31"/>
          <p:cNvSpPr/>
          <p:nvPr/>
        </p:nvSpPr>
        <p:spPr>
          <a:xfrm>
            <a:off x="6578219" y="5293918"/>
            <a:ext cx="2492990" cy="62961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 err="1" smtClean="0">
                <a:solidFill>
                  <a:srgbClr val="0070C0"/>
                </a:solidFill>
              </a:rPr>
              <a:t>Outsourcing</a:t>
            </a:r>
            <a:endParaRPr lang="es-VE" sz="3200" b="1" dirty="0">
              <a:solidFill>
                <a:srgbClr val="0070C0"/>
              </a:solidFill>
            </a:endParaRPr>
          </a:p>
        </p:txBody>
      </p:sp>
      <p:sp>
        <p:nvSpPr>
          <p:cNvPr id="33" name="Rectángulo redondeado 32"/>
          <p:cNvSpPr/>
          <p:nvPr/>
        </p:nvSpPr>
        <p:spPr>
          <a:xfrm>
            <a:off x="7510903" y="1876715"/>
            <a:ext cx="2324668" cy="890398"/>
          </a:xfrm>
          <a:prstGeom prst="roundRect">
            <a:avLst/>
          </a:prstGeom>
          <a:solidFill>
            <a:srgbClr val="FF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dirty="0" err="1" smtClean="0"/>
              <a:t>Service</a:t>
            </a:r>
            <a:r>
              <a:rPr lang="es-MX" sz="2800" dirty="0" smtClean="0"/>
              <a:t> </a:t>
            </a:r>
            <a:br>
              <a:rPr lang="es-MX" sz="2800" dirty="0" smtClean="0"/>
            </a:br>
            <a:r>
              <a:rPr lang="es-MX" sz="2800" dirty="0" err="1" smtClean="0"/>
              <a:t>Team</a:t>
            </a:r>
            <a:endParaRPr lang="es-VE" sz="2800" dirty="0"/>
          </a:p>
        </p:txBody>
      </p:sp>
      <p:sp>
        <p:nvSpPr>
          <p:cNvPr id="35" name="Rectángulo redondeado 34"/>
          <p:cNvSpPr/>
          <p:nvPr/>
        </p:nvSpPr>
        <p:spPr>
          <a:xfrm>
            <a:off x="3225252" y="1894276"/>
            <a:ext cx="2375047" cy="978618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dirty="0" err="1" smtClean="0"/>
              <a:t>Bussiness</a:t>
            </a:r>
            <a:r>
              <a:rPr lang="es-MX" sz="2800" dirty="0" smtClean="0"/>
              <a:t> </a:t>
            </a:r>
            <a:r>
              <a:rPr lang="es-MX" sz="2800" dirty="0" err="1" smtClean="0"/>
              <a:t>Team</a:t>
            </a:r>
            <a:endParaRPr lang="es-VE" sz="2800" dirty="0"/>
          </a:p>
        </p:txBody>
      </p:sp>
      <p:sp>
        <p:nvSpPr>
          <p:cNvPr id="25" name="Rectángulo redondeado 24"/>
          <p:cNvSpPr/>
          <p:nvPr/>
        </p:nvSpPr>
        <p:spPr>
          <a:xfrm>
            <a:off x="5404345" y="2406625"/>
            <a:ext cx="2375047" cy="9786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Cloud Team</a:t>
            </a:r>
            <a:endParaRPr lang="es-VE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7" name="Rectángulo 36"/>
          <p:cNvSpPr/>
          <p:nvPr/>
        </p:nvSpPr>
        <p:spPr>
          <a:xfrm>
            <a:off x="5197690" y="4264935"/>
            <a:ext cx="2492990" cy="62961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 err="1" smtClean="0">
                <a:solidFill>
                  <a:schemeClr val="tx1"/>
                </a:solidFill>
              </a:rPr>
              <a:t>ManPower</a:t>
            </a:r>
            <a:endParaRPr lang="es-VE" sz="3200" b="1" dirty="0">
              <a:solidFill>
                <a:schemeClr val="tx1"/>
              </a:solidFill>
            </a:endParaRPr>
          </a:p>
        </p:txBody>
      </p:sp>
      <p:sp>
        <p:nvSpPr>
          <p:cNvPr id="13" name="Flecha abajo 12"/>
          <p:cNvSpPr/>
          <p:nvPr/>
        </p:nvSpPr>
        <p:spPr>
          <a:xfrm rot="1898559">
            <a:off x="4890618" y="4739061"/>
            <a:ext cx="459139" cy="662782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38" name="Flecha abajo 37"/>
          <p:cNvSpPr/>
          <p:nvPr/>
        </p:nvSpPr>
        <p:spPr>
          <a:xfrm rot="19347906">
            <a:off x="7564975" y="4741380"/>
            <a:ext cx="459139" cy="662782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324353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ángulo 67"/>
          <p:cNvSpPr/>
          <p:nvPr/>
        </p:nvSpPr>
        <p:spPr>
          <a:xfrm>
            <a:off x="6262051" y="1176065"/>
            <a:ext cx="4254585" cy="556530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67" name="Rectángulo 66"/>
          <p:cNvSpPr/>
          <p:nvPr/>
        </p:nvSpPr>
        <p:spPr>
          <a:xfrm>
            <a:off x="1697400" y="1183005"/>
            <a:ext cx="4254585" cy="554201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2" name="1 CuadroTexto"/>
          <p:cNvSpPr txBox="1"/>
          <p:nvPr/>
        </p:nvSpPr>
        <p:spPr>
          <a:xfrm>
            <a:off x="2660922" y="1277330"/>
            <a:ext cx="19031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3200" b="1" dirty="0" smtClean="0">
                <a:solidFill>
                  <a:srgbClr val="002060"/>
                </a:solidFill>
              </a:rPr>
              <a:t>Principal</a:t>
            </a:r>
            <a:endParaRPr lang="es-VE" sz="3200" b="1" dirty="0">
              <a:solidFill>
                <a:srgbClr val="002060"/>
              </a:solidFill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7767209" y="1297632"/>
            <a:ext cx="17594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3200" b="1" dirty="0" smtClean="0">
                <a:solidFill>
                  <a:srgbClr val="002060"/>
                </a:solidFill>
              </a:rPr>
              <a:t>Backup</a:t>
            </a:r>
            <a:endParaRPr lang="es-VE" sz="3200" b="1" dirty="0">
              <a:solidFill>
                <a:srgbClr val="002060"/>
              </a:solidFill>
            </a:endParaRP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1DC35055-052B-4DE1-9D82-1EDF681461C0}"/>
              </a:ext>
            </a:extLst>
          </p:cNvPr>
          <p:cNvCxnSpPr/>
          <p:nvPr/>
        </p:nvCxnSpPr>
        <p:spPr>
          <a:xfrm>
            <a:off x="6084916" y="1183005"/>
            <a:ext cx="11084" cy="5293051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4D72434E-5EC9-4811-9A7B-AECD5075E95D}"/>
              </a:ext>
            </a:extLst>
          </p:cNvPr>
          <p:cNvCxnSpPr/>
          <p:nvPr/>
        </p:nvCxnSpPr>
        <p:spPr>
          <a:xfrm>
            <a:off x="2101118" y="4580556"/>
            <a:ext cx="8147248" cy="0"/>
          </a:xfrm>
          <a:prstGeom prst="line">
            <a:avLst/>
          </a:prstGeom>
          <a:ln w="28575">
            <a:solidFill>
              <a:srgbClr val="FF0066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68A7DD0C-0549-44D7-BF98-DBBEC83CA09F}"/>
              </a:ext>
            </a:extLst>
          </p:cNvPr>
          <p:cNvCxnSpPr/>
          <p:nvPr/>
        </p:nvCxnSpPr>
        <p:spPr>
          <a:xfrm>
            <a:off x="2063552" y="3428428"/>
            <a:ext cx="8147248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14" descr="C:\Users\ecoffey\AppData\Local\Temp\Rar$DRa0.295\30029_Device_firewall_major_64.png">
            <a:extLst>
              <a:ext uri="{FF2B5EF4-FFF2-40B4-BE49-F238E27FC236}">
                <a16:creationId xmlns:a16="http://schemas.microsoft.com/office/drawing/2014/main" id="{E4D34D15-7918-424E-BC99-69A2A26A91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1373" y="3138614"/>
            <a:ext cx="611167" cy="611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7" descr="C:\Users\ecoffey\AppData\Local\Temp\Rar$DRa0.061\30068_Device_router_with_firewall_critical_64.png">
            <a:extLst>
              <a:ext uri="{FF2B5EF4-FFF2-40B4-BE49-F238E27FC236}">
                <a16:creationId xmlns:a16="http://schemas.microsoft.com/office/drawing/2014/main" id="{3018119A-E914-48C9-A410-346E510A61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180" y="4280227"/>
            <a:ext cx="649346" cy="649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C:\Users\ecoffey\AppData\Local\Temp\Rar$DRa0.653\30052_Device_nexus7000_default_64.png">
            <a:extLst>
              <a:ext uri="{FF2B5EF4-FFF2-40B4-BE49-F238E27FC236}">
                <a16:creationId xmlns:a16="http://schemas.microsoft.com/office/drawing/2014/main" id="{50C13354-5D96-445B-9511-AB5789DA3F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3845" y="2661018"/>
            <a:ext cx="661239" cy="661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1" descr="C:\Users\ecoffey\AppData\Local\Temp\Rar$DRa0.653\30052_Device_nexus7000_default_64.png">
            <a:extLst>
              <a:ext uri="{FF2B5EF4-FFF2-40B4-BE49-F238E27FC236}">
                <a16:creationId xmlns:a16="http://schemas.microsoft.com/office/drawing/2014/main" id="{5CD78992-A190-4B27-87D5-609DA0B2B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1951" y="3736829"/>
            <a:ext cx="661239" cy="661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1" descr="C:\Users\ecoffey\AppData\Local\Temp\Rar$DRa0.653\30052_Device_nexus7000_default_64.png">
            <a:extLst>
              <a:ext uri="{FF2B5EF4-FFF2-40B4-BE49-F238E27FC236}">
                <a16:creationId xmlns:a16="http://schemas.microsoft.com/office/drawing/2014/main" id="{C620AA9C-D2F8-41DA-B824-9479C16F4D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8838" y="4961584"/>
            <a:ext cx="661239" cy="661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1" descr="C:\Users\ecoffey\AppData\Local\Temp\Rar$DRa0.386\30067_Device_router_default_64.png">
            <a:extLst>
              <a:ext uri="{FF2B5EF4-FFF2-40B4-BE49-F238E27FC236}">
                <a16:creationId xmlns:a16="http://schemas.microsoft.com/office/drawing/2014/main" id="{88B355B5-807A-43B2-9601-31D6928DB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476" y="4015112"/>
            <a:ext cx="637453" cy="637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4" descr="C:\Users\ecoffey\AppData\Local\Temp\Rar$DRa0.295\30029_Device_firewall_major_64.png">
            <a:extLst>
              <a:ext uri="{FF2B5EF4-FFF2-40B4-BE49-F238E27FC236}">
                <a16:creationId xmlns:a16="http://schemas.microsoft.com/office/drawing/2014/main" id="{9EDD2DBD-C918-44A5-A017-1A73F14204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031" y="3120687"/>
            <a:ext cx="611167" cy="611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7" descr="C:\Users\ecoffey\AppData\Local\Temp\Rar$DRa0.061\30068_Device_router_with_firewall_critical_64.png">
            <a:extLst>
              <a:ext uri="{FF2B5EF4-FFF2-40B4-BE49-F238E27FC236}">
                <a16:creationId xmlns:a16="http://schemas.microsoft.com/office/drawing/2014/main" id="{E032D73B-FF3B-4A85-94DF-A99B261F0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030" y="4280227"/>
            <a:ext cx="649346" cy="649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1" descr="C:\Users\ecoffey\AppData\Local\Temp\Rar$DRa0.653\30052_Device_nexus7000_default_64.png">
            <a:extLst>
              <a:ext uri="{FF2B5EF4-FFF2-40B4-BE49-F238E27FC236}">
                <a16:creationId xmlns:a16="http://schemas.microsoft.com/office/drawing/2014/main" id="{259FD548-114F-4286-90AF-A84EB40CAB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005" y="2661018"/>
            <a:ext cx="661239" cy="661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1" descr="C:\Users\ecoffey\AppData\Local\Temp\Rar$DRa0.653\30052_Device_nexus7000_default_64.png">
            <a:extLst>
              <a:ext uri="{FF2B5EF4-FFF2-40B4-BE49-F238E27FC236}">
                <a16:creationId xmlns:a16="http://schemas.microsoft.com/office/drawing/2014/main" id="{30034452-A03C-4EC7-8633-7C044DA82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5111" y="3736829"/>
            <a:ext cx="661239" cy="661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11" descr="C:\Users\ecoffey\AppData\Local\Temp\Rar$DRa0.653\30052_Device_nexus7000_default_64.png">
            <a:extLst>
              <a:ext uri="{FF2B5EF4-FFF2-40B4-BE49-F238E27FC236}">
                <a16:creationId xmlns:a16="http://schemas.microsoft.com/office/drawing/2014/main" id="{44782244-D447-4EC6-9C1C-23C0E64955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5646" y="4961584"/>
            <a:ext cx="661239" cy="661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1" descr="C:\Users\ecoffey\AppData\Local\Temp\Rar$DRa0.386\30067_Device_router_default_64.png">
            <a:extLst>
              <a:ext uri="{FF2B5EF4-FFF2-40B4-BE49-F238E27FC236}">
                <a16:creationId xmlns:a16="http://schemas.microsoft.com/office/drawing/2014/main" id="{7E1682D9-437A-4C59-A19B-021089493F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4692" y="4004493"/>
            <a:ext cx="637453" cy="637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5D74DCB3-F0D7-480D-AC9A-3AC54400F131}"/>
              </a:ext>
            </a:extLst>
          </p:cNvPr>
          <p:cNvCxnSpPr>
            <a:cxnSpLocks/>
            <a:stCxn id="23" idx="3"/>
            <a:endCxn id="12" idx="0"/>
          </p:cNvCxnSpPr>
          <p:nvPr/>
        </p:nvCxnSpPr>
        <p:spPr>
          <a:xfrm flipH="1">
            <a:off x="4304465" y="2234807"/>
            <a:ext cx="659695" cy="4262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96D7BE02-E28A-4F21-B504-7DC1F2B16966}"/>
              </a:ext>
            </a:extLst>
          </p:cNvPr>
          <p:cNvCxnSpPr>
            <a:cxnSpLocks/>
            <a:stCxn id="19" idx="0"/>
            <a:endCxn id="17" idx="1"/>
          </p:cNvCxnSpPr>
          <p:nvPr/>
        </p:nvCxnSpPr>
        <p:spPr>
          <a:xfrm flipH="1" flipV="1">
            <a:off x="7129756" y="2193937"/>
            <a:ext cx="817869" cy="467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F8872D99-02F0-415A-BC40-D337FAC829BC}"/>
              </a:ext>
            </a:extLst>
          </p:cNvPr>
          <p:cNvCxnSpPr>
            <a:cxnSpLocks/>
            <a:stCxn id="19" idx="3"/>
            <a:endCxn id="16" idx="0"/>
          </p:cNvCxnSpPr>
          <p:nvPr/>
        </p:nvCxnSpPr>
        <p:spPr>
          <a:xfrm>
            <a:off x="8278244" y="2991638"/>
            <a:ext cx="485371" cy="1290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60922D40-9E04-455E-9320-1645C2CDCEE7}"/>
              </a:ext>
            </a:extLst>
          </p:cNvPr>
          <p:cNvCxnSpPr>
            <a:cxnSpLocks/>
            <a:stCxn id="20" idx="3"/>
            <a:endCxn id="16" idx="2"/>
          </p:cNvCxnSpPr>
          <p:nvPr/>
        </p:nvCxnSpPr>
        <p:spPr>
          <a:xfrm flipV="1">
            <a:off x="8266350" y="3731854"/>
            <a:ext cx="497265" cy="3355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13B1812A-6F29-46AE-932A-5AAD368050DF}"/>
              </a:ext>
            </a:extLst>
          </p:cNvPr>
          <p:cNvCxnSpPr>
            <a:cxnSpLocks/>
            <a:stCxn id="20" idx="3"/>
            <a:endCxn id="18" idx="0"/>
          </p:cNvCxnSpPr>
          <p:nvPr/>
        </p:nvCxnSpPr>
        <p:spPr>
          <a:xfrm>
            <a:off x="8266349" y="4067449"/>
            <a:ext cx="516354" cy="21277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ADDE218E-B14A-4F1D-92DE-41966DA4D4DD}"/>
              </a:ext>
            </a:extLst>
          </p:cNvPr>
          <p:cNvCxnSpPr>
            <a:cxnSpLocks/>
            <a:stCxn id="21" idx="3"/>
            <a:endCxn id="18" idx="2"/>
          </p:cNvCxnSpPr>
          <p:nvPr/>
        </p:nvCxnSpPr>
        <p:spPr>
          <a:xfrm flipV="1">
            <a:off x="8276885" y="4929573"/>
            <a:ext cx="505819" cy="3626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6E22C999-05A9-49D3-B48A-1C8C75A30000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3562195" y="4857201"/>
            <a:ext cx="396643" cy="4350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52E27A1E-25B9-4A54-AC00-6D2993112A42}"/>
              </a:ext>
            </a:extLst>
          </p:cNvPr>
          <p:cNvCxnSpPr>
            <a:cxnSpLocks/>
            <a:stCxn id="13" idx="1"/>
            <a:endCxn id="11" idx="0"/>
          </p:cNvCxnSpPr>
          <p:nvPr/>
        </p:nvCxnSpPr>
        <p:spPr>
          <a:xfrm flipH="1">
            <a:off x="3610854" y="4067449"/>
            <a:ext cx="351097" cy="21277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F5D8BFAF-9D2F-447C-AE60-3DDEF3344E4D}"/>
              </a:ext>
            </a:extLst>
          </p:cNvPr>
          <p:cNvCxnSpPr>
            <a:cxnSpLocks/>
            <a:stCxn id="13" idx="1"/>
            <a:endCxn id="10" idx="2"/>
          </p:cNvCxnSpPr>
          <p:nvPr/>
        </p:nvCxnSpPr>
        <p:spPr>
          <a:xfrm flipH="1" flipV="1">
            <a:off x="3576956" y="3749780"/>
            <a:ext cx="384994" cy="3176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420193A7-2880-4AB2-9BC5-A3043DF8D378}"/>
              </a:ext>
            </a:extLst>
          </p:cNvPr>
          <p:cNvCxnSpPr>
            <a:cxnSpLocks/>
            <a:stCxn id="12" idx="1"/>
            <a:endCxn id="10" idx="0"/>
          </p:cNvCxnSpPr>
          <p:nvPr/>
        </p:nvCxnSpPr>
        <p:spPr>
          <a:xfrm flipH="1">
            <a:off x="3576956" y="2991637"/>
            <a:ext cx="396888" cy="1469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85C49C9B-8639-427A-980B-2E8497336B27}"/>
              </a:ext>
            </a:extLst>
          </p:cNvPr>
          <p:cNvCxnSpPr>
            <a:cxnSpLocks/>
            <a:stCxn id="20" idx="1"/>
            <a:endCxn id="22" idx="3"/>
          </p:cNvCxnSpPr>
          <p:nvPr/>
        </p:nvCxnSpPr>
        <p:spPr>
          <a:xfrm flipH="1">
            <a:off x="7392144" y="4067449"/>
            <a:ext cx="212966" cy="2557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0570A0C4-E3F1-4993-94DB-B622E4A07BA2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>
            <a:off x="4623189" y="4067448"/>
            <a:ext cx="187286" cy="2663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7BCF054C-53BA-42A1-BA68-B531B1F7BF2C}"/>
              </a:ext>
            </a:extLst>
          </p:cNvPr>
          <p:cNvCxnSpPr>
            <a:cxnSpLocks/>
            <a:endCxn id="40" idx="1"/>
          </p:cNvCxnSpPr>
          <p:nvPr/>
        </p:nvCxnSpPr>
        <p:spPr>
          <a:xfrm flipV="1">
            <a:off x="5491645" y="3883131"/>
            <a:ext cx="327716" cy="3756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B4F4AA2D-E980-410A-9049-38006C68F32F}"/>
              </a:ext>
            </a:extLst>
          </p:cNvPr>
          <p:cNvCxnSpPr>
            <a:cxnSpLocks/>
            <a:stCxn id="40" idx="3"/>
            <a:endCxn id="22" idx="1"/>
          </p:cNvCxnSpPr>
          <p:nvPr/>
        </p:nvCxnSpPr>
        <p:spPr>
          <a:xfrm>
            <a:off x="6228545" y="3883131"/>
            <a:ext cx="526147" cy="4400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upo 37">
            <a:extLst>
              <a:ext uri="{FF2B5EF4-FFF2-40B4-BE49-F238E27FC236}">
                <a16:creationId xmlns:a16="http://schemas.microsoft.com/office/drawing/2014/main" id="{3B34226E-34A1-401C-B7F8-C44FD9CC0787}"/>
              </a:ext>
            </a:extLst>
          </p:cNvPr>
          <p:cNvGrpSpPr/>
          <p:nvPr/>
        </p:nvGrpSpPr>
        <p:grpSpPr>
          <a:xfrm>
            <a:off x="5591945" y="3322256"/>
            <a:ext cx="950697" cy="1016701"/>
            <a:chOff x="3978704" y="3432031"/>
            <a:chExt cx="1110624" cy="1110624"/>
          </a:xfrm>
        </p:grpSpPr>
        <p:pic>
          <p:nvPicPr>
            <p:cNvPr id="39" name="Picture 4" descr="C:\Users\ecoffey\AppData\Local\Temp\Rar$DRa0.400\30009_Device_cloud_white_default_256.png">
              <a:extLst>
                <a:ext uri="{FF2B5EF4-FFF2-40B4-BE49-F238E27FC236}">
                  <a16:creationId xmlns:a16="http://schemas.microsoft.com/office/drawing/2014/main" id="{B7ED25BA-4B5E-48CD-9F49-DC58247BF8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78704" y="3432031"/>
              <a:ext cx="1110624" cy="11106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0" name="CuadroTexto 39">
              <a:extLst>
                <a:ext uri="{FF2B5EF4-FFF2-40B4-BE49-F238E27FC236}">
                  <a16:creationId xmlns:a16="http://schemas.microsoft.com/office/drawing/2014/main" id="{61A578F9-B4E1-4FC7-B3E2-9219E5F45412}"/>
                </a:ext>
              </a:extLst>
            </p:cNvPr>
            <p:cNvSpPr txBox="1"/>
            <p:nvPr/>
          </p:nvSpPr>
          <p:spPr>
            <a:xfrm>
              <a:off x="4244377" y="3875442"/>
              <a:ext cx="558428" cy="3698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600" b="1" dirty="0"/>
                <a:t>DCI</a:t>
              </a:r>
              <a:endParaRPr lang="es-ES" b="1" dirty="0"/>
            </a:p>
          </p:txBody>
        </p:sp>
      </p:grp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2CEBB7B8-DD53-4258-9E4E-5A36CF2870D7}"/>
              </a:ext>
            </a:extLst>
          </p:cNvPr>
          <p:cNvCxnSpPr>
            <a:cxnSpLocks/>
            <a:stCxn id="23" idx="3"/>
            <a:endCxn id="44" idx="1"/>
          </p:cNvCxnSpPr>
          <p:nvPr/>
        </p:nvCxnSpPr>
        <p:spPr>
          <a:xfrm flipV="1">
            <a:off x="4964160" y="1996599"/>
            <a:ext cx="639245" cy="2382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15EDAF15-A763-4FDE-96D3-0056831CDBF4}"/>
              </a:ext>
            </a:extLst>
          </p:cNvPr>
          <p:cNvCxnSpPr>
            <a:cxnSpLocks/>
            <a:stCxn id="17" idx="1"/>
            <a:endCxn id="44" idx="3"/>
          </p:cNvCxnSpPr>
          <p:nvPr/>
        </p:nvCxnSpPr>
        <p:spPr>
          <a:xfrm flipH="1" flipV="1">
            <a:off x="6477939" y="1996599"/>
            <a:ext cx="651816" cy="1973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uadroTexto 45">
            <a:extLst>
              <a:ext uri="{FF2B5EF4-FFF2-40B4-BE49-F238E27FC236}">
                <a16:creationId xmlns:a16="http://schemas.microsoft.com/office/drawing/2014/main" id="{7D8D98A3-E60C-4314-845D-09D9372AD242}"/>
              </a:ext>
            </a:extLst>
          </p:cNvPr>
          <p:cNvSpPr txBox="1"/>
          <p:nvPr/>
        </p:nvSpPr>
        <p:spPr>
          <a:xfrm>
            <a:off x="2438445" y="2958527"/>
            <a:ext cx="852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 smtClean="0">
                <a:solidFill>
                  <a:schemeClr val="accent6">
                    <a:lumMod val="75000"/>
                  </a:schemeClr>
                </a:solidFill>
              </a:rPr>
              <a:t>Perimetral</a:t>
            </a:r>
          </a:p>
          <a:p>
            <a:pPr algn="ctr"/>
            <a:r>
              <a:rPr lang="es-ES" sz="1200" b="1" dirty="0" smtClean="0">
                <a:solidFill>
                  <a:schemeClr val="accent6">
                    <a:lumMod val="75000"/>
                  </a:schemeClr>
                </a:solidFill>
              </a:rPr>
              <a:t>Security</a:t>
            </a:r>
            <a:endParaRPr lang="es-ES" sz="12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96AD58BF-8D1A-475D-9F48-703A2A63881C}"/>
              </a:ext>
            </a:extLst>
          </p:cNvPr>
          <p:cNvSpPr txBox="1"/>
          <p:nvPr/>
        </p:nvSpPr>
        <p:spPr>
          <a:xfrm>
            <a:off x="2465795" y="4585094"/>
            <a:ext cx="6992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 err="1" smtClean="0">
                <a:solidFill>
                  <a:srgbClr val="FF0066"/>
                </a:solidFill>
              </a:rPr>
              <a:t>Specific</a:t>
            </a:r>
            <a:endParaRPr lang="es-ES" sz="1200" b="1" dirty="0">
              <a:solidFill>
                <a:srgbClr val="FF0066"/>
              </a:solidFill>
            </a:endParaRPr>
          </a:p>
          <a:p>
            <a:pPr algn="ctr"/>
            <a:r>
              <a:rPr lang="es-ES" sz="1200" b="1" dirty="0" smtClean="0">
                <a:solidFill>
                  <a:srgbClr val="FF0066"/>
                </a:solidFill>
              </a:rPr>
              <a:t>Security</a:t>
            </a:r>
            <a:endParaRPr lang="es-ES" sz="1200" b="1" dirty="0">
              <a:solidFill>
                <a:srgbClr val="FF0066"/>
              </a:solidFill>
            </a:endParaRP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041C300B-367F-4F27-850D-643BC0FB131A}"/>
              </a:ext>
            </a:extLst>
          </p:cNvPr>
          <p:cNvSpPr txBox="1"/>
          <p:nvPr/>
        </p:nvSpPr>
        <p:spPr>
          <a:xfrm>
            <a:off x="9149139" y="2958527"/>
            <a:ext cx="852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>
                <a:solidFill>
                  <a:schemeClr val="accent6">
                    <a:lumMod val="75000"/>
                  </a:schemeClr>
                </a:solidFill>
              </a:rPr>
              <a:t>Perimetral</a:t>
            </a:r>
          </a:p>
          <a:p>
            <a:pPr algn="ctr"/>
            <a:r>
              <a:rPr lang="es-ES" sz="1200" b="1" dirty="0">
                <a:solidFill>
                  <a:schemeClr val="accent6">
                    <a:lumMod val="75000"/>
                  </a:schemeClr>
                </a:solidFill>
              </a:rPr>
              <a:t>Security</a:t>
            </a:r>
            <a:endParaRPr lang="es-ES" sz="12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BDCE68D2-9FB3-412A-A81E-217F70A1CB4E}"/>
              </a:ext>
            </a:extLst>
          </p:cNvPr>
          <p:cNvSpPr txBox="1"/>
          <p:nvPr/>
        </p:nvSpPr>
        <p:spPr>
          <a:xfrm>
            <a:off x="9149139" y="4582576"/>
            <a:ext cx="6992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 err="1">
                <a:solidFill>
                  <a:srgbClr val="FF0066"/>
                </a:solidFill>
              </a:rPr>
              <a:t>Specific</a:t>
            </a:r>
            <a:endParaRPr lang="es-ES" sz="1200" b="1" dirty="0">
              <a:solidFill>
                <a:srgbClr val="FF0066"/>
              </a:solidFill>
            </a:endParaRPr>
          </a:p>
          <a:p>
            <a:pPr algn="ctr"/>
            <a:r>
              <a:rPr lang="es-ES" sz="1200" b="1" dirty="0">
                <a:solidFill>
                  <a:srgbClr val="FF0066"/>
                </a:solidFill>
              </a:rPr>
              <a:t>Security</a:t>
            </a:r>
            <a:endParaRPr lang="es-ES" sz="1200" b="1" dirty="0">
              <a:solidFill>
                <a:srgbClr val="FF0066"/>
              </a:solidFill>
            </a:endParaRP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A69EE20D-3323-406C-AD22-AFD0FBFD3500}"/>
              </a:ext>
            </a:extLst>
          </p:cNvPr>
          <p:cNvSpPr txBox="1"/>
          <p:nvPr/>
        </p:nvSpPr>
        <p:spPr>
          <a:xfrm>
            <a:off x="6808482" y="2541264"/>
            <a:ext cx="5391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b="1" dirty="0" err="1" smtClean="0">
                <a:solidFill>
                  <a:srgbClr val="002060"/>
                </a:solidFill>
              </a:rPr>
              <a:t>Edge</a:t>
            </a:r>
            <a:endParaRPr lang="es-ES" sz="1400" b="1" dirty="0">
              <a:solidFill>
                <a:srgbClr val="002060"/>
              </a:solidFill>
            </a:endParaRP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0C7017F7-5298-4156-A80E-A1F8D01395D1}"/>
              </a:ext>
            </a:extLst>
          </p:cNvPr>
          <p:cNvSpPr txBox="1"/>
          <p:nvPr/>
        </p:nvSpPr>
        <p:spPr>
          <a:xfrm>
            <a:off x="4796221" y="2546086"/>
            <a:ext cx="5391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b="1" dirty="0" err="1" smtClean="0">
                <a:solidFill>
                  <a:srgbClr val="002060"/>
                </a:solidFill>
              </a:rPr>
              <a:t>Edge</a:t>
            </a:r>
            <a:endParaRPr lang="es-ES" sz="1400" b="1" dirty="0">
              <a:solidFill>
                <a:srgbClr val="002060"/>
              </a:solidFill>
            </a:endParaRP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88B813AA-21A8-4602-8311-39A00E9C4E65}"/>
              </a:ext>
            </a:extLst>
          </p:cNvPr>
          <p:cNvSpPr txBox="1"/>
          <p:nvPr/>
        </p:nvSpPr>
        <p:spPr>
          <a:xfrm>
            <a:off x="6739211" y="5107595"/>
            <a:ext cx="6783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b="1" dirty="0" smtClean="0">
                <a:solidFill>
                  <a:srgbClr val="002060"/>
                </a:solidFill>
              </a:rPr>
              <a:t>Access</a:t>
            </a:r>
            <a:endParaRPr lang="es-ES" sz="1400" b="1" dirty="0">
              <a:solidFill>
                <a:srgbClr val="002060"/>
              </a:solidFill>
            </a:endParaRP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18B5CB57-4696-4EEC-92B0-EF02AB42E930}"/>
              </a:ext>
            </a:extLst>
          </p:cNvPr>
          <p:cNvSpPr txBox="1"/>
          <p:nvPr/>
        </p:nvSpPr>
        <p:spPr>
          <a:xfrm>
            <a:off x="4658131" y="5149458"/>
            <a:ext cx="6783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b="1" dirty="0" smtClean="0">
                <a:solidFill>
                  <a:srgbClr val="002060"/>
                </a:solidFill>
              </a:rPr>
              <a:t>Access</a:t>
            </a:r>
            <a:endParaRPr lang="es-ES" sz="1400" b="1" dirty="0">
              <a:solidFill>
                <a:srgbClr val="002060"/>
              </a:solidFill>
            </a:endParaRP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0C156D91-258F-42B1-A22F-943D5BA00E78}"/>
              </a:ext>
            </a:extLst>
          </p:cNvPr>
          <p:cNvSpPr txBox="1"/>
          <p:nvPr/>
        </p:nvSpPr>
        <p:spPr>
          <a:xfrm>
            <a:off x="4563618" y="3689554"/>
            <a:ext cx="8914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b="1" dirty="0">
                <a:solidFill>
                  <a:srgbClr val="002060"/>
                </a:solidFill>
              </a:rPr>
              <a:t>Agr./Dist.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50F059D1-0C7F-44E8-8D12-98EEEDA1203C}"/>
              </a:ext>
            </a:extLst>
          </p:cNvPr>
          <p:cNvSpPr txBox="1"/>
          <p:nvPr/>
        </p:nvSpPr>
        <p:spPr>
          <a:xfrm>
            <a:off x="6644698" y="3696015"/>
            <a:ext cx="8914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b="1" dirty="0">
                <a:solidFill>
                  <a:srgbClr val="002060"/>
                </a:solidFill>
              </a:rPr>
              <a:t>Agr./Dist.</a:t>
            </a:r>
          </a:p>
        </p:txBody>
      </p:sp>
      <p:grpSp>
        <p:nvGrpSpPr>
          <p:cNvPr id="59" name="Grupo 58">
            <a:extLst>
              <a:ext uri="{FF2B5EF4-FFF2-40B4-BE49-F238E27FC236}">
                <a16:creationId xmlns:a16="http://schemas.microsoft.com/office/drawing/2014/main" id="{42F529F5-A05A-416A-971F-3AF6C256FA89}"/>
              </a:ext>
            </a:extLst>
          </p:cNvPr>
          <p:cNvGrpSpPr/>
          <p:nvPr/>
        </p:nvGrpSpPr>
        <p:grpSpPr>
          <a:xfrm>
            <a:off x="3070019" y="5568846"/>
            <a:ext cx="625958" cy="757984"/>
            <a:chOff x="1674781" y="5492281"/>
            <a:chExt cx="625958" cy="757984"/>
          </a:xfrm>
        </p:grpSpPr>
        <p:pic>
          <p:nvPicPr>
            <p:cNvPr id="60" name="Picture 26" descr="C:\Users\ecoffey\AppData\Local\Temp\Rar$DRa0.059\Source\Png 64,24,16\Normal\Cisco-CSR-Router_64_normal.png">
              <a:extLst>
                <a:ext uri="{FF2B5EF4-FFF2-40B4-BE49-F238E27FC236}">
                  <a16:creationId xmlns:a16="http://schemas.microsoft.com/office/drawing/2014/main" id="{DE600B44-4DB9-4538-8588-9660626256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4781" y="5492281"/>
              <a:ext cx="625958" cy="6259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1" name="CuadroTexto 60">
              <a:extLst>
                <a:ext uri="{FF2B5EF4-FFF2-40B4-BE49-F238E27FC236}">
                  <a16:creationId xmlns:a16="http://schemas.microsoft.com/office/drawing/2014/main" id="{6B77C9C4-E9E1-481A-BCE8-816B16038A0A}"/>
                </a:ext>
              </a:extLst>
            </p:cNvPr>
            <p:cNvSpPr txBox="1"/>
            <p:nvPr/>
          </p:nvSpPr>
          <p:spPr>
            <a:xfrm>
              <a:off x="1715676" y="5973266"/>
              <a:ext cx="57233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200" b="1" dirty="0" err="1" smtClean="0">
                  <a:solidFill>
                    <a:srgbClr val="00B050"/>
                  </a:solidFill>
                </a:rPr>
                <a:t>Users</a:t>
              </a:r>
              <a:r>
                <a:rPr lang="es-ES" sz="1200" b="1" dirty="0" smtClean="0">
                  <a:solidFill>
                    <a:srgbClr val="00B050"/>
                  </a:solidFill>
                </a:rPr>
                <a:t> </a:t>
              </a:r>
              <a:endParaRPr lang="es-ES" sz="1200" b="1" dirty="0">
                <a:solidFill>
                  <a:srgbClr val="00B050"/>
                </a:solidFill>
              </a:endParaRPr>
            </a:p>
          </p:txBody>
        </p:sp>
      </p:grp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EB89E61C-36E2-4AC1-9E00-0120522B65D2}"/>
              </a:ext>
            </a:extLst>
          </p:cNvPr>
          <p:cNvCxnSpPr>
            <a:cxnSpLocks/>
            <a:stCxn id="14" idx="1"/>
            <a:endCxn id="60" idx="0"/>
          </p:cNvCxnSpPr>
          <p:nvPr/>
        </p:nvCxnSpPr>
        <p:spPr>
          <a:xfrm flipH="1">
            <a:off x="3382997" y="5292204"/>
            <a:ext cx="575840" cy="2766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Grupo 62">
            <a:extLst>
              <a:ext uri="{FF2B5EF4-FFF2-40B4-BE49-F238E27FC236}">
                <a16:creationId xmlns:a16="http://schemas.microsoft.com/office/drawing/2014/main" id="{DB0B41B2-99CB-409D-BA3D-96FDF86308B1}"/>
              </a:ext>
            </a:extLst>
          </p:cNvPr>
          <p:cNvGrpSpPr/>
          <p:nvPr/>
        </p:nvGrpSpPr>
        <p:grpSpPr>
          <a:xfrm>
            <a:off x="8603413" y="5517232"/>
            <a:ext cx="625958" cy="757984"/>
            <a:chOff x="1674781" y="5492281"/>
            <a:chExt cx="625958" cy="757984"/>
          </a:xfrm>
        </p:grpSpPr>
        <p:pic>
          <p:nvPicPr>
            <p:cNvPr id="64" name="Picture 26" descr="C:\Users\ecoffey\AppData\Local\Temp\Rar$DRa0.059\Source\Png 64,24,16\Normal\Cisco-CSR-Router_64_normal.png">
              <a:extLst>
                <a:ext uri="{FF2B5EF4-FFF2-40B4-BE49-F238E27FC236}">
                  <a16:creationId xmlns:a16="http://schemas.microsoft.com/office/drawing/2014/main" id="{4CCB8814-A1D8-493F-A9C0-3CA826CC29A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4781" y="5492281"/>
              <a:ext cx="625958" cy="6259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5" name="CuadroTexto 64">
              <a:extLst>
                <a:ext uri="{FF2B5EF4-FFF2-40B4-BE49-F238E27FC236}">
                  <a16:creationId xmlns:a16="http://schemas.microsoft.com/office/drawing/2014/main" id="{440C4209-8507-4055-AFF8-F3FB44134295}"/>
                </a:ext>
              </a:extLst>
            </p:cNvPr>
            <p:cNvSpPr txBox="1"/>
            <p:nvPr/>
          </p:nvSpPr>
          <p:spPr>
            <a:xfrm>
              <a:off x="1715675" y="5973266"/>
              <a:ext cx="57233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200" b="1" dirty="0" err="1" smtClean="0">
                  <a:solidFill>
                    <a:srgbClr val="00B050"/>
                  </a:solidFill>
                </a:rPr>
                <a:t>Users</a:t>
              </a:r>
              <a:r>
                <a:rPr lang="es-ES" sz="1200" b="1" dirty="0" smtClean="0">
                  <a:solidFill>
                    <a:srgbClr val="00B050"/>
                  </a:solidFill>
                </a:rPr>
                <a:t> </a:t>
              </a:r>
              <a:endParaRPr lang="es-ES" sz="1200" b="1" dirty="0">
                <a:solidFill>
                  <a:srgbClr val="00B050"/>
                </a:solidFill>
              </a:endParaRPr>
            </a:p>
          </p:txBody>
        </p:sp>
      </p:grpSp>
      <p:cxnSp>
        <p:nvCxnSpPr>
          <p:cNvPr id="66" name="Conector recto 65">
            <a:extLst>
              <a:ext uri="{FF2B5EF4-FFF2-40B4-BE49-F238E27FC236}">
                <a16:creationId xmlns:a16="http://schemas.microsoft.com/office/drawing/2014/main" id="{A9C5BFA6-B018-4BAB-8AD5-A1005609CCBE}"/>
              </a:ext>
            </a:extLst>
          </p:cNvPr>
          <p:cNvCxnSpPr>
            <a:cxnSpLocks/>
            <a:stCxn id="21" idx="3"/>
            <a:endCxn id="64" idx="0"/>
          </p:cNvCxnSpPr>
          <p:nvPr/>
        </p:nvCxnSpPr>
        <p:spPr>
          <a:xfrm>
            <a:off x="8276885" y="5292204"/>
            <a:ext cx="639507" cy="2250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11" descr="C:\Users\ecoffey\AppData\Local\Temp\Rar$DRa0.386\30067_Device_router_default_64.png">
            <a:extLst>
              <a:ext uri="{FF2B5EF4-FFF2-40B4-BE49-F238E27FC236}">
                <a16:creationId xmlns:a16="http://schemas.microsoft.com/office/drawing/2014/main" id="{B45ED57A-324D-4AA1-9992-2B156E2931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6707" y="1916081"/>
            <a:ext cx="637453" cy="637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2" name="Grupo 41">
            <a:extLst>
              <a:ext uri="{FF2B5EF4-FFF2-40B4-BE49-F238E27FC236}">
                <a16:creationId xmlns:a16="http://schemas.microsoft.com/office/drawing/2014/main" id="{54A9BDCA-BA1C-4705-A23A-40B52BF4A959}"/>
              </a:ext>
            </a:extLst>
          </p:cNvPr>
          <p:cNvGrpSpPr/>
          <p:nvPr/>
        </p:nvGrpSpPr>
        <p:grpSpPr>
          <a:xfrm>
            <a:off x="5491645" y="1309121"/>
            <a:ext cx="1110624" cy="1110624"/>
            <a:chOff x="1641490" y="1389398"/>
            <a:chExt cx="1110624" cy="1110624"/>
          </a:xfrm>
        </p:grpSpPr>
        <p:pic>
          <p:nvPicPr>
            <p:cNvPr id="43" name="Picture 4" descr="C:\Users\ecoffey\AppData\Local\Temp\Rar$DRa0.400\30009_Device_cloud_white_default_256.png">
              <a:extLst>
                <a:ext uri="{FF2B5EF4-FFF2-40B4-BE49-F238E27FC236}">
                  <a16:creationId xmlns:a16="http://schemas.microsoft.com/office/drawing/2014/main" id="{28AF0E59-B7FF-4E04-B5E3-27F794CBFE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41490" y="1389398"/>
              <a:ext cx="1110624" cy="11106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4" name="CuadroTexto 43">
              <a:extLst>
                <a:ext uri="{FF2B5EF4-FFF2-40B4-BE49-F238E27FC236}">
                  <a16:creationId xmlns:a16="http://schemas.microsoft.com/office/drawing/2014/main" id="{B50C93CC-00C9-4776-AEAB-86D9BE5BC65E}"/>
                </a:ext>
              </a:extLst>
            </p:cNvPr>
            <p:cNvSpPr txBox="1"/>
            <p:nvPr/>
          </p:nvSpPr>
          <p:spPr>
            <a:xfrm>
              <a:off x="1753249" y="1907599"/>
              <a:ext cx="8745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600" b="1" dirty="0"/>
                <a:t>Internet</a:t>
              </a:r>
              <a:endParaRPr lang="es-ES" b="1" dirty="0"/>
            </a:p>
          </p:txBody>
        </p:sp>
      </p:grpSp>
      <p:pic>
        <p:nvPicPr>
          <p:cNvPr id="17" name="Picture 11" descr="C:\Users\ecoffey\AppData\Local\Temp\Rar$DRa0.386\30067_Device_router_default_64.png">
            <a:extLst>
              <a:ext uri="{FF2B5EF4-FFF2-40B4-BE49-F238E27FC236}">
                <a16:creationId xmlns:a16="http://schemas.microsoft.com/office/drawing/2014/main" id="{B69E28BA-4B05-440D-AAD6-8CB371044D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9756" y="1875211"/>
            <a:ext cx="637453" cy="637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9" name="Título 1"/>
          <p:cNvSpPr txBox="1">
            <a:spLocks/>
          </p:cNvSpPr>
          <p:nvPr/>
        </p:nvSpPr>
        <p:spPr>
          <a:xfrm>
            <a:off x="838200" y="365126"/>
            <a:ext cx="10515600" cy="718187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 err="1" smtClean="0"/>
              <a:t>Anywhere</a:t>
            </a:r>
            <a:r>
              <a:rPr lang="es-MX" dirty="0"/>
              <a:t>, </a:t>
            </a:r>
            <a:r>
              <a:rPr lang="es-MX" dirty="0" err="1"/>
              <a:t>Anytime</a:t>
            </a:r>
            <a:r>
              <a:rPr lang="es-MX" dirty="0"/>
              <a:t>…</a:t>
            </a:r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209369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1DC35055-052B-4DE1-9D82-1EDF681461C0}"/>
              </a:ext>
            </a:extLst>
          </p:cNvPr>
          <p:cNvCxnSpPr/>
          <p:nvPr/>
        </p:nvCxnSpPr>
        <p:spPr>
          <a:xfrm flipH="1">
            <a:off x="6105280" y="1249596"/>
            <a:ext cx="21200" cy="5475423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Rectángulo 178"/>
          <p:cNvSpPr/>
          <p:nvPr/>
        </p:nvSpPr>
        <p:spPr>
          <a:xfrm>
            <a:off x="1736864" y="1196753"/>
            <a:ext cx="4254585" cy="552826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177" name="Rectángulo 176"/>
          <p:cNvSpPr/>
          <p:nvPr/>
        </p:nvSpPr>
        <p:spPr>
          <a:xfrm>
            <a:off x="6211870" y="1196753"/>
            <a:ext cx="4254585" cy="55703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122" name="Rectángulo redondeado 121"/>
          <p:cNvSpPr/>
          <p:nvPr/>
        </p:nvSpPr>
        <p:spPr>
          <a:xfrm>
            <a:off x="6055361" y="3766610"/>
            <a:ext cx="2826918" cy="166446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117" name="Rectángulo redondeado 116"/>
          <p:cNvSpPr/>
          <p:nvPr/>
        </p:nvSpPr>
        <p:spPr>
          <a:xfrm>
            <a:off x="6018965" y="3752625"/>
            <a:ext cx="188001" cy="111977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2" name="1 CuadroTexto"/>
          <p:cNvSpPr txBox="1"/>
          <p:nvPr/>
        </p:nvSpPr>
        <p:spPr>
          <a:xfrm>
            <a:off x="2928548" y="1196753"/>
            <a:ext cx="19932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3200" b="1" dirty="0" smtClean="0">
                <a:solidFill>
                  <a:srgbClr val="002060"/>
                </a:solidFill>
              </a:rPr>
              <a:t>Local</a:t>
            </a:r>
            <a:endParaRPr lang="es-VE" sz="3200" b="1" dirty="0">
              <a:solidFill>
                <a:srgbClr val="002060"/>
              </a:solidFill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6931791" y="1249596"/>
            <a:ext cx="28968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2800" b="1" dirty="0" smtClean="0">
                <a:solidFill>
                  <a:srgbClr val="002060"/>
                </a:solidFill>
              </a:rPr>
              <a:t>Mega-</a:t>
            </a:r>
            <a:r>
              <a:rPr lang="es-419" sz="2800" b="1" dirty="0" err="1" smtClean="0">
                <a:solidFill>
                  <a:srgbClr val="002060"/>
                </a:solidFill>
              </a:rPr>
              <a:t>Clouds</a:t>
            </a:r>
            <a:endParaRPr lang="es-VE" sz="2800" b="1" dirty="0">
              <a:solidFill>
                <a:srgbClr val="002060"/>
              </a:solidFill>
            </a:endParaRP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4D72434E-5EC9-4811-9A7B-AECD5075E95D}"/>
              </a:ext>
            </a:extLst>
          </p:cNvPr>
          <p:cNvCxnSpPr/>
          <p:nvPr/>
        </p:nvCxnSpPr>
        <p:spPr>
          <a:xfrm>
            <a:off x="2223100" y="4408853"/>
            <a:ext cx="8104704" cy="5496"/>
          </a:xfrm>
          <a:prstGeom prst="line">
            <a:avLst/>
          </a:prstGeom>
          <a:ln w="28575">
            <a:solidFill>
              <a:srgbClr val="FF0066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68A7DD0C-0549-44D7-BF98-DBBEC83CA09F}"/>
              </a:ext>
            </a:extLst>
          </p:cNvPr>
          <p:cNvCxnSpPr/>
          <p:nvPr/>
        </p:nvCxnSpPr>
        <p:spPr>
          <a:xfrm>
            <a:off x="2185534" y="3256727"/>
            <a:ext cx="8261712" cy="17245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14" descr="C:\Users\ecoffey\AppData\Local\Temp\Rar$DRa0.295\30029_Device_firewall_major_64.png">
            <a:extLst>
              <a:ext uri="{FF2B5EF4-FFF2-40B4-BE49-F238E27FC236}">
                <a16:creationId xmlns:a16="http://schemas.microsoft.com/office/drawing/2014/main" id="{E4D34D15-7918-424E-BC99-69A2A26A91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2478" y="2966911"/>
            <a:ext cx="611167" cy="611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7" descr="C:\Users\ecoffey\AppData\Local\Temp\Rar$DRa0.061\30068_Device_router_with_firewall_critical_64.png">
            <a:extLst>
              <a:ext uri="{FF2B5EF4-FFF2-40B4-BE49-F238E27FC236}">
                <a16:creationId xmlns:a16="http://schemas.microsoft.com/office/drawing/2014/main" id="{3018119A-E914-48C9-A410-346E510A61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7285" y="4108524"/>
            <a:ext cx="649346" cy="649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C:\Users\ecoffey\AppData\Local\Temp\Rar$DRa0.653\30052_Device_nexus7000_default_64.png">
            <a:extLst>
              <a:ext uri="{FF2B5EF4-FFF2-40B4-BE49-F238E27FC236}">
                <a16:creationId xmlns:a16="http://schemas.microsoft.com/office/drawing/2014/main" id="{50C13354-5D96-445B-9511-AB5789DA3F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4950" y="2489315"/>
            <a:ext cx="661239" cy="661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1" descr="C:\Users\ecoffey\AppData\Local\Temp\Rar$DRa0.653\30052_Device_nexus7000_default_64.png">
            <a:extLst>
              <a:ext uri="{FF2B5EF4-FFF2-40B4-BE49-F238E27FC236}">
                <a16:creationId xmlns:a16="http://schemas.microsoft.com/office/drawing/2014/main" id="{5CD78992-A190-4B27-87D5-609DA0B2B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3056" y="3565126"/>
            <a:ext cx="661239" cy="661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1" descr="C:\Users\ecoffey\AppData\Local\Temp\Rar$DRa0.653\30052_Device_nexus7000_default_64.png">
            <a:extLst>
              <a:ext uri="{FF2B5EF4-FFF2-40B4-BE49-F238E27FC236}">
                <a16:creationId xmlns:a16="http://schemas.microsoft.com/office/drawing/2014/main" id="{C620AA9C-D2F8-41DA-B824-9479C16F4D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9943" y="4789881"/>
            <a:ext cx="661239" cy="661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1" descr="C:\Users\ecoffey\AppData\Local\Temp\Rar$DRa0.386\30067_Device_router_default_64.png">
            <a:extLst>
              <a:ext uri="{FF2B5EF4-FFF2-40B4-BE49-F238E27FC236}">
                <a16:creationId xmlns:a16="http://schemas.microsoft.com/office/drawing/2014/main" id="{88B355B5-807A-43B2-9601-31D6928DB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0841" y="3717033"/>
            <a:ext cx="637453" cy="637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1" descr="C:\Users\ecoffey\AppData\Local\Temp\Rar$DRa0.386\30067_Device_router_default_64.png">
            <a:extLst>
              <a:ext uri="{FF2B5EF4-FFF2-40B4-BE49-F238E27FC236}">
                <a16:creationId xmlns:a16="http://schemas.microsoft.com/office/drawing/2014/main" id="{B45ED57A-324D-4AA1-9992-2B156E2931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9754" y="2291656"/>
            <a:ext cx="637453" cy="637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5D74DCB3-F0D7-480D-AC9A-3AC54400F131}"/>
              </a:ext>
            </a:extLst>
          </p:cNvPr>
          <p:cNvCxnSpPr>
            <a:cxnSpLocks/>
            <a:stCxn id="23" idx="1"/>
            <a:endCxn id="12" idx="3"/>
          </p:cNvCxnSpPr>
          <p:nvPr/>
        </p:nvCxnSpPr>
        <p:spPr>
          <a:xfrm flipH="1">
            <a:off x="4526189" y="2610382"/>
            <a:ext cx="213565" cy="2095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6E22C999-05A9-49D3-B48A-1C8C75A30000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3453300" y="4685498"/>
            <a:ext cx="396643" cy="4350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52E27A1E-25B9-4A54-AC00-6D2993112A42}"/>
              </a:ext>
            </a:extLst>
          </p:cNvPr>
          <p:cNvCxnSpPr>
            <a:cxnSpLocks/>
            <a:stCxn id="13" idx="1"/>
            <a:endCxn id="11" idx="0"/>
          </p:cNvCxnSpPr>
          <p:nvPr/>
        </p:nvCxnSpPr>
        <p:spPr>
          <a:xfrm flipH="1">
            <a:off x="3501959" y="3895746"/>
            <a:ext cx="351097" cy="21277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F5D8BFAF-9D2F-447C-AE60-3DDEF3344E4D}"/>
              </a:ext>
            </a:extLst>
          </p:cNvPr>
          <p:cNvCxnSpPr>
            <a:cxnSpLocks/>
            <a:stCxn id="13" idx="1"/>
            <a:endCxn id="10" idx="2"/>
          </p:cNvCxnSpPr>
          <p:nvPr/>
        </p:nvCxnSpPr>
        <p:spPr>
          <a:xfrm flipH="1" flipV="1">
            <a:off x="3468061" y="3578077"/>
            <a:ext cx="384994" cy="3176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420193A7-2880-4AB2-9BC5-A3043DF8D378}"/>
              </a:ext>
            </a:extLst>
          </p:cNvPr>
          <p:cNvCxnSpPr>
            <a:cxnSpLocks/>
            <a:stCxn id="12" idx="1"/>
            <a:endCxn id="10" idx="0"/>
          </p:cNvCxnSpPr>
          <p:nvPr/>
        </p:nvCxnSpPr>
        <p:spPr>
          <a:xfrm flipH="1">
            <a:off x="3468061" y="2819934"/>
            <a:ext cx="396888" cy="1469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0570A0C4-E3F1-4993-94DB-B622E4A07BA2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>
            <a:off x="4514294" y="3895745"/>
            <a:ext cx="236546" cy="1400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7BCF054C-53BA-42A1-BA68-B531B1F7BF2C}"/>
              </a:ext>
            </a:extLst>
          </p:cNvPr>
          <p:cNvCxnSpPr>
            <a:cxnSpLocks/>
            <a:stCxn id="15" idx="3"/>
            <a:endCxn id="40" idx="1"/>
          </p:cNvCxnSpPr>
          <p:nvPr/>
        </p:nvCxnSpPr>
        <p:spPr>
          <a:xfrm flipV="1">
            <a:off x="5388293" y="3789435"/>
            <a:ext cx="434634" cy="2463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2CEBB7B8-DD53-4258-9E4E-5A36CF2870D7}"/>
              </a:ext>
            </a:extLst>
          </p:cNvPr>
          <p:cNvCxnSpPr>
            <a:cxnSpLocks/>
            <a:stCxn id="23" idx="3"/>
            <a:endCxn id="44" idx="2"/>
          </p:cNvCxnSpPr>
          <p:nvPr/>
        </p:nvCxnSpPr>
        <p:spPr>
          <a:xfrm flipV="1">
            <a:off x="5377207" y="2269532"/>
            <a:ext cx="639219" cy="340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Grupo 41">
            <a:extLst>
              <a:ext uri="{FF2B5EF4-FFF2-40B4-BE49-F238E27FC236}">
                <a16:creationId xmlns:a16="http://schemas.microsoft.com/office/drawing/2014/main" id="{54A9BDCA-BA1C-4705-A23A-40B52BF4A959}"/>
              </a:ext>
            </a:extLst>
          </p:cNvPr>
          <p:cNvGrpSpPr/>
          <p:nvPr/>
        </p:nvGrpSpPr>
        <p:grpSpPr>
          <a:xfrm>
            <a:off x="5467398" y="1412776"/>
            <a:ext cx="1110624" cy="1110624"/>
            <a:chOff x="1641490" y="1389398"/>
            <a:chExt cx="1110624" cy="1110624"/>
          </a:xfrm>
        </p:grpSpPr>
        <p:pic>
          <p:nvPicPr>
            <p:cNvPr id="43" name="Picture 4" descr="C:\Users\ecoffey\AppData\Local\Temp\Rar$DRa0.400\30009_Device_cloud_white_default_256.png">
              <a:extLst>
                <a:ext uri="{FF2B5EF4-FFF2-40B4-BE49-F238E27FC236}">
                  <a16:creationId xmlns:a16="http://schemas.microsoft.com/office/drawing/2014/main" id="{28AF0E59-B7FF-4E04-B5E3-27F794CBFE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41490" y="1389398"/>
              <a:ext cx="1110624" cy="11106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4" name="CuadroTexto 43">
              <a:extLst>
                <a:ext uri="{FF2B5EF4-FFF2-40B4-BE49-F238E27FC236}">
                  <a16:creationId xmlns:a16="http://schemas.microsoft.com/office/drawing/2014/main" id="{B50C93CC-00C9-4776-AEAB-86D9BE5BC65E}"/>
                </a:ext>
              </a:extLst>
            </p:cNvPr>
            <p:cNvSpPr txBox="1"/>
            <p:nvPr/>
          </p:nvSpPr>
          <p:spPr>
            <a:xfrm>
              <a:off x="1753249" y="1907599"/>
              <a:ext cx="8745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600" b="1" dirty="0"/>
                <a:t>Internet</a:t>
              </a:r>
              <a:endParaRPr lang="es-ES" b="1" dirty="0"/>
            </a:p>
          </p:txBody>
        </p:sp>
      </p:grpSp>
      <p:sp>
        <p:nvSpPr>
          <p:cNvPr id="51" name="CuadroTexto 50">
            <a:extLst>
              <a:ext uri="{FF2B5EF4-FFF2-40B4-BE49-F238E27FC236}">
                <a16:creationId xmlns:a16="http://schemas.microsoft.com/office/drawing/2014/main" id="{0C7017F7-5298-4156-A80E-A1F8D01395D1}"/>
              </a:ext>
            </a:extLst>
          </p:cNvPr>
          <p:cNvSpPr txBox="1"/>
          <p:nvPr/>
        </p:nvSpPr>
        <p:spPr>
          <a:xfrm>
            <a:off x="4694628" y="1996501"/>
            <a:ext cx="5391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b="1" dirty="0" err="1" smtClean="0">
                <a:solidFill>
                  <a:srgbClr val="002060"/>
                </a:solidFill>
              </a:rPr>
              <a:t>Edge</a:t>
            </a:r>
            <a:endParaRPr lang="es-ES" sz="1400" b="1" dirty="0">
              <a:solidFill>
                <a:srgbClr val="002060"/>
              </a:solidFill>
            </a:endParaRP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18B5CB57-4696-4EEC-92B0-EF02AB42E930}"/>
              </a:ext>
            </a:extLst>
          </p:cNvPr>
          <p:cNvSpPr txBox="1"/>
          <p:nvPr/>
        </p:nvSpPr>
        <p:spPr>
          <a:xfrm>
            <a:off x="4673327" y="4946543"/>
            <a:ext cx="6783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b="1" dirty="0" smtClean="0">
                <a:solidFill>
                  <a:srgbClr val="002060"/>
                </a:solidFill>
              </a:rPr>
              <a:t>Access</a:t>
            </a:r>
            <a:endParaRPr lang="es-ES" sz="1400" b="1" dirty="0">
              <a:solidFill>
                <a:srgbClr val="002060"/>
              </a:solidFill>
            </a:endParaRP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0C156D91-258F-42B1-A22F-943D5BA00E78}"/>
              </a:ext>
            </a:extLst>
          </p:cNvPr>
          <p:cNvSpPr txBox="1"/>
          <p:nvPr/>
        </p:nvSpPr>
        <p:spPr>
          <a:xfrm>
            <a:off x="4623215" y="3363334"/>
            <a:ext cx="8914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b="1" dirty="0">
                <a:solidFill>
                  <a:srgbClr val="002060"/>
                </a:solidFill>
              </a:rPr>
              <a:t>Agr./Dist.</a:t>
            </a:r>
          </a:p>
        </p:txBody>
      </p:sp>
      <p:grpSp>
        <p:nvGrpSpPr>
          <p:cNvPr id="59" name="Grupo 58">
            <a:extLst>
              <a:ext uri="{FF2B5EF4-FFF2-40B4-BE49-F238E27FC236}">
                <a16:creationId xmlns:a16="http://schemas.microsoft.com/office/drawing/2014/main" id="{42F529F5-A05A-416A-971F-3AF6C256FA89}"/>
              </a:ext>
            </a:extLst>
          </p:cNvPr>
          <p:cNvGrpSpPr/>
          <p:nvPr/>
        </p:nvGrpSpPr>
        <p:grpSpPr>
          <a:xfrm>
            <a:off x="3147844" y="5516794"/>
            <a:ext cx="625958" cy="757984"/>
            <a:chOff x="1674781" y="5492281"/>
            <a:chExt cx="625958" cy="757984"/>
          </a:xfrm>
        </p:grpSpPr>
        <p:pic>
          <p:nvPicPr>
            <p:cNvPr id="60" name="Picture 26" descr="C:\Users\ecoffey\AppData\Local\Temp\Rar$DRa0.059\Source\Png 64,24,16\Normal\Cisco-CSR-Router_64_normal.png">
              <a:extLst>
                <a:ext uri="{FF2B5EF4-FFF2-40B4-BE49-F238E27FC236}">
                  <a16:creationId xmlns:a16="http://schemas.microsoft.com/office/drawing/2014/main" id="{DE600B44-4DB9-4538-8588-9660626256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4781" y="5492281"/>
              <a:ext cx="625958" cy="6259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1" name="CuadroTexto 60">
              <a:extLst>
                <a:ext uri="{FF2B5EF4-FFF2-40B4-BE49-F238E27FC236}">
                  <a16:creationId xmlns:a16="http://schemas.microsoft.com/office/drawing/2014/main" id="{6B77C9C4-E9E1-481A-BCE8-816B16038A0A}"/>
                </a:ext>
              </a:extLst>
            </p:cNvPr>
            <p:cNvSpPr txBox="1"/>
            <p:nvPr/>
          </p:nvSpPr>
          <p:spPr>
            <a:xfrm>
              <a:off x="1733309" y="5973266"/>
              <a:ext cx="53707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200" b="1" dirty="0" err="1" smtClean="0">
                  <a:solidFill>
                    <a:srgbClr val="00B050"/>
                  </a:solidFill>
                </a:rPr>
                <a:t>Users</a:t>
              </a:r>
              <a:endParaRPr lang="es-ES" sz="1200" b="1" dirty="0">
                <a:solidFill>
                  <a:srgbClr val="00B050"/>
                </a:solidFill>
              </a:endParaRPr>
            </a:p>
          </p:txBody>
        </p:sp>
      </p:grp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EB89E61C-36E2-4AC1-9E00-0120522B65D2}"/>
              </a:ext>
            </a:extLst>
          </p:cNvPr>
          <p:cNvCxnSpPr>
            <a:cxnSpLocks/>
            <a:stCxn id="14" idx="1"/>
            <a:endCxn id="60" idx="3"/>
          </p:cNvCxnSpPr>
          <p:nvPr/>
        </p:nvCxnSpPr>
        <p:spPr>
          <a:xfrm flipH="1">
            <a:off x="3773802" y="5120501"/>
            <a:ext cx="76141" cy="7092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3" name="Picture 14" descr="C:\Users\ecoffey\AppData\Local\Temp\Rar$DRa0.295\30029_Device_firewall_major_64.png">
            <a:extLst>
              <a:ext uri="{FF2B5EF4-FFF2-40B4-BE49-F238E27FC236}">
                <a16:creationId xmlns:a16="http://schemas.microsoft.com/office/drawing/2014/main" id="{E4D34D15-7918-424E-BC99-69A2A26A91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2079" y="2963740"/>
            <a:ext cx="575701" cy="575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Picture 14" descr="C:\Users\ecoffey\AppData\Local\Temp\Rar$DRa0.295\30029_Device_firewall_major_64.png">
            <a:extLst>
              <a:ext uri="{FF2B5EF4-FFF2-40B4-BE49-F238E27FC236}">
                <a16:creationId xmlns:a16="http://schemas.microsoft.com/office/drawing/2014/main" id="{E4D34D15-7918-424E-BC99-69A2A26A91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1476" y="2963739"/>
            <a:ext cx="570882" cy="570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8" name="Grupo 37">
            <a:extLst>
              <a:ext uri="{FF2B5EF4-FFF2-40B4-BE49-F238E27FC236}">
                <a16:creationId xmlns:a16="http://schemas.microsoft.com/office/drawing/2014/main" id="{3B34226E-34A1-401C-B7F8-C44FD9CC0787}"/>
              </a:ext>
            </a:extLst>
          </p:cNvPr>
          <p:cNvGrpSpPr/>
          <p:nvPr/>
        </p:nvGrpSpPr>
        <p:grpSpPr>
          <a:xfrm>
            <a:off x="5595511" y="3228561"/>
            <a:ext cx="950697" cy="1016701"/>
            <a:chOff x="3978704" y="3432031"/>
            <a:chExt cx="1110624" cy="1110624"/>
          </a:xfrm>
        </p:grpSpPr>
        <p:pic>
          <p:nvPicPr>
            <p:cNvPr id="39" name="Picture 4" descr="C:\Users\ecoffey\AppData\Local\Temp\Rar$DRa0.400\30009_Device_cloud_white_default_256.png">
              <a:extLst>
                <a:ext uri="{FF2B5EF4-FFF2-40B4-BE49-F238E27FC236}">
                  <a16:creationId xmlns:a16="http://schemas.microsoft.com/office/drawing/2014/main" id="{B7ED25BA-4B5E-48CD-9F49-DC58247BF8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78704" y="3432031"/>
              <a:ext cx="1110624" cy="11106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0" name="CuadroTexto 39">
              <a:extLst>
                <a:ext uri="{FF2B5EF4-FFF2-40B4-BE49-F238E27FC236}">
                  <a16:creationId xmlns:a16="http://schemas.microsoft.com/office/drawing/2014/main" id="{61A578F9-B4E1-4FC7-B3E2-9219E5F45412}"/>
                </a:ext>
              </a:extLst>
            </p:cNvPr>
            <p:cNvSpPr txBox="1"/>
            <p:nvPr/>
          </p:nvSpPr>
          <p:spPr>
            <a:xfrm>
              <a:off x="4244377" y="3875442"/>
              <a:ext cx="558428" cy="3698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600" b="1" dirty="0"/>
                <a:t>DCI</a:t>
              </a:r>
              <a:endParaRPr lang="es-ES" b="1" dirty="0"/>
            </a:p>
          </p:txBody>
        </p:sp>
      </p:grpSp>
      <p:pic>
        <p:nvPicPr>
          <p:cNvPr id="87" name="Picture 11" descr="C:\Users\ecoffey\AppData\Local\Temp\Rar$DRa0.386\30067_Device_router_default_64.png">
            <a:extLst>
              <a:ext uri="{FF2B5EF4-FFF2-40B4-BE49-F238E27FC236}">
                <a16:creationId xmlns:a16="http://schemas.microsoft.com/office/drawing/2014/main" id="{B45ED57A-324D-4AA1-9992-2B156E2931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4108" y="2199755"/>
            <a:ext cx="596069" cy="596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0" name="Picture 11" descr="C:\Users\ecoffey\AppData\Local\Temp\Rar$DRa0.386\30067_Device_router_default_64.png">
            <a:extLst>
              <a:ext uri="{FF2B5EF4-FFF2-40B4-BE49-F238E27FC236}">
                <a16:creationId xmlns:a16="http://schemas.microsoft.com/office/drawing/2014/main" id="{B45ED57A-324D-4AA1-9992-2B156E2931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0975" y="2227151"/>
            <a:ext cx="582401" cy="582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1" name="Conector recto 90">
            <a:extLst>
              <a:ext uri="{FF2B5EF4-FFF2-40B4-BE49-F238E27FC236}">
                <a16:creationId xmlns:a16="http://schemas.microsoft.com/office/drawing/2014/main" id="{5D74DCB3-F0D7-480D-AC9A-3AC54400F131}"/>
              </a:ext>
            </a:extLst>
          </p:cNvPr>
          <p:cNvCxnSpPr>
            <a:cxnSpLocks/>
            <a:stCxn id="87" idx="0"/>
            <a:endCxn id="43" idx="3"/>
          </p:cNvCxnSpPr>
          <p:nvPr/>
        </p:nvCxnSpPr>
        <p:spPr>
          <a:xfrm flipH="1" flipV="1">
            <a:off x="6578022" y="1968088"/>
            <a:ext cx="804120" cy="2316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cto 91">
            <a:extLst>
              <a:ext uri="{FF2B5EF4-FFF2-40B4-BE49-F238E27FC236}">
                <a16:creationId xmlns:a16="http://schemas.microsoft.com/office/drawing/2014/main" id="{5D74DCB3-F0D7-480D-AC9A-3AC54400F131}"/>
              </a:ext>
            </a:extLst>
          </p:cNvPr>
          <p:cNvCxnSpPr>
            <a:cxnSpLocks/>
            <a:stCxn id="90" idx="0"/>
            <a:endCxn id="43" idx="3"/>
          </p:cNvCxnSpPr>
          <p:nvPr/>
        </p:nvCxnSpPr>
        <p:spPr>
          <a:xfrm flipH="1" flipV="1">
            <a:off x="6578023" y="1968088"/>
            <a:ext cx="2744153" cy="2590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ector recto 93">
            <a:extLst>
              <a:ext uri="{FF2B5EF4-FFF2-40B4-BE49-F238E27FC236}">
                <a16:creationId xmlns:a16="http://schemas.microsoft.com/office/drawing/2014/main" id="{5D74DCB3-F0D7-480D-AC9A-3AC54400F131}"/>
              </a:ext>
            </a:extLst>
          </p:cNvPr>
          <p:cNvCxnSpPr>
            <a:cxnSpLocks/>
            <a:stCxn id="90" idx="2"/>
            <a:endCxn id="144" idx="0"/>
          </p:cNvCxnSpPr>
          <p:nvPr/>
        </p:nvCxnSpPr>
        <p:spPr>
          <a:xfrm flipH="1">
            <a:off x="9316917" y="2809551"/>
            <a:ext cx="5258" cy="1541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ector recto 96">
            <a:extLst>
              <a:ext uri="{FF2B5EF4-FFF2-40B4-BE49-F238E27FC236}">
                <a16:creationId xmlns:a16="http://schemas.microsoft.com/office/drawing/2014/main" id="{5D74DCB3-F0D7-480D-AC9A-3AC54400F131}"/>
              </a:ext>
            </a:extLst>
          </p:cNvPr>
          <p:cNvCxnSpPr>
            <a:cxnSpLocks/>
            <a:stCxn id="87" idx="2"/>
            <a:endCxn id="143" idx="0"/>
          </p:cNvCxnSpPr>
          <p:nvPr/>
        </p:nvCxnSpPr>
        <p:spPr>
          <a:xfrm flipH="1">
            <a:off x="7369930" y="2795823"/>
            <a:ext cx="12213" cy="1679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" name="Imagen 101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63" t="29555" r="16837" b="28956"/>
          <a:stretch/>
        </p:blipFill>
        <p:spPr>
          <a:xfrm>
            <a:off x="6708029" y="3400531"/>
            <a:ext cx="1458491" cy="851846"/>
          </a:xfrm>
          <a:prstGeom prst="rect">
            <a:avLst/>
          </a:prstGeom>
        </p:spPr>
      </p:pic>
      <p:pic>
        <p:nvPicPr>
          <p:cNvPr id="88" name="Imagen 87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1674" y="3423826"/>
            <a:ext cx="1350725" cy="771843"/>
          </a:xfrm>
          <a:prstGeom prst="rect">
            <a:avLst/>
          </a:prstGeom>
        </p:spPr>
      </p:pic>
      <p:grpSp>
        <p:nvGrpSpPr>
          <p:cNvPr id="103" name="Grupo 102">
            <a:extLst>
              <a:ext uri="{FF2B5EF4-FFF2-40B4-BE49-F238E27FC236}">
                <a16:creationId xmlns:a16="http://schemas.microsoft.com/office/drawing/2014/main" id="{42F529F5-A05A-416A-971F-3AF6C256FA89}"/>
              </a:ext>
            </a:extLst>
          </p:cNvPr>
          <p:cNvGrpSpPr/>
          <p:nvPr/>
        </p:nvGrpSpPr>
        <p:grpSpPr>
          <a:xfrm>
            <a:off x="7102417" y="5031409"/>
            <a:ext cx="625958" cy="757984"/>
            <a:chOff x="1674781" y="5492281"/>
            <a:chExt cx="625958" cy="757984"/>
          </a:xfrm>
        </p:grpSpPr>
        <p:pic>
          <p:nvPicPr>
            <p:cNvPr id="104" name="Picture 26" descr="C:\Users\ecoffey\AppData\Local\Temp\Rar$DRa0.059\Source\Png 64,24,16\Normal\Cisco-CSR-Router_64_normal.png">
              <a:extLst>
                <a:ext uri="{FF2B5EF4-FFF2-40B4-BE49-F238E27FC236}">
                  <a16:creationId xmlns:a16="http://schemas.microsoft.com/office/drawing/2014/main" id="{DE600B44-4DB9-4538-8588-9660626256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4781" y="5492281"/>
              <a:ext cx="625958" cy="6259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5" name="CuadroTexto 104">
              <a:extLst>
                <a:ext uri="{FF2B5EF4-FFF2-40B4-BE49-F238E27FC236}">
                  <a16:creationId xmlns:a16="http://schemas.microsoft.com/office/drawing/2014/main" id="{6B77C9C4-E9E1-481A-BCE8-816B16038A0A}"/>
                </a:ext>
              </a:extLst>
            </p:cNvPr>
            <p:cNvSpPr txBox="1"/>
            <p:nvPr/>
          </p:nvSpPr>
          <p:spPr>
            <a:xfrm>
              <a:off x="1715676" y="5973266"/>
              <a:ext cx="57233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200" b="1" dirty="0" err="1" smtClean="0">
                  <a:solidFill>
                    <a:srgbClr val="00B050"/>
                  </a:solidFill>
                </a:rPr>
                <a:t>Users</a:t>
              </a:r>
              <a:r>
                <a:rPr lang="es-ES" sz="1200" b="1" dirty="0" smtClean="0">
                  <a:solidFill>
                    <a:srgbClr val="00B050"/>
                  </a:solidFill>
                </a:rPr>
                <a:t> </a:t>
              </a:r>
              <a:endParaRPr lang="es-ES" sz="1200" b="1" dirty="0">
                <a:solidFill>
                  <a:srgbClr val="00B050"/>
                </a:solidFill>
              </a:endParaRPr>
            </a:p>
          </p:txBody>
        </p:sp>
      </p:grpSp>
      <p:cxnSp>
        <p:nvCxnSpPr>
          <p:cNvPr id="106" name="Conector recto 105">
            <a:extLst>
              <a:ext uri="{FF2B5EF4-FFF2-40B4-BE49-F238E27FC236}">
                <a16:creationId xmlns:a16="http://schemas.microsoft.com/office/drawing/2014/main" id="{EB89E61C-36E2-4AC1-9E00-0120522B65D2}"/>
              </a:ext>
            </a:extLst>
          </p:cNvPr>
          <p:cNvCxnSpPr>
            <a:cxnSpLocks/>
            <a:stCxn id="101" idx="2"/>
            <a:endCxn id="104" idx="0"/>
          </p:cNvCxnSpPr>
          <p:nvPr/>
        </p:nvCxnSpPr>
        <p:spPr>
          <a:xfrm flipH="1">
            <a:off x="7415395" y="4697457"/>
            <a:ext cx="6400" cy="3339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ector recto 107">
            <a:extLst>
              <a:ext uri="{FF2B5EF4-FFF2-40B4-BE49-F238E27FC236}">
                <a16:creationId xmlns:a16="http://schemas.microsoft.com/office/drawing/2014/main" id="{EB89E61C-36E2-4AC1-9E00-0120522B65D2}"/>
              </a:ext>
            </a:extLst>
          </p:cNvPr>
          <p:cNvCxnSpPr>
            <a:cxnSpLocks/>
            <a:stCxn id="83" idx="2"/>
            <a:endCxn id="111" idx="0"/>
          </p:cNvCxnSpPr>
          <p:nvPr/>
        </p:nvCxnSpPr>
        <p:spPr>
          <a:xfrm>
            <a:off x="9325472" y="4638020"/>
            <a:ext cx="9743" cy="3383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0" name="Grupo 109">
            <a:extLst>
              <a:ext uri="{FF2B5EF4-FFF2-40B4-BE49-F238E27FC236}">
                <a16:creationId xmlns:a16="http://schemas.microsoft.com/office/drawing/2014/main" id="{42F529F5-A05A-416A-971F-3AF6C256FA89}"/>
              </a:ext>
            </a:extLst>
          </p:cNvPr>
          <p:cNvGrpSpPr/>
          <p:nvPr/>
        </p:nvGrpSpPr>
        <p:grpSpPr>
          <a:xfrm>
            <a:off x="9022236" y="4976368"/>
            <a:ext cx="625958" cy="757984"/>
            <a:chOff x="1674781" y="5492281"/>
            <a:chExt cx="625958" cy="757984"/>
          </a:xfrm>
        </p:grpSpPr>
        <p:pic>
          <p:nvPicPr>
            <p:cNvPr id="111" name="Picture 26" descr="C:\Users\ecoffey\AppData\Local\Temp\Rar$DRa0.059\Source\Png 64,24,16\Normal\Cisco-CSR-Router_64_normal.png">
              <a:extLst>
                <a:ext uri="{FF2B5EF4-FFF2-40B4-BE49-F238E27FC236}">
                  <a16:creationId xmlns:a16="http://schemas.microsoft.com/office/drawing/2014/main" id="{DE600B44-4DB9-4538-8588-9660626256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4781" y="5492281"/>
              <a:ext cx="625958" cy="6259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6" name="CuadroTexto 115">
              <a:extLst>
                <a:ext uri="{FF2B5EF4-FFF2-40B4-BE49-F238E27FC236}">
                  <a16:creationId xmlns:a16="http://schemas.microsoft.com/office/drawing/2014/main" id="{6B77C9C4-E9E1-481A-BCE8-816B16038A0A}"/>
                </a:ext>
              </a:extLst>
            </p:cNvPr>
            <p:cNvSpPr txBox="1"/>
            <p:nvPr/>
          </p:nvSpPr>
          <p:spPr>
            <a:xfrm>
              <a:off x="1733309" y="5973266"/>
              <a:ext cx="53707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200" b="1" dirty="0" err="1" smtClean="0">
                  <a:solidFill>
                    <a:srgbClr val="00B050"/>
                  </a:solidFill>
                </a:rPr>
                <a:t>Users</a:t>
              </a:r>
              <a:endParaRPr lang="es-ES" sz="1200" b="1" dirty="0">
                <a:solidFill>
                  <a:srgbClr val="00B050"/>
                </a:solidFill>
              </a:endParaRPr>
            </a:p>
          </p:txBody>
        </p:sp>
      </p:grpSp>
      <p:sp>
        <p:nvSpPr>
          <p:cNvPr id="119" name="CuadroTexto 118">
            <a:extLst>
              <a:ext uri="{FF2B5EF4-FFF2-40B4-BE49-F238E27FC236}">
                <a16:creationId xmlns:a16="http://schemas.microsoft.com/office/drawing/2014/main" id="{18B5CB57-4696-4EEC-92B0-EF02AB42E930}"/>
              </a:ext>
            </a:extLst>
          </p:cNvPr>
          <p:cNvSpPr txBox="1"/>
          <p:nvPr/>
        </p:nvSpPr>
        <p:spPr>
          <a:xfrm>
            <a:off x="8031610" y="4909431"/>
            <a:ext cx="6783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b="1" dirty="0" smtClean="0">
                <a:solidFill>
                  <a:srgbClr val="002060"/>
                </a:solidFill>
              </a:rPr>
              <a:t>Access</a:t>
            </a:r>
            <a:endParaRPr lang="es-ES" sz="1400" b="1" dirty="0">
              <a:solidFill>
                <a:srgbClr val="002060"/>
              </a:solidFill>
            </a:endParaRPr>
          </a:p>
        </p:txBody>
      </p:sp>
      <p:pic>
        <p:nvPicPr>
          <p:cNvPr id="101" name="Picture 7" descr="C:\Users\ecoffey\AppData\Local\Temp\Rar$DRa0.061\30068_Device_router_with_firewall_critical_64.png">
            <a:extLst>
              <a:ext uri="{FF2B5EF4-FFF2-40B4-BE49-F238E27FC236}">
                <a16:creationId xmlns:a16="http://schemas.microsoft.com/office/drawing/2014/main" id="{E032D73B-FF3B-4A85-94DF-A99B261F0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0139" y="4054145"/>
            <a:ext cx="643312" cy="643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7" descr="C:\Users\ecoffey\AppData\Local\Temp\Rar$DRa0.061\30068_Device_router_with_firewall_critical_64.png">
            <a:extLst>
              <a:ext uri="{FF2B5EF4-FFF2-40B4-BE49-F238E27FC236}">
                <a16:creationId xmlns:a16="http://schemas.microsoft.com/office/drawing/2014/main" id="{E032D73B-FF3B-4A85-94DF-A99B261F0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3815" y="3994707"/>
            <a:ext cx="643312" cy="643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1" name="CuadroTexto 120">
            <a:extLst>
              <a:ext uri="{FF2B5EF4-FFF2-40B4-BE49-F238E27FC236}">
                <a16:creationId xmlns:a16="http://schemas.microsoft.com/office/drawing/2014/main" id="{0C7017F7-5298-4156-A80E-A1F8D01395D1}"/>
              </a:ext>
            </a:extLst>
          </p:cNvPr>
          <p:cNvSpPr txBox="1"/>
          <p:nvPr/>
        </p:nvSpPr>
        <p:spPr>
          <a:xfrm>
            <a:off x="7986556" y="2329136"/>
            <a:ext cx="5391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b="1" dirty="0" err="1" smtClean="0">
                <a:solidFill>
                  <a:srgbClr val="002060"/>
                </a:solidFill>
              </a:rPr>
              <a:t>Edge</a:t>
            </a:r>
            <a:endParaRPr lang="es-ES" sz="1400" b="1" dirty="0">
              <a:solidFill>
                <a:srgbClr val="002060"/>
              </a:solidFill>
            </a:endParaRPr>
          </a:p>
        </p:txBody>
      </p:sp>
      <p:sp>
        <p:nvSpPr>
          <p:cNvPr id="125" name="CuadroTexto 124">
            <a:extLst>
              <a:ext uri="{FF2B5EF4-FFF2-40B4-BE49-F238E27FC236}">
                <a16:creationId xmlns:a16="http://schemas.microsoft.com/office/drawing/2014/main" id="{18B5CB57-4696-4EEC-92B0-EF02AB42E930}"/>
              </a:ext>
            </a:extLst>
          </p:cNvPr>
          <p:cNvSpPr txBox="1"/>
          <p:nvPr/>
        </p:nvSpPr>
        <p:spPr>
          <a:xfrm>
            <a:off x="7896200" y="3368953"/>
            <a:ext cx="8914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b="1" dirty="0">
                <a:solidFill>
                  <a:srgbClr val="002060"/>
                </a:solidFill>
              </a:rPr>
              <a:t>Agr./</a:t>
            </a:r>
            <a:r>
              <a:rPr lang="es-ES" sz="1400" b="1" dirty="0" err="1">
                <a:solidFill>
                  <a:srgbClr val="002060"/>
                </a:solidFill>
              </a:rPr>
              <a:t>Dist</a:t>
            </a:r>
            <a:r>
              <a:rPr lang="es-ES" sz="1400" b="1" dirty="0">
                <a:solidFill>
                  <a:srgbClr val="002060"/>
                </a:solidFill>
              </a:rPr>
              <a:t>.</a:t>
            </a:r>
          </a:p>
        </p:txBody>
      </p:sp>
      <p:grpSp>
        <p:nvGrpSpPr>
          <p:cNvPr id="76" name="Grupo 75"/>
          <p:cNvGrpSpPr/>
          <p:nvPr/>
        </p:nvGrpSpPr>
        <p:grpSpPr>
          <a:xfrm>
            <a:off x="5600429" y="4490880"/>
            <a:ext cx="1072731" cy="1530408"/>
            <a:chOff x="4065281" y="4264748"/>
            <a:chExt cx="1072731" cy="1530408"/>
          </a:xfrm>
        </p:grpSpPr>
        <p:sp>
          <p:nvSpPr>
            <p:cNvPr id="120" name="CuadroTexto 119">
              <a:extLst>
                <a:ext uri="{FF2B5EF4-FFF2-40B4-BE49-F238E27FC236}">
                  <a16:creationId xmlns:a16="http://schemas.microsoft.com/office/drawing/2014/main" id="{18B5CB57-4696-4EEC-92B0-EF02AB42E930}"/>
                </a:ext>
              </a:extLst>
            </p:cNvPr>
            <p:cNvSpPr txBox="1"/>
            <p:nvPr/>
          </p:nvSpPr>
          <p:spPr>
            <a:xfrm>
              <a:off x="4065281" y="5024193"/>
              <a:ext cx="1072731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400" b="1" dirty="0" smtClean="0"/>
                <a:t>Multi-Cloud</a:t>
              </a:r>
              <a:endParaRPr lang="es-ES" sz="1400" b="1" dirty="0"/>
            </a:p>
            <a:p>
              <a:pPr algn="ctr"/>
              <a:r>
                <a:rPr lang="es-ES" sz="1400" b="1" dirty="0" err="1" smtClean="0"/>
                <a:t>Connection</a:t>
              </a:r>
              <a:endParaRPr lang="es-ES" sz="1400" b="1" dirty="0"/>
            </a:p>
          </p:txBody>
        </p:sp>
        <p:pic>
          <p:nvPicPr>
            <p:cNvPr id="67" name="Imagen 66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86960" y="5520050"/>
              <a:ext cx="567961" cy="275106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18" name="Imagen 117"/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39952" y="4264748"/>
              <a:ext cx="899748" cy="899748"/>
            </a:xfrm>
            <a:prstGeom prst="rect">
              <a:avLst/>
            </a:prstGeom>
          </p:spPr>
        </p:pic>
      </p:grpSp>
      <p:sp>
        <p:nvSpPr>
          <p:cNvPr id="71" name="Título 1"/>
          <p:cNvSpPr txBox="1">
            <a:spLocks/>
          </p:cNvSpPr>
          <p:nvPr/>
        </p:nvSpPr>
        <p:spPr>
          <a:xfrm>
            <a:off x="838200" y="365125"/>
            <a:ext cx="10515600" cy="734617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 err="1" smtClean="0"/>
              <a:t>Anywhere</a:t>
            </a:r>
            <a:r>
              <a:rPr lang="es-MX" dirty="0"/>
              <a:t>, </a:t>
            </a:r>
            <a:r>
              <a:rPr lang="es-MX" dirty="0" err="1"/>
              <a:t>Anytime</a:t>
            </a:r>
            <a:r>
              <a:rPr lang="es-MX" dirty="0"/>
              <a:t>…</a:t>
            </a:r>
            <a:endParaRPr lang="es-VE" dirty="0"/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7D8D98A3-E60C-4314-845D-09D9372AD242}"/>
              </a:ext>
            </a:extLst>
          </p:cNvPr>
          <p:cNvSpPr txBox="1"/>
          <p:nvPr/>
        </p:nvSpPr>
        <p:spPr>
          <a:xfrm>
            <a:off x="2452010" y="2797606"/>
            <a:ext cx="852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 smtClean="0">
                <a:solidFill>
                  <a:schemeClr val="accent6">
                    <a:lumMod val="75000"/>
                  </a:schemeClr>
                </a:solidFill>
              </a:rPr>
              <a:t>Perimetral</a:t>
            </a:r>
          </a:p>
          <a:p>
            <a:pPr algn="ctr"/>
            <a:r>
              <a:rPr lang="es-ES" sz="1200" b="1" dirty="0" smtClean="0">
                <a:solidFill>
                  <a:schemeClr val="accent6">
                    <a:lumMod val="75000"/>
                  </a:schemeClr>
                </a:solidFill>
              </a:rPr>
              <a:t>Security</a:t>
            </a:r>
            <a:endParaRPr lang="es-ES" sz="12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96AD58BF-8D1A-475D-9F48-703A2A63881C}"/>
              </a:ext>
            </a:extLst>
          </p:cNvPr>
          <p:cNvSpPr txBox="1"/>
          <p:nvPr/>
        </p:nvSpPr>
        <p:spPr>
          <a:xfrm>
            <a:off x="2479360" y="4424173"/>
            <a:ext cx="6992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 err="1" smtClean="0">
                <a:solidFill>
                  <a:srgbClr val="FF0066"/>
                </a:solidFill>
              </a:rPr>
              <a:t>Specific</a:t>
            </a:r>
            <a:endParaRPr lang="es-ES" sz="1200" b="1" dirty="0">
              <a:solidFill>
                <a:srgbClr val="FF0066"/>
              </a:solidFill>
            </a:endParaRPr>
          </a:p>
          <a:p>
            <a:pPr algn="ctr"/>
            <a:r>
              <a:rPr lang="es-ES" sz="1200" b="1" dirty="0" smtClean="0">
                <a:solidFill>
                  <a:srgbClr val="FF0066"/>
                </a:solidFill>
              </a:rPr>
              <a:t>Security</a:t>
            </a:r>
            <a:endParaRPr lang="es-ES" sz="1200" b="1" dirty="0">
              <a:solidFill>
                <a:srgbClr val="FF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5120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164</TotalTime>
  <Words>665</Words>
  <Application>Microsoft Office PowerPoint</Application>
  <PresentationFormat>Panorámica</PresentationFormat>
  <Paragraphs>234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8" baseType="lpstr">
      <vt:lpstr>Arial</vt:lpstr>
      <vt:lpstr>Calibri</vt:lpstr>
      <vt:lpstr>Calibri Light</vt:lpstr>
      <vt:lpstr>Haettenschweiler</vt:lpstr>
      <vt:lpstr>Lucida Sans Unicode</vt:lpstr>
      <vt:lpstr>Verdana</vt:lpstr>
      <vt:lpstr>Wingdings 2</vt:lpstr>
      <vt:lpstr>HDOfficeLightV0</vt:lpstr>
      <vt:lpstr>Managed Cloud Services</vt:lpstr>
      <vt:lpstr>Digital Age Enterprise Needs</vt:lpstr>
      <vt:lpstr>Digital Age TI Maturity </vt:lpstr>
      <vt:lpstr>Cloud Service Providers (CSP)</vt:lpstr>
      <vt:lpstr>Cloud Services Models</vt:lpstr>
      <vt:lpstr>Cloud Services Problems (CSP)?</vt:lpstr>
      <vt:lpstr>Cloud Services Problems (CSP)?</vt:lpstr>
      <vt:lpstr>Cloud Services Problems (CSP)?</vt:lpstr>
      <vt:lpstr>Cloud Services Problems (CSP)?</vt:lpstr>
      <vt:lpstr>Cloud Services vs. Real Users</vt:lpstr>
      <vt:lpstr>Cloud Service Map (Common)</vt:lpstr>
      <vt:lpstr>Cloud Managed Services</vt:lpstr>
      <vt:lpstr>Cloud Managed Services (Standard)</vt:lpstr>
      <vt:lpstr>Cloud Managed Services (Standard)</vt:lpstr>
      <vt:lpstr>Cloud Managed Services (Special Projects)</vt:lpstr>
      <vt:lpstr>Cloud Managed Services (Advisory)</vt:lpstr>
      <vt:lpstr>Cloud Managed Services (Special Projects)</vt:lpstr>
      <vt:lpstr> Cloud Team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Managed Services</dc:title>
  <dc:creator>Olaf Reitmaier</dc:creator>
  <cp:lastModifiedBy>Olaf Reitmaier</cp:lastModifiedBy>
  <cp:revision>57</cp:revision>
  <dcterms:created xsi:type="dcterms:W3CDTF">2018-11-07T14:02:49Z</dcterms:created>
  <dcterms:modified xsi:type="dcterms:W3CDTF">2018-12-05T19:55:45Z</dcterms:modified>
</cp:coreProperties>
</file>