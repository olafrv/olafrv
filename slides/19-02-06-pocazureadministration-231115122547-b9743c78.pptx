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5" r:id="rId4"/>
    <p:sldId id="285" r:id="rId5"/>
    <p:sldId id="289" r:id="rId6"/>
    <p:sldId id="280" r:id="rId7"/>
    <p:sldId id="281" r:id="rId8"/>
    <p:sldId id="284" r:id="rId9"/>
    <p:sldId id="258" r:id="rId10"/>
    <p:sldId id="261" r:id="rId11"/>
    <p:sldId id="293" r:id="rId12"/>
    <p:sldId id="292" r:id="rId13"/>
    <p:sldId id="291" r:id="rId14"/>
    <p:sldId id="320" r:id="rId15"/>
    <p:sldId id="319" r:id="rId16"/>
    <p:sldId id="321" r:id="rId17"/>
    <p:sldId id="282" r:id="rId18"/>
    <p:sldId id="294" r:id="rId19"/>
    <p:sldId id="277" r:id="rId20"/>
    <p:sldId id="278" r:id="rId21"/>
    <p:sldId id="259" r:id="rId22"/>
    <p:sldId id="260" r:id="rId23"/>
    <p:sldId id="313" r:id="rId24"/>
    <p:sldId id="315" r:id="rId25"/>
    <p:sldId id="316" r:id="rId26"/>
    <p:sldId id="318" r:id="rId27"/>
    <p:sldId id="317" r:id="rId28"/>
    <p:sldId id="296" r:id="rId29"/>
    <p:sldId id="310" r:id="rId30"/>
    <p:sldId id="311" r:id="rId31"/>
    <p:sldId id="312" r:id="rId32"/>
    <p:sldId id="314" r:id="rId33"/>
    <p:sldId id="309" r:id="rId34"/>
    <p:sldId id="295" r:id="rId35"/>
    <p:sldId id="302" r:id="rId36"/>
    <p:sldId id="303" r:id="rId37"/>
    <p:sldId id="304" r:id="rId38"/>
    <p:sldId id="305" r:id="rId39"/>
    <p:sldId id="306" r:id="rId40"/>
    <p:sldId id="307" r:id="rId41"/>
    <p:sldId id="297" r:id="rId42"/>
    <p:sldId id="298" r:id="rId43"/>
    <p:sldId id="299" r:id="rId44"/>
    <p:sldId id="300" r:id="rId45"/>
    <p:sldId id="301" r:id="rId46"/>
    <p:sldId id="283" r:id="rId47"/>
    <p:sldId id="262" r:id="rId48"/>
    <p:sldId id="263" r:id="rId49"/>
    <p:sldId id="266" r:id="rId50"/>
    <p:sldId id="270" r:id="rId51"/>
    <p:sldId id="308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1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1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08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7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83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00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3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21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0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8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B2FD71-D44F-456D-BCBC-9E2D1090D251}" type="datetimeFigureOut">
              <a:rPr lang="en-US" smtClean="0"/>
              <a:t>11/15/23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59BEF-CB54-4DB2-B2D4-B3BC5C543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91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virtual-network/virtual-network-peering-overview" TargetMode="External"/><Relationship Id="rId2" Type="http://schemas.openxmlformats.org/officeDocument/2006/relationships/hyperlink" Target="https://docs.microsoft.com/en-us/azure/vpn-gateway/vpn-gateway-howto-vnet-vnet-resource-manager-porta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cs.microsoft.com/en-us/azure/virtual-network/virtual-networks-create-vnetpeering-arm-portal#service-chaining---transit-through-peered-vnet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216" y="184857"/>
            <a:ext cx="6906835" cy="388509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22400" y="2818604"/>
            <a:ext cx="9144000" cy="1147763"/>
          </a:xfrm>
          <a:solidFill>
            <a:srgbClr val="0070C0"/>
          </a:solidFill>
        </p:spPr>
        <p:txBody>
          <a:bodyPr/>
          <a:lstStyle/>
          <a:p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of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22400" y="4198938"/>
            <a:ext cx="9144000" cy="1655762"/>
          </a:xfrm>
        </p:spPr>
        <p:txBody>
          <a:bodyPr>
            <a:normAutofit fontScale="92500" lnSpcReduction="10000"/>
          </a:bodyPr>
          <a:lstStyle/>
          <a:p>
            <a:r>
              <a:rPr lang="es-419" sz="3600" b="1" i="1" dirty="0"/>
              <a:t>Phased Approach</a:t>
            </a:r>
          </a:p>
          <a:p>
            <a:pPr algn="r"/>
            <a:endParaRPr lang="en-US" sz="3600" b="1" i="1" dirty="0"/>
          </a:p>
          <a:p>
            <a:r>
              <a:rPr lang="en-US" sz="3600" b="1" i="1" dirty="0"/>
              <a:t>Olaf Reitmaier, Feb. 2019</a:t>
            </a:r>
            <a:endParaRPr lang="es-419" sz="3600" b="1" i="1" dirty="0"/>
          </a:p>
        </p:txBody>
      </p:sp>
    </p:spTree>
    <p:extLst>
      <p:ext uri="{BB962C8B-B14F-4D97-AF65-F5344CB8AC3E}">
        <p14:creationId xmlns:p14="http://schemas.microsoft.com/office/powerpoint/2010/main" val="29130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/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</a:t>
            </a:r>
            <a:r>
              <a:rPr lang="es-419" b="1" dirty="0" err="1">
                <a:solidFill>
                  <a:schemeClr val="bg1"/>
                </a:solidFill>
              </a:rPr>
              <a:t>Sign</a:t>
            </a:r>
            <a:r>
              <a:rPr lang="es-419" b="1" dirty="0">
                <a:solidFill>
                  <a:schemeClr val="bg1"/>
                </a:solidFill>
              </a:rPr>
              <a:t> Up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419" b="1" dirty="0"/>
              <a:t>Individual </a:t>
            </a:r>
            <a:r>
              <a:rPr lang="es-419" b="1" dirty="0" err="1"/>
              <a:t>Account</a:t>
            </a:r>
            <a:endParaRPr lang="es-419" b="1" dirty="0"/>
          </a:p>
          <a:p>
            <a:pPr lvl="1"/>
            <a:r>
              <a:rPr lang="es-419" dirty="0"/>
              <a:t>Microsoft </a:t>
            </a:r>
            <a:r>
              <a:rPr lang="es-419" dirty="0" err="1"/>
              <a:t>domains</a:t>
            </a:r>
            <a:r>
              <a:rPr lang="es-419" dirty="0"/>
              <a:t> / </a:t>
            </a:r>
            <a:r>
              <a:rPr lang="es-419" dirty="0" err="1"/>
              <a:t>accounts</a:t>
            </a:r>
            <a:r>
              <a:rPr lang="es-419" dirty="0"/>
              <a:t> (e.g. Hotmail, Outlook, Office365)</a:t>
            </a:r>
          </a:p>
          <a:p>
            <a:pPr lvl="1"/>
            <a:endParaRPr lang="es-419" dirty="0"/>
          </a:p>
          <a:p>
            <a:r>
              <a:rPr lang="es-419" b="1" dirty="0"/>
              <a:t>Enterprise </a:t>
            </a:r>
            <a:r>
              <a:rPr lang="es-419" b="1" dirty="0" err="1"/>
              <a:t>Account</a:t>
            </a:r>
            <a:r>
              <a:rPr lang="es-419" b="1" dirty="0"/>
              <a:t> (!= Enterprise </a:t>
            </a:r>
            <a:r>
              <a:rPr lang="es-419" b="1" dirty="0" err="1"/>
              <a:t>Enrollment</a:t>
            </a:r>
            <a:r>
              <a:rPr lang="es-419" b="1" dirty="0"/>
              <a:t>)</a:t>
            </a:r>
          </a:p>
          <a:p>
            <a:pPr lvl="1"/>
            <a:r>
              <a:rPr lang="es-419" dirty="0" err="1"/>
              <a:t>Managed</a:t>
            </a:r>
            <a:r>
              <a:rPr lang="es-419" dirty="0"/>
              <a:t> </a:t>
            </a:r>
            <a:r>
              <a:rPr lang="es-419" dirty="0" err="1"/>
              <a:t>domains</a:t>
            </a:r>
            <a:r>
              <a:rPr lang="es-419" dirty="0"/>
              <a:t> (i.e. contoso.com, example.com)</a:t>
            </a:r>
            <a:endParaRPr lang="en-US" dirty="0"/>
          </a:p>
          <a:p>
            <a:pPr lvl="1"/>
            <a:r>
              <a:rPr lang="es-419" dirty="0"/>
              <a:t>Non </a:t>
            </a:r>
            <a:r>
              <a:rPr lang="es-419" dirty="0" err="1"/>
              <a:t>public</a:t>
            </a:r>
            <a:r>
              <a:rPr lang="es-419" dirty="0"/>
              <a:t> mail services Domain/</a:t>
            </a:r>
            <a:r>
              <a:rPr lang="es-419" dirty="0" err="1"/>
              <a:t>account</a:t>
            </a:r>
            <a:r>
              <a:rPr lang="es-419" dirty="0"/>
              <a:t>  (i.e. gmail.com)</a:t>
            </a:r>
          </a:p>
          <a:p>
            <a:pPr lvl="1"/>
            <a:r>
              <a:rPr lang="es-419" dirty="0"/>
              <a:t>Non Microsoft </a:t>
            </a:r>
            <a:r>
              <a:rPr lang="es-419" dirty="0" err="1"/>
              <a:t>domains</a:t>
            </a:r>
            <a:r>
              <a:rPr lang="es-419" dirty="0"/>
              <a:t> / </a:t>
            </a:r>
            <a:r>
              <a:rPr lang="es-419" dirty="0" err="1"/>
              <a:t>accounts</a:t>
            </a:r>
            <a:endParaRPr lang="es-419" dirty="0"/>
          </a:p>
          <a:p>
            <a:pPr lvl="1"/>
            <a:r>
              <a:rPr lang="es-419" dirty="0" err="1"/>
              <a:t>Need</a:t>
            </a:r>
            <a:r>
              <a:rPr lang="es-419" dirty="0"/>
              <a:t> </a:t>
            </a:r>
            <a:r>
              <a:rPr lang="es-419" dirty="0" err="1"/>
              <a:t>verification</a:t>
            </a:r>
            <a:r>
              <a:rPr lang="es-419" dirty="0"/>
              <a:t> </a:t>
            </a:r>
            <a:r>
              <a:rPr lang="es-419" dirty="0" err="1"/>
              <a:t>through</a:t>
            </a:r>
            <a:r>
              <a:rPr lang="es-419" dirty="0"/>
              <a:t> TXT records </a:t>
            </a:r>
            <a:r>
              <a:rPr lang="es-419" dirty="0" err="1"/>
              <a:t>on</a:t>
            </a:r>
            <a:r>
              <a:rPr lang="es-419" dirty="0"/>
              <a:t> DNS (</a:t>
            </a:r>
            <a:r>
              <a:rPr lang="es-419" dirty="0" err="1"/>
              <a:t>Ownership</a:t>
            </a:r>
            <a:r>
              <a:rPr lang="es-419" dirty="0"/>
              <a:t> </a:t>
            </a:r>
            <a:r>
              <a:rPr lang="es-419" dirty="0" err="1"/>
              <a:t>verification</a:t>
            </a:r>
            <a:r>
              <a:rPr lang="es-419" dirty="0"/>
              <a:t>)</a:t>
            </a:r>
          </a:p>
          <a:p>
            <a:pPr lvl="2"/>
            <a:r>
              <a:rPr lang="es-419" dirty="0"/>
              <a:t>Power BI &gt; Office 365 &gt; </a:t>
            </a:r>
            <a:r>
              <a:rPr lang="es-419" dirty="0" err="1"/>
              <a:t>Managed</a:t>
            </a:r>
            <a:r>
              <a:rPr lang="es-419" dirty="0"/>
              <a:t> Domain &gt; </a:t>
            </a:r>
            <a:r>
              <a:rPr lang="es-419" dirty="0" err="1"/>
              <a:t>Change</a:t>
            </a:r>
            <a:r>
              <a:rPr lang="es-419" dirty="0"/>
              <a:t> Domain/Directory</a:t>
            </a:r>
          </a:p>
          <a:p>
            <a:pPr lvl="2"/>
            <a:endParaRPr lang="es-419" dirty="0"/>
          </a:p>
          <a:p>
            <a:r>
              <a:rPr lang="es-419" b="1" dirty="0"/>
              <a:t>Azure Directory Services…</a:t>
            </a:r>
            <a:r>
              <a:rPr lang="es-419" dirty="0"/>
              <a:t> (IAM = Identity And Access </a:t>
            </a:r>
            <a:r>
              <a:rPr lang="es-419" dirty="0" err="1"/>
              <a:t>Mgmt</a:t>
            </a:r>
            <a:r>
              <a:rPr lang="es-419" dirty="0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392533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Portal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419" b="1" dirty="0" err="1"/>
              <a:t>Subscription</a:t>
            </a:r>
            <a:r>
              <a:rPr lang="es-419" b="1" dirty="0"/>
              <a:t> ID</a:t>
            </a:r>
          </a:p>
          <a:p>
            <a:pPr lvl="1"/>
            <a:r>
              <a:rPr lang="es-419" dirty="0" err="1"/>
              <a:t>Billing</a:t>
            </a:r>
            <a:r>
              <a:rPr lang="es-419" dirty="0"/>
              <a:t> (e.g. Free trial, </a:t>
            </a:r>
            <a:r>
              <a:rPr lang="es-419" dirty="0" err="1"/>
              <a:t>Pay</a:t>
            </a:r>
            <a:r>
              <a:rPr lang="es-419" dirty="0"/>
              <a:t> as </a:t>
            </a:r>
            <a:r>
              <a:rPr lang="es-419" dirty="0" err="1"/>
              <a:t>you</a:t>
            </a:r>
            <a:r>
              <a:rPr lang="es-419" dirty="0"/>
              <a:t> </a:t>
            </a:r>
            <a:r>
              <a:rPr lang="es-419" dirty="0" err="1"/>
              <a:t>Go</a:t>
            </a:r>
            <a:r>
              <a:rPr lang="es-419" dirty="0"/>
              <a:t>, Open </a:t>
            </a:r>
            <a:r>
              <a:rPr lang="es-419" dirty="0" err="1"/>
              <a:t>License</a:t>
            </a:r>
            <a:r>
              <a:rPr lang="es-419" dirty="0"/>
              <a:t>, </a:t>
            </a:r>
            <a:r>
              <a:rPr lang="es-419" dirty="0" err="1"/>
              <a:t>Support</a:t>
            </a:r>
            <a:r>
              <a:rPr lang="es-419" dirty="0"/>
              <a:t> </a:t>
            </a:r>
            <a:r>
              <a:rPr lang="es-419" dirty="0" err="1"/>
              <a:t>Plans</a:t>
            </a:r>
            <a:r>
              <a:rPr lang="es-419" dirty="0"/>
              <a:t>)</a:t>
            </a:r>
          </a:p>
          <a:p>
            <a:pPr lvl="1"/>
            <a:r>
              <a:rPr lang="es-419" dirty="0" err="1"/>
              <a:t>Cost</a:t>
            </a:r>
            <a:r>
              <a:rPr lang="es-419" dirty="0"/>
              <a:t>/</a:t>
            </a:r>
            <a:r>
              <a:rPr lang="es-419" dirty="0" err="1"/>
              <a:t>Pricing</a:t>
            </a:r>
            <a:r>
              <a:rPr lang="es-419" dirty="0"/>
              <a:t> </a:t>
            </a:r>
            <a:r>
              <a:rPr lang="es-419" dirty="0" err="1"/>
              <a:t>tier</a:t>
            </a:r>
            <a:r>
              <a:rPr lang="es-419" dirty="0"/>
              <a:t>: Free, </a:t>
            </a:r>
            <a:r>
              <a:rPr lang="es-419" dirty="0" err="1"/>
              <a:t>basic</a:t>
            </a:r>
            <a:r>
              <a:rPr lang="es-419" dirty="0"/>
              <a:t>, standard, premiun, etc.</a:t>
            </a:r>
          </a:p>
          <a:p>
            <a:r>
              <a:rPr lang="es-419" b="1" dirty="0" err="1"/>
              <a:t>Accounts</a:t>
            </a:r>
            <a:r>
              <a:rPr lang="es-419" dirty="0"/>
              <a:t> (e.g. </a:t>
            </a:r>
            <a:r>
              <a:rPr lang="es-419" dirty="0" err="1"/>
              <a:t>storage</a:t>
            </a:r>
            <a:r>
              <a:rPr lang="es-419" dirty="0"/>
              <a:t>, </a:t>
            </a:r>
            <a:r>
              <a:rPr lang="es-419" dirty="0" err="1"/>
              <a:t>batch</a:t>
            </a:r>
            <a:r>
              <a:rPr lang="es-419" dirty="0"/>
              <a:t>, </a:t>
            </a:r>
            <a:r>
              <a:rPr lang="es-419" dirty="0" err="1"/>
              <a:t>integration</a:t>
            </a:r>
            <a:r>
              <a:rPr lang="es-419" dirty="0"/>
              <a:t>, </a:t>
            </a:r>
            <a:r>
              <a:rPr lang="es-419" dirty="0" err="1"/>
              <a:t>automation</a:t>
            </a:r>
            <a:r>
              <a:rPr lang="es-419" dirty="0"/>
              <a:t>)</a:t>
            </a:r>
          </a:p>
          <a:p>
            <a:pPr lvl="1"/>
            <a:r>
              <a:rPr lang="es-419" dirty="0"/>
              <a:t>Resource Manager (Group)</a:t>
            </a:r>
          </a:p>
          <a:p>
            <a:pPr lvl="2"/>
            <a:r>
              <a:rPr lang="es-419" dirty="0"/>
              <a:t>Resource (i.e. machine, </a:t>
            </a:r>
            <a:r>
              <a:rPr lang="es-419" dirty="0" err="1"/>
              <a:t>container</a:t>
            </a:r>
            <a:r>
              <a:rPr lang="es-419" dirty="0"/>
              <a:t>, network, </a:t>
            </a:r>
            <a:r>
              <a:rPr lang="es-419" dirty="0" err="1"/>
              <a:t>etc</a:t>
            </a:r>
            <a:r>
              <a:rPr lang="es-419" dirty="0"/>
              <a:t>).</a:t>
            </a:r>
          </a:p>
          <a:p>
            <a:pPr lvl="2"/>
            <a:r>
              <a:rPr lang="es-419" dirty="0"/>
              <a:t>Workspace (e.g. log </a:t>
            </a:r>
            <a:r>
              <a:rPr lang="es-419" dirty="0" err="1"/>
              <a:t>analytics</a:t>
            </a:r>
            <a:r>
              <a:rPr lang="es-419" dirty="0"/>
              <a:t>)</a:t>
            </a:r>
          </a:p>
          <a:p>
            <a:pPr lvl="2"/>
            <a:r>
              <a:rPr lang="es-419" dirty="0"/>
              <a:t>Service (e.g. </a:t>
            </a:r>
            <a:r>
              <a:rPr lang="es-419" dirty="0" err="1"/>
              <a:t>directory</a:t>
            </a:r>
            <a:r>
              <a:rPr lang="es-419" dirty="0"/>
              <a:t> Service, security center).</a:t>
            </a:r>
          </a:p>
          <a:p>
            <a:pPr lvl="1"/>
            <a:r>
              <a:rPr lang="es-419" b="1" strike="sngStrike" dirty="0">
                <a:solidFill>
                  <a:srgbClr val="FF0000"/>
                </a:solidFill>
              </a:rPr>
              <a:t>“</a:t>
            </a:r>
            <a:r>
              <a:rPr lang="es-419" b="1" strike="sngStrike" dirty="0" err="1">
                <a:solidFill>
                  <a:srgbClr val="FF0000"/>
                </a:solidFill>
              </a:rPr>
              <a:t>Classic</a:t>
            </a:r>
            <a:r>
              <a:rPr lang="es-419" b="1" strike="sngStrike" dirty="0">
                <a:solidFill>
                  <a:srgbClr val="FF0000"/>
                </a:solidFill>
              </a:rPr>
              <a:t>”/”</a:t>
            </a:r>
            <a:r>
              <a:rPr lang="es-419" b="1" strike="sngStrike" dirty="0" err="1">
                <a:solidFill>
                  <a:srgbClr val="FF0000"/>
                </a:solidFill>
              </a:rPr>
              <a:t>Classical</a:t>
            </a:r>
            <a:r>
              <a:rPr lang="es-419" b="1" strike="sngStrike" dirty="0">
                <a:solidFill>
                  <a:srgbClr val="FF0000"/>
                </a:solidFill>
              </a:rPr>
              <a:t>”</a:t>
            </a:r>
          </a:p>
          <a:p>
            <a:r>
              <a:rPr lang="es-419" b="1" dirty="0"/>
              <a:t>Resource </a:t>
            </a:r>
            <a:r>
              <a:rPr lang="es-419" b="1" dirty="0" err="1"/>
              <a:t>naming</a:t>
            </a:r>
            <a:r>
              <a:rPr lang="es-419" b="1" dirty="0"/>
              <a:t> </a:t>
            </a:r>
            <a:r>
              <a:rPr lang="es-419" dirty="0"/>
              <a:t>(i.e. RG =&gt; Resource Group, SA =&gt; Storage </a:t>
            </a:r>
            <a:r>
              <a:rPr lang="es-419" dirty="0" err="1"/>
              <a:t>Account</a:t>
            </a:r>
            <a:r>
              <a:rPr lang="es-419" dirty="0"/>
              <a:t>)</a:t>
            </a:r>
          </a:p>
          <a:p>
            <a:r>
              <a:rPr lang="es-419" b="1" dirty="0"/>
              <a:t>Resource </a:t>
            </a:r>
            <a:r>
              <a:rPr lang="es-419" b="1" dirty="0" err="1"/>
              <a:t>Tagging</a:t>
            </a:r>
            <a:r>
              <a:rPr lang="es-419" dirty="0"/>
              <a:t> (i.e. Key1 = Value2, Key1 = Value2, CMDB-</a:t>
            </a:r>
            <a:r>
              <a:rPr lang="es-419" dirty="0" err="1"/>
              <a:t>Like</a:t>
            </a:r>
            <a:r>
              <a:rPr lang="es-419" dirty="0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7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503" y="1165263"/>
            <a:ext cx="5115135" cy="570148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8847" y="314418"/>
            <a:ext cx="10454222" cy="83719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sz="4000" b="1" dirty="0">
                <a:solidFill>
                  <a:schemeClr val="bg1"/>
                </a:solidFill>
              </a:rPr>
              <a:t>PoC Azure Administration – Resource Groups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0" y="6475902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https://docs.microsoft.com/en-us/azure/architecture/cloud-adoption/getting-started/azure-resource-access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837869" y="2916249"/>
            <a:ext cx="1561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800" b="1" dirty="0"/>
              <a:t>RBAC</a:t>
            </a:r>
            <a:endParaRPr lang="en-US" sz="4800" b="1" dirty="0"/>
          </a:p>
        </p:txBody>
      </p:sp>
      <p:sp>
        <p:nvSpPr>
          <p:cNvPr id="9" name="CuadroTexto 8"/>
          <p:cNvSpPr txBox="1"/>
          <p:nvPr/>
        </p:nvSpPr>
        <p:spPr>
          <a:xfrm>
            <a:off x="987344" y="2832155"/>
            <a:ext cx="1443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800" b="1" dirty="0"/>
              <a:t>ARM</a:t>
            </a:r>
            <a:endParaRPr lang="en-US" sz="4800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968847" y="1397772"/>
            <a:ext cx="28014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400" b="1" dirty="0"/>
              <a:t>Frontend</a:t>
            </a:r>
            <a:endParaRPr lang="en-US" sz="6600" b="1" dirty="0"/>
          </a:p>
        </p:txBody>
      </p:sp>
      <p:sp>
        <p:nvSpPr>
          <p:cNvPr id="13" name="CuadroTexto 12"/>
          <p:cNvSpPr txBox="1"/>
          <p:nvPr/>
        </p:nvSpPr>
        <p:spPr>
          <a:xfrm>
            <a:off x="987344" y="4672187"/>
            <a:ext cx="26087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5400" b="1" dirty="0"/>
              <a:t>Backend</a:t>
            </a:r>
            <a:endParaRPr lang="en-US" sz="5400" b="1" dirty="0"/>
          </a:p>
        </p:txBody>
      </p:sp>
      <p:sp>
        <p:nvSpPr>
          <p:cNvPr id="5" name="Abrir llave 4"/>
          <p:cNvSpPr/>
          <p:nvPr/>
        </p:nvSpPr>
        <p:spPr>
          <a:xfrm>
            <a:off x="4248923" y="1258913"/>
            <a:ext cx="401052" cy="1062190"/>
          </a:xfrm>
          <a:prstGeom prst="leftBrace">
            <a:avLst>
              <a:gd name="adj1" fmla="val 398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brir llave 13"/>
          <p:cNvSpPr/>
          <p:nvPr/>
        </p:nvSpPr>
        <p:spPr>
          <a:xfrm>
            <a:off x="4248923" y="2385153"/>
            <a:ext cx="401052" cy="1769751"/>
          </a:xfrm>
          <a:prstGeom prst="leftBrace">
            <a:avLst>
              <a:gd name="adj1" fmla="val 398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brir llave 15"/>
          <p:cNvSpPr/>
          <p:nvPr/>
        </p:nvSpPr>
        <p:spPr>
          <a:xfrm>
            <a:off x="4248923" y="4265958"/>
            <a:ext cx="401052" cy="1990463"/>
          </a:xfrm>
          <a:prstGeom prst="leftBrace">
            <a:avLst>
              <a:gd name="adj1" fmla="val 39811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34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8935" y="266423"/>
            <a:ext cx="11100237" cy="1132268"/>
          </a:xfrm>
          <a:solidFill>
            <a:srgbClr val="0070C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419" sz="4000" b="1" dirty="0" err="1">
                <a:solidFill>
                  <a:schemeClr val="bg1"/>
                </a:solidFill>
              </a:rPr>
              <a:t>PoC</a:t>
            </a:r>
            <a:r>
              <a:rPr lang="es-419" sz="4000" b="1" dirty="0">
                <a:solidFill>
                  <a:schemeClr val="bg1"/>
                </a:solidFill>
              </a:rPr>
              <a:t> Azure </a:t>
            </a:r>
            <a:r>
              <a:rPr lang="es-419" sz="4000" b="1" dirty="0" err="1">
                <a:solidFill>
                  <a:schemeClr val="bg1"/>
                </a:solidFill>
              </a:rPr>
              <a:t>Administration</a:t>
            </a:r>
            <a:r>
              <a:rPr lang="es-419" sz="4000" b="1" dirty="0">
                <a:solidFill>
                  <a:schemeClr val="bg1"/>
                </a:solidFill>
              </a:rPr>
              <a:t> – Azure </a:t>
            </a:r>
            <a:r>
              <a:rPr lang="es-419" sz="4000" b="1" dirty="0" err="1">
                <a:solidFill>
                  <a:schemeClr val="bg1"/>
                </a:solidFill>
              </a:rPr>
              <a:t>Subs</a:t>
            </a:r>
            <a:r>
              <a:rPr lang="es-419" sz="4000" b="1" dirty="0">
                <a:solidFill>
                  <a:schemeClr val="bg1"/>
                </a:solidFill>
              </a:rPr>
              <a:t>. (</a:t>
            </a:r>
            <a:r>
              <a:rPr lang="es-419" sz="4000" b="1" dirty="0" err="1">
                <a:solidFill>
                  <a:schemeClr val="bg1"/>
                </a:solidFill>
              </a:rPr>
              <a:t>Usage</a:t>
            </a:r>
            <a:r>
              <a:rPr lang="es-419" sz="4000" b="1" dirty="0">
                <a:solidFill>
                  <a:schemeClr val="bg1"/>
                </a:solidFill>
              </a:rPr>
              <a:t>)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38" y="2942004"/>
            <a:ext cx="3395662" cy="279737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911" y="2967405"/>
            <a:ext cx="3361866" cy="274552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5588" y="2942004"/>
            <a:ext cx="3422385" cy="278679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7943" y="1717752"/>
            <a:ext cx="6591300" cy="1072549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1409638" y="1610495"/>
            <a:ext cx="28876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 err="1">
                <a:solidFill>
                  <a:srgbClr val="0070C0"/>
                </a:solidFill>
              </a:rPr>
              <a:t>Enrollment</a:t>
            </a:r>
            <a:r>
              <a:rPr lang="es-419" sz="3200" b="1" dirty="0">
                <a:solidFill>
                  <a:srgbClr val="0070C0"/>
                </a:solidFill>
              </a:rPr>
              <a:t>?</a:t>
            </a:r>
          </a:p>
          <a:p>
            <a:r>
              <a:rPr lang="es-419" sz="3200" b="1" dirty="0" err="1">
                <a:solidFill>
                  <a:srgbClr val="0070C0"/>
                </a:solidFill>
              </a:rPr>
              <a:t>Resources</a:t>
            </a:r>
            <a:r>
              <a:rPr lang="es-419" sz="3200" b="1" dirty="0">
                <a:solidFill>
                  <a:srgbClr val="0070C0"/>
                </a:solidFill>
              </a:rPr>
              <a:t>?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12" name="Rectángulo 11"/>
          <p:cNvSpPr/>
          <p:nvPr/>
        </p:nvSpPr>
        <p:spPr>
          <a:xfrm>
            <a:off x="498935" y="6090528"/>
            <a:ext cx="112582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https://techcommunity.microsoft.com/t5/ITOps-Talk-Blog/Best-practices-for-naming-your-Microsoft-Azure-resources/ba-p/294480</a:t>
            </a:r>
          </a:p>
          <a:p>
            <a:pPr algn="ctr"/>
            <a:r>
              <a:rPr lang="en-US" sz="1400" dirty="0"/>
              <a:t>https://docs.microsoft.com/es-es/azure/architecture/cloud-adoption/appendix/azure-scaffold?wt.mc_id=itshowcase-codeapps</a:t>
            </a:r>
          </a:p>
        </p:txBody>
      </p:sp>
      <p:sp>
        <p:nvSpPr>
          <p:cNvPr id="3" name="Rectángulo 2"/>
          <p:cNvSpPr/>
          <p:nvPr/>
        </p:nvSpPr>
        <p:spPr>
          <a:xfrm>
            <a:off x="272716" y="5069305"/>
            <a:ext cx="11484517" cy="777335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7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491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Services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5016500" cy="4351338"/>
          </a:xfrm>
        </p:spPr>
        <p:txBody>
          <a:bodyPr>
            <a:normAutofit/>
          </a:bodyPr>
          <a:lstStyle/>
          <a:p>
            <a:r>
              <a:rPr lang="es-419" b="1" dirty="0">
                <a:solidFill>
                  <a:srgbClr val="00B050"/>
                </a:solidFill>
              </a:rPr>
              <a:t>General</a:t>
            </a:r>
          </a:p>
          <a:p>
            <a:r>
              <a:rPr lang="es-419" b="1" dirty="0">
                <a:solidFill>
                  <a:srgbClr val="00B050"/>
                </a:solidFill>
              </a:rPr>
              <a:t>Compute / Containers</a:t>
            </a:r>
          </a:p>
          <a:p>
            <a:r>
              <a:rPr lang="es-419" b="1" dirty="0">
                <a:solidFill>
                  <a:srgbClr val="00B050"/>
                </a:solidFill>
              </a:rPr>
              <a:t>Storage</a:t>
            </a:r>
          </a:p>
          <a:p>
            <a:r>
              <a:rPr lang="es-419" b="1" dirty="0">
                <a:solidFill>
                  <a:srgbClr val="00B050"/>
                </a:solidFill>
              </a:rPr>
              <a:t>Networking</a:t>
            </a:r>
          </a:p>
          <a:p>
            <a:r>
              <a:rPr lang="es-419" b="1" dirty="0">
                <a:solidFill>
                  <a:srgbClr val="00B050"/>
                </a:solidFill>
              </a:rPr>
              <a:t>Web / Mobile / </a:t>
            </a:r>
            <a:r>
              <a:rPr lang="es-419" b="1" dirty="0" err="1">
                <a:solidFill>
                  <a:srgbClr val="00B050"/>
                </a:solidFill>
              </a:rPr>
              <a:t>Database</a:t>
            </a:r>
            <a:endParaRPr lang="es-419" b="1" dirty="0">
              <a:solidFill>
                <a:srgbClr val="00B050"/>
              </a:solidFill>
            </a:endParaRPr>
          </a:p>
          <a:p>
            <a:r>
              <a:rPr lang="es-419" b="1" dirty="0">
                <a:solidFill>
                  <a:srgbClr val="00B050"/>
                </a:solidFill>
              </a:rPr>
              <a:t>Analytics</a:t>
            </a:r>
          </a:p>
          <a:p>
            <a:r>
              <a:rPr lang="es-419" b="1" dirty="0"/>
              <a:t>AI + Machine </a:t>
            </a:r>
            <a:r>
              <a:rPr lang="es-419" b="1" dirty="0" err="1"/>
              <a:t>Learning</a:t>
            </a:r>
            <a:endParaRPr lang="es-419" b="1" dirty="0"/>
          </a:p>
          <a:p>
            <a:r>
              <a:rPr lang="es-419" b="1" dirty="0">
                <a:solidFill>
                  <a:srgbClr val="00B050"/>
                </a:solidFill>
              </a:rPr>
              <a:t>Internet of </a:t>
            </a:r>
            <a:r>
              <a:rPr lang="es-419" b="1" dirty="0" err="1">
                <a:solidFill>
                  <a:srgbClr val="00B050"/>
                </a:solidFill>
              </a:rPr>
              <a:t>Things</a:t>
            </a:r>
            <a:endParaRPr lang="es-419" b="1" dirty="0">
              <a:solidFill>
                <a:srgbClr val="00B05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6096000" y="1690688"/>
            <a:ext cx="5016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b="1" dirty="0" err="1"/>
              <a:t>Integration</a:t>
            </a:r>
            <a:endParaRPr lang="es-419" b="1" dirty="0"/>
          </a:p>
          <a:p>
            <a:r>
              <a:rPr lang="es-419" b="1" dirty="0">
                <a:solidFill>
                  <a:srgbClr val="00B050"/>
                </a:solidFill>
              </a:rPr>
              <a:t>Identity</a:t>
            </a:r>
          </a:p>
          <a:p>
            <a:r>
              <a:rPr lang="es-419" b="1" dirty="0">
                <a:solidFill>
                  <a:srgbClr val="00B050"/>
                </a:solidFill>
              </a:rPr>
              <a:t>Security</a:t>
            </a:r>
          </a:p>
          <a:p>
            <a:r>
              <a:rPr lang="es-419" b="1" dirty="0">
                <a:solidFill>
                  <a:srgbClr val="00B050"/>
                </a:solidFill>
              </a:rPr>
              <a:t>DevOps</a:t>
            </a:r>
          </a:p>
          <a:p>
            <a:r>
              <a:rPr lang="es-419" b="1" dirty="0" err="1">
                <a:solidFill>
                  <a:srgbClr val="00B050"/>
                </a:solidFill>
              </a:rPr>
              <a:t>Migrate</a:t>
            </a:r>
            <a:endParaRPr lang="es-419" b="1" dirty="0">
              <a:solidFill>
                <a:srgbClr val="00B050"/>
              </a:solidFill>
            </a:endParaRPr>
          </a:p>
          <a:p>
            <a:r>
              <a:rPr lang="es-419" b="1" dirty="0">
                <a:solidFill>
                  <a:srgbClr val="00B050"/>
                </a:solidFill>
              </a:rPr>
              <a:t>Management &amp; </a:t>
            </a:r>
            <a:r>
              <a:rPr lang="es-419" b="1" dirty="0" err="1">
                <a:solidFill>
                  <a:srgbClr val="00B050"/>
                </a:solidFill>
              </a:rPr>
              <a:t>Governance</a:t>
            </a:r>
            <a:endParaRPr lang="es-419" b="1" dirty="0">
              <a:solidFill>
                <a:srgbClr val="00B050"/>
              </a:solidFill>
            </a:endParaRPr>
          </a:p>
          <a:p>
            <a:r>
              <a:rPr lang="es-419" b="1" dirty="0"/>
              <a:t>Intune</a:t>
            </a:r>
          </a:p>
          <a:p>
            <a:r>
              <a:rPr lang="es-419" b="1" dirty="0" err="1"/>
              <a:t>Other</a:t>
            </a:r>
            <a:endParaRPr lang="es-419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80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249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Group/Perm.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06826" y="1756534"/>
            <a:ext cx="2461591" cy="2070514"/>
          </a:xfrm>
        </p:spPr>
        <p:txBody>
          <a:bodyPr>
            <a:normAutofit fontScale="92500" lnSpcReduction="20000"/>
          </a:bodyPr>
          <a:lstStyle/>
          <a:p>
            <a:r>
              <a:rPr lang="es-419" b="1" dirty="0">
                <a:solidFill>
                  <a:srgbClr val="00B050"/>
                </a:solidFill>
              </a:rPr>
              <a:t>Compute</a:t>
            </a:r>
          </a:p>
          <a:p>
            <a:r>
              <a:rPr lang="es-419" b="1" dirty="0">
                <a:solidFill>
                  <a:srgbClr val="00B050"/>
                </a:solidFill>
              </a:rPr>
              <a:t>Storage</a:t>
            </a:r>
          </a:p>
          <a:p>
            <a:r>
              <a:rPr lang="es-419" b="1" dirty="0" err="1">
                <a:solidFill>
                  <a:srgbClr val="00B050"/>
                </a:solidFill>
              </a:rPr>
              <a:t>Migrate</a:t>
            </a:r>
            <a:endParaRPr lang="es-419" b="1" dirty="0">
              <a:solidFill>
                <a:srgbClr val="00B050"/>
              </a:solidFill>
            </a:endParaRPr>
          </a:p>
          <a:p>
            <a:r>
              <a:rPr lang="es-419" b="1" dirty="0">
                <a:solidFill>
                  <a:srgbClr val="00B050"/>
                </a:solidFill>
              </a:rPr>
              <a:t>Analytics</a:t>
            </a:r>
          </a:p>
          <a:p>
            <a:r>
              <a:rPr lang="es-419" b="1" dirty="0">
                <a:solidFill>
                  <a:schemeClr val="accent2">
                    <a:lumMod val="75000"/>
                  </a:schemeClr>
                </a:solidFill>
              </a:rPr>
              <a:t>Identity</a:t>
            </a:r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1606826" y="4600442"/>
            <a:ext cx="2726635" cy="1276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2400" b="1" dirty="0">
                <a:solidFill>
                  <a:srgbClr val="00B050"/>
                </a:solidFill>
              </a:rPr>
              <a:t>General</a:t>
            </a:r>
          </a:p>
          <a:p>
            <a:r>
              <a:rPr lang="es-419" sz="2400" b="1" dirty="0" err="1">
                <a:solidFill>
                  <a:srgbClr val="00B050"/>
                </a:solidFill>
              </a:rPr>
              <a:t>Mgmt</a:t>
            </a:r>
            <a:r>
              <a:rPr lang="es-419" sz="2400" b="1" dirty="0">
                <a:solidFill>
                  <a:srgbClr val="00B050"/>
                </a:solidFill>
              </a:rPr>
              <a:t>. &amp;</a:t>
            </a:r>
            <a:br>
              <a:rPr lang="es-419" sz="2400" b="1" dirty="0">
                <a:solidFill>
                  <a:srgbClr val="00B050"/>
                </a:solidFill>
              </a:rPr>
            </a:br>
            <a:r>
              <a:rPr lang="es-419" sz="2400" b="1" dirty="0" err="1">
                <a:solidFill>
                  <a:srgbClr val="00B050"/>
                </a:solidFill>
              </a:rPr>
              <a:t>Governance</a:t>
            </a:r>
            <a:endParaRPr lang="en-US" sz="2400" dirty="0"/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6499640" y="1994349"/>
            <a:ext cx="2498586" cy="1118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b="1" dirty="0">
                <a:solidFill>
                  <a:srgbClr val="00B050"/>
                </a:solidFill>
              </a:rPr>
              <a:t>Networking</a:t>
            </a:r>
          </a:p>
          <a:p>
            <a:r>
              <a:rPr lang="es-419" b="1" dirty="0">
                <a:solidFill>
                  <a:srgbClr val="00B050"/>
                </a:solidFill>
              </a:rPr>
              <a:t>Security</a:t>
            </a:r>
          </a:p>
          <a:p>
            <a:r>
              <a:rPr lang="es-419" b="1" dirty="0">
                <a:solidFill>
                  <a:schemeClr val="accent2">
                    <a:lumMod val="75000"/>
                  </a:schemeClr>
                </a:solidFill>
              </a:rPr>
              <a:t>Identity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6499640" y="4151707"/>
            <a:ext cx="2498586" cy="1994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sz="2000" b="1" dirty="0">
                <a:solidFill>
                  <a:srgbClr val="00B050"/>
                </a:solidFill>
              </a:rPr>
              <a:t>Web / Mobile </a:t>
            </a:r>
          </a:p>
          <a:p>
            <a:r>
              <a:rPr lang="es-419" sz="2000" b="1" dirty="0" err="1">
                <a:solidFill>
                  <a:srgbClr val="00B050"/>
                </a:solidFill>
              </a:rPr>
              <a:t>Database</a:t>
            </a:r>
            <a:endParaRPr lang="es-419" sz="2000" b="1" dirty="0">
              <a:solidFill>
                <a:srgbClr val="00B050"/>
              </a:solidFill>
            </a:endParaRPr>
          </a:p>
          <a:p>
            <a:r>
              <a:rPr lang="es-419" sz="2000" b="1" dirty="0">
                <a:solidFill>
                  <a:srgbClr val="00B050"/>
                </a:solidFill>
              </a:rPr>
              <a:t>Analytics</a:t>
            </a:r>
          </a:p>
          <a:p>
            <a:r>
              <a:rPr lang="es-419" sz="2000" b="1" dirty="0">
                <a:solidFill>
                  <a:srgbClr val="00B050"/>
                </a:solidFill>
              </a:rPr>
              <a:t>IoT</a:t>
            </a:r>
          </a:p>
          <a:p>
            <a:r>
              <a:rPr lang="es-419" sz="2000" b="1" dirty="0">
                <a:solidFill>
                  <a:srgbClr val="00B050"/>
                </a:solidFill>
              </a:rPr>
              <a:t>DevOps</a:t>
            </a:r>
          </a:p>
          <a:p>
            <a:r>
              <a:rPr lang="es-419" sz="2000" b="1" dirty="0">
                <a:solidFill>
                  <a:schemeClr val="accent2">
                    <a:lumMod val="75000"/>
                  </a:schemeClr>
                </a:solidFill>
              </a:rPr>
              <a:t>Identity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9296400" y="1880189"/>
            <a:ext cx="2057400" cy="646331"/>
          </a:xfrm>
          <a:prstGeom prst="rect">
            <a:avLst/>
          </a:prstGeom>
          <a:solidFill>
            <a:srgbClr val="FF00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Net. &amp; Security Group (RW)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3763342" y="1834143"/>
            <a:ext cx="1954418" cy="646331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Operations</a:t>
            </a:r>
          </a:p>
          <a:p>
            <a:pPr algn="ctr"/>
            <a:r>
              <a:rPr lang="es-419" b="1" dirty="0">
                <a:solidFill>
                  <a:schemeClr val="bg1"/>
                </a:solidFill>
              </a:rPr>
              <a:t>Group (RW)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9296400" y="4383833"/>
            <a:ext cx="2057400" cy="646331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Automation</a:t>
            </a:r>
            <a:endParaRPr lang="es-419" b="1" dirty="0">
              <a:solidFill>
                <a:schemeClr val="bg1"/>
              </a:solidFill>
            </a:endParaRPr>
          </a:p>
          <a:p>
            <a:pPr algn="ctr"/>
            <a:r>
              <a:rPr lang="es-419" b="1" dirty="0">
                <a:solidFill>
                  <a:schemeClr val="bg1"/>
                </a:solidFill>
              </a:rPr>
              <a:t>Group (RW)</a:t>
            </a:r>
          </a:p>
        </p:txBody>
      </p:sp>
      <p:sp>
        <p:nvSpPr>
          <p:cNvPr id="13" name="CuadroTexto 12"/>
          <p:cNvSpPr txBox="1"/>
          <p:nvPr/>
        </p:nvSpPr>
        <p:spPr>
          <a:xfrm>
            <a:off x="3763342" y="4456987"/>
            <a:ext cx="1954418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All</a:t>
            </a:r>
            <a:endParaRPr lang="es-419" b="1" dirty="0">
              <a:solidFill>
                <a:schemeClr val="bg1"/>
              </a:solidFill>
            </a:endParaRPr>
          </a:p>
          <a:p>
            <a:pPr algn="ctr"/>
            <a:r>
              <a:rPr lang="es-419" b="1" dirty="0" err="1">
                <a:solidFill>
                  <a:schemeClr val="bg1"/>
                </a:solidFill>
              </a:rPr>
              <a:t>Groups</a:t>
            </a:r>
            <a:endParaRPr lang="es-419" b="1" dirty="0">
              <a:solidFill>
                <a:schemeClr val="bg1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3763342" y="5238577"/>
            <a:ext cx="1954418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Architecture</a:t>
            </a:r>
          </a:p>
        </p:txBody>
      </p:sp>
      <p:cxnSp>
        <p:nvCxnSpPr>
          <p:cNvPr id="16" name="Conector recto 15"/>
          <p:cNvCxnSpPr/>
          <p:nvPr/>
        </p:nvCxnSpPr>
        <p:spPr>
          <a:xfrm>
            <a:off x="838200" y="4025900"/>
            <a:ext cx="10655300" cy="127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>
            <a:stCxn id="2" idx="2"/>
          </p:cNvCxnSpPr>
          <p:nvPr/>
        </p:nvCxnSpPr>
        <p:spPr>
          <a:xfrm>
            <a:off x="6096000" y="1471374"/>
            <a:ext cx="25400" cy="49929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/>
          <p:cNvSpPr txBox="1"/>
          <p:nvPr/>
        </p:nvSpPr>
        <p:spPr>
          <a:xfrm>
            <a:off x="9296400" y="2634224"/>
            <a:ext cx="2057400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s-419" b="1" dirty="0">
                <a:solidFill>
                  <a:schemeClr val="bg1"/>
                </a:solidFill>
              </a:rPr>
              <a:t>Group</a:t>
            </a:r>
          </a:p>
        </p:txBody>
      </p:sp>
      <p:sp>
        <p:nvSpPr>
          <p:cNvPr id="21" name="CuadroTexto 20"/>
          <p:cNvSpPr txBox="1"/>
          <p:nvPr/>
        </p:nvSpPr>
        <p:spPr>
          <a:xfrm>
            <a:off x="9296400" y="5191712"/>
            <a:ext cx="2057400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s-419" b="1" dirty="0">
                <a:solidFill>
                  <a:schemeClr val="bg1"/>
                </a:solidFill>
              </a:rPr>
              <a:t>Group</a:t>
            </a:r>
          </a:p>
        </p:txBody>
      </p:sp>
      <p:sp>
        <p:nvSpPr>
          <p:cNvPr id="22" name="CuadroTexto 21"/>
          <p:cNvSpPr txBox="1"/>
          <p:nvPr/>
        </p:nvSpPr>
        <p:spPr>
          <a:xfrm>
            <a:off x="3763342" y="2624486"/>
            <a:ext cx="195441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bg1"/>
                </a:solidFill>
              </a:rPr>
              <a:t>Architecture</a:t>
            </a:r>
          </a:p>
          <a:p>
            <a:pPr algn="ctr"/>
            <a:r>
              <a:rPr lang="es-419" b="1" dirty="0">
                <a:solidFill>
                  <a:schemeClr val="bg1"/>
                </a:solidFill>
              </a:rPr>
              <a:t>Group</a:t>
            </a:r>
          </a:p>
        </p:txBody>
      </p:sp>
    </p:spTree>
    <p:extLst>
      <p:ext uri="{BB962C8B-B14F-4D97-AF65-F5344CB8AC3E}">
        <p14:creationId xmlns:p14="http://schemas.microsoft.com/office/powerpoint/2010/main" val="1439032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0749"/>
          </a:xfrm>
          <a:solidFill>
            <a:srgbClr val="0070C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419" sz="4000" b="1" dirty="0" err="1">
                <a:solidFill>
                  <a:schemeClr val="bg1"/>
                </a:solidFill>
              </a:rPr>
              <a:t>PoC</a:t>
            </a:r>
            <a:r>
              <a:rPr lang="es-419" sz="4000" b="1" dirty="0">
                <a:solidFill>
                  <a:schemeClr val="bg1"/>
                </a:solidFill>
              </a:rPr>
              <a:t> Azure </a:t>
            </a:r>
            <a:r>
              <a:rPr lang="es-419" sz="4000" b="1" dirty="0" err="1">
                <a:solidFill>
                  <a:schemeClr val="bg1"/>
                </a:solidFill>
              </a:rPr>
              <a:t>Administration</a:t>
            </a:r>
            <a:r>
              <a:rPr lang="es-419" sz="4000" b="1" dirty="0">
                <a:solidFill>
                  <a:schemeClr val="bg1"/>
                </a:solidFill>
              </a:rPr>
              <a:t> – Resource </a:t>
            </a:r>
            <a:r>
              <a:rPr lang="es-419" sz="4000" b="1" dirty="0" err="1">
                <a:solidFill>
                  <a:schemeClr val="bg1"/>
                </a:solidFill>
              </a:rPr>
              <a:t>Groups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8" name="Marcador de contenido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419" b="1" dirty="0" err="1">
                <a:solidFill>
                  <a:srgbClr val="00B050"/>
                </a:solidFill>
              </a:rPr>
              <a:t>RGCloudShell</a:t>
            </a:r>
            <a:endParaRPr lang="es-419" b="1" dirty="0">
              <a:solidFill>
                <a:srgbClr val="00B050"/>
              </a:solidFill>
            </a:endParaRPr>
          </a:p>
          <a:p>
            <a:pPr lvl="1"/>
            <a:r>
              <a:rPr lang="es-419" dirty="0" err="1"/>
              <a:t>All</a:t>
            </a:r>
            <a:r>
              <a:rPr lang="es-419" dirty="0"/>
              <a:t> </a:t>
            </a:r>
            <a:r>
              <a:rPr lang="es-419" dirty="0" err="1"/>
              <a:t>Users</a:t>
            </a:r>
            <a:r>
              <a:rPr lang="es-419" dirty="0"/>
              <a:t>/</a:t>
            </a:r>
            <a:r>
              <a:rPr lang="es-419" dirty="0" err="1"/>
              <a:t>Groups</a:t>
            </a:r>
            <a:endParaRPr lang="es-419" dirty="0"/>
          </a:p>
          <a:p>
            <a:r>
              <a:rPr lang="es-419" b="1" dirty="0" err="1">
                <a:solidFill>
                  <a:srgbClr val="00B050"/>
                </a:solidFill>
              </a:rPr>
              <a:t>RGLogging</a:t>
            </a:r>
            <a:endParaRPr lang="es-419" b="1" dirty="0">
              <a:solidFill>
                <a:srgbClr val="00B050"/>
              </a:solidFill>
            </a:endParaRPr>
          </a:p>
          <a:p>
            <a:pPr lvl="1"/>
            <a:r>
              <a:rPr lang="es-419" dirty="0"/>
              <a:t>Log Workspace (Monitoring/</a:t>
            </a:r>
            <a:r>
              <a:rPr lang="es-419" dirty="0" err="1"/>
              <a:t>Auditing</a:t>
            </a:r>
            <a:r>
              <a:rPr lang="es-419" dirty="0"/>
              <a:t>)</a:t>
            </a:r>
          </a:p>
          <a:p>
            <a:r>
              <a:rPr lang="es-419" b="1" dirty="0" err="1">
                <a:solidFill>
                  <a:srgbClr val="00B050"/>
                </a:solidFill>
              </a:rPr>
              <a:t>RGBackup</a:t>
            </a:r>
            <a:endParaRPr lang="es-419" b="1" dirty="0">
              <a:solidFill>
                <a:srgbClr val="00B050"/>
              </a:solidFill>
            </a:endParaRPr>
          </a:p>
          <a:p>
            <a:pPr lvl="1"/>
            <a:r>
              <a:rPr lang="es-419" dirty="0"/>
              <a:t>Azure Backup / Site Recovery </a:t>
            </a:r>
            <a:r>
              <a:rPr lang="es-419" dirty="0" err="1"/>
              <a:t>Vault</a:t>
            </a:r>
            <a:endParaRPr lang="en-US" dirty="0"/>
          </a:p>
          <a:p>
            <a:pPr algn="just"/>
            <a:r>
              <a:rPr lang="es-419" b="1" dirty="0" err="1">
                <a:solidFill>
                  <a:srgbClr val="0070C0"/>
                </a:solidFill>
              </a:rPr>
              <a:t>Life-Cycle</a:t>
            </a:r>
            <a:r>
              <a:rPr lang="es-419" b="1" dirty="0">
                <a:solidFill>
                  <a:srgbClr val="0070C0"/>
                </a:solidFill>
              </a:rPr>
              <a:t>/Relations (e.g. </a:t>
            </a:r>
            <a:r>
              <a:rPr lang="es-419" b="1" dirty="0" err="1">
                <a:solidFill>
                  <a:srgbClr val="0070C0"/>
                </a:solidFill>
              </a:rPr>
              <a:t>Production</a:t>
            </a:r>
            <a:r>
              <a:rPr lang="es-419" b="1" dirty="0">
                <a:solidFill>
                  <a:srgbClr val="0070C0"/>
                </a:solidFill>
              </a:rPr>
              <a:t>, Development, Test, Line-Of-</a:t>
            </a:r>
            <a:r>
              <a:rPr lang="es-419" b="1" dirty="0" err="1">
                <a:solidFill>
                  <a:srgbClr val="0070C0"/>
                </a:solidFill>
              </a:rPr>
              <a:t>Bussiness</a:t>
            </a:r>
            <a:r>
              <a:rPr lang="es-419" b="1" dirty="0">
                <a:solidFill>
                  <a:srgbClr val="0070C0"/>
                </a:solidFill>
              </a:rPr>
              <a:t>-Application, IaaS-</a:t>
            </a:r>
            <a:r>
              <a:rPr lang="es-419" b="1" dirty="0" err="1">
                <a:solidFill>
                  <a:srgbClr val="0070C0"/>
                </a:solidFill>
              </a:rPr>
              <a:t>Workload</a:t>
            </a:r>
            <a:r>
              <a:rPr lang="es-419" b="1" dirty="0">
                <a:solidFill>
                  <a:srgbClr val="0070C0"/>
                </a:solidFill>
              </a:rPr>
              <a:t>)</a:t>
            </a:r>
          </a:p>
          <a:p>
            <a:pPr algn="just"/>
            <a:r>
              <a:rPr lang="es-419" b="1" dirty="0" err="1"/>
              <a:t>Another</a:t>
            </a:r>
            <a:r>
              <a:rPr lang="es-419" b="1" dirty="0"/>
              <a:t> </a:t>
            </a:r>
            <a:r>
              <a:rPr lang="es-419" b="1" dirty="0" err="1"/>
              <a:t>possibilities</a:t>
            </a:r>
            <a:r>
              <a:rPr lang="es-419" b="1" dirty="0"/>
              <a:t>: Core, </a:t>
            </a:r>
            <a:r>
              <a:rPr lang="es-419" b="1" dirty="0" err="1"/>
              <a:t>Client</a:t>
            </a:r>
            <a:r>
              <a:rPr lang="es-419" b="1" dirty="0"/>
              <a:t>(s), etc.</a:t>
            </a:r>
          </a:p>
        </p:txBody>
      </p:sp>
    </p:spTree>
    <p:extLst>
      <p:ext uri="{BB962C8B-B14F-4D97-AF65-F5344CB8AC3E}">
        <p14:creationId xmlns:p14="http://schemas.microsoft.com/office/powerpoint/2010/main" val="148299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02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General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553" y="1525588"/>
            <a:ext cx="9756702" cy="4018805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711853" y="19192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711853" y="280474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711853" y="234912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5810250" y="234912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5814723" y="280474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5810250" y="331078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5810250" y="3721571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5810250" y="417456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echa derecha 12"/>
          <p:cNvSpPr/>
          <p:nvPr/>
        </p:nvSpPr>
        <p:spPr>
          <a:xfrm>
            <a:off x="743603" y="4151969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echa derecha 13"/>
          <p:cNvSpPr/>
          <p:nvPr/>
        </p:nvSpPr>
        <p:spPr>
          <a:xfrm>
            <a:off x="711853" y="3244851"/>
            <a:ext cx="520700" cy="355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orma libre 2"/>
          <p:cNvSpPr/>
          <p:nvPr/>
        </p:nvSpPr>
        <p:spPr>
          <a:xfrm>
            <a:off x="3086100" y="2260600"/>
            <a:ext cx="2374900" cy="330200"/>
          </a:xfrm>
          <a:custGeom>
            <a:avLst/>
            <a:gdLst>
              <a:gd name="connsiteX0" fmla="*/ 0 w 2374900"/>
              <a:gd name="connsiteY0" fmla="*/ 330200 h 330200"/>
              <a:gd name="connsiteX1" fmla="*/ 177800 w 2374900"/>
              <a:gd name="connsiteY1" fmla="*/ 304800 h 330200"/>
              <a:gd name="connsiteX2" fmla="*/ 215900 w 2374900"/>
              <a:gd name="connsiteY2" fmla="*/ 292100 h 330200"/>
              <a:gd name="connsiteX3" fmla="*/ 254000 w 2374900"/>
              <a:gd name="connsiteY3" fmla="*/ 266700 h 330200"/>
              <a:gd name="connsiteX4" fmla="*/ 292100 w 2374900"/>
              <a:gd name="connsiteY4" fmla="*/ 254000 h 330200"/>
              <a:gd name="connsiteX5" fmla="*/ 444500 w 2374900"/>
              <a:gd name="connsiteY5" fmla="*/ 177800 h 330200"/>
              <a:gd name="connsiteX6" fmla="*/ 482600 w 2374900"/>
              <a:gd name="connsiteY6" fmla="*/ 152400 h 330200"/>
              <a:gd name="connsiteX7" fmla="*/ 584200 w 2374900"/>
              <a:gd name="connsiteY7" fmla="*/ 114300 h 330200"/>
              <a:gd name="connsiteX8" fmla="*/ 660400 w 2374900"/>
              <a:gd name="connsiteY8" fmla="*/ 63500 h 330200"/>
              <a:gd name="connsiteX9" fmla="*/ 723900 w 2374900"/>
              <a:gd name="connsiteY9" fmla="*/ 25400 h 330200"/>
              <a:gd name="connsiteX10" fmla="*/ 863600 w 2374900"/>
              <a:gd name="connsiteY10" fmla="*/ 0 h 330200"/>
              <a:gd name="connsiteX11" fmla="*/ 1231900 w 2374900"/>
              <a:gd name="connsiteY11" fmla="*/ 38100 h 330200"/>
              <a:gd name="connsiteX12" fmla="*/ 1333500 w 2374900"/>
              <a:gd name="connsiteY12" fmla="*/ 76200 h 330200"/>
              <a:gd name="connsiteX13" fmla="*/ 1460500 w 2374900"/>
              <a:gd name="connsiteY13" fmla="*/ 127000 h 330200"/>
              <a:gd name="connsiteX14" fmla="*/ 1524000 w 2374900"/>
              <a:gd name="connsiteY14" fmla="*/ 165100 h 330200"/>
              <a:gd name="connsiteX15" fmla="*/ 1612900 w 2374900"/>
              <a:gd name="connsiteY15" fmla="*/ 190500 h 330200"/>
              <a:gd name="connsiteX16" fmla="*/ 1701800 w 2374900"/>
              <a:gd name="connsiteY16" fmla="*/ 215900 h 330200"/>
              <a:gd name="connsiteX17" fmla="*/ 1765300 w 2374900"/>
              <a:gd name="connsiteY17" fmla="*/ 241300 h 330200"/>
              <a:gd name="connsiteX18" fmla="*/ 1854200 w 2374900"/>
              <a:gd name="connsiteY18" fmla="*/ 279400 h 330200"/>
              <a:gd name="connsiteX19" fmla="*/ 1930400 w 2374900"/>
              <a:gd name="connsiteY19" fmla="*/ 292100 h 330200"/>
              <a:gd name="connsiteX20" fmla="*/ 2184400 w 2374900"/>
              <a:gd name="connsiteY20" fmla="*/ 279400 h 330200"/>
              <a:gd name="connsiteX21" fmla="*/ 2235200 w 2374900"/>
              <a:gd name="connsiteY21" fmla="*/ 266700 h 330200"/>
              <a:gd name="connsiteX22" fmla="*/ 2273300 w 2374900"/>
              <a:gd name="connsiteY22" fmla="*/ 254000 h 330200"/>
              <a:gd name="connsiteX23" fmla="*/ 2374900 w 2374900"/>
              <a:gd name="connsiteY23" fmla="*/ 254000 h 33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374900" h="330200">
                <a:moveTo>
                  <a:pt x="0" y="330200"/>
                </a:moveTo>
                <a:cubicBezTo>
                  <a:pt x="101209" y="320079"/>
                  <a:pt x="103432" y="326048"/>
                  <a:pt x="177800" y="304800"/>
                </a:cubicBezTo>
                <a:cubicBezTo>
                  <a:pt x="190672" y="301122"/>
                  <a:pt x="203926" y="298087"/>
                  <a:pt x="215900" y="292100"/>
                </a:cubicBezTo>
                <a:cubicBezTo>
                  <a:pt x="229552" y="285274"/>
                  <a:pt x="240348" y="273526"/>
                  <a:pt x="254000" y="266700"/>
                </a:cubicBezTo>
                <a:cubicBezTo>
                  <a:pt x="265974" y="260713"/>
                  <a:pt x="279969" y="259661"/>
                  <a:pt x="292100" y="254000"/>
                </a:cubicBezTo>
                <a:cubicBezTo>
                  <a:pt x="343568" y="229982"/>
                  <a:pt x="397243" y="209305"/>
                  <a:pt x="444500" y="177800"/>
                </a:cubicBezTo>
                <a:cubicBezTo>
                  <a:pt x="457200" y="169333"/>
                  <a:pt x="468705" y="158716"/>
                  <a:pt x="482600" y="152400"/>
                </a:cubicBezTo>
                <a:cubicBezTo>
                  <a:pt x="515528" y="137433"/>
                  <a:pt x="551849" y="130476"/>
                  <a:pt x="584200" y="114300"/>
                </a:cubicBezTo>
                <a:cubicBezTo>
                  <a:pt x="611504" y="100648"/>
                  <a:pt x="634646" y="79889"/>
                  <a:pt x="660400" y="63500"/>
                </a:cubicBezTo>
                <a:cubicBezTo>
                  <a:pt x="681225" y="50248"/>
                  <a:pt x="699464" y="28891"/>
                  <a:pt x="723900" y="25400"/>
                </a:cubicBezTo>
                <a:cubicBezTo>
                  <a:pt x="830079" y="10232"/>
                  <a:pt x="783760" y="19960"/>
                  <a:pt x="863600" y="0"/>
                </a:cubicBezTo>
                <a:cubicBezTo>
                  <a:pt x="986367" y="12700"/>
                  <a:pt x="1110070" y="18344"/>
                  <a:pt x="1231900" y="38100"/>
                </a:cubicBezTo>
                <a:cubicBezTo>
                  <a:pt x="1267603" y="43890"/>
                  <a:pt x="1299438" y="64035"/>
                  <a:pt x="1333500" y="76200"/>
                </a:cubicBezTo>
                <a:cubicBezTo>
                  <a:pt x="1409361" y="103293"/>
                  <a:pt x="1398692" y="92662"/>
                  <a:pt x="1460500" y="127000"/>
                </a:cubicBezTo>
                <a:cubicBezTo>
                  <a:pt x="1482078" y="138988"/>
                  <a:pt x="1501214" y="155606"/>
                  <a:pt x="1524000" y="165100"/>
                </a:cubicBezTo>
                <a:cubicBezTo>
                  <a:pt x="1552448" y="176954"/>
                  <a:pt x="1583167" y="182391"/>
                  <a:pt x="1612900" y="190500"/>
                </a:cubicBezTo>
                <a:cubicBezTo>
                  <a:pt x="1661828" y="203844"/>
                  <a:pt x="1658538" y="199677"/>
                  <a:pt x="1701800" y="215900"/>
                </a:cubicBezTo>
                <a:cubicBezTo>
                  <a:pt x="1723146" y="223905"/>
                  <a:pt x="1744468" y="232041"/>
                  <a:pt x="1765300" y="241300"/>
                </a:cubicBezTo>
                <a:cubicBezTo>
                  <a:pt x="1804126" y="258556"/>
                  <a:pt x="1815073" y="270705"/>
                  <a:pt x="1854200" y="279400"/>
                </a:cubicBezTo>
                <a:cubicBezTo>
                  <a:pt x="1879337" y="284986"/>
                  <a:pt x="1905000" y="287867"/>
                  <a:pt x="1930400" y="292100"/>
                </a:cubicBezTo>
                <a:cubicBezTo>
                  <a:pt x="2015067" y="287867"/>
                  <a:pt x="2099920" y="286440"/>
                  <a:pt x="2184400" y="279400"/>
                </a:cubicBezTo>
                <a:cubicBezTo>
                  <a:pt x="2201794" y="277950"/>
                  <a:pt x="2218417" y="271495"/>
                  <a:pt x="2235200" y="266700"/>
                </a:cubicBezTo>
                <a:cubicBezTo>
                  <a:pt x="2248072" y="263022"/>
                  <a:pt x="2259968" y="255212"/>
                  <a:pt x="2273300" y="254000"/>
                </a:cubicBezTo>
                <a:cubicBezTo>
                  <a:pt x="2307028" y="250934"/>
                  <a:pt x="2341033" y="254000"/>
                  <a:pt x="2374900" y="2540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rma libre 14"/>
          <p:cNvSpPr/>
          <p:nvPr/>
        </p:nvSpPr>
        <p:spPr>
          <a:xfrm>
            <a:off x="254000" y="2057400"/>
            <a:ext cx="431800" cy="952500"/>
          </a:xfrm>
          <a:custGeom>
            <a:avLst/>
            <a:gdLst>
              <a:gd name="connsiteX0" fmla="*/ 317500 w 431800"/>
              <a:gd name="connsiteY0" fmla="*/ 0 h 952500"/>
              <a:gd name="connsiteX1" fmla="*/ 177800 w 431800"/>
              <a:gd name="connsiteY1" fmla="*/ 38100 h 952500"/>
              <a:gd name="connsiteX2" fmla="*/ 139700 w 431800"/>
              <a:gd name="connsiteY2" fmla="*/ 50800 h 952500"/>
              <a:gd name="connsiteX3" fmla="*/ 50800 w 431800"/>
              <a:gd name="connsiteY3" fmla="*/ 165100 h 952500"/>
              <a:gd name="connsiteX4" fmla="*/ 25400 w 431800"/>
              <a:gd name="connsiteY4" fmla="*/ 203200 h 952500"/>
              <a:gd name="connsiteX5" fmla="*/ 0 w 431800"/>
              <a:gd name="connsiteY5" fmla="*/ 292100 h 952500"/>
              <a:gd name="connsiteX6" fmla="*/ 38100 w 431800"/>
              <a:gd name="connsiteY6" fmla="*/ 457200 h 952500"/>
              <a:gd name="connsiteX7" fmla="*/ 88900 w 431800"/>
              <a:gd name="connsiteY7" fmla="*/ 533400 h 952500"/>
              <a:gd name="connsiteX8" fmla="*/ 127000 w 431800"/>
              <a:gd name="connsiteY8" fmla="*/ 558800 h 952500"/>
              <a:gd name="connsiteX9" fmla="*/ 139700 w 431800"/>
              <a:gd name="connsiteY9" fmla="*/ 596900 h 952500"/>
              <a:gd name="connsiteX10" fmla="*/ 215900 w 431800"/>
              <a:gd name="connsiteY10" fmla="*/ 647700 h 952500"/>
              <a:gd name="connsiteX11" fmla="*/ 254000 w 431800"/>
              <a:gd name="connsiteY11" fmla="*/ 685800 h 952500"/>
              <a:gd name="connsiteX12" fmla="*/ 292100 w 431800"/>
              <a:gd name="connsiteY12" fmla="*/ 762000 h 952500"/>
              <a:gd name="connsiteX13" fmla="*/ 317500 w 431800"/>
              <a:gd name="connsiteY13" fmla="*/ 838200 h 952500"/>
              <a:gd name="connsiteX14" fmla="*/ 330200 w 431800"/>
              <a:gd name="connsiteY14" fmla="*/ 876300 h 952500"/>
              <a:gd name="connsiteX15" fmla="*/ 368300 w 431800"/>
              <a:gd name="connsiteY15" fmla="*/ 901700 h 952500"/>
              <a:gd name="connsiteX16" fmla="*/ 393700 w 431800"/>
              <a:gd name="connsiteY16" fmla="*/ 939800 h 952500"/>
              <a:gd name="connsiteX17" fmla="*/ 431800 w 431800"/>
              <a:gd name="connsiteY17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31800" h="952500">
                <a:moveTo>
                  <a:pt x="317500" y="0"/>
                </a:moveTo>
                <a:cubicBezTo>
                  <a:pt x="227746" y="17951"/>
                  <a:pt x="274478" y="5874"/>
                  <a:pt x="177800" y="38100"/>
                </a:cubicBezTo>
                <a:lnTo>
                  <a:pt x="139700" y="50800"/>
                </a:lnTo>
                <a:cubicBezTo>
                  <a:pt x="80014" y="110486"/>
                  <a:pt x="111563" y="73956"/>
                  <a:pt x="50800" y="165100"/>
                </a:cubicBezTo>
                <a:cubicBezTo>
                  <a:pt x="42333" y="177800"/>
                  <a:pt x="30227" y="188720"/>
                  <a:pt x="25400" y="203200"/>
                </a:cubicBezTo>
                <a:cubicBezTo>
                  <a:pt x="7180" y="257859"/>
                  <a:pt x="15947" y="228313"/>
                  <a:pt x="0" y="292100"/>
                </a:cubicBezTo>
                <a:cubicBezTo>
                  <a:pt x="5855" y="333086"/>
                  <a:pt x="12743" y="419164"/>
                  <a:pt x="38100" y="457200"/>
                </a:cubicBezTo>
                <a:cubicBezTo>
                  <a:pt x="55033" y="482600"/>
                  <a:pt x="63500" y="516467"/>
                  <a:pt x="88900" y="533400"/>
                </a:cubicBezTo>
                <a:lnTo>
                  <a:pt x="127000" y="558800"/>
                </a:lnTo>
                <a:cubicBezTo>
                  <a:pt x="131233" y="571500"/>
                  <a:pt x="130234" y="587434"/>
                  <a:pt x="139700" y="596900"/>
                </a:cubicBezTo>
                <a:cubicBezTo>
                  <a:pt x="161286" y="618486"/>
                  <a:pt x="194314" y="626114"/>
                  <a:pt x="215900" y="647700"/>
                </a:cubicBezTo>
                <a:lnTo>
                  <a:pt x="254000" y="685800"/>
                </a:lnTo>
                <a:cubicBezTo>
                  <a:pt x="300317" y="824751"/>
                  <a:pt x="226448" y="614284"/>
                  <a:pt x="292100" y="762000"/>
                </a:cubicBezTo>
                <a:cubicBezTo>
                  <a:pt x="302974" y="786466"/>
                  <a:pt x="309033" y="812800"/>
                  <a:pt x="317500" y="838200"/>
                </a:cubicBezTo>
                <a:cubicBezTo>
                  <a:pt x="321733" y="850900"/>
                  <a:pt x="319061" y="868874"/>
                  <a:pt x="330200" y="876300"/>
                </a:cubicBezTo>
                <a:lnTo>
                  <a:pt x="368300" y="901700"/>
                </a:lnTo>
                <a:cubicBezTo>
                  <a:pt x="376767" y="914400"/>
                  <a:pt x="381781" y="930265"/>
                  <a:pt x="393700" y="939800"/>
                </a:cubicBezTo>
                <a:cubicBezTo>
                  <a:pt x="404153" y="948163"/>
                  <a:pt x="431800" y="952500"/>
                  <a:pt x="431800" y="952500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/>
          <p:cNvSpPr txBox="1"/>
          <p:nvPr/>
        </p:nvSpPr>
        <p:spPr>
          <a:xfrm>
            <a:off x="2772355" y="2791008"/>
            <a:ext cx="97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(ARM)</a:t>
            </a:r>
            <a:endParaRPr lang="en-US" b="1" dirty="0"/>
          </a:p>
        </p:txBody>
      </p:sp>
      <p:sp>
        <p:nvSpPr>
          <p:cNvPr id="17" name="CuadroTexto 16"/>
          <p:cNvSpPr txBox="1"/>
          <p:nvPr/>
        </p:nvSpPr>
        <p:spPr>
          <a:xfrm>
            <a:off x="946150" y="5623581"/>
            <a:ext cx="1024890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Create</a:t>
            </a:r>
            <a:r>
              <a:rPr lang="es-419" dirty="0"/>
              <a:t> Resource </a:t>
            </a:r>
            <a:r>
              <a:rPr lang="es-419" dirty="0" err="1"/>
              <a:t>Groups</a:t>
            </a:r>
            <a:r>
              <a:rPr lang="es-419" dirty="0"/>
              <a:t> y </a:t>
            </a:r>
            <a:r>
              <a:rPr lang="es-419" dirty="0" err="1"/>
              <a:t>Managment</a:t>
            </a:r>
            <a:r>
              <a:rPr lang="es-419" dirty="0"/>
              <a:t> </a:t>
            </a:r>
            <a:r>
              <a:rPr lang="es-419" dirty="0" err="1"/>
              <a:t>Groups</a:t>
            </a: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Visualize</a:t>
            </a:r>
            <a:r>
              <a:rPr lang="es-419" dirty="0"/>
              <a:t> </a:t>
            </a:r>
            <a:r>
              <a:rPr lang="es-419" dirty="0" err="1"/>
              <a:t>All</a:t>
            </a:r>
            <a:r>
              <a:rPr lang="es-419" dirty="0"/>
              <a:t> </a:t>
            </a:r>
            <a:r>
              <a:rPr lang="es-419" dirty="0" err="1"/>
              <a:t>Resources</a:t>
            </a:r>
            <a:r>
              <a:rPr lang="es-419" dirty="0"/>
              <a:t>/Services, </a:t>
            </a:r>
            <a:r>
              <a:rPr lang="es-419" dirty="0" err="1"/>
              <a:t>Billing</a:t>
            </a:r>
            <a:r>
              <a:rPr lang="es-419" dirty="0"/>
              <a:t>, </a:t>
            </a:r>
            <a:r>
              <a:rPr lang="es-419" dirty="0" err="1"/>
              <a:t>Subscriptions</a:t>
            </a:r>
            <a:r>
              <a:rPr lang="es-419" dirty="0"/>
              <a:t> &amp; Marketplace.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Down/</a:t>
            </a:r>
            <a:r>
              <a:rPr lang="es-419" dirty="0" err="1"/>
              <a:t>Upload</a:t>
            </a:r>
            <a:r>
              <a:rPr lang="es-419" dirty="0"/>
              <a:t>/Use/Store Resource </a:t>
            </a:r>
            <a:r>
              <a:rPr lang="es-419" dirty="0" err="1"/>
              <a:t>Templates</a:t>
            </a:r>
            <a:r>
              <a:rPr lang="es-419" dirty="0"/>
              <a:t> (</a:t>
            </a:r>
            <a:r>
              <a:rPr lang="es-419" dirty="0" err="1"/>
              <a:t>Deploy</a:t>
            </a:r>
            <a:r>
              <a:rPr lang="es-419" dirty="0"/>
              <a:t> </a:t>
            </a:r>
            <a:r>
              <a:rPr lang="es-419" dirty="0" err="1"/>
              <a:t>States</a:t>
            </a:r>
            <a:r>
              <a:rPr lang="es-419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408050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Storage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792288"/>
            <a:ext cx="9779000" cy="2699233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838200" y="22113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850900" y="26193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5041900" y="3095743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838200" y="3984315"/>
            <a:ext cx="520700" cy="355600"/>
          </a:xfrm>
          <a:prstGeom prst="rightArrow">
            <a:avLst/>
          </a:prstGeom>
          <a:solidFill>
            <a:srgbClr val="FF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850900" y="4854529"/>
            <a:ext cx="10248900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Create Storage Account(s)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Visualize</a:t>
            </a:r>
            <a:r>
              <a:rPr lang="es-419" dirty="0"/>
              <a:t>/</a:t>
            </a:r>
            <a:r>
              <a:rPr lang="es-419" dirty="0" err="1"/>
              <a:t>Restore</a:t>
            </a:r>
            <a:r>
              <a:rPr lang="es-419" dirty="0"/>
              <a:t> VM/File </a:t>
            </a:r>
            <a:r>
              <a:rPr lang="es-419" dirty="0" err="1"/>
              <a:t>from</a:t>
            </a:r>
            <a:r>
              <a:rPr lang="es-419" dirty="0"/>
              <a:t> a Recovery Service </a:t>
            </a:r>
            <a:r>
              <a:rPr lang="es-419" dirty="0" err="1"/>
              <a:t>Vault</a:t>
            </a: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/>
              <a:t>Use </a:t>
            </a:r>
            <a:r>
              <a:rPr lang="es-419" dirty="0" err="1"/>
              <a:t>the</a:t>
            </a:r>
            <a:r>
              <a:rPr lang="es-419" dirty="0"/>
              <a:t> Storage Explorer (</a:t>
            </a:r>
            <a:r>
              <a:rPr lang="es-419" dirty="0" err="1"/>
              <a:t>e.g.Storage</a:t>
            </a:r>
            <a:r>
              <a:rPr lang="es-419" dirty="0"/>
              <a:t> Container -&gt; Block, BLOB, SMB, </a:t>
            </a:r>
            <a:r>
              <a:rPr lang="es-419" dirty="0" err="1"/>
              <a:t>Tables</a:t>
            </a:r>
            <a:r>
              <a:rPr lang="es-419" dirty="0"/>
              <a:t>, </a:t>
            </a:r>
            <a:r>
              <a:rPr lang="es-419" dirty="0" err="1"/>
              <a:t>Queue</a:t>
            </a:r>
            <a:r>
              <a:rPr lang="es-419" dirty="0"/>
              <a:t>)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3102555" y="4043224"/>
            <a:ext cx="1939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(~AWS </a:t>
            </a:r>
            <a:r>
              <a:rPr lang="es-419" b="1" dirty="0" err="1"/>
              <a:t>Snowball</a:t>
            </a:r>
            <a:r>
              <a:rPr lang="es-419" b="1" dirty="0"/>
              <a:t>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71474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2981"/>
          </a:xfrm>
          <a:solidFill>
            <a:srgbClr val="0070C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419" sz="4000" b="1" dirty="0" err="1">
                <a:solidFill>
                  <a:schemeClr val="bg1"/>
                </a:solidFill>
              </a:rPr>
              <a:t>PoC</a:t>
            </a:r>
            <a:r>
              <a:rPr lang="es-419" sz="4000" b="1" dirty="0">
                <a:solidFill>
                  <a:schemeClr val="bg1"/>
                </a:solidFill>
              </a:rPr>
              <a:t> Azure </a:t>
            </a:r>
            <a:r>
              <a:rPr lang="es-419" sz="4000" b="1" dirty="0" err="1">
                <a:solidFill>
                  <a:schemeClr val="bg1"/>
                </a:solidFill>
              </a:rPr>
              <a:t>Administration</a:t>
            </a:r>
            <a:r>
              <a:rPr lang="es-419" sz="4000" b="1" dirty="0">
                <a:solidFill>
                  <a:schemeClr val="bg1"/>
                </a:solidFill>
              </a:rPr>
              <a:t> – Storage </a:t>
            </a:r>
            <a:r>
              <a:rPr lang="es-419" sz="4000" b="1" dirty="0" err="1">
                <a:solidFill>
                  <a:schemeClr val="bg1"/>
                </a:solidFill>
              </a:rPr>
              <a:t>Concepts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93" y="1668379"/>
            <a:ext cx="8771576" cy="49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615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575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Storage </a:t>
            </a:r>
            <a:r>
              <a:rPr lang="es-419" b="1" dirty="0" err="1">
                <a:solidFill>
                  <a:schemeClr val="bg1"/>
                </a:solidFill>
              </a:rPr>
              <a:t>Account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920" y="1536700"/>
            <a:ext cx="9835060" cy="4985451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3270353" y="4830812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rgbClr val="FF0000"/>
                </a:solidFill>
              </a:rPr>
              <a:t>Page Blobs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270354" y="3659237"/>
            <a:ext cx="1215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>
                <a:solidFill>
                  <a:srgbClr val="FF0000"/>
                </a:solidFill>
              </a:rPr>
              <a:t>Page Blobs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2845771" y="6461607"/>
            <a:ext cx="65553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https://docs.microsoft.com/en-us/azure/storage/common/storage-account-overview</a:t>
            </a:r>
          </a:p>
        </p:txBody>
      </p:sp>
    </p:spTree>
    <p:extLst>
      <p:ext uri="{BB962C8B-B14F-4D97-AF65-F5344CB8AC3E}">
        <p14:creationId xmlns:p14="http://schemas.microsoft.com/office/powerpoint/2010/main" val="1517203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491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Storage </a:t>
            </a:r>
            <a:r>
              <a:rPr lang="es-419" b="1" dirty="0" err="1">
                <a:solidFill>
                  <a:schemeClr val="bg1"/>
                </a:solidFill>
              </a:rPr>
              <a:t>Types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4856"/>
            <a:ext cx="5587023" cy="363156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223" y="2864898"/>
            <a:ext cx="5096662" cy="2591523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6535711" y="5850132"/>
            <a:ext cx="5126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https://stackify.com/store-data-azure-understand-azure-data-storage-options/</a:t>
            </a:r>
          </a:p>
        </p:txBody>
      </p:sp>
      <p:sp>
        <p:nvSpPr>
          <p:cNvPr id="7" name="Rectángulo 6"/>
          <p:cNvSpPr/>
          <p:nvPr/>
        </p:nvSpPr>
        <p:spPr>
          <a:xfrm>
            <a:off x="694545" y="585013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https://www.cloudberrylab.com/resources/blog/microsoft-azure-storage-types-explained/</a:t>
            </a:r>
          </a:p>
        </p:txBody>
      </p:sp>
    </p:spTree>
    <p:extLst>
      <p:ext uri="{BB962C8B-B14F-4D97-AF65-F5344CB8AC3E}">
        <p14:creationId xmlns:p14="http://schemas.microsoft.com/office/powerpoint/2010/main" val="2268616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491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Storage </a:t>
            </a:r>
            <a:r>
              <a:rPr lang="es-419" b="1" dirty="0" err="1">
                <a:solidFill>
                  <a:schemeClr val="bg1"/>
                </a:solidFill>
              </a:rPr>
              <a:t>Types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776" y="1648917"/>
            <a:ext cx="6634493" cy="431242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782518" y="596133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https://www.cloudberrylab.com/resources/blog/microsoft-azure-storage-types-explained/</a:t>
            </a:r>
          </a:p>
        </p:txBody>
      </p:sp>
    </p:spTree>
    <p:extLst>
      <p:ext uri="{BB962C8B-B14F-4D97-AF65-F5344CB8AC3E}">
        <p14:creationId xmlns:p14="http://schemas.microsoft.com/office/powerpoint/2010/main" val="393941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491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Storage </a:t>
            </a:r>
            <a:r>
              <a:rPr lang="es-419" b="1" dirty="0" err="1">
                <a:solidFill>
                  <a:schemeClr val="bg1"/>
                </a:solidFill>
              </a:rPr>
              <a:t>Types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3745" y="1662453"/>
            <a:ext cx="3684843" cy="1893046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809523"/>
            <a:ext cx="7271479" cy="3491953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563973" y="557095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https://docs.microsoft.com/en-us/azure/virtual-machines/windows/about-disks-and-vhds</a:t>
            </a:r>
          </a:p>
        </p:txBody>
      </p:sp>
      <p:sp>
        <p:nvSpPr>
          <p:cNvPr id="7" name="Rectángulo 6"/>
          <p:cNvSpPr/>
          <p:nvPr/>
        </p:nvSpPr>
        <p:spPr>
          <a:xfrm>
            <a:off x="8109677" y="3677910"/>
            <a:ext cx="36725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https://www.cloudberrylab.com/resources/blog/microsoft-azure-storage-types-explained/</a:t>
            </a:r>
          </a:p>
        </p:txBody>
      </p:sp>
    </p:spTree>
    <p:extLst>
      <p:ext uri="{BB962C8B-B14F-4D97-AF65-F5344CB8AC3E}">
        <p14:creationId xmlns:p14="http://schemas.microsoft.com/office/powerpoint/2010/main" val="1929260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491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Storage </a:t>
            </a:r>
            <a:r>
              <a:rPr lang="es-419" b="1" dirty="0" err="1">
                <a:solidFill>
                  <a:schemeClr val="bg1"/>
                </a:solidFill>
              </a:rPr>
              <a:t>Types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349" y="2469434"/>
            <a:ext cx="4984951" cy="305955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300" y="2574366"/>
            <a:ext cx="5481500" cy="322682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379824" y="590612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https://www.cloudberrylab.com/resources/blog/microsoft-azure-storage-types-explained/</a:t>
            </a:r>
          </a:p>
        </p:txBody>
      </p:sp>
    </p:spTree>
    <p:extLst>
      <p:ext uri="{BB962C8B-B14F-4D97-AF65-F5344CB8AC3E}">
        <p14:creationId xmlns:p14="http://schemas.microsoft.com/office/powerpoint/2010/main" val="3573196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Identity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80934"/>
            <a:ext cx="10745589" cy="4095966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317498" y="205221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echa derecha 4"/>
          <p:cNvSpPr/>
          <p:nvPr/>
        </p:nvSpPr>
        <p:spPr>
          <a:xfrm>
            <a:off x="330196" y="2550897"/>
            <a:ext cx="520700" cy="355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5950643" y="305551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317498" y="3090219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5950643" y="4056215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362641" y="461082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adroTexto 9"/>
          <p:cNvSpPr txBox="1"/>
          <p:nvPr/>
        </p:nvSpPr>
        <p:spPr>
          <a:xfrm>
            <a:off x="577848" y="5663111"/>
            <a:ext cx="1102498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Create</a:t>
            </a:r>
            <a:r>
              <a:rPr lang="es-419" dirty="0"/>
              <a:t> User, </a:t>
            </a:r>
            <a:r>
              <a:rPr lang="es-419" dirty="0" err="1"/>
              <a:t>Groups</a:t>
            </a:r>
            <a:r>
              <a:rPr lang="es-419" dirty="0"/>
              <a:t> y Roles.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Assign</a:t>
            </a:r>
            <a:r>
              <a:rPr lang="es-419" dirty="0"/>
              <a:t> Roles/</a:t>
            </a:r>
            <a:r>
              <a:rPr lang="es-419" dirty="0" err="1"/>
              <a:t>Permissions</a:t>
            </a:r>
            <a:r>
              <a:rPr lang="es-419" dirty="0"/>
              <a:t> to User/Group </a:t>
            </a:r>
            <a:r>
              <a:rPr lang="es-419" dirty="0" err="1"/>
              <a:t>over</a:t>
            </a:r>
            <a:r>
              <a:rPr lang="es-419" dirty="0"/>
              <a:t> a Resource (Group)</a:t>
            </a:r>
            <a:endParaRPr lang="en-US" dirty="0"/>
          </a:p>
        </p:txBody>
      </p:sp>
      <p:sp>
        <p:nvSpPr>
          <p:cNvPr id="11" name="Flecha derecha 10"/>
          <p:cNvSpPr/>
          <p:nvPr/>
        </p:nvSpPr>
        <p:spPr>
          <a:xfrm>
            <a:off x="315518" y="3587152"/>
            <a:ext cx="520700" cy="355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287443" y="4056215"/>
            <a:ext cx="520700" cy="27097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echa derecha 12"/>
          <p:cNvSpPr/>
          <p:nvPr/>
        </p:nvSpPr>
        <p:spPr>
          <a:xfrm>
            <a:off x="5972723" y="2074262"/>
            <a:ext cx="520700" cy="355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ipse 13"/>
          <p:cNvSpPr/>
          <p:nvPr/>
        </p:nvSpPr>
        <p:spPr>
          <a:xfrm>
            <a:off x="10363200" y="5014555"/>
            <a:ext cx="1220588" cy="56809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3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48" y="1561095"/>
            <a:ext cx="6221210" cy="443009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30442" y="444500"/>
            <a:ext cx="10106526" cy="1432426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</a:t>
            </a:r>
            <a:br>
              <a:rPr lang="es-419" b="1" dirty="0">
                <a:solidFill>
                  <a:schemeClr val="bg1"/>
                </a:solidFill>
              </a:rPr>
            </a:br>
            <a:r>
              <a:rPr lang="es-419" b="1" dirty="0">
                <a:solidFill>
                  <a:schemeClr val="bg1"/>
                </a:solidFill>
              </a:rPr>
              <a:t>On/Off-Premises Identity </a:t>
            </a:r>
            <a:r>
              <a:rPr lang="es-419" b="1" dirty="0" err="1">
                <a:solidFill>
                  <a:schemeClr val="bg1"/>
                </a:solidFill>
              </a:rPr>
              <a:t>Mgmt</a:t>
            </a:r>
            <a:r>
              <a:rPr lang="es-419" b="1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52926" y="6268918"/>
            <a:ext cx="116734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https://docs.microsoft.com/es-es/azure/architecture/cloud-adoption/appendix/azure-scaffold?wt.mc_id=itshowcase-codeapps</a:t>
            </a:r>
          </a:p>
        </p:txBody>
      </p:sp>
    </p:spTree>
    <p:extLst>
      <p:ext uri="{BB962C8B-B14F-4D97-AF65-F5344CB8AC3E}">
        <p14:creationId xmlns:p14="http://schemas.microsoft.com/office/powerpoint/2010/main" val="3756101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Security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1690688"/>
            <a:ext cx="9620923" cy="2315734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5896311" y="20415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5886450" y="2921637"/>
            <a:ext cx="520700" cy="355600"/>
          </a:xfrm>
          <a:prstGeom prst="rightArrow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863600" y="2029519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869950" y="2492955"/>
            <a:ext cx="520700" cy="355600"/>
          </a:xfrm>
          <a:prstGeom prst="rightArrow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882650" y="2897843"/>
            <a:ext cx="520700" cy="355600"/>
          </a:xfrm>
          <a:prstGeom prst="rightArrow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echa derecha 12"/>
          <p:cNvSpPr/>
          <p:nvPr/>
        </p:nvSpPr>
        <p:spPr>
          <a:xfrm>
            <a:off x="882650" y="3355082"/>
            <a:ext cx="520700" cy="355600"/>
          </a:xfrm>
          <a:prstGeom prst="rightArrow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echa derecha 13"/>
          <p:cNvSpPr/>
          <p:nvPr/>
        </p:nvSpPr>
        <p:spPr>
          <a:xfrm>
            <a:off x="2729827" y="5903433"/>
            <a:ext cx="520700" cy="355600"/>
          </a:xfrm>
          <a:prstGeom prst="rightArrow">
            <a:avLst/>
          </a:prstGeom>
          <a:noFill/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838200" y="54184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419" dirty="0"/>
              <a:t>Networking &amp; Identity</a:t>
            </a:r>
            <a:endParaRPr lang="en-US" dirty="0"/>
          </a:p>
        </p:txBody>
      </p:sp>
      <p:sp>
        <p:nvSpPr>
          <p:cNvPr id="16" name="CuadroTexto 15"/>
          <p:cNvSpPr txBox="1"/>
          <p:nvPr/>
        </p:nvSpPr>
        <p:spPr>
          <a:xfrm>
            <a:off x="863600" y="4039294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Activate</a:t>
            </a:r>
            <a:r>
              <a:rPr lang="es-419" dirty="0"/>
              <a:t> </a:t>
            </a:r>
            <a:r>
              <a:rPr lang="es-419" dirty="0" err="1"/>
              <a:t>the</a:t>
            </a:r>
            <a:r>
              <a:rPr lang="es-419" dirty="0"/>
              <a:t> Security Center (Free </a:t>
            </a:r>
            <a:r>
              <a:rPr lang="es-419" dirty="0" err="1"/>
              <a:t>Trier</a:t>
            </a:r>
            <a:r>
              <a:rPr lang="es-419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Know</a:t>
            </a:r>
            <a:r>
              <a:rPr lang="es-419" dirty="0"/>
              <a:t> </a:t>
            </a:r>
            <a:r>
              <a:rPr lang="es-419" dirty="0" err="1"/>
              <a:t>the</a:t>
            </a:r>
            <a:r>
              <a:rPr lang="es-419" dirty="0"/>
              <a:t> Key </a:t>
            </a:r>
            <a:r>
              <a:rPr lang="es-419" dirty="0" err="1"/>
              <a:t>Vaults</a:t>
            </a:r>
            <a:r>
              <a:rPr lang="es-419" dirty="0"/>
              <a:t> (</a:t>
            </a:r>
            <a:r>
              <a:rPr lang="es-419" dirty="0" err="1"/>
              <a:t>Explain</a:t>
            </a:r>
            <a:r>
              <a:rPr lang="es-419" dirty="0"/>
              <a:t> Key1 &amp; Key2 Master </a:t>
            </a:r>
            <a:r>
              <a:rPr lang="es-419" dirty="0" err="1"/>
              <a:t>Keys</a:t>
            </a:r>
            <a:r>
              <a:rPr lang="es-419" dirty="0"/>
              <a:t>)</a:t>
            </a: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515" y="5546612"/>
            <a:ext cx="900170" cy="90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539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1388739"/>
            <a:ext cx="8750300" cy="4937886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1104900" y="18002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5715000" y="501089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5695950" y="2618811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5715000" y="3015973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5740400" y="3428895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5740400" y="383563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ángulo 12"/>
          <p:cNvSpPr/>
          <p:nvPr/>
        </p:nvSpPr>
        <p:spPr>
          <a:xfrm>
            <a:off x="6159500" y="4216127"/>
            <a:ext cx="4152900" cy="39760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 derecha 14"/>
          <p:cNvSpPr/>
          <p:nvPr/>
        </p:nvSpPr>
        <p:spPr>
          <a:xfrm>
            <a:off x="1117600" y="3403481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 derecha 15"/>
          <p:cNvSpPr/>
          <p:nvPr/>
        </p:nvSpPr>
        <p:spPr>
          <a:xfrm>
            <a:off x="1130300" y="383085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echa derecha 16"/>
          <p:cNvSpPr/>
          <p:nvPr/>
        </p:nvSpPr>
        <p:spPr>
          <a:xfrm>
            <a:off x="1130300" y="4221601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echa derecha 17"/>
          <p:cNvSpPr/>
          <p:nvPr/>
        </p:nvSpPr>
        <p:spPr>
          <a:xfrm>
            <a:off x="1130300" y="503227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uadroTexto 18"/>
          <p:cNvSpPr txBox="1"/>
          <p:nvPr/>
        </p:nvSpPr>
        <p:spPr>
          <a:xfrm>
            <a:off x="10071100" y="5032270"/>
            <a:ext cx="82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/>
              <a:t>(APM)</a:t>
            </a:r>
            <a:endParaRPr lang="en-US" b="1" dirty="0"/>
          </a:p>
        </p:txBody>
      </p:sp>
      <p:sp>
        <p:nvSpPr>
          <p:cNvPr id="20" name="CuadroTexto 19"/>
          <p:cNvSpPr txBox="1"/>
          <p:nvPr/>
        </p:nvSpPr>
        <p:spPr>
          <a:xfrm>
            <a:off x="10388048" y="4091764"/>
            <a:ext cx="155050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All</a:t>
            </a:r>
            <a:r>
              <a:rPr lang="es-419" b="1" dirty="0">
                <a:solidFill>
                  <a:schemeClr val="bg1"/>
                </a:solidFill>
              </a:rPr>
              <a:t> </a:t>
            </a:r>
            <a:r>
              <a:rPr lang="es-419" b="1" dirty="0" err="1">
                <a:solidFill>
                  <a:schemeClr val="bg1"/>
                </a:solidFill>
              </a:rPr>
              <a:t>Departments</a:t>
            </a:r>
            <a:endParaRPr lang="es-419" b="1" dirty="0">
              <a:solidFill>
                <a:schemeClr val="bg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971550" y="5486024"/>
            <a:ext cx="10191750" cy="116955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 err="1"/>
              <a:t>Create</a:t>
            </a:r>
            <a:r>
              <a:rPr lang="es-419" sz="1400" dirty="0"/>
              <a:t> Log Analytics Workspace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 err="1"/>
              <a:t>Visualize</a:t>
            </a:r>
            <a:r>
              <a:rPr lang="es-419" sz="1400" dirty="0"/>
              <a:t> Metrics / Resource </a:t>
            </a:r>
            <a:r>
              <a:rPr lang="es-419" sz="1400" dirty="0" err="1"/>
              <a:t>Graph</a:t>
            </a:r>
            <a:r>
              <a:rPr lang="es-419" sz="1400" dirty="0"/>
              <a:t> / </a:t>
            </a:r>
            <a:r>
              <a:rPr lang="es-419" sz="1400" dirty="0" err="1"/>
              <a:t>Activity</a:t>
            </a:r>
            <a:r>
              <a:rPr lang="es-419" sz="1400" dirty="0"/>
              <a:t> 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Configure/</a:t>
            </a:r>
            <a:r>
              <a:rPr lang="es-419" sz="1400" dirty="0" err="1"/>
              <a:t>Visualize</a:t>
            </a:r>
            <a:r>
              <a:rPr lang="es-419" sz="1400" dirty="0"/>
              <a:t> </a:t>
            </a:r>
            <a:r>
              <a:rPr lang="es-419" sz="1400" dirty="0" err="1"/>
              <a:t>Diagnostic</a:t>
            </a:r>
            <a:r>
              <a:rPr lang="es-419" sz="1400" dirty="0"/>
              <a:t> </a:t>
            </a:r>
            <a:r>
              <a:rPr lang="es-419" sz="1400" dirty="0" err="1"/>
              <a:t>Settinsg</a:t>
            </a:r>
            <a:r>
              <a:rPr lang="es-419" sz="1400" dirty="0"/>
              <a:t> / Log Analytics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/>
              <a:t>Configure </a:t>
            </a:r>
            <a:r>
              <a:rPr lang="es-419" sz="1400" dirty="0" err="1"/>
              <a:t>Alerts</a:t>
            </a:r>
            <a:r>
              <a:rPr lang="es-419" sz="1400" dirty="0"/>
              <a:t> &amp; </a:t>
            </a:r>
            <a:r>
              <a:rPr lang="es-419" sz="1400" dirty="0" err="1"/>
              <a:t>Notification</a:t>
            </a:r>
            <a:r>
              <a:rPr lang="es-419" sz="1400" dirty="0"/>
              <a:t> (E-Mail, </a:t>
            </a:r>
            <a:r>
              <a:rPr lang="es-419" sz="1400" dirty="0" err="1"/>
              <a:t>Billing</a:t>
            </a:r>
            <a:r>
              <a:rPr lang="es-419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 err="1"/>
              <a:t>Enable</a:t>
            </a:r>
            <a:r>
              <a:rPr lang="es-419" sz="1400" dirty="0"/>
              <a:t>/</a:t>
            </a:r>
            <a:r>
              <a:rPr lang="es-419" sz="1400" dirty="0" err="1"/>
              <a:t>Visualize</a:t>
            </a:r>
            <a:r>
              <a:rPr lang="es-419" sz="1400" dirty="0"/>
              <a:t> Advisor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20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</a:t>
            </a:r>
            <a:r>
              <a:rPr lang="es-419" b="1" dirty="0" err="1">
                <a:solidFill>
                  <a:schemeClr val="bg1"/>
                </a:solidFill>
              </a:rPr>
              <a:t>Mgmt</a:t>
            </a:r>
            <a:r>
              <a:rPr lang="es-419" b="1" dirty="0">
                <a:solidFill>
                  <a:schemeClr val="bg1"/>
                </a:solidFill>
              </a:rPr>
              <a:t>. / </a:t>
            </a:r>
            <a:r>
              <a:rPr lang="es-419" b="1" dirty="0" err="1">
                <a:solidFill>
                  <a:schemeClr val="bg1"/>
                </a:solidFill>
              </a:rPr>
              <a:t>Gov</a:t>
            </a:r>
            <a:r>
              <a:rPr lang="es-419" b="1" dirty="0">
                <a:solidFill>
                  <a:schemeClr val="bg1"/>
                </a:solidFill>
              </a:rPr>
              <a:t>.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384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00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Compute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05" y="1314128"/>
            <a:ext cx="9039790" cy="5147362"/>
          </a:xfrm>
          <a:prstGeom prst="rect">
            <a:avLst/>
          </a:prstGeom>
        </p:spPr>
      </p:pic>
      <p:sp>
        <p:nvSpPr>
          <p:cNvPr id="7" name="Flecha derecha 6"/>
          <p:cNvSpPr/>
          <p:nvPr/>
        </p:nvSpPr>
        <p:spPr>
          <a:xfrm>
            <a:off x="972203" y="17160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972203" y="21240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4909203" y="428625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4909203" y="464820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972856" y="430531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953153" y="51855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 derecha 14"/>
          <p:cNvSpPr/>
          <p:nvPr/>
        </p:nvSpPr>
        <p:spPr>
          <a:xfrm>
            <a:off x="4909203" y="3885828"/>
            <a:ext cx="520700" cy="355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 derecha 15"/>
          <p:cNvSpPr/>
          <p:nvPr/>
        </p:nvSpPr>
        <p:spPr>
          <a:xfrm>
            <a:off x="972203" y="304324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echa derecha 16"/>
          <p:cNvSpPr/>
          <p:nvPr/>
        </p:nvSpPr>
        <p:spPr>
          <a:xfrm>
            <a:off x="4916206" y="2189166"/>
            <a:ext cx="520700" cy="3556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/>
          <p:cNvSpPr txBox="1"/>
          <p:nvPr/>
        </p:nvSpPr>
        <p:spPr>
          <a:xfrm>
            <a:off x="953153" y="5651404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Create</a:t>
            </a:r>
            <a:r>
              <a:rPr lang="es-419" dirty="0"/>
              <a:t> a Virtual Machine </a:t>
            </a:r>
            <a:r>
              <a:rPr lang="es-419" dirty="0" err="1"/>
              <a:t>from</a:t>
            </a:r>
            <a:r>
              <a:rPr lang="es-419" dirty="0"/>
              <a:t> </a:t>
            </a:r>
            <a:r>
              <a:rPr lang="es-419" dirty="0" err="1"/>
              <a:t>Images</a:t>
            </a:r>
            <a:r>
              <a:rPr lang="es-419" dirty="0"/>
              <a:t> (</a:t>
            </a:r>
            <a:r>
              <a:rPr lang="es-419" dirty="0" err="1"/>
              <a:t>MarketPlace</a:t>
            </a:r>
            <a:r>
              <a:rPr lang="es-419" dirty="0"/>
              <a:t>) and a </a:t>
            </a:r>
            <a:r>
              <a:rPr lang="es-419" dirty="0" err="1"/>
              <a:t>Scale</a:t>
            </a:r>
            <a:r>
              <a:rPr lang="es-419" dirty="0"/>
              <a:t> Set </a:t>
            </a:r>
            <a:r>
              <a:rPr lang="es-419" dirty="0" err="1"/>
              <a:t>with</a:t>
            </a:r>
            <a:r>
              <a:rPr lang="es-419" dirty="0"/>
              <a:t> Disks/</a:t>
            </a:r>
            <a:r>
              <a:rPr lang="es-419" dirty="0" err="1"/>
              <a:t>Snapshot</a:t>
            </a:r>
            <a:endParaRPr lang="es-419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Create</a:t>
            </a:r>
            <a:r>
              <a:rPr lang="es-419" dirty="0"/>
              <a:t> a Container (Stack </a:t>
            </a:r>
            <a:r>
              <a:rPr lang="es-419" dirty="0" err="1"/>
              <a:t>Prefered</a:t>
            </a:r>
            <a:r>
              <a:rPr lang="es-419" dirty="0"/>
              <a:t>) </a:t>
            </a:r>
            <a:r>
              <a:rPr lang="es-419" dirty="0" err="1"/>
              <a:t>based</a:t>
            </a:r>
            <a:r>
              <a:rPr lang="es-419" dirty="0"/>
              <a:t> in Docker and Kubernetes</a:t>
            </a:r>
          </a:p>
        </p:txBody>
      </p:sp>
    </p:spTree>
    <p:extLst>
      <p:ext uri="{BB962C8B-B14F-4D97-AF65-F5344CB8AC3E}">
        <p14:creationId xmlns:p14="http://schemas.microsoft.com/office/powerpoint/2010/main" val="26224260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9561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69664"/>
            <a:ext cx="8255000" cy="5163271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1155700" y="17287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4737100" y="21224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4737100" y="25304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1155700" y="28987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1155700" y="25050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1143000" y="21351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1143000" y="32924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4737100" y="29241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echa derecha 12"/>
          <p:cNvSpPr/>
          <p:nvPr/>
        </p:nvSpPr>
        <p:spPr>
          <a:xfrm>
            <a:off x="4737100" y="32924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echa derecha 13"/>
          <p:cNvSpPr/>
          <p:nvPr/>
        </p:nvSpPr>
        <p:spPr>
          <a:xfrm>
            <a:off x="4737100" y="36480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 derecha 14"/>
          <p:cNvSpPr/>
          <p:nvPr/>
        </p:nvSpPr>
        <p:spPr>
          <a:xfrm>
            <a:off x="4737100" y="40036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 derecha 15"/>
          <p:cNvSpPr/>
          <p:nvPr/>
        </p:nvSpPr>
        <p:spPr>
          <a:xfrm>
            <a:off x="4737100" y="435927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echa derecha 16"/>
          <p:cNvSpPr/>
          <p:nvPr/>
        </p:nvSpPr>
        <p:spPr>
          <a:xfrm>
            <a:off x="4737100" y="473075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echa derecha 17"/>
          <p:cNvSpPr/>
          <p:nvPr/>
        </p:nvSpPr>
        <p:spPr>
          <a:xfrm>
            <a:off x="4737100" y="5119867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echa derecha 18"/>
          <p:cNvSpPr/>
          <p:nvPr/>
        </p:nvSpPr>
        <p:spPr>
          <a:xfrm>
            <a:off x="4737100" y="550986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echa derecha 19"/>
          <p:cNvSpPr/>
          <p:nvPr/>
        </p:nvSpPr>
        <p:spPr>
          <a:xfrm>
            <a:off x="4737100" y="5899869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echa derecha 20"/>
          <p:cNvSpPr/>
          <p:nvPr/>
        </p:nvSpPr>
        <p:spPr>
          <a:xfrm>
            <a:off x="1155700" y="5174037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lecha derecha 21"/>
          <p:cNvSpPr/>
          <p:nvPr/>
        </p:nvSpPr>
        <p:spPr>
          <a:xfrm>
            <a:off x="1143000" y="442650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lecha derecha 22"/>
          <p:cNvSpPr/>
          <p:nvPr/>
        </p:nvSpPr>
        <p:spPr>
          <a:xfrm>
            <a:off x="1143000" y="366236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echa derecha 24"/>
          <p:cNvSpPr/>
          <p:nvPr/>
        </p:nvSpPr>
        <p:spPr>
          <a:xfrm>
            <a:off x="1155700" y="5963233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uadroTexto 2"/>
          <p:cNvSpPr txBox="1"/>
          <p:nvPr/>
        </p:nvSpPr>
        <p:spPr>
          <a:xfrm>
            <a:off x="9690100" y="4772028"/>
            <a:ext cx="86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/>
              <a:t>(VPN)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8792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2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920816" y="3919137"/>
            <a:ext cx="10432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</a:rPr>
              <a:t>https://docs.microsoft.com/en-us/azure/security/azure-security-network-security-best-practices</a:t>
            </a:r>
          </a:p>
        </p:txBody>
      </p:sp>
      <p:sp>
        <p:nvSpPr>
          <p:cNvPr id="10" name="Rectángulo 9"/>
          <p:cNvSpPr/>
          <p:nvPr/>
        </p:nvSpPr>
        <p:spPr>
          <a:xfrm>
            <a:off x="838200" y="2691333"/>
            <a:ext cx="10515600" cy="1008000"/>
          </a:xfrm>
          <a:prstGeom prst="rect">
            <a:avLst/>
          </a:prstGeom>
          <a:solidFill>
            <a:srgbClr val="00B050"/>
          </a:solidFill>
        </p:spPr>
        <p:txBody>
          <a:bodyPr wrap="square" anchor="ctr" anchorCtr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  Azure Network Security Best Practices  </a:t>
            </a:r>
          </a:p>
        </p:txBody>
      </p:sp>
    </p:spTree>
    <p:extLst>
      <p:ext uri="{BB962C8B-B14F-4D97-AF65-F5344CB8AC3E}">
        <p14:creationId xmlns:p14="http://schemas.microsoft.com/office/powerpoint/2010/main" val="3984686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2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0" y="1724572"/>
            <a:ext cx="8826500" cy="4318403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048000" y="604297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https://azure.microsoft.com/mediahandler/files/resourcefiles/azure-network-security/Azure%20Network%20Security.pdf</a:t>
            </a:r>
          </a:p>
        </p:txBody>
      </p:sp>
    </p:spTree>
    <p:extLst>
      <p:ext uri="{BB962C8B-B14F-4D97-AF65-F5344CB8AC3E}">
        <p14:creationId xmlns:p14="http://schemas.microsoft.com/office/powerpoint/2010/main" val="2116204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2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43" y="2100094"/>
            <a:ext cx="10219957" cy="303926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195821" y="57220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https://azure.microsoft.com/mediahandler/files/resourcefiles/azure-network-security/Azure%20Network%20Security.pdf</a:t>
            </a:r>
          </a:p>
        </p:txBody>
      </p:sp>
    </p:spTree>
    <p:extLst>
      <p:ext uri="{BB962C8B-B14F-4D97-AF65-F5344CB8AC3E}">
        <p14:creationId xmlns:p14="http://schemas.microsoft.com/office/powerpoint/2010/main" val="3555747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2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113" y="2244572"/>
            <a:ext cx="10037774" cy="2860828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251200" y="53918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https://azure.microsoft.com/mediahandler/files/resourcefiles/azure-network-security/Azure%20Network%20Security.pdf</a:t>
            </a:r>
          </a:p>
        </p:txBody>
      </p:sp>
    </p:spTree>
    <p:extLst>
      <p:ext uri="{BB962C8B-B14F-4D97-AF65-F5344CB8AC3E}">
        <p14:creationId xmlns:p14="http://schemas.microsoft.com/office/powerpoint/2010/main" val="130323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2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997" y="1635281"/>
            <a:ext cx="8346603" cy="4286395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064347" y="60395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https://azure.microsoft.com/mediahandler/files/resourcefiles/azure-network-security/Azure%20Network%20Security.pdf</a:t>
            </a:r>
          </a:p>
        </p:txBody>
      </p:sp>
    </p:spTree>
    <p:extLst>
      <p:ext uri="{BB962C8B-B14F-4D97-AF65-F5344CB8AC3E}">
        <p14:creationId xmlns:p14="http://schemas.microsoft.com/office/powerpoint/2010/main" val="906961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2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511300" y="6357035"/>
            <a:ext cx="916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https://azure.microsoft.com/en-us/blog/networking-to-and-within-the-azure-cloud/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3559338" y="1863497"/>
            <a:ext cx="6876724" cy="18158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Internet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Point-to-site VPN (P2S VPN)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Site-to-Site VPN (S2S VPN)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ExpressRoute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3559338" y="4025454"/>
            <a:ext cx="6876724" cy="156966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VNet</a:t>
            </a:r>
            <a:r>
              <a:rPr lang="en-US" sz="2400" dirty="0"/>
              <a:t> to </a:t>
            </a:r>
            <a:r>
              <a:rPr lang="en-US" sz="2400" dirty="0" err="1"/>
              <a:t>VNet</a:t>
            </a:r>
            <a:r>
              <a:rPr lang="en-US" sz="2400" dirty="0"/>
              <a:t> via VPN (</a:t>
            </a:r>
            <a:r>
              <a:rPr lang="en-US" sz="2400" dirty="0" err="1">
                <a:hlinkClick r:id="rId2"/>
              </a:rPr>
              <a:t>VNet</a:t>
            </a:r>
            <a:r>
              <a:rPr lang="en-US" sz="2400" dirty="0">
                <a:hlinkClick r:id="rId2"/>
              </a:rPr>
              <a:t>-to-</a:t>
            </a:r>
            <a:r>
              <a:rPr lang="en-US" sz="2400" dirty="0" err="1">
                <a:hlinkClick r:id="rId2"/>
              </a:rPr>
              <a:t>VNet</a:t>
            </a:r>
            <a:r>
              <a:rPr lang="en-US" sz="2400" dirty="0">
                <a:hlinkClick r:id="rId2"/>
              </a:rPr>
              <a:t> connection</a:t>
            </a:r>
            <a:r>
              <a:rPr lang="en-US" sz="24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VNet</a:t>
            </a:r>
            <a:r>
              <a:rPr lang="en-US" sz="2400" dirty="0"/>
              <a:t> to </a:t>
            </a:r>
            <a:r>
              <a:rPr lang="en-US" sz="2400" dirty="0" err="1"/>
              <a:t>VNet</a:t>
            </a:r>
            <a:r>
              <a:rPr lang="en-US" sz="2400" dirty="0"/>
              <a:t> via ExpressRoute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VNet</a:t>
            </a:r>
            <a:r>
              <a:rPr lang="en-US" sz="2400" dirty="0"/>
              <a:t> to </a:t>
            </a:r>
            <a:r>
              <a:rPr lang="en-US" sz="2400" dirty="0" err="1"/>
              <a:t>VNet</a:t>
            </a:r>
            <a:r>
              <a:rPr lang="en-US" sz="2400" dirty="0"/>
              <a:t> via Virtual Network Peering (</a:t>
            </a:r>
            <a:r>
              <a:rPr lang="en-US" sz="2400" dirty="0" err="1">
                <a:hlinkClick r:id="rId3"/>
              </a:rPr>
              <a:t>VNet</a:t>
            </a:r>
            <a:r>
              <a:rPr lang="en-US" sz="2400" dirty="0">
                <a:hlinkClick r:id="rId3"/>
              </a:rPr>
              <a:t> Peering</a:t>
            </a:r>
            <a:r>
              <a:rPr lang="en-US" sz="2400" dirty="0"/>
              <a:t>) and </a:t>
            </a:r>
            <a:r>
              <a:rPr lang="en-US" sz="2400" dirty="0" err="1"/>
              <a:t>VNet</a:t>
            </a:r>
            <a:r>
              <a:rPr lang="en-US" sz="2400" dirty="0"/>
              <a:t> </a:t>
            </a:r>
            <a:r>
              <a:rPr lang="en-US" sz="2400" dirty="0">
                <a:hlinkClick r:id="rId4"/>
              </a:rPr>
              <a:t>Transit</a:t>
            </a:r>
            <a:endParaRPr lang="en-US" sz="2400" dirty="0"/>
          </a:p>
        </p:txBody>
      </p:sp>
      <p:sp>
        <p:nvSpPr>
          <p:cNvPr id="3" name="CuadroTexto 2"/>
          <p:cNvSpPr txBox="1"/>
          <p:nvPr/>
        </p:nvSpPr>
        <p:spPr>
          <a:xfrm>
            <a:off x="838200" y="2355939"/>
            <a:ext cx="140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b="1" dirty="0"/>
              <a:t>Hybrid</a:t>
            </a:r>
          </a:p>
          <a:p>
            <a:pPr algn="ctr"/>
            <a:r>
              <a:rPr lang="es-419" sz="2400" b="1" dirty="0"/>
              <a:t>Cloud</a:t>
            </a:r>
            <a:endParaRPr lang="en-US" sz="2400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806450" y="4332596"/>
            <a:ext cx="1409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400" b="1" dirty="0"/>
              <a:t>Intra-Cloud</a:t>
            </a:r>
            <a:endParaRPr lang="en-US" sz="2400" b="1" dirty="0"/>
          </a:p>
        </p:txBody>
      </p:sp>
      <p:sp>
        <p:nvSpPr>
          <p:cNvPr id="6" name="Abrir llave 5"/>
          <p:cNvSpPr/>
          <p:nvPr/>
        </p:nvSpPr>
        <p:spPr>
          <a:xfrm>
            <a:off x="2700419" y="1872119"/>
            <a:ext cx="406400" cy="1971903"/>
          </a:xfrm>
          <a:prstGeom prst="leftBrace">
            <a:avLst>
              <a:gd name="adj1" fmla="val 4895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brir llave 8"/>
          <p:cNvSpPr/>
          <p:nvPr/>
        </p:nvSpPr>
        <p:spPr>
          <a:xfrm>
            <a:off x="2684544" y="4032257"/>
            <a:ext cx="406400" cy="1562858"/>
          </a:xfrm>
          <a:prstGeom prst="leftBrace">
            <a:avLst>
              <a:gd name="adj1" fmla="val 48958"/>
              <a:gd name="adj2" fmla="val 5000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44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0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Gateway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049" y="1953111"/>
            <a:ext cx="7086600" cy="3314700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3048000" y="57347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https://docs.microsoft.com/en-us/azure/vpn-gateway/vpn-gateway-about-vpngateways</a:t>
            </a:r>
          </a:p>
        </p:txBody>
      </p:sp>
    </p:spTree>
    <p:extLst>
      <p:ext uri="{BB962C8B-B14F-4D97-AF65-F5344CB8AC3E}">
        <p14:creationId xmlns:p14="http://schemas.microsoft.com/office/powerpoint/2010/main" val="817338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0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Gateway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043" y="1865067"/>
            <a:ext cx="6437912" cy="3749649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3047999" y="599359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https://docs.microsoft.com/en-us/azure/vpn-gateway/vpn-gateway-about-vpngateways</a:t>
            </a:r>
          </a:p>
        </p:txBody>
      </p:sp>
    </p:spTree>
    <p:extLst>
      <p:ext uri="{BB962C8B-B14F-4D97-AF65-F5344CB8AC3E}">
        <p14:creationId xmlns:p14="http://schemas.microsoft.com/office/powerpoint/2010/main" val="3648952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0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Gateway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666" y="1975169"/>
            <a:ext cx="8612665" cy="352944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250431" y="5808928"/>
            <a:ext cx="96911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https://docs.microsoft.com/en-us/azure/architecture/reference-architectures/hybrid-networking/vpn</a:t>
            </a:r>
          </a:p>
        </p:txBody>
      </p:sp>
    </p:spTree>
    <p:extLst>
      <p:ext uri="{BB962C8B-B14F-4D97-AF65-F5344CB8AC3E}">
        <p14:creationId xmlns:p14="http://schemas.microsoft.com/office/powerpoint/2010/main" val="34034090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0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Gateway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838200" y="6344684"/>
            <a:ext cx="10909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https://docs.microsoft.com/en-us/azure/vpn-gateway/vpn-gateway-connect-multiple-policybased-rm-ps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57" y="1514252"/>
            <a:ext cx="5714286" cy="237142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857" y="3973255"/>
            <a:ext cx="5714286" cy="2371429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1511300" y="2206971"/>
            <a:ext cx="12073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b="1" dirty="0" err="1"/>
              <a:t>Policy</a:t>
            </a:r>
            <a:endParaRPr lang="es-419" sz="3200" b="1" dirty="0"/>
          </a:p>
          <a:p>
            <a:r>
              <a:rPr lang="es-419" sz="3200" b="1" dirty="0" err="1"/>
              <a:t>Based</a:t>
            </a:r>
            <a:endParaRPr lang="en-US" sz="3200" b="1" dirty="0"/>
          </a:p>
        </p:txBody>
      </p:sp>
      <p:sp>
        <p:nvSpPr>
          <p:cNvPr id="12" name="CuadroTexto 11"/>
          <p:cNvSpPr txBox="1"/>
          <p:nvPr/>
        </p:nvSpPr>
        <p:spPr>
          <a:xfrm>
            <a:off x="1511479" y="4532786"/>
            <a:ext cx="120738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b="1" dirty="0"/>
              <a:t>Route</a:t>
            </a:r>
          </a:p>
          <a:p>
            <a:r>
              <a:rPr lang="es-419" sz="3200" b="1" dirty="0" err="1"/>
              <a:t>Based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937520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0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Firewall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525" y="1924050"/>
            <a:ext cx="7939949" cy="38163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2533649" y="5993596"/>
            <a:ext cx="7124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https://docs.microsoft.com/es-es/azure/firewall/tutorial-hybrid-ps</a:t>
            </a:r>
          </a:p>
        </p:txBody>
      </p:sp>
    </p:spTree>
    <p:extLst>
      <p:ext uri="{BB962C8B-B14F-4D97-AF65-F5344CB8AC3E}">
        <p14:creationId xmlns:p14="http://schemas.microsoft.com/office/powerpoint/2010/main" val="2078328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4596016" y="1506022"/>
            <a:ext cx="2288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via VPN</a:t>
            </a:r>
          </a:p>
        </p:txBody>
      </p:sp>
      <p:pic>
        <p:nvPicPr>
          <p:cNvPr id="27" name="Imagen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88" y="1887344"/>
            <a:ext cx="10042212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685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4596016" y="1506022"/>
            <a:ext cx="2288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via VPN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131" y="1875354"/>
            <a:ext cx="10253737" cy="461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08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4596016" y="1506022"/>
            <a:ext cx="316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via ExpressRoute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78" y="2152979"/>
            <a:ext cx="9401244" cy="372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79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4596016" y="1506022"/>
            <a:ext cx="3160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via ExpressRoute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031" y="1933366"/>
            <a:ext cx="8724964" cy="4352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303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6419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3928514" y="1601544"/>
            <a:ext cx="4334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with Virtual Network Peering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95" y="2251064"/>
            <a:ext cx="9787009" cy="299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298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6419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3928514" y="1601544"/>
            <a:ext cx="4334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with Virtual Network Peering</a:t>
            </a: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23" y="2349500"/>
            <a:ext cx="5392858" cy="371464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864" y="2349500"/>
            <a:ext cx="5480060" cy="381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040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6419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https://azure.microsoft.com/en-us/blog/networking-to-and-within-the-azure-cloud-part-2/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3928514" y="1601544"/>
            <a:ext cx="43349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VNet</a:t>
            </a:r>
            <a:r>
              <a:rPr lang="en-US" b="1" dirty="0"/>
              <a:t>-to-</a:t>
            </a:r>
            <a:r>
              <a:rPr lang="en-US" b="1" dirty="0" err="1"/>
              <a:t>VNet</a:t>
            </a:r>
            <a:r>
              <a:rPr lang="en-US" b="1" dirty="0"/>
              <a:t> with Virtual Network Peering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0402"/>
            <a:ext cx="10605394" cy="349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3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https://azure.microsoft.com/en-us/blog/networking-to-and-within-the-azure-cloud-part-3/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887" y="1983721"/>
            <a:ext cx="8616225" cy="4067580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968790" y="1690686"/>
            <a:ext cx="43249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Transit </a:t>
            </a:r>
            <a:r>
              <a:rPr lang="en-US" b="1" dirty="0" err="1"/>
              <a:t>VNet</a:t>
            </a:r>
            <a:r>
              <a:rPr lang="en-US" b="1" dirty="0"/>
              <a:t> with Gateway Sharing</a:t>
            </a:r>
          </a:p>
        </p:txBody>
      </p:sp>
    </p:spTree>
    <p:extLst>
      <p:ext uri="{BB962C8B-B14F-4D97-AF65-F5344CB8AC3E}">
        <p14:creationId xmlns:p14="http://schemas.microsoft.com/office/powerpoint/2010/main" val="11642395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https://azure.microsoft.com/en-us/blog/networking-to-and-within-the-azure-cloud-part-3/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660540" y="1506022"/>
            <a:ext cx="6870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Transit </a:t>
            </a:r>
            <a:r>
              <a:rPr lang="en-US" b="1" dirty="0" err="1"/>
              <a:t>VNet</a:t>
            </a:r>
            <a:r>
              <a:rPr lang="en-US" b="1" dirty="0"/>
              <a:t> with Gateway Sharing, 1 ExpressRoute circuit in 2 regions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2007096"/>
            <a:ext cx="8686800" cy="415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3644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https://azure.microsoft.com/en-us/blog/networking-to-and-within-the-azure-cloud-part-3/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660540" y="1506022"/>
            <a:ext cx="6962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Transit </a:t>
            </a:r>
            <a:r>
              <a:rPr lang="en-US" b="1" dirty="0" err="1"/>
              <a:t>VNet</a:t>
            </a:r>
            <a:r>
              <a:rPr lang="en-US" b="1" dirty="0"/>
              <a:t> with Gateway Sharing, 2 ExpressRoute circuits in 2 regions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27" y="1875354"/>
            <a:ext cx="9466121" cy="448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60772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0897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https://azure.microsoft.com/en-us/blog/networking-to-and-within-the-azure-cloud-part-3/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660540" y="1506022"/>
            <a:ext cx="6962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Transit </a:t>
            </a:r>
            <a:r>
              <a:rPr lang="en-US" b="1" dirty="0" err="1"/>
              <a:t>VNet</a:t>
            </a:r>
            <a:r>
              <a:rPr lang="en-US" b="1" dirty="0"/>
              <a:t> with Gateway Sharing, 3 ExpressRoute circuits in 3 regions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35" y="1814142"/>
            <a:ext cx="9156700" cy="435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364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106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Networking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4" name="Rectángulo 23"/>
          <p:cNvSpPr/>
          <p:nvPr/>
        </p:nvSpPr>
        <p:spPr>
          <a:xfrm>
            <a:off x="1701800" y="6344335"/>
            <a:ext cx="8788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https://azure.microsoft.com/en-us/blog/networking-to-and-within-the-azure-cloud-part-3/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996037" y="1486188"/>
            <a:ext cx="7616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Transit </a:t>
            </a:r>
            <a:r>
              <a:rPr lang="en-US" b="1" dirty="0" err="1"/>
              <a:t>VNet</a:t>
            </a:r>
            <a:r>
              <a:rPr lang="en-US" b="1" dirty="0"/>
              <a:t> with BGP Enabled VPN Gateway Sharing and VPN Transit Routing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70" y="1979557"/>
            <a:ext cx="8793652" cy="426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043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3694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</a:t>
            </a:r>
            <a:r>
              <a:rPr lang="es-419" b="1" dirty="0" err="1">
                <a:solidFill>
                  <a:schemeClr val="bg1"/>
                </a:solidFill>
              </a:rPr>
              <a:t>Migrate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625529" cy="2182812"/>
          </a:xfrm>
          <a:prstGeom prst="rect">
            <a:avLst/>
          </a:prstGeom>
        </p:spPr>
      </p:pic>
      <p:sp>
        <p:nvSpPr>
          <p:cNvPr id="5" name="Flecha derecha 4"/>
          <p:cNvSpPr/>
          <p:nvPr/>
        </p:nvSpPr>
        <p:spPr>
          <a:xfrm>
            <a:off x="5890614" y="21431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340714" y="2660651"/>
            <a:ext cx="520700" cy="355600"/>
          </a:xfrm>
          <a:prstGeom prst="rightArrow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340714" y="21431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/>
          <p:cNvSpPr txBox="1"/>
          <p:nvPr/>
        </p:nvSpPr>
        <p:spPr>
          <a:xfrm>
            <a:off x="861414" y="3873500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Import</a:t>
            </a:r>
            <a:r>
              <a:rPr lang="es-419" dirty="0"/>
              <a:t>/</a:t>
            </a:r>
            <a:r>
              <a:rPr lang="es-419" dirty="0" err="1"/>
              <a:t>Export</a:t>
            </a:r>
            <a:r>
              <a:rPr lang="es-419" dirty="0"/>
              <a:t>/</a:t>
            </a:r>
            <a:r>
              <a:rPr lang="es-419" dirty="0" err="1"/>
              <a:t>Migrate</a:t>
            </a:r>
            <a:r>
              <a:rPr lang="es-419" dirty="0"/>
              <a:t> a MV On-Premise to/</a:t>
            </a:r>
            <a:r>
              <a:rPr lang="es-419" dirty="0" err="1"/>
              <a:t>from</a:t>
            </a:r>
            <a:r>
              <a:rPr lang="es-419" dirty="0"/>
              <a:t> Azure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Import</a:t>
            </a:r>
            <a:r>
              <a:rPr lang="es-419" dirty="0"/>
              <a:t>/</a:t>
            </a:r>
            <a:r>
              <a:rPr lang="es-419" dirty="0" err="1"/>
              <a:t>Export</a:t>
            </a:r>
            <a:r>
              <a:rPr lang="es-419" dirty="0"/>
              <a:t>/</a:t>
            </a:r>
            <a:r>
              <a:rPr lang="es-419" dirty="0" err="1"/>
              <a:t>Migrate</a:t>
            </a:r>
            <a:r>
              <a:rPr lang="es-419" dirty="0"/>
              <a:t> a SQL Server / MySQL </a:t>
            </a:r>
            <a:r>
              <a:rPr lang="es-419" dirty="0" err="1"/>
              <a:t>database</a:t>
            </a:r>
            <a:r>
              <a:rPr lang="es-419" dirty="0"/>
              <a:t> On-Premise to/</a:t>
            </a:r>
            <a:r>
              <a:rPr lang="es-419" dirty="0" err="1"/>
              <a:t>from</a:t>
            </a:r>
            <a:r>
              <a:rPr lang="es-419" dirty="0"/>
              <a:t> Azure</a:t>
            </a:r>
          </a:p>
        </p:txBody>
      </p:sp>
    </p:spTree>
    <p:extLst>
      <p:ext uri="{BB962C8B-B14F-4D97-AF65-F5344CB8AC3E}">
        <p14:creationId xmlns:p14="http://schemas.microsoft.com/office/powerpoint/2010/main" val="744742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2356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Web/Mobile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40" y="1465002"/>
            <a:ext cx="9701719" cy="4478598"/>
          </a:xfrm>
          <a:prstGeom prst="rect">
            <a:avLst/>
          </a:prstGeom>
        </p:spPr>
      </p:pic>
      <p:sp>
        <p:nvSpPr>
          <p:cNvPr id="6" name="Flecha derecha 5"/>
          <p:cNvSpPr/>
          <p:nvPr/>
        </p:nvSpPr>
        <p:spPr>
          <a:xfrm>
            <a:off x="781320" y="18049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5835649" y="18049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794290" y="22748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echa derecha 13"/>
          <p:cNvSpPr/>
          <p:nvPr/>
        </p:nvSpPr>
        <p:spPr>
          <a:xfrm>
            <a:off x="752880" y="316944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 derecha 14"/>
          <p:cNvSpPr/>
          <p:nvPr/>
        </p:nvSpPr>
        <p:spPr>
          <a:xfrm>
            <a:off x="752880" y="3552565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 derecha 15"/>
          <p:cNvSpPr/>
          <p:nvPr/>
        </p:nvSpPr>
        <p:spPr>
          <a:xfrm>
            <a:off x="5835649" y="3196965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echa derecha 16"/>
          <p:cNvSpPr/>
          <p:nvPr/>
        </p:nvSpPr>
        <p:spPr>
          <a:xfrm>
            <a:off x="5849869" y="363736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lecha derecha 17"/>
          <p:cNvSpPr/>
          <p:nvPr/>
        </p:nvSpPr>
        <p:spPr>
          <a:xfrm>
            <a:off x="759365" y="406400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uadroTexto 11"/>
          <p:cNvSpPr txBox="1"/>
          <p:nvPr/>
        </p:nvSpPr>
        <p:spPr>
          <a:xfrm>
            <a:off x="958850" y="6004277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Develop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App Service (.NET/PHP)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API </a:t>
            </a:r>
            <a:r>
              <a:rPr lang="es-419" dirty="0" err="1"/>
              <a:t>which</a:t>
            </a:r>
            <a:r>
              <a:rPr lang="es-419" dirty="0"/>
              <a:t> </a:t>
            </a:r>
            <a:r>
              <a:rPr lang="es-419" dirty="0" err="1"/>
              <a:t>connects</a:t>
            </a:r>
            <a:r>
              <a:rPr lang="es-419" dirty="0"/>
              <a:t> to a Cosmos DB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Redis</a:t>
            </a:r>
            <a:r>
              <a:rPr lang="es-419" dirty="0"/>
              <a:t> Cache and multimedia file </a:t>
            </a:r>
            <a:r>
              <a:rPr lang="es-419" dirty="0" err="1"/>
              <a:t>serve</a:t>
            </a:r>
            <a:r>
              <a:rPr lang="es-419" dirty="0"/>
              <a:t> </a:t>
            </a:r>
            <a:r>
              <a:rPr lang="es-419" dirty="0" err="1"/>
              <a:t>from</a:t>
            </a:r>
            <a:r>
              <a:rPr lang="es-419" dirty="0"/>
              <a:t> CDN</a:t>
            </a:r>
          </a:p>
        </p:txBody>
      </p:sp>
    </p:spTree>
    <p:extLst>
      <p:ext uri="{BB962C8B-B14F-4D97-AF65-F5344CB8AC3E}">
        <p14:creationId xmlns:p14="http://schemas.microsoft.com/office/powerpoint/2010/main" val="30889931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1573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</a:t>
            </a:r>
            <a:r>
              <a:rPr lang="es-419" b="1" dirty="0" err="1">
                <a:solidFill>
                  <a:schemeClr val="bg1"/>
                </a:solidFill>
              </a:rPr>
              <a:t>Databases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690688"/>
            <a:ext cx="8040222" cy="3305636"/>
          </a:xfrm>
          <a:prstGeom prst="rect">
            <a:avLst/>
          </a:prstGeom>
        </p:spPr>
      </p:pic>
      <p:sp>
        <p:nvSpPr>
          <p:cNvPr id="6" name="Flecha derecha 5"/>
          <p:cNvSpPr/>
          <p:nvPr/>
        </p:nvSpPr>
        <p:spPr>
          <a:xfrm>
            <a:off x="1289050" y="1939665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5441950" y="268261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5441950" y="305383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1289050" y="269823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1308100" y="231894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1289050" y="344302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uadroTexto 12"/>
          <p:cNvSpPr txBox="1"/>
          <p:nvPr/>
        </p:nvSpPr>
        <p:spPr>
          <a:xfrm>
            <a:off x="971550" y="5341921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Develop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App Service (.NET/PHP)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API </a:t>
            </a:r>
            <a:r>
              <a:rPr lang="es-419" dirty="0" err="1"/>
              <a:t>which</a:t>
            </a:r>
            <a:r>
              <a:rPr lang="es-419" dirty="0"/>
              <a:t> </a:t>
            </a:r>
            <a:r>
              <a:rPr lang="es-419" dirty="0" err="1"/>
              <a:t>connects</a:t>
            </a:r>
            <a:r>
              <a:rPr lang="es-419" dirty="0"/>
              <a:t> to a Cosmos DB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Redis</a:t>
            </a:r>
            <a:r>
              <a:rPr lang="es-419" dirty="0"/>
              <a:t> Cache and multimedia file </a:t>
            </a:r>
            <a:r>
              <a:rPr lang="es-419" dirty="0" err="1"/>
              <a:t>serve</a:t>
            </a:r>
            <a:r>
              <a:rPr lang="es-419" dirty="0"/>
              <a:t> </a:t>
            </a:r>
            <a:r>
              <a:rPr lang="es-419" dirty="0" err="1"/>
              <a:t>from</a:t>
            </a:r>
            <a:r>
              <a:rPr lang="es-419" dirty="0"/>
              <a:t> CDN</a:t>
            </a:r>
          </a:p>
        </p:txBody>
      </p:sp>
    </p:spTree>
    <p:extLst>
      <p:ext uri="{BB962C8B-B14F-4D97-AF65-F5344CB8AC3E}">
        <p14:creationId xmlns:p14="http://schemas.microsoft.com/office/powerpoint/2010/main" val="32870873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1590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– IoT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20512"/>
            <a:ext cx="8801100" cy="4826741"/>
          </a:xfrm>
          <a:prstGeom prst="rect">
            <a:avLst/>
          </a:prstGeom>
        </p:spPr>
      </p:pic>
      <p:sp>
        <p:nvSpPr>
          <p:cNvPr id="8" name="Flecha derecha 7"/>
          <p:cNvSpPr/>
          <p:nvPr/>
        </p:nvSpPr>
        <p:spPr>
          <a:xfrm>
            <a:off x="1003300" y="39338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 derecha 8"/>
          <p:cNvSpPr/>
          <p:nvPr/>
        </p:nvSpPr>
        <p:spPr>
          <a:xfrm>
            <a:off x="5575300" y="2278885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echa derecha 9"/>
          <p:cNvSpPr/>
          <p:nvPr/>
        </p:nvSpPr>
        <p:spPr>
          <a:xfrm>
            <a:off x="5575300" y="348557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echa derecha 10"/>
          <p:cNvSpPr/>
          <p:nvPr/>
        </p:nvSpPr>
        <p:spPr>
          <a:xfrm>
            <a:off x="1003300" y="312997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echa derecha 11"/>
          <p:cNvSpPr/>
          <p:nvPr/>
        </p:nvSpPr>
        <p:spPr>
          <a:xfrm>
            <a:off x="5600700" y="4738611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lecha derecha 13"/>
          <p:cNvSpPr/>
          <p:nvPr/>
        </p:nvSpPr>
        <p:spPr>
          <a:xfrm>
            <a:off x="5600700" y="3079788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echa derecha 14"/>
          <p:cNvSpPr/>
          <p:nvPr/>
        </p:nvSpPr>
        <p:spPr>
          <a:xfrm>
            <a:off x="5575300" y="267400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echa derecha 15"/>
          <p:cNvSpPr/>
          <p:nvPr/>
        </p:nvSpPr>
        <p:spPr>
          <a:xfrm>
            <a:off x="1003300" y="2641491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lecha derecha 16"/>
          <p:cNvSpPr/>
          <p:nvPr/>
        </p:nvSpPr>
        <p:spPr>
          <a:xfrm>
            <a:off x="996950" y="3537696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adroTexto 19"/>
          <p:cNvSpPr txBox="1"/>
          <p:nvPr/>
        </p:nvSpPr>
        <p:spPr>
          <a:xfrm>
            <a:off x="10033000" y="2258287"/>
            <a:ext cx="140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/>
              <a:t>(</a:t>
            </a:r>
            <a:r>
              <a:rPr lang="es-419" b="1" dirty="0" err="1"/>
              <a:t>ServerLess</a:t>
            </a:r>
            <a:r>
              <a:rPr lang="es-419" b="1" dirty="0"/>
              <a:t>)</a:t>
            </a:r>
            <a:endParaRPr lang="en-US" b="1" dirty="0"/>
          </a:p>
        </p:txBody>
      </p:sp>
      <p:sp>
        <p:nvSpPr>
          <p:cNvPr id="21" name="Flecha derecha 20"/>
          <p:cNvSpPr/>
          <p:nvPr/>
        </p:nvSpPr>
        <p:spPr>
          <a:xfrm>
            <a:off x="5588000" y="518733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uadroTexto 21"/>
          <p:cNvSpPr txBox="1"/>
          <p:nvPr/>
        </p:nvSpPr>
        <p:spPr>
          <a:xfrm>
            <a:off x="10121900" y="4696361"/>
            <a:ext cx="102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(</a:t>
            </a:r>
            <a:r>
              <a:rPr lang="es-419" b="1" dirty="0" err="1"/>
              <a:t>Stream</a:t>
            </a:r>
            <a:r>
              <a:rPr lang="es-419" b="1" dirty="0"/>
              <a:t>)</a:t>
            </a:r>
            <a:endParaRPr lang="en-US" b="1" dirty="0"/>
          </a:p>
        </p:txBody>
      </p:sp>
      <p:sp>
        <p:nvSpPr>
          <p:cNvPr id="23" name="CuadroTexto 22"/>
          <p:cNvSpPr txBox="1"/>
          <p:nvPr/>
        </p:nvSpPr>
        <p:spPr>
          <a:xfrm>
            <a:off x="10121900" y="5094211"/>
            <a:ext cx="88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(</a:t>
            </a:r>
            <a:r>
              <a:rPr lang="es-419" b="1" dirty="0" err="1"/>
              <a:t>Push</a:t>
            </a:r>
            <a:r>
              <a:rPr lang="es-419" b="1" dirty="0"/>
              <a:t>)</a:t>
            </a:r>
            <a:endParaRPr lang="en-US" b="1" dirty="0"/>
          </a:p>
        </p:txBody>
      </p:sp>
      <p:sp>
        <p:nvSpPr>
          <p:cNvPr id="18" name="CuadroTexto 17"/>
          <p:cNvSpPr txBox="1"/>
          <p:nvPr/>
        </p:nvSpPr>
        <p:spPr>
          <a:xfrm>
            <a:off x="958850" y="6004277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Develop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App Service (.NET/PHP)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API </a:t>
            </a:r>
            <a:r>
              <a:rPr lang="es-419" dirty="0" err="1"/>
              <a:t>which</a:t>
            </a:r>
            <a:r>
              <a:rPr lang="es-419" dirty="0"/>
              <a:t> </a:t>
            </a:r>
            <a:r>
              <a:rPr lang="es-419" dirty="0" err="1"/>
              <a:t>connects</a:t>
            </a:r>
            <a:r>
              <a:rPr lang="es-419" dirty="0"/>
              <a:t> to a Cosmos DB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Redis</a:t>
            </a:r>
            <a:r>
              <a:rPr lang="es-419" dirty="0"/>
              <a:t> Cache and multimedia file </a:t>
            </a:r>
            <a:r>
              <a:rPr lang="es-419" dirty="0" err="1"/>
              <a:t>serve</a:t>
            </a:r>
            <a:r>
              <a:rPr lang="es-419" dirty="0"/>
              <a:t> </a:t>
            </a:r>
            <a:r>
              <a:rPr lang="es-419" dirty="0" err="1"/>
              <a:t>from</a:t>
            </a:r>
            <a:r>
              <a:rPr lang="es-419" dirty="0"/>
              <a:t> CDN</a:t>
            </a:r>
          </a:p>
        </p:txBody>
      </p:sp>
    </p:spTree>
    <p:extLst>
      <p:ext uri="{BB962C8B-B14F-4D97-AF65-F5344CB8AC3E}">
        <p14:creationId xmlns:p14="http://schemas.microsoft.com/office/powerpoint/2010/main" val="2280357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30494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Administration</a:t>
            </a:r>
            <a:r>
              <a:rPr lang="es-419" b="1" dirty="0">
                <a:solidFill>
                  <a:schemeClr val="bg1"/>
                </a:solidFill>
              </a:rPr>
              <a:t> - DevOps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600" y="1800282"/>
            <a:ext cx="9048032" cy="1552621"/>
          </a:xfrm>
          <a:prstGeom prst="rect">
            <a:avLst/>
          </a:prstGeom>
        </p:spPr>
      </p:pic>
      <p:sp>
        <p:nvSpPr>
          <p:cNvPr id="4" name="Flecha derecha 3"/>
          <p:cNvSpPr/>
          <p:nvPr/>
        </p:nvSpPr>
        <p:spPr>
          <a:xfrm>
            <a:off x="1104900" y="20923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echa derecha 4"/>
          <p:cNvSpPr/>
          <p:nvPr/>
        </p:nvSpPr>
        <p:spPr>
          <a:xfrm>
            <a:off x="1104900" y="2482964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echa derecha 5"/>
          <p:cNvSpPr/>
          <p:nvPr/>
        </p:nvSpPr>
        <p:spPr>
          <a:xfrm>
            <a:off x="1104900" y="285614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echa derecha 6"/>
          <p:cNvSpPr/>
          <p:nvPr/>
        </p:nvSpPr>
        <p:spPr>
          <a:xfrm>
            <a:off x="5889266" y="2092382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echa derecha 7"/>
          <p:cNvSpPr/>
          <p:nvPr/>
        </p:nvSpPr>
        <p:spPr>
          <a:xfrm>
            <a:off x="5889266" y="2500540"/>
            <a:ext cx="520700" cy="355600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/>
          <p:cNvSpPr txBox="1"/>
          <p:nvPr/>
        </p:nvSpPr>
        <p:spPr>
          <a:xfrm>
            <a:off x="958850" y="6004277"/>
            <a:ext cx="10248900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dirty="0" err="1"/>
              <a:t>Develop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App Service (.NET/PHP)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an</a:t>
            </a:r>
            <a:r>
              <a:rPr lang="es-419" dirty="0"/>
              <a:t> API </a:t>
            </a:r>
            <a:r>
              <a:rPr lang="es-419" dirty="0" err="1"/>
              <a:t>which</a:t>
            </a:r>
            <a:r>
              <a:rPr lang="es-419" dirty="0"/>
              <a:t> </a:t>
            </a:r>
            <a:r>
              <a:rPr lang="es-419" dirty="0" err="1"/>
              <a:t>connects</a:t>
            </a:r>
            <a:r>
              <a:rPr lang="es-419" dirty="0"/>
              <a:t> to a Cosmos DB </a:t>
            </a:r>
            <a:r>
              <a:rPr lang="es-419" dirty="0" err="1"/>
              <a:t>with</a:t>
            </a:r>
            <a:r>
              <a:rPr lang="es-419" dirty="0"/>
              <a:t> </a:t>
            </a:r>
            <a:r>
              <a:rPr lang="es-419" dirty="0" err="1"/>
              <a:t>Redis</a:t>
            </a:r>
            <a:r>
              <a:rPr lang="es-419" dirty="0"/>
              <a:t> Cache and multimedia file </a:t>
            </a:r>
            <a:r>
              <a:rPr lang="es-419" dirty="0" err="1"/>
              <a:t>serve</a:t>
            </a:r>
            <a:r>
              <a:rPr lang="es-419" dirty="0"/>
              <a:t> </a:t>
            </a:r>
            <a:r>
              <a:rPr lang="es-419" dirty="0" err="1"/>
              <a:t>from</a:t>
            </a:r>
            <a:r>
              <a:rPr lang="es-419" dirty="0"/>
              <a:t> CDN</a:t>
            </a:r>
          </a:p>
        </p:txBody>
      </p:sp>
    </p:spTree>
    <p:extLst>
      <p:ext uri="{BB962C8B-B14F-4D97-AF65-F5344CB8AC3E}">
        <p14:creationId xmlns:p14="http://schemas.microsoft.com/office/powerpoint/2010/main" val="767122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30494"/>
          </a:xfrm>
          <a:solidFill>
            <a:srgbClr val="0070C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419" b="1" dirty="0" err="1">
                <a:solidFill>
                  <a:schemeClr val="bg1"/>
                </a:solidFill>
              </a:rPr>
              <a:t>PoC</a:t>
            </a:r>
            <a:r>
              <a:rPr lang="es-419" b="1" dirty="0">
                <a:solidFill>
                  <a:schemeClr val="bg1"/>
                </a:solidFill>
              </a:rPr>
              <a:t> Azure </a:t>
            </a:r>
            <a:r>
              <a:rPr lang="es-419" b="1" dirty="0" err="1">
                <a:solidFill>
                  <a:schemeClr val="bg1"/>
                </a:solidFill>
              </a:rPr>
              <a:t>Related</a:t>
            </a:r>
            <a:r>
              <a:rPr lang="es-419" b="1" dirty="0">
                <a:solidFill>
                  <a:schemeClr val="bg1"/>
                </a:solidFill>
              </a:rPr>
              <a:t> Links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838200" y="1901781"/>
            <a:ext cx="5013157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- Microsoft Learn Portal</a:t>
            </a:r>
          </a:p>
          <a:p>
            <a:r>
              <a:rPr lang="en-US" sz="1400" dirty="0"/>
              <a:t>  https://docs.microsoft.com/en-us/learn/</a:t>
            </a:r>
          </a:p>
          <a:p>
            <a:r>
              <a:rPr lang="en-US" sz="1400" dirty="0"/>
              <a:t>  https://docs.microsoft.com/en-us/learn/azure/</a:t>
            </a:r>
          </a:p>
          <a:p>
            <a:r>
              <a:rPr lang="en-US" sz="1400" dirty="0"/>
              <a:t>  https://github.com/MicrosoftLearning</a:t>
            </a:r>
          </a:p>
          <a:p>
            <a:endParaRPr lang="en-US" sz="1400" dirty="0"/>
          </a:p>
          <a:p>
            <a:r>
              <a:rPr lang="en-US" sz="1400" dirty="0"/>
              <a:t>- Microsoft Hands On Lab</a:t>
            </a:r>
          </a:p>
          <a:p>
            <a:r>
              <a:rPr lang="en-US" sz="1400" dirty="0"/>
              <a:t>  https://www.microsoft.com/handsonlabs</a:t>
            </a:r>
          </a:p>
          <a:p>
            <a:r>
              <a:rPr lang="en-US" sz="1400" dirty="0"/>
              <a:t>  https://www.microsoft.com/handsonlabs/selfpacedlabs</a:t>
            </a:r>
          </a:p>
          <a:p>
            <a:endParaRPr lang="en-US" sz="1400" dirty="0"/>
          </a:p>
          <a:p>
            <a:r>
              <a:rPr lang="en-US" sz="1400" dirty="0"/>
              <a:t>- Azure Documentation</a:t>
            </a:r>
          </a:p>
          <a:p>
            <a:r>
              <a:rPr lang="en-US" sz="1400" dirty="0"/>
              <a:t>  https://portal.azure.com</a:t>
            </a:r>
          </a:p>
          <a:p>
            <a:r>
              <a:rPr lang="en-US" sz="1400" dirty="0"/>
              <a:t>  https://docs.microsoft.com/en-us/azure/</a:t>
            </a:r>
          </a:p>
          <a:p>
            <a:endParaRPr lang="en-US" sz="1400" dirty="0"/>
          </a:p>
          <a:p>
            <a:r>
              <a:rPr lang="en-US" sz="1400" dirty="0"/>
              <a:t>- Azure Citadel (Lab Section: e.g. Functions, Course Number Before #20533)</a:t>
            </a:r>
          </a:p>
          <a:p>
            <a:r>
              <a:rPr lang="en-US" sz="1400" dirty="0"/>
              <a:t>  https://azurecitadel.com/</a:t>
            </a:r>
          </a:p>
          <a:p>
            <a:r>
              <a:rPr lang="en-US" sz="1400" dirty="0"/>
              <a:t>  https://github.com/azurecitadel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6545179" y="1901781"/>
            <a:ext cx="5069305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- Azure Code Samples:</a:t>
            </a:r>
          </a:p>
          <a:p>
            <a:r>
              <a:rPr lang="en-US" sz="1400" dirty="0"/>
              <a:t>  https://azure.microsoft.com/en-us/resources/samples/?sort=0</a:t>
            </a:r>
          </a:p>
          <a:p>
            <a:endParaRPr lang="en-US" sz="1400" dirty="0"/>
          </a:p>
          <a:p>
            <a:r>
              <a:rPr lang="en-US" sz="1400" dirty="0"/>
              <a:t>- Official </a:t>
            </a:r>
            <a:r>
              <a:rPr lang="en-US" sz="1400" dirty="0" err="1"/>
              <a:t>Github</a:t>
            </a:r>
            <a:r>
              <a:rPr lang="en-US" sz="1400" dirty="0"/>
              <a:t> Repository for PowerShell Scripts</a:t>
            </a:r>
          </a:p>
          <a:p>
            <a:r>
              <a:rPr lang="en-US" sz="1400" dirty="0"/>
              <a:t>  https://github.com/Azure/azure-powershell</a:t>
            </a:r>
          </a:p>
          <a:p>
            <a:endParaRPr lang="en-US" sz="1400" dirty="0"/>
          </a:p>
          <a:p>
            <a:r>
              <a:rPr lang="en-US" sz="1400" dirty="0"/>
              <a:t>- Azure REST API Browser</a:t>
            </a:r>
          </a:p>
          <a:p>
            <a:r>
              <a:rPr lang="en-US" sz="1400" dirty="0"/>
              <a:t>  https://docs.microsoft.com/en-us/rest/api/?view=Azure</a:t>
            </a:r>
          </a:p>
          <a:p>
            <a:endParaRPr lang="en-US" sz="1400" dirty="0"/>
          </a:p>
          <a:p>
            <a:r>
              <a:rPr lang="en-US" sz="1400" dirty="0"/>
              <a:t>- Official Microsoft Azure YouTube Channel</a:t>
            </a:r>
          </a:p>
          <a:p>
            <a:r>
              <a:rPr lang="en-US" sz="1400" dirty="0"/>
              <a:t>  https://www.youtube.com/user/windowsazure</a:t>
            </a:r>
          </a:p>
          <a:p>
            <a:endParaRPr lang="en-US" sz="1400" dirty="0"/>
          </a:p>
          <a:p>
            <a:r>
              <a:rPr lang="en-US" sz="1400" dirty="0"/>
              <a:t>- Official Microsoft Developer YouTube Channel</a:t>
            </a:r>
          </a:p>
          <a:p>
            <a:r>
              <a:rPr lang="en-US" sz="1400" dirty="0"/>
              <a:t>  https://www.youtube.com/channel/UCsMica-v34Irf9KVTh6xx-g</a:t>
            </a:r>
          </a:p>
          <a:p>
            <a:endParaRPr lang="en-US" sz="1400" dirty="0"/>
          </a:p>
          <a:p>
            <a:r>
              <a:rPr lang="en-US" sz="1400" dirty="0"/>
              <a:t>- Download the Azure SDK's for .NET, PowerShell, CLI and other languages</a:t>
            </a:r>
          </a:p>
          <a:p>
            <a:r>
              <a:rPr lang="en-US" sz="1400" dirty="0"/>
              <a:t>  https://azure.microsoft.com/en-us/downloads/</a:t>
            </a:r>
          </a:p>
        </p:txBody>
      </p:sp>
    </p:spTree>
    <p:extLst>
      <p:ext uri="{BB962C8B-B14F-4D97-AF65-F5344CB8AC3E}">
        <p14:creationId xmlns:p14="http://schemas.microsoft.com/office/powerpoint/2010/main" val="10474479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1933</Words>
  <Application>Microsoft Macintosh PowerPoint</Application>
  <PresentationFormat>Widescreen</PresentationFormat>
  <Paragraphs>264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5" baseType="lpstr">
      <vt:lpstr>Arial</vt:lpstr>
      <vt:lpstr>Calibri</vt:lpstr>
      <vt:lpstr>Calibri Light</vt:lpstr>
      <vt:lpstr>Tema de Office</vt:lpstr>
      <vt:lpstr>PoC of Administration</vt:lpstr>
      <vt:lpstr>PoC Azure Administration – Sign Up</vt:lpstr>
      <vt:lpstr>PoC Azure Administration - Portal</vt:lpstr>
      <vt:lpstr>PoC Azure Administration – Resource Groups</vt:lpstr>
      <vt:lpstr>PoC Azure Administration – Azure Subs. (Usage)</vt:lpstr>
      <vt:lpstr>PoC Azure Administration - Services</vt:lpstr>
      <vt:lpstr>PoC Azure Administration – Group/Perm.</vt:lpstr>
      <vt:lpstr>PoC Azure Administration – Resource Groups</vt:lpstr>
      <vt:lpstr>PoC Azure Administration - General</vt:lpstr>
      <vt:lpstr>PoC Azure Administration - Storage</vt:lpstr>
      <vt:lpstr>PoC Azure Administration – Storage Concepts</vt:lpstr>
      <vt:lpstr>PoC Azure Administration - Storage Account</vt:lpstr>
      <vt:lpstr>PoC Azure Administration – Storage Types</vt:lpstr>
      <vt:lpstr>PoC Azure Administration – Storage Types</vt:lpstr>
      <vt:lpstr>PoC Azure Administration – Storage Types</vt:lpstr>
      <vt:lpstr>PoC Azure Administration – Storage Types</vt:lpstr>
      <vt:lpstr>PoC Azure Administration - Identity</vt:lpstr>
      <vt:lpstr>PoC Azure Administration –  On/Off-Premises Identity Mgmt.</vt:lpstr>
      <vt:lpstr>PoC Azure Administration - Security</vt:lpstr>
      <vt:lpstr>PoC Azure Administration – Mgmt. / Gov.</vt:lpstr>
      <vt:lpstr>PoC Azure Administration - Compute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Gateway</vt:lpstr>
      <vt:lpstr>PoC Azure Administration - Gateway</vt:lpstr>
      <vt:lpstr>PoC Azure Administration - Gateway</vt:lpstr>
      <vt:lpstr>PoC Azure Administration - Gateway</vt:lpstr>
      <vt:lpstr>PoC Azure Administration - Firewall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Networking</vt:lpstr>
      <vt:lpstr>PoC Azure Administration - Migrate</vt:lpstr>
      <vt:lpstr>PoC Azure Administration – Web/Mobile</vt:lpstr>
      <vt:lpstr>PoC Azure Administration - Databases</vt:lpstr>
      <vt:lpstr>PoC Azure Administration – IoT</vt:lpstr>
      <vt:lpstr>PoC Azure Administration - DevOps</vt:lpstr>
      <vt:lpstr>PoC Azure Related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Azure Administration</dc:title>
  <dc:creator>Olaf Reitmaier</dc:creator>
  <cp:lastModifiedBy>Olaf Reitmaier</cp:lastModifiedBy>
  <cp:revision>106</cp:revision>
  <dcterms:created xsi:type="dcterms:W3CDTF">2019-01-14T19:36:33Z</dcterms:created>
  <dcterms:modified xsi:type="dcterms:W3CDTF">2023-11-15T12:24:03Z</dcterms:modified>
</cp:coreProperties>
</file>