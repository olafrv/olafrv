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4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0b4ddda55_2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0b4ddda55_2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e00741205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e00741205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e00741205c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e00741205c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00741205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e00741205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e0b4ddda55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e0b4ddda55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0b4ddda55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e0b4ddda55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e0b4ddda55_2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e0b4ddda55_2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e00741205c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e00741205c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e00741205c_1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e00741205c_1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00741205c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00741205c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0b4ddda55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e0b4ddda55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e0b4ddda5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e0b4ddda5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105331f81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105331f81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e00741205c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e00741205c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00741205c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00741205c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aws.amazon.com/cost-management/home#/dashboar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ws.amazon.com/blogs/aws/new-instance-size-flexibility-for-ec2-reserved-instance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EC2/latest/UserGuide/ec2-reserved-instance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savingsplans/latest/userguide/sp-applying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whitepapers/latest/cost-optimization-leveraging-ec2-spot-instances/when-to-use-spot-instances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5314425" y="990050"/>
            <a:ext cx="354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Instance Characteristics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EC2 Purchase Options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RI Flexibility Factor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RI Coverage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Saving Plans Coverage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Spot Risks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Spot Recommendations</a:t>
            </a:r>
            <a:endParaRPr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75" y="990050"/>
            <a:ext cx="4575076" cy="2737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950200" y="4406450"/>
            <a:ext cx="14160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Olaf Reitmaier Veracierta</a:t>
            </a:r>
            <a:endParaRPr sz="80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655975" y="3727400"/>
            <a:ext cx="141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June, 2021.</a:t>
            </a:r>
            <a:endParaRPr sz="1300"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838CD-1CF7-4AD9-3B72-C4AD5E426A8A}"/>
              </a:ext>
            </a:extLst>
          </p:cNvPr>
          <p:cNvSpPr txBox="1"/>
          <p:nvPr/>
        </p:nvSpPr>
        <p:spPr>
          <a:xfrm>
            <a:off x="3284770" y="1356360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Impact" panose="020B0806030902050204" pitchFamily="34" charset="0"/>
              </a:rPr>
              <a:t>Risks</a:t>
            </a:r>
            <a:endParaRPr lang="en-DE" sz="2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Instance Characteristics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375" y="1646025"/>
            <a:ext cx="5346950" cy="185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Purchase Options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50" y="1075038"/>
            <a:ext cx="7774452" cy="299342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604300" y="4232000"/>
            <a:ext cx="4256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Dedicated Instances</a:t>
            </a:r>
            <a:r>
              <a:rPr lang="en" sz="800">
                <a:solidFill>
                  <a:srgbClr val="FF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–</a:t>
            </a:r>
            <a:r>
              <a:rPr lang="en" sz="800">
                <a:solidFill>
                  <a:srgbClr val="1619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Instance (hr) running on single-tenant hosts (account isolation).</a:t>
            </a:r>
            <a:endParaRPr sz="800" b="1">
              <a:solidFill>
                <a:srgbClr val="16191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Dedicated Hosts</a:t>
            </a:r>
            <a:r>
              <a:rPr lang="en" sz="800">
                <a:solidFill>
                  <a:srgbClr val="FF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en" sz="800">
                <a:solidFill>
                  <a:srgbClr val="1619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Physical host (hr) fully dedicated for you (hardware isolation).</a:t>
            </a:r>
            <a:endParaRPr sz="800">
              <a:solidFill>
                <a:srgbClr val="16191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Capacity Reservations</a:t>
            </a:r>
            <a:r>
              <a:rPr lang="en" sz="800">
                <a:solidFill>
                  <a:srgbClr val="FF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–</a:t>
            </a:r>
            <a:r>
              <a:rPr lang="en" sz="800">
                <a:solidFill>
                  <a:srgbClr val="1619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Reserve capacity for EC2 in a specific AZ for any duration.</a:t>
            </a:r>
            <a:endParaRPr sz="800"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575" y="1153425"/>
            <a:ext cx="7469175" cy="33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488300" y="423200"/>
            <a:ext cx="603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AWS EC2 Reserved Instances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RI vs. Savings Plans</a:t>
            </a:r>
            <a:endParaRPr sz="1911">
              <a:solidFill>
                <a:srgbClr val="4A86E8"/>
              </a:solidFill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903350" y="1177600"/>
            <a:ext cx="520800" cy="28815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1375400" y="1359600"/>
            <a:ext cx="102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9900"/>
                </a:solidFill>
              </a:rPr>
              <a:t>Reserved</a:t>
            </a:r>
            <a:br>
              <a:rPr lang="en" b="1">
                <a:solidFill>
                  <a:srgbClr val="FF9900"/>
                </a:solidFill>
              </a:rPr>
            </a:br>
            <a:r>
              <a:rPr lang="en" b="1">
                <a:solidFill>
                  <a:srgbClr val="FF9900"/>
                </a:solidFill>
              </a:rPr>
              <a:t>Instances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463838" y="2949475"/>
            <a:ext cx="102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AA84F"/>
                </a:solidFill>
              </a:rPr>
              <a:t>Saving</a:t>
            </a:r>
            <a:br>
              <a:rPr lang="en" b="1">
                <a:solidFill>
                  <a:srgbClr val="6AA84F"/>
                </a:solidFill>
              </a:rPr>
            </a:br>
            <a:r>
              <a:rPr lang="en" b="1">
                <a:solidFill>
                  <a:srgbClr val="6AA84F"/>
                </a:solidFill>
              </a:rPr>
              <a:t>Plans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2604350" y="1269600"/>
            <a:ext cx="520800" cy="795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2604350" y="2317075"/>
            <a:ext cx="520800" cy="1880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3125150" y="1321775"/>
            <a:ext cx="577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tx1"/>
                </a:solidFill>
              </a:rPr>
              <a:t>EC2, RDS, ElastiCache, ElasticSearch, RedShift</a:t>
            </a:r>
            <a:endParaRPr dirty="0">
              <a:solidFill>
                <a:schemeClr val="tx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tx1"/>
                </a:solidFill>
              </a:rPr>
              <a:t>Specific instance family/size/region(/az) (e.g. r5, db.r5)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636675" y="3057175"/>
            <a:ext cx="41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●"/>
            </a:pPr>
            <a:r>
              <a:rPr lang="en" dirty="0">
                <a:solidFill>
                  <a:schemeClr val="tx1"/>
                </a:solidFill>
              </a:rPr>
              <a:t>EC2, Fargate and Lambda</a:t>
            </a:r>
            <a:endParaRPr dirty="0">
              <a:solidFill>
                <a:schemeClr val="tx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●"/>
            </a:pPr>
            <a:r>
              <a:rPr lang="en" dirty="0">
                <a:solidFill>
                  <a:schemeClr val="tx1"/>
                </a:solidFill>
              </a:rPr>
              <a:t>Any family/type/region/tenancy/os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240238" y="2418250"/>
            <a:ext cx="102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3240238" y="3164875"/>
            <a:ext cx="102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Compute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40253" y="3797275"/>
            <a:ext cx="125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SageMaker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4197250" y="2317075"/>
            <a:ext cx="295200" cy="615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4241975" y="3057175"/>
            <a:ext cx="295200" cy="615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636675" y="2310550"/>
            <a:ext cx="41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EC2 specify family (e.g. r5, db.r5)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Any size/region/tenancy/os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1611425" y="4345925"/>
            <a:ext cx="632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https://console.aws.amazon.com/cost-management/home#/dashboard</a:t>
            </a:r>
            <a:r>
              <a:rPr lang="en"/>
              <a:t> </a:t>
            </a:r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RI - Flexibility Factor</a:t>
            </a:r>
            <a:endParaRPr sz="1911">
              <a:solidFill>
                <a:srgbClr val="4A86E8"/>
              </a:solidFill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650" y="1064325"/>
            <a:ext cx="200181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3092625" y="2571750"/>
            <a:ext cx="1350900" cy="79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4671425" y="1131225"/>
            <a:ext cx="31251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</a:rPr>
              <a:t>It means that:</a:t>
            </a:r>
            <a:endParaRPr sz="17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1 large   =  4  small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1 large   =  8  nano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1 xlarge  =  8  small</a:t>
            </a:r>
            <a:endParaRPr sz="170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1 2xlarge =  2  xlarge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And so on...</a:t>
            </a:r>
            <a:endParaRPr sz="1700"/>
          </a:p>
        </p:txBody>
      </p:sp>
      <p:sp>
        <p:nvSpPr>
          <p:cNvPr id="109" name="Google Shape;109;p18"/>
          <p:cNvSpPr/>
          <p:nvPr/>
        </p:nvSpPr>
        <p:spPr>
          <a:xfrm>
            <a:off x="726100" y="2787613"/>
            <a:ext cx="2058900" cy="3744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7544350" y="1619550"/>
            <a:ext cx="471900" cy="2523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3092625" y="4476175"/>
            <a:ext cx="585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https://aws.amazon.com/blogs/aws/new-instance-size-flexibility-for-ec2-reserved-instances/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AWS EC2 RI - Visibility and Coverage</a:t>
            </a:r>
            <a:endParaRPr sz="1911" dirty="0">
              <a:solidFill>
                <a:srgbClr val="4A86E8"/>
              </a:solidFill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3843775" y="117192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Root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sp>
        <p:nvSpPr>
          <p:cNvPr id="119" name="Google Shape;119;p19"/>
          <p:cNvSpPr/>
          <p:nvPr/>
        </p:nvSpPr>
        <p:spPr>
          <a:xfrm>
            <a:off x="3843775" y="261242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sp>
        <p:nvSpPr>
          <p:cNvPr id="120" name="Google Shape;120;p19"/>
          <p:cNvSpPr/>
          <p:nvPr/>
        </p:nvSpPr>
        <p:spPr>
          <a:xfrm>
            <a:off x="1914950" y="262062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sp>
        <p:nvSpPr>
          <p:cNvPr id="121" name="Google Shape;121;p19"/>
          <p:cNvSpPr/>
          <p:nvPr/>
        </p:nvSpPr>
        <p:spPr>
          <a:xfrm>
            <a:off x="5886525" y="262057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cxnSp>
        <p:nvCxnSpPr>
          <p:cNvPr id="122" name="Google Shape;122;p19"/>
          <p:cNvCxnSpPr>
            <a:stCxn id="118" idx="2"/>
            <a:endCxn id="120" idx="0"/>
          </p:cNvCxnSpPr>
          <p:nvPr/>
        </p:nvCxnSpPr>
        <p:spPr>
          <a:xfrm flipH="1">
            <a:off x="2529475" y="1953125"/>
            <a:ext cx="1928700" cy="66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9"/>
          <p:cNvCxnSpPr>
            <a:stCxn id="118" idx="2"/>
            <a:endCxn id="119" idx="0"/>
          </p:cNvCxnSpPr>
          <p:nvPr/>
        </p:nvCxnSpPr>
        <p:spPr>
          <a:xfrm>
            <a:off x="4458175" y="1953125"/>
            <a:ext cx="0" cy="65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9"/>
          <p:cNvCxnSpPr>
            <a:stCxn id="118" idx="2"/>
            <a:endCxn id="121" idx="0"/>
          </p:cNvCxnSpPr>
          <p:nvPr/>
        </p:nvCxnSpPr>
        <p:spPr>
          <a:xfrm>
            <a:off x="4458175" y="1953125"/>
            <a:ext cx="2042700" cy="66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" name="Google Shape;125;p19"/>
          <p:cNvSpPr txBox="1"/>
          <p:nvPr/>
        </p:nvSpPr>
        <p:spPr>
          <a:xfrm>
            <a:off x="1914950" y="3515450"/>
            <a:ext cx="13266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RDS:</a:t>
            </a:r>
            <a:br>
              <a:rPr lang="en" b="1"/>
            </a:br>
            <a:r>
              <a:rPr lang="en" sz="1050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db.t3.small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843775" y="3499100"/>
            <a:ext cx="14406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RDS:</a:t>
            </a:r>
            <a:br>
              <a:rPr lang="en" b="1" dirty="0"/>
            </a:br>
            <a:r>
              <a:rPr lang="en" sz="1050" b="1" dirty="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db.t3.xlarge</a:t>
            </a:r>
            <a:endParaRPr b="1" dirty="0">
              <a:solidFill>
                <a:srgbClr val="6AA84F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886525" y="3515425"/>
            <a:ext cx="15489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RDS:</a:t>
            </a:r>
            <a:br>
              <a:rPr lang="en" b="1" dirty="0"/>
            </a:br>
            <a:r>
              <a:rPr lang="en" sz="1050" b="1" dirty="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db.r5.2xlarge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db.r5.8xlarge</a:t>
            </a:r>
            <a:endParaRPr b="1" dirty="0">
              <a:solidFill>
                <a:srgbClr val="6AA84F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629125" y="1362413"/>
            <a:ext cx="31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Account ⇔ </a:t>
            </a:r>
            <a:r>
              <a:rPr lang="en">
                <a:solidFill>
                  <a:schemeClr val="dk1"/>
                </a:solidFill>
              </a:rPr>
              <a:t>Payment Account 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311700" y="2703375"/>
            <a:ext cx="151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</a:t>
            </a:r>
            <a:br>
              <a:rPr lang="en"/>
            </a:br>
            <a:r>
              <a:rPr lang="en"/>
              <a:t>Accounts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5247525" y="1196975"/>
            <a:ext cx="1599300" cy="731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RDS RI:</a:t>
            </a:r>
            <a:br>
              <a:rPr lang="en" b="1" dirty="0"/>
            </a:br>
            <a:r>
              <a:rPr lang="en" sz="1100" b="1" dirty="0"/>
              <a:t>1x </a:t>
            </a:r>
            <a:r>
              <a:rPr lang="en" sz="1050" b="1" dirty="0">
                <a:solidFill>
                  <a:srgbClr val="16191F"/>
                </a:solidFill>
                <a:latin typeface="Roboto"/>
                <a:ea typeface="Roboto"/>
                <a:cs typeface="Roboto"/>
                <a:sym typeface="Roboto"/>
              </a:rPr>
              <a:t>db.t3.xlarge</a:t>
            </a:r>
            <a:br>
              <a:rPr lang="en" sz="1050" b="1" dirty="0">
                <a:solidFill>
                  <a:srgbClr val="16191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50" b="1" dirty="0">
                <a:solidFill>
                  <a:srgbClr val="16191F"/>
                </a:solidFill>
                <a:latin typeface="Roboto"/>
                <a:ea typeface="Roboto"/>
                <a:cs typeface="Roboto"/>
                <a:sym typeface="Roboto"/>
              </a:rPr>
              <a:t>9 x db.r5.xlarge</a:t>
            </a:r>
            <a:endParaRPr b="1" dirty="0"/>
          </a:p>
        </p:txBody>
      </p:sp>
      <p:sp>
        <p:nvSpPr>
          <p:cNvPr id="131" name="Google Shape;131;p19"/>
          <p:cNvSpPr txBox="1"/>
          <p:nvPr/>
        </p:nvSpPr>
        <p:spPr>
          <a:xfrm>
            <a:off x="1971900" y="4352375"/>
            <a:ext cx="4728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Fully Covered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" sz="1350" b="1">
                <a:solidFill>
                  <a:schemeClr val="accent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Partially Covered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" sz="1350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 Covered! 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/ </a:t>
            </a:r>
            <a:r>
              <a:rPr lang="en" sz="1350" b="1">
                <a:solidFill>
                  <a:srgbClr val="9900F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Unused!</a:t>
            </a:r>
            <a:endParaRPr sz="1700" b="1">
              <a:solidFill>
                <a:srgbClr val="9900FF"/>
              </a:solidFill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7213125" y="2722075"/>
            <a:ext cx="1548900" cy="561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RDS RI:</a:t>
            </a:r>
            <a:br>
              <a:rPr lang="en" b="1" dirty="0"/>
            </a:br>
            <a:r>
              <a:rPr lang="en" sz="1050" b="1" dirty="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 x db.t3.small</a:t>
            </a:r>
            <a:endParaRPr b="1" dirty="0">
              <a:solidFill>
                <a:srgbClr val="9900FF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3249563" y="2764925"/>
            <a:ext cx="48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...</a:t>
            </a:r>
            <a:endParaRPr sz="2000"/>
          </a:p>
        </p:txBody>
      </p:sp>
      <p:sp>
        <p:nvSpPr>
          <p:cNvPr id="134" name="Google Shape;134;p19"/>
          <p:cNvSpPr txBox="1"/>
          <p:nvPr/>
        </p:nvSpPr>
        <p:spPr>
          <a:xfrm>
            <a:off x="5235338" y="2764925"/>
            <a:ext cx="48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...</a:t>
            </a:r>
            <a:endParaRPr sz="2000"/>
          </a:p>
        </p:txBody>
      </p:sp>
      <p:sp>
        <p:nvSpPr>
          <p:cNvPr id="135" name="Google Shape;135;p19"/>
          <p:cNvSpPr txBox="1"/>
          <p:nvPr/>
        </p:nvSpPr>
        <p:spPr>
          <a:xfrm>
            <a:off x="7249650" y="864275"/>
            <a:ext cx="1548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/>
              <a:t>1. Reservations are only visible (Cost Explorer) and applicable (Coverage) in purchasing account!</a:t>
            </a:r>
            <a:endParaRPr sz="900" i="1"/>
          </a:p>
        </p:txBody>
      </p:sp>
      <p:sp>
        <p:nvSpPr>
          <p:cNvPr id="136" name="Google Shape;136;p19"/>
          <p:cNvSpPr txBox="1"/>
          <p:nvPr/>
        </p:nvSpPr>
        <p:spPr>
          <a:xfrm>
            <a:off x="7249650" y="1635825"/>
            <a:ext cx="154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/>
              <a:t>2. Recommendations,</a:t>
            </a:r>
            <a:endParaRPr sz="9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/>
              <a:t>Purchase Granularity,</a:t>
            </a:r>
            <a:endParaRPr sz="9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chemeClr val="dk1"/>
                </a:solidFill>
              </a:rPr>
              <a:t>Avoid Fragmentations</a:t>
            </a:r>
            <a:endParaRPr sz="900" i="1"/>
          </a:p>
        </p:txBody>
      </p:sp>
      <p:sp>
        <p:nvSpPr>
          <p:cNvPr id="137" name="Google Shape;137;p19"/>
          <p:cNvSpPr/>
          <p:nvPr/>
        </p:nvSpPr>
        <p:spPr>
          <a:xfrm>
            <a:off x="6956550" y="777275"/>
            <a:ext cx="293100" cy="15705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944050" y="4638925"/>
            <a:ext cx="752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https://docs.aws.amazon.com/AWSEC2/latest/UserGuide/ec2-reserved-instances.html</a:t>
            </a:r>
            <a:r>
              <a:rPr lang="en"/>
              <a:t> 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AWS EC2 Saving Plans - Visibility and Coverage</a:t>
            </a:r>
            <a:endParaRPr sz="1911" dirty="0">
              <a:solidFill>
                <a:srgbClr val="4A86E8"/>
              </a:solidFill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3843775" y="117192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Root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sp>
        <p:nvSpPr>
          <p:cNvPr id="146" name="Google Shape;146;p20"/>
          <p:cNvSpPr/>
          <p:nvPr/>
        </p:nvSpPr>
        <p:spPr>
          <a:xfrm>
            <a:off x="3843775" y="261242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sp>
        <p:nvSpPr>
          <p:cNvPr id="147" name="Google Shape;147;p20"/>
          <p:cNvSpPr/>
          <p:nvPr/>
        </p:nvSpPr>
        <p:spPr>
          <a:xfrm>
            <a:off x="1914950" y="262062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sp>
        <p:nvSpPr>
          <p:cNvPr id="148" name="Google Shape;148;p20"/>
          <p:cNvSpPr/>
          <p:nvPr/>
        </p:nvSpPr>
        <p:spPr>
          <a:xfrm>
            <a:off x="5886525" y="2620575"/>
            <a:ext cx="1228800" cy="7812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</a:t>
            </a:r>
            <a:br>
              <a:rPr lang="en" dirty="0"/>
            </a:br>
            <a:r>
              <a:rPr lang="en" dirty="0"/>
              <a:t>Account</a:t>
            </a:r>
            <a:endParaRPr dirty="0"/>
          </a:p>
        </p:txBody>
      </p:sp>
      <p:cxnSp>
        <p:nvCxnSpPr>
          <p:cNvPr id="149" name="Google Shape;149;p20"/>
          <p:cNvCxnSpPr>
            <a:stCxn id="145" idx="2"/>
            <a:endCxn id="147" idx="0"/>
          </p:cNvCxnSpPr>
          <p:nvPr/>
        </p:nvCxnSpPr>
        <p:spPr>
          <a:xfrm flipH="1">
            <a:off x="2529475" y="1953125"/>
            <a:ext cx="1928700" cy="66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>
            <a:stCxn id="145" idx="2"/>
            <a:endCxn id="146" idx="0"/>
          </p:cNvCxnSpPr>
          <p:nvPr/>
        </p:nvCxnSpPr>
        <p:spPr>
          <a:xfrm>
            <a:off x="4458175" y="1953125"/>
            <a:ext cx="0" cy="65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>
            <a:stCxn id="145" idx="2"/>
            <a:endCxn id="148" idx="0"/>
          </p:cNvCxnSpPr>
          <p:nvPr/>
        </p:nvCxnSpPr>
        <p:spPr>
          <a:xfrm>
            <a:off x="4458175" y="1953125"/>
            <a:ext cx="2042700" cy="66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" name="Google Shape;152;p20"/>
          <p:cNvSpPr txBox="1"/>
          <p:nvPr/>
        </p:nvSpPr>
        <p:spPr>
          <a:xfrm>
            <a:off x="1914950" y="3434750"/>
            <a:ext cx="13266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EC2:</a:t>
            </a:r>
            <a:br>
              <a:rPr lang="en" b="1"/>
            </a:br>
            <a:r>
              <a:rPr lang="en" sz="1050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1 $/hr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3843775" y="3434750"/>
            <a:ext cx="14406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EC2:</a:t>
            </a:r>
            <a:br>
              <a:rPr lang="en" b="1" dirty="0"/>
            </a:br>
            <a:r>
              <a:rPr lang="en" sz="1050" b="1" dirty="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2 $/hr</a:t>
            </a:r>
            <a:endParaRPr b="1" dirty="0">
              <a:solidFill>
                <a:srgbClr val="6AA84F"/>
              </a:solidFill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5886600" y="3434750"/>
            <a:ext cx="1548900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EC2:</a:t>
            </a:r>
            <a:br>
              <a:rPr lang="en" b="1" dirty="0"/>
            </a:br>
            <a:r>
              <a:rPr lang="en" sz="1050" b="1" dirty="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3 $/hr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2 $/hr</a:t>
            </a:r>
            <a:endParaRPr b="1" dirty="0">
              <a:solidFill>
                <a:srgbClr val="6AA84F"/>
              </a:solidFill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629125" y="1362413"/>
            <a:ext cx="310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Account ⇔ </a:t>
            </a:r>
            <a:r>
              <a:rPr lang="en">
                <a:solidFill>
                  <a:schemeClr val="dk1"/>
                </a:solidFill>
              </a:rPr>
              <a:t>Payment Account 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311700" y="2703375"/>
            <a:ext cx="151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</a:t>
            </a:r>
            <a:br>
              <a:rPr lang="en"/>
            </a:br>
            <a:r>
              <a:rPr lang="en"/>
              <a:t>Accounts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5247525" y="1196975"/>
            <a:ext cx="1599300" cy="7386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EC2 SP:</a:t>
            </a:r>
            <a:br>
              <a:rPr lang="en" b="1" dirty="0"/>
            </a:br>
            <a:r>
              <a:rPr lang="en" sz="1100" dirty="0">
                <a:solidFill>
                  <a:schemeClr val="dk1"/>
                </a:solidFill>
              </a:rPr>
              <a:t>2 $/hr (1</a:t>
            </a:r>
            <a:r>
              <a:rPr lang="en" sz="1100" baseline="30000" dirty="0">
                <a:solidFill>
                  <a:schemeClr val="dk1"/>
                </a:solidFill>
              </a:rPr>
              <a:t>st</a:t>
            </a:r>
            <a:r>
              <a:rPr lang="en" sz="1100" dirty="0">
                <a:solidFill>
                  <a:schemeClr val="dk1"/>
                </a:solidFill>
              </a:rPr>
              <a:t>)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3 $/hr (2</a:t>
            </a:r>
            <a:r>
              <a:rPr lang="en" sz="1100" baseline="30000" dirty="0">
                <a:solidFill>
                  <a:schemeClr val="dk1"/>
                </a:solidFill>
              </a:rPr>
              <a:t>nd</a:t>
            </a:r>
            <a:r>
              <a:rPr lang="en" sz="1100" dirty="0">
                <a:solidFill>
                  <a:schemeClr val="dk1"/>
                </a:solidFill>
              </a:rPr>
              <a:t>)</a:t>
            </a:r>
            <a:endParaRPr sz="1100" dirty="0"/>
          </a:p>
        </p:txBody>
      </p:sp>
      <p:sp>
        <p:nvSpPr>
          <p:cNvPr id="158" name="Google Shape;158;p20"/>
          <p:cNvSpPr txBox="1"/>
          <p:nvPr/>
        </p:nvSpPr>
        <p:spPr>
          <a:xfrm>
            <a:off x="1980125" y="4191025"/>
            <a:ext cx="4728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Fully Covered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" sz="1350" b="1">
                <a:solidFill>
                  <a:schemeClr val="accent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Partially Covered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" sz="1350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 Covered! 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/ </a:t>
            </a:r>
            <a:r>
              <a:rPr lang="en" sz="1350" b="1">
                <a:solidFill>
                  <a:srgbClr val="9900F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Unused!</a:t>
            </a:r>
            <a:endParaRPr sz="1700" b="1">
              <a:solidFill>
                <a:srgbClr val="9900FF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7213125" y="2722075"/>
            <a:ext cx="1548900" cy="5619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EC2 SP:</a:t>
            </a:r>
            <a:br>
              <a:rPr lang="en" b="1" dirty="0"/>
            </a:br>
            <a:r>
              <a:rPr lang="en" sz="1050" b="1" dirty="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1 $/hr (3</a:t>
            </a:r>
            <a:r>
              <a:rPr lang="en" sz="1050" b="1" baseline="30000" dirty="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rd</a:t>
            </a:r>
            <a:r>
              <a:rPr lang="en" sz="1050" b="1" dirty="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1" dirty="0">
              <a:solidFill>
                <a:srgbClr val="9900FF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249563" y="2764925"/>
            <a:ext cx="48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...</a:t>
            </a:r>
            <a:endParaRPr sz="2000"/>
          </a:p>
        </p:txBody>
      </p:sp>
      <p:sp>
        <p:nvSpPr>
          <p:cNvPr id="161" name="Google Shape;161;p20"/>
          <p:cNvSpPr txBox="1"/>
          <p:nvPr/>
        </p:nvSpPr>
        <p:spPr>
          <a:xfrm>
            <a:off x="5235338" y="2764925"/>
            <a:ext cx="48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...</a:t>
            </a:r>
            <a:endParaRPr sz="2000"/>
          </a:p>
        </p:txBody>
      </p:sp>
      <p:sp>
        <p:nvSpPr>
          <p:cNvPr id="162" name="Google Shape;162;p20"/>
          <p:cNvSpPr txBox="1"/>
          <p:nvPr/>
        </p:nvSpPr>
        <p:spPr>
          <a:xfrm>
            <a:off x="7249650" y="968475"/>
            <a:ext cx="1548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 dirty="0"/>
              <a:t>1. Saving Plans are only </a:t>
            </a:r>
            <a:r>
              <a:rPr lang="en" sz="900" i="1" strike="sngStrike" dirty="0"/>
              <a:t>visible (Cost Explorer) and </a:t>
            </a:r>
            <a:r>
              <a:rPr lang="en" sz="900" i="1" dirty="0"/>
              <a:t>applicable (Coverage) in purchasing account!</a:t>
            </a:r>
            <a:endParaRPr sz="900" i="1" dirty="0"/>
          </a:p>
        </p:txBody>
      </p:sp>
      <p:sp>
        <p:nvSpPr>
          <p:cNvPr id="163" name="Google Shape;163;p20"/>
          <p:cNvSpPr txBox="1"/>
          <p:nvPr/>
        </p:nvSpPr>
        <p:spPr>
          <a:xfrm>
            <a:off x="7249650" y="1635825"/>
            <a:ext cx="154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/>
              <a:t>2. Recommendations,</a:t>
            </a:r>
            <a:endParaRPr sz="9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 strike="sngStrike"/>
              <a:t>Purchase Granularity,</a:t>
            </a:r>
            <a:endParaRPr sz="900" i="1" strike="sngStrik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 strike="sngStrike">
                <a:solidFill>
                  <a:schemeClr val="dk1"/>
                </a:solidFill>
              </a:rPr>
              <a:t>Avoid Fragmentations</a:t>
            </a:r>
            <a:endParaRPr sz="900" i="1" strike="sngStrike"/>
          </a:p>
        </p:txBody>
      </p:sp>
      <p:sp>
        <p:nvSpPr>
          <p:cNvPr id="164" name="Google Shape;164;p20"/>
          <p:cNvSpPr/>
          <p:nvPr/>
        </p:nvSpPr>
        <p:spPr>
          <a:xfrm>
            <a:off x="6956550" y="968475"/>
            <a:ext cx="293100" cy="1379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790325" y="4565675"/>
            <a:ext cx="525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https://docs.aws.amazon.com/savingsplans/latest/userguide/sp-applying.html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Spot Risk - Scenario A</a:t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2739225" y="15870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2739225" y="21322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2739225" y="26774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3322950" y="15870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3322950" y="21322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3322950" y="26774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3903729" y="15870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3903729" y="21322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3903729" y="26774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4590075" y="2048250"/>
            <a:ext cx="157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 On-Demand</a:t>
            </a:r>
            <a:br>
              <a:rPr lang="en"/>
            </a:br>
            <a:r>
              <a:rPr lang="en"/>
              <a:t>70% Spot</a:t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2588025" y="1399825"/>
            <a:ext cx="1983900" cy="1863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2588025" y="3364450"/>
            <a:ext cx="215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Daily/Stable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Spikes on Spot</a:t>
            </a:r>
            <a:endParaRPr/>
          </a:p>
        </p:txBody>
      </p:sp>
      <p:sp>
        <p:nvSpPr>
          <p:cNvPr id="216" name="Google Shape;21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Spot Risk - Event A</a:t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2006775" y="12045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2006775" y="17497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24" name="Google Shape;224;p26"/>
          <p:cNvSpPr/>
          <p:nvPr/>
        </p:nvSpPr>
        <p:spPr>
          <a:xfrm>
            <a:off x="2006775" y="2294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2590500" y="12045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2590500" y="17497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2590500" y="2294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3171279" y="12045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3171279" y="17497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30" name="Google Shape;230;p26"/>
          <p:cNvSpPr/>
          <p:nvPr/>
        </p:nvSpPr>
        <p:spPr>
          <a:xfrm>
            <a:off x="3171279" y="2294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219750" y="1679375"/>
            <a:ext cx="157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 On-Demand</a:t>
            </a:r>
            <a:br>
              <a:rPr lang="en"/>
            </a:br>
            <a:r>
              <a:rPr lang="en"/>
              <a:t>70% Spot</a:t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5406425" y="12045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>
            <a:off x="5406425" y="17497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5406425" y="2294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5406425" y="35481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36" name="Google Shape;236;p26"/>
          <p:cNvSpPr/>
          <p:nvPr/>
        </p:nvSpPr>
        <p:spPr>
          <a:xfrm>
            <a:off x="5406425" y="30029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37" name="Google Shape;237;p26"/>
          <p:cNvSpPr/>
          <p:nvPr/>
        </p:nvSpPr>
        <p:spPr>
          <a:xfrm>
            <a:off x="6570925" y="30029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38" name="Google Shape;238;p26"/>
          <p:cNvSpPr/>
          <p:nvPr/>
        </p:nvSpPr>
        <p:spPr>
          <a:xfrm>
            <a:off x="6570929" y="12045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6570929" y="17497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6570929" y="2294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7261500" y="1679375"/>
            <a:ext cx="1715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22% On-Demand</a:t>
            </a:r>
            <a:br>
              <a:rPr lang="en" b="1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44% Spot</a:t>
            </a:r>
            <a:br>
              <a:rPr lang="en" b="1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---</a:t>
            </a:r>
            <a:br>
              <a:rPr lang="en" b="1">
                <a:solidFill>
                  <a:srgbClr val="6AA84F"/>
                </a:solidFill>
              </a:rPr>
            </a:br>
            <a:r>
              <a:rPr lang="en" b="1">
                <a:solidFill>
                  <a:srgbClr val="6AA84F"/>
                </a:solidFill>
              </a:rPr>
              <a:t>66% Alive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7261500" y="3190900"/>
            <a:ext cx="157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~ 34% Unknown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3976725" y="1624650"/>
            <a:ext cx="1098600" cy="57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4" name="Google Shape;244;p26"/>
          <p:cNvCxnSpPr/>
          <p:nvPr/>
        </p:nvCxnSpPr>
        <p:spPr>
          <a:xfrm rot="10800000" flipH="1">
            <a:off x="5328450" y="2868713"/>
            <a:ext cx="165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5" name="Google Shape;245;p26"/>
          <p:cNvSpPr txBox="1"/>
          <p:nvPr/>
        </p:nvSpPr>
        <p:spPr>
          <a:xfrm>
            <a:off x="3922725" y="2318675"/>
            <a:ext cx="109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AZ B Down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7357200" y="3591100"/>
            <a:ext cx="1475100" cy="492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AWS Service Priority:</a:t>
            </a:r>
            <a:br>
              <a:rPr lang="en" sz="1000"/>
            </a:br>
            <a:r>
              <a:rPr lang="en" sz="1000"/>
              <a:t>On-Demand &gt; Spot</a:t>
            </a:r>
            <a:endParaRPr sz="1000"/>
          </a:p>
        </p:txBody>
      </p:sp>
      <p:sp>
        <p:nvSpPr>
          <p:cNvPr id="247" name="Google Shape;2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Spot Risk - Event B</a:t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1993925" y="11423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1993925" y="1735313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1993925" y="230900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56" name="Google Shape;256;p27"/>
          <p:cNvSpPr/>
          <p:nvPr/>
        </p:nvSpPr>
        <p:spPr>
          <a:xfrm>
            <a:off x="1993925" y="356220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57" name="Google Shape;257;p27"/>
          <p:cNvSpPr/>
          <p:nvPr/>
        </p:nvSpPr>
        <p:spPr>
          <a:xfrm>
            <a:off x="1993925" y="3016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58" name="Google Shape;258;p27"/>
          <p:cNvSpPr/>
          <p:nvPr/>
        </p:nvSpPr>
        <p:spPr>
          <a:xfrm>
            <a:off x="3158425" y="3016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59" name="Google Shape;259;p27"/>
          <p:cNvSpPr/>
          <p:nvPr/>
        </p:nvSpPr>
        <p:spPr>
          <a:xfrm>
            <a:off x="3158429" y="11423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3158429" y="1735313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3158429" y="230900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219250" y="1568500"/>
            <a:ext cx="157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22% On-Demand</a:t>
            </a:r>
            <a:br>
              <a:rPr lang="en"/>
            </a:br>
            <a:r>
              <a:rPr lang="en"/>
              <a:t>44% Spot</a:t>
            </a:r>
            <a:endParaRPr/>
          </a:p>
        </p:txBody>
      </p:sp>
      <p:cxnSp>
        <p:nvCxnSpPr>
          <p:cNvPr id="263" name="Google Shape;263;p27"/>
          <p:cNvCxnSpPr/>
          <p:nvPr/>
        </p:nvCxnSpPr>
        <p:spPr>
          <a:xfrm rot="10800000" flipH="1">
            <a:off x="1947300" y="2864588"/>
            <a:ext cx="1723200" cy="1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p27"/>
          <p:cNvSpPr txBox="1"/>
          <p:nvPr/>
        </p:nvSpPr>
        <p:spPr>
          <a:xfrm>
            <a:off x="219250" y="3213075"/>
            <a:ext cx="157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~ 30% Unknown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5589400" y="11380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5589400" y="1730988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5589400" y="243110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(A)</a:t>
            </a:r>
            <a:endParaRPr sz="1200"/>
          </a:p>
        </p:txBody>
      </p:sp>
      <p:sp>
        <p:nvSpPr>
          <p:cNvPr id="268" name="Google Shape;268;p27"/>
          <p:cNvSpPr/>
          <p:nvPr/>
        </p:nvSpPr>
        <p:spPr>
          <a:xfrm>
            <a:off x="5589400" y="35578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69" name="Google Shape;269;p27"/>
          <p:cNvSpPr/>
          <p:nvPr/>
        </p:nvSpPr>
        <p:spPr>
          <a:xfrm>
            <a:off x="5589400" y="30126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70" name="Google Shape;270;p27"/>
          <p:cNvSpPr/>
          <p:nvPr/>
        </p:nvSpPr>
        <p:spPr>
          <a:xfrm>
            <a:off x="6753900" y="30126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71" name="Google Shape;271;p27"/>
          <p:cNvSpPr/>
          <p:nvPr/>
        </p:nvSpPr>
        <p:spPr>
          <a:xfrm>
            <a:off x="6753904" y="11380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6753904" y="1730988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6753904" y="243110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(C)</a:t>
            </a:r>
            <a:endParaRPr sz="1200"/>
          </a:p>
        </p:txBody>
      </p:sp>
      <p:sp>
        <p:nvSpPr>
          <p:cNvPr id="274" name="Google Shape;274;p27"/>
          <p:cNvSpPr txBox="1"/>
          <p:nvPr/>
        </p:nvSpPr>
        <p:spPr>
          <a:xfrm>
            <a:off x="7468900" y="1267425"/>
            <a:ext cx="15708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22% On-Demand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 b="1">
                <a:solidFill>
                  <a:schemeClr val="dk1"/>
                </a:solidFill>
              </a:rPr>
              <a:t>22% Spot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 b="1">
                <a:solidFill>
                  <a:schemeClr val="dk1"/>
                </a:solidFill>
              </a:rPr>
              <a:t>---</a:t>
            </a:r>
            <a:br>
              <a:rPr lang="en" sz="1300" b="1">
                <a:solidFill>
                  <a:srgbClr val="FF0000"/>
                </a:solidFill>
              </a:rPr>
            </a:br>
            <a:r>
              <a:rPr lang="en" sz="1300" b="1">
                <a:solidFill>
                  <a:srgbClr val="FF0000"/>
                </a:solidFill>
              </a:rPr>
              <a:t>44% Alive</a:t>
            </a:r>
            <a:endParaRPr sz="1300" b="1">
              <a:solidFill>
                <a:srgbClr val="FF0000"/>
              </a:solidFill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7468900" y="3036350"/>
            <a:ext cx="157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~ 66% Unknown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76" name="Google Shape;276;p27"/>
          <p:cNvCxnSpPr/>
          <p:nvPr/>
        </p:nvCxnSpPr>
        <p:spPr>
          <a:xfrm rot="10800000" flipH="1">
            <a:off x="5542275" y="2311438"/>
            <a:ext cx="1733400" cy="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27"/>
          <p:cNvSpPr txBox="1"/>
          <p:nvPr/>
        </p:nvSpPr>
        <p:spPr>
          <a:xfrm>
            <a:off x="4022450" y="2182925"/>
            <a:ext cx="1098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2x Spots</a:t>
            </a:r>
            <a:br>
              <a:rPr lang="en">
                <a:solidFill>
                  <a:srgbClr val="FF0000"/>
                </a:solidFill>
              </a:rPr>
            </a:br>
            <a:r>
              <a:rPr lang="en">
                <a:solidFill>
                  <a:srgbClr val="FF0000"/>
                </a:solidFill>
              </a:rPr>
              <a:t>Terminated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4046013" y="1589950"/>
            <a:ext cx="1098600" cy="57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0000"/>
              </a:highlight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7516750" y="3464575"/>
            <a:ext cx="1475100" cy="492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AWS Service Priority:</a:t>
            </a:r>
            <a:br>
              <a:rPr lang="en" sz="1000"/>
            </a:br>
            <a:r>
              <a:rPr lang="en" sz="1000"/>
              <a:t>On-Demand &gt; Spot</a:t>
            </a:r>
            <a:endParaRPr sz="1000"/>
          </a:p>
        </p:txBody>
      </p:sp>
      <p:sp>
        <p:nvSpPr>
          <p:cNvPr id="280" name="Google Shape;28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Spot Risk - Same Outcome...</a:t>
            </a:r>
            <a:endParaRPr/>
          </a:p>
        </p:txBody>
      </p:sp>
      <p:sp>
        <p:nvSpPr>
          <p:cNvPr id="286" name="Google Shape;286;p28"/>
          <p:cNvSpPr/>
          <p:nvPr/>
        </p:nvSpPr>
        <p:spPr>
          <a:xfrm>
            <a:off x="2870413" y="12031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87" name="Google Shape;287;p28"/>
          <p:cNvSpPr/>
          <p:nvPr/>
        </p:nvSpPr>
        <p:spPr>
          <a:xfrm>
            <a:off x="2870413" y="1796088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2870413" y="249620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(A)</a:t>
            </a:r>
            <a:endParaRPr sz="1200"/>
          </a:p>
        </p:txBody>
      </p:sp>
      <p:sp>
        <p:nvSpPr>
          <p:cNvPr id="289" name="Google Shape;289;p28"/>
          <p:cNvSpPr/>
          <p:nvPr/>
        </p:nvSpPr>
        <p:spPr>
          <a:xfrm>
            <a:off x="2870413" y="362297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90" name="Google Shape;290;p28"/>
          <p:cNvSpPr/>
          <p:nvPr/>
        </p:nvSpPr>
        <p:spPr>
          <a:xfrm>
            <a:off x="2870413" y="30777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91" name="Google Shape;291;p28"/>
          <p:cNvSpPr/>
          <p:nvPr/>
        </p:nvSpPr>
        <p:spPr>
          <a:xfrm>
            <a:off x="4034913" y="307775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(B)</a:t>
            </a:r>
            <a:endParaRPr sz="1200"/>
          </a:p>
        </p:txBody>
      </p:sp>
      <p:sp>
        <p:nvSpPr>
          <p:cNvPr id="292" name="Google Shape;292;p28"/>
          <p:cNvSpPr/>
          <p:nvPr/>
        </p:nvSpPr>
        <p:spPr>
          <a:xfrm>
            <a:off x="4034916" y="1203125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4034916" y="1796088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4034916" y="2496200"/>
            <a:ext cx="442800" cy="447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(C)</a:t>
            </a:r>
            <a:endParaRPr sz="1200"/>
          </a:p>
        </p:txBody>
      </p:sp>
      <p:sp>
        <p:nvSpPr>
          <p:cNvPr id="295" name="Google Shape;295;p28"/>
          <p:cNvSpPr txBox="1"/>
          <p:nvPr/>
        </p:nvSpPr>
        <p:spPr>
          <a:xfrm>
            <a:off x="4749913" y="1332525"/>
            <a:ext cx="15708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22% On-Demand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 b="1">
                <a:solidFill>
                  <a:schemeClr val="dk1"/>
                </a:solidFill>
              </a:rPr>
              <a:t>22% Spot</a:t>
            </a:r>
            <a:br>
              <a:rPr lang="en" sz="1300" b="1">
                <a:solidFill>
                  <a:schemeClr val="dk1"/>
                </a:solidFill>
              </a:rPr>
            </a:br>
            <a:r>
              <a:rPr lang="en" sz="1300" b="1">
                <a:solidFill>
                  <a:schemeClr val="dk1"/>
                </a:solidFill>
              </a:rPr>
              <a:t>---</a:t>
            </a:r>
            <a:br>
              <a:rPr lang="en" sz="1300" b="1">
                <a:solidFill>
                  <a:srgbClr val="FF0000"/>
                </a:solidFill>
              </a:rPr>
            </a:br>
            <a:r>
              <a:rPr lang="en" sz="1300" b="1">
                <a:solidFill>
                  <a:srgbClr val="FF0000"/>
                </a:solidFill>
              </a:rPr>
              <a:t>44% Alive</a:t>
            </a:r>
            <a:endParaRPr sz="1300" b="1">
              <a:solidFill>
                <a:srgbClr val="FF0000"/>
              </a:solidFill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4749913" y="3101450"/>
            <a:ext cx="157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~ 66% Unknown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97" name="Google Shape;297;p28"/>
          <p:cNvCxnSpPr/>
          <p:nvPr/>
        </p:nvCxnSpPr>
        <p:spPr>
          <a:xfrm rot="10800000" flipH="1">
            <a:off x="2823288" y="2376538"/>
            <a:ext cx="1733400" cy="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8"/>
          <p:cNvSpPr txBox="1"/>
          <p:nvPr/>
        </p:nvSpPr>
        <p:spPr>
          <a:xfrm>
            <a:off x="1827975" y="4285375"/>
            <a:ext cx="5114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Events: </a:t>
            </a:r>
            <a:r>
              <a:rPr lang="en" sz="1900">
                <a:solidFill>
                  <a:srgbClr val="FF0000"/>
                </a:solidFill>
              </a:rPr>
              <a:t>A=&gt;B ⇔ B=&gt;A</a:t>
            </a:r>
            <a:r>
              <a:rPr lang="en" sz="1900">
                <a:solidFill>
                  <a:schemeClr val="dk1"/>
                </a:solidFill>
              </a:rPr>
              <a:t> ⇒ ~66% Unknown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99" name="Google Shape;29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Spot Recommendations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496450" y="1220775"/>
            <a:ext cx="8073300" cy="3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SzPts val="1600"/>
              <a:buChar char="●"/>
            </a:pPr>
            <a:r>
              <a:rPr lang="en" b="1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Production: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User facing applications:</a:t>
            </a:r>
            <a:r>
              <a:rPr lang="en" b="1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&gt;= 60% on-demand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b="1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Other:</a:t>
            </a:r>
            <a:r>
              <a:rPr lang="en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&gt;= 30% on-demand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Non-Production: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b="1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Any: 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100 % spot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Char char="●"/>
            </a:pPr>
            <a:r>
              <a:rPr lang="en" b="1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All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be prepared for: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Char char="○"/>
            </a:pP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Test killing all your EC2 Spot in one AZ.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Char char="○"/>
            </a:pP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Test killing/rebooting all your EC2 Spot/On-Demand in one AZ.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Spot When to Use Them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486775" y="1309963"/>
            <a:ext cx="80733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200">
                <a:solidFill>
                  <a:srgbClr val="1619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You can use Spot Instances for various fault-tolerant and flexible applications. Examples include stateless web servers, API endpoints, big data and analytics applications, containerized workloads, CI/CD high performance and high throughput computing (HPC/HTC), rendering workloads, and other flexible workloads.</a:t>
            </a:r>
            <a:endParaRPr sz="1200">
              <a:solidFill>
                <a:srgbClr val="1619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Spot Instances are not suitable for workloads that are inflexible, stateful, fault-intolerant, or tightly coupled between instance nodes. </a:t>
            </a:r>
            <a:r>
              <a:rPr lang="en" sz="1200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Spot Instances are also not recommended for workloads that are intolerant of occasional periods when the target capacity is not completely available.</a:t>
            </a:r>
            <a:r>
              <a:rPr lang="en" sz="1200">
                <a:solidFill>
                  <a:srgbClr val="1619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strongly warn against using Spot Instances for these workloads or for attempting to fail-over to On-Demand Instances to handle interruptions.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676800" y="3742400"/>
            <a:ext cx="7795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https://docs.aws.amazon.com/whitepapers/latest/cost-optimization-leveraging-ec2-spot-instances/when-to-use-spot-instances.html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Lifecycle</a:t>
            </a:r>
            <a:endParaRPr/>
          </a:p>
        </p:txBody>
      </p:sp>
      <p:pic>
        <p:nvPicPr>
          <p:cNvPr id="320" name="Google Shape;3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400" y="1017725"/>
            <a:ext cx="552825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AWS EC2 Lifecycle (Kubernetes)</a:t>
            </a:r>
            <a:endParaRPr dirty="0"/>
          </a:p>
        </p:txBody>
      </p:sp>
      <p:sp>
        <p:nvSpPr>
          <p:cNvPr id="327" name="Google Shape;327;p32"/>
          <p:cNvSpPr txBox="1"/>
          <p:nvPr/>
        </p:nvSpPr>
        <p:spPr>
          <a:xfrm>
            <a:off x="348300" y="1017725"/>
            <a:ext cx="8278500" cy="6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6200" marR="76200" lvl="0" indent="0" algn="l" rtl="0">
              <a:lnSpc>
                <a:spcPct val="150001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nodes -o custom-columns=NAME:.metadata.name,ACC:.metadata.labels.application,TYPE:.metadata.labels.node_type,LIFECYCLE:".metadata.labels.aws\.io/lifecycle" --sort-by .metadata.labels.application</a:t>
            </a:r>
            <a:endParaRPr sz="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" name="Google Shape;329;p32"/>
          <p:cNvSpPr txBox="1"/>
          <p:nvPr/>
        </p:nvSpPr>
        <p:spPr>
          <a:xfrm>
            <a:off x="2722790" y="1867446"/>
            <a:ext cx="319033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Lifecycle Normal </a:t>
            </a:r>
            <a:r>
              <a:rPr lang="en" b="1" dirty="0">
                <a:sym typeface="Wingdings" panose="05000000000000000000" pitchFamily="2" charset="2"/>
              </a:rPr>
              <a:t></a:t>
            </a:r>
            <a:r>
              <a:rPr lang="en" b="1" dirty="0"/>
              <a:t> On-Demand</a:t>
            </a:r>
            <a:endParaRPr b="1" dirty="0"/>
          </a:p>
        </p:txBody>
      </p:sp>
      <p:sp>
        <p:nvSpPr>
          <p:cNvPr id="330" name="Google Shape;33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</Words>
  <Application>Microsoft Office PowerPoint</Application>
  <PresentationFormat>On-screen Show (16:9)</PresentationFormat>
  <Paragraphs>192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Impact</vt:lpstr>
      <vt:lpstr>Courier New</vt:lpstr>
      <vt:lpstr>Arial</vt:lpstr>
      <vt:lpstr>Roboto</vt:lpstr>
      <vt:lpstr>Simple Light</vt:lpstr>
      <vt:lpstr>PowerPoint Presentation</vt:lpstr>
      <vt:lpstr>AWS EC2 Instance Characteristics</vt:lpstr>
      <vt:lpstr>AWS EC2 Purchase Options</vt:lpstr>
      <vt:lpstr>PowerPoint Presentation</vt:lpstr>
      <vt:lpstr>AWS EC2 RI vs. Savings Plans</vt:lpstr>
      <vt:lpstr>AWS EC2 RI - Flexibility Factor</vt:lpstr>
      <vt:lpstr>AWS EC2 RI - Visibility and Coverage</vt:lpstr>
      <vt:lpstr>AWS EC2 Saving Plans - Visibility and Coverage</vt:lpstr>
      <vt:lpstr>AWS EC2 Spot Risk - Scenario A</vt:lpstr>
      <vt:lpstr>AWS EC2 Spot Risk - Event A</vt:lpstr>
      <vt:lpstr>AWS EC2 Spot Risk - Event B</vt:lpstr>
      <vt:lpstr>AWS EC2 Spot Risk - Same Outcome...</vt:lpstr>
      <vt:lpstr>AWS EC2 Spot Recommendations</vt:lpstr>
      <vt:lpstr>AWS EC2 Spot When to Use Them</vt:lpstr>
      <vt:lpstr>AWS EC2 Lifecycle</vt:lpstr>
      <vt:lpstr>AWS EC2 Lifecycle (Kubernetes)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Olaf Reitmaier</cp:lastModifiedBy>
  <cp:revision>5</cp:revision>
  <dcterms:modified xsi:type="dcterms:W3CDTF">2023-11-04T17:05:34Z</dcterms:modified>
</cp:coreProperties>
</file>