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mpact" panose="020B0806030902050204" pitchFamily="34" charset="0"/>
      <p:regular r:id="rId20"/>
    </p:embeddedFont>
    <p:embeddedFont>
      <p:font typeface="Lobster" panose="00000500000000000000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758" autoAdjust="0"/>
  </p:normalViewPr>
  <p:slideViewPr>
    <p:cSldViewPr snapToGrid="0">
      <p:cViewPr varScale="1">
        <p:scale>
          <a:sx n="101" d="100"/>
          <a:sy n="101" d="100"/>
        </p:scale>
        <p:origin x="86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EC2/latest/UserGuide/iam-roles-for-amazon-ec2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aws.amazon.com/STS/latest/APIReference/API_AssumeRole.html" TargetMode="External"/><Relationship Id="rId4" Type="http://schemas.openxmlformats.org/officeDocument/2006/relationships/hyperlink" Target="https://docs.aws.amazon.com/STS/latest/APIReference/welcome.html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EC2/latest/UserGuide/iam-roles-for-amazon-ec2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aws.amazon.com/IAM/latest/UserGuide/id_roles_use_switch-role-api.html" TargetMode="External"/><Relationship Id="rId4" Type="http://schemas.openxmlformats.org/officeDocument/2006/relationships/hyperlink" Target="https://docs.aws.amazon.com/STS/latest/APIReference/welcome.html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velup.gitconnected.com/using-iam-roles-to-allow-the-pods-in-aws-eks-to-read-the-aws-s3-bucket-be493fbdda84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ubernetes.io/docs/reference/access-authn-authz/service-accounts-admin/" TargetMode="External"/><Relationship Id="rId5" Type="http://schemas.openxmlformats.org/officeDocument/2006/relationships/hyperlink" Target="https://docs.aws.amazon.com/eks/latest/userguide/associate-service-account-role.html" TargetMode="External"/><Relationship Id="rId4" Type="http://schemas.openxmlformats.org/officeDocument/2006/relationships/hyperlink" Target="https://docs.aws.amazon.com/eks/latest/userguide/enable-iam-roles-for-service-accounts.html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logs/opensource/introducing-fine-grained-iam-roles-service-accounts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aws/amazon-eks-pod-identity-webhook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storage/persistent-volumes/" TargetMode="External"/><Relationship Id="rId7" Type="http://schemas.openxmlformats.org/officeDocument/2006/relationships/hyperlink" Target="https://quay.io/repository/external_storage/nfs-client-provisioner?tab=tags&amp;tag=latest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exxactcorp.com/blog/Troubleshooting/deploying-dynamic-nfs-provisioning-in-kubernetes" TargetMode="External"/><Relationship Id="rId5" Type="http://schemas.openxmlformats.org/officeDocument/2006/relationships/hyperlink" Target="https://www.unixarena.com/2022/04/kubernetes-storage-dynamic-nfs-client-provisioner.html/" TargetMode="External"/><Relationship Id="rId4" Type="http://schemas.openxmlformats.org/officeDocument/2006/relationships/hyperlink" Target="https://kubernetes.io/docs/concepts/storage/volumes/#nfs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efs/latest/ug/creating-using-create-fs.html#creating-using-fs-part1-console" TargetMode="External"/><Relationship Id="rId7" Type="http://schemas.openxmlformats.org/officeDocument/2006/relationships/hyperlink" Target="https://github.com/kubernetes-sigs/nfs-subdir-external-provisioner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fabianlee.org/2022/01/12/kubernetes-nfs-mount-using-dynamic-volume-and-storage-class/" TargetMode="External"/><Relationship Id="rId5" Type="http://schemas.openxmlformats.org/officeDocument/2006/relationships/hyperlink" Target="https://docs.aws.amazon.com/efs/latest/ug/how-it-works.html#how-it-works-backups" TargetMode="External"/><Relationship Id="rId4" Type="http://schemas.openxmlformats.org/officeDocument/2006/relationships/hyperlink" Target="https://docs.aws.amazon.com/efs/latest/ug/how-it-works.html#auth-access-intro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eks/latest/userguide/efs-csi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6f1d61a36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6f1d61a36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/>
              <a:t>https://orly.nanmu.me/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6f1d61a36_0_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6f1d61a36_0_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7251f443a_1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7251f443a_1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06f1d61a36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06f1d61a36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3"/>
              </a:rPr>
              <a:t>https://docs.aws.amazon.com/AWSEC2/latest/UserGuide/iam-roles-for-amazon-ec2.html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https://docs.aws.amazon.com/STS/latest/APIReference/welcome.html</a:t>
            </a:r>
            <a:r>
              <a:rPr lang="en" sz="900"/>
              <a:t> 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5"/>
              </a:rPr>
              <a:t>https://docs.aws.amazon.com/STS/latest/APIReference/API_AssumeRole.html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06f1d61a36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06f1d61a36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3"/>
              </a:rPr>
              <a:t>https://docs.aws.amazon.com/AWSEC2/latest/UserGuide/iam-roles-for-amazon-ec2.html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4"/>
              </a:rPr>
              <a:t>https://docs.aws.amazon.com/STS/latest/APIReference/welcome.html</a:t>
            </a:r>
            <a:r>
              <a:rPr lang="en" sz="900" dirty="0"/>
              <a:t> </a:t>
            </a:r>
            <a:endParaRPr sz="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u="sng" dirty="0">
                <a:solidFill>
                  <a:schemeClr val="hlink"/>
                </a:solidFill>
                <a:hlinkClick r:id="rId5"/>
              </a:rPr>
              <a:t>https://docs.aws.amazon.com/IAM/latest/UserGuide/id_roles_use_switch-role-api.html</a:t>
            </a:r>
            <a:r>
              <a:rPr lang="en" sz="900" dirty="0">
                <a:solidFill>
                  <a:schemeClr val="dk1"/>
                </a:solidFill>
              </a:rPr>
              <a:t> </a:t>
            </a:r>
            <a:endParaRPr sz="9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6f1d61a36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6f1d61a36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06f1d61a3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06f1d61a3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3"/>
              </a:rPr>
              <a:t>https://levelup.gitconnected.com/using-iam-roles-to-allow-the-pods-in-aws-eks-to-read-the-aws-s3-bucket-be493fbdda84</a:t>
            </a:r>
            <a:r>
              <a:rPr lang="en" sz="900" dirty="0"/>
              <a:t> 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4"/>
              </a:rPr>
              <a:t>https://docs.aws.amazon.com/eks/latest/userguide/enable-iam-roles-for-service-accounts.html</a:t>
            </a:r>
            <a:r>
              <a:rPr lang="en" sz="900" dirty="0"/>
              <a:t> 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5"/>
              </a:rPr>
              <a:t>https://docs.aws.amazon.com/eks/latest/userguide/associate-service-account-role.html</a:t>
            </a:r>
            <a:r>
              <a:rPr lang="en" sz="900" dirty="0"/>
              <a:t> 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6"/>
              </a:rPr>
              <a:t>https://kubernetes.io/docs/reference/access-authn-authz/service-accounts-admin/</a:t>
            </a:r>
            <a:r>
              <a:rPr lang="en" sz="900" dirty="0"/>
              <a:t> </a:t>
            </a:r>
            <a:endParaRPr sz="9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0c25cec1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0c25cec1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3"/>
              </a:rPr>
              <a:t>https://aws.amazon.com/blogs/opensource/introducing-fine-grained-iam-roles-service-accounts/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4"/>
              </a:rPr>
              <a:t>https://github.com/aws/amazon-eks-pod-identity-webhook/</a:t>
            </a:r>
            <a:r>
              <a:rPr lang="en" sz="900" dirty="0"/>
              <a:t> </a:t>
            </a:r>
            <a:endParaRPr sz="9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06f1d61a36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06f1d61a36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3"/>
              </a:rPr>
              <a:t>https://kubernetes.io/docs/concepts/storage/persistent-volumes/</a:t>
            </a:r>
            <a:r>
              <a:rPr lang="en" sz="900" dirty="0">
                <a:solidFill>
                  <a:schemeClr val="dk1"/>
                </a:solidFill>
              </a:rPr>
              <a:t> </a:t>
            </a:r>
            <a:endParaRPr sz="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4"/>
              </a:rPr>
              <a:t>https://kubernetes.io/docs/concepts/storage/volumes/#nfs</a:t>
            </a:r>
            <a:r>
              <a:rPr lang="en" sz="900" dirty="0">
                <a:solidFill>
                  <a:schemeClr val="dk1"/>
                </a:solidFill>
              </a:rPr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https://www.unixarena.com/2022/04/kubernetes-storage-dynamic-nfs-client-provisioner.html/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6"/>
              </a:rPr>
              <a:t>https://www.exxactcorp.com/blog/Troubleshooting/deploying-dynamic-nfs-provisioning-in-kubernetes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7"/>
              </a:rPr>
              <a:t>https://quay.io/repository/external_storage/nfs-client-provisioner?tab=tags&amp;tag=latest</a:t>
            </a:r>
            <a:r>
              <a:rPr lang="en" sz="900" dirty="0"/>
              <a:t> (Legacy?)</a:t>
            </a:r>
            <a:endParaRPr sz="9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06f1d61a36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06f1d61a36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No IAM rol but Sec. Group:</a:t>
            </a:r>
            <a:br>
              <a:rPr lang="en" sz="900" dirty="0"/>
            </a:br>
            <a:r>
              <a:rPr lang="en" sz="900" u="sng" dirty="0">
                <a:solidFill>
                  <a:schemeClr val="hlink"/>
                </a:solidFill>
                <a:hlinkClick r:id="rId3"/>
              </a:rPr>
              <a:t>https://docs.aws.amazon.com/efs/latest/ug/creating-using-create-fs.html#creating-using-fs-part1-console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To test mount -t on your Mac:</a:t>
            </a:r>
            <a:br>
              <a:rPr lang="en" sz="900" dirty="0"/>
            </a:br>
            <a:r>
              <a:rPr lang="en" sz="1000" u="sng" dirty="0">
                <a:solidFill>
                  <a:srgbClr val="0078D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https://docs.aws.amazon.com/efs/latest/ug/how-it-works.html#auth-access-intro</a:t>
            </a:r>
            <a:endParaRPr sz="1000" u="sng" dirty="0">
              <a:solidFill>
                <a:srgbClr val="0078D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 dirty="0">
                <a:solidFill>
                  <a:srgbClr val="0078D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https://docs.aws.amazon.com/efs/latest/ug/how-it-works.html#how-it-works-backups</a:t>
            </a:r>
            <a:endParaRPr sz="10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6"/>
              </a:rPr>
              <a:t>https://fabianlee.org/2022/01/12/kubernetes-nfs-mount-using-dynamic-volume-and-storage-class/</a:t>
            </a:r>
            <a:r>
              <a:rPr lang="en" sz="900" dirty="0"/>
              <a:t> </a:t>
            </a:r>
            <a:endParaRPr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hlinkClick r:id="rId7"/>
              </a:rPr>
              <a:t>https://github.com/kubernetes-sigs/nfs-subdir-external-provisioner</a:t>
            </a:r>
            <a:r>
              <a:rPr lang="en" sz="900" dirty="0"/>
              <a:t> </a:t>
            </a:r>
            <a:endParaRPr sz="9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06f1d61a36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06f1d61a36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3"/>
              </a:rPr>
              <a:t>https://docs.aws.amazon.com/eks/latest/userguide/efs-csi.html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7251f443a_1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07251f443a_1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06f1d61a36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06f1d61a36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https://en.99designs.fr/brand-identity-pack/contests/create-devops-guild-logo-winner-produce-more-via-1115986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8s.a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docs.aws.amazon.com/AWSEC2/latest/UserGuide/iam-roles-for-amazon-ec2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hyperlink" Target="https://docs.aws.amazon.com/AWSEC2/latest/UserGuide/iam-roles-for-amazon-ec2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ithub.com/uswitch/kiam/blob/master/cmd/kiam/iptables.g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-sigs/nfs-subdir-external-provisioner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eks/latest/userguide/efs-csi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300" y="152400"/>
            <a:ext cx="3456213" cy="48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0587" y="2474200"/>
            <a:ext cx="1161463" cy="4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IAM Roles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The old easy way</a:t>
            </a:r>
            <a:endParaRPr dirty="0"/>
          </a:p>
          <a:p>
            <a:pPr lvl="1"/>
            <a:r>
              <a:rPr lang="de-DE" dirty="0"/>
              <a:t>The </a:t>
            </a:r>
            <a:r>
              <a:rPr lang="de-DE" dirty="0" err="1"/>
              <a:t>old</a:t>
            </a:r>
            <a:r>
              <a:rPr lang="de-DE" dirty="0"/>
              <a:t> </a:t>
            </a:r>
            <a:r>
              <a:rPr lang="de-DE" dirty="0" err="1"/>
              <a:t>hard</a:t>
            </a:r>
            <a:r>
              <a:rPr lang="de-DE" dirty="0"/>
              <a:t> </a:t>
            </a:r>
            <a:r>
              <a:rPr lang="de-DE" dirty="0" err="1"/>
              <a:t>way</a:t>
            </a:r>
            <a:endParaRPr lang="en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The KIAM way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The IRSA way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NFS on K8s Options: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A) The Kubeadm Way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B) The EKS Way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6496" y="1152476"/>
            <a:ext cx="4383675" cy="257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start… the sources…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85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❌ Medium.com “look-at-me” posts.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❌ Vendor marketing mumbo-jumbo.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Peer reviewed CS publications.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K8s failure stories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https://k8s.af/</a:t>
            </a:r>
            <a:r>
              <a:rPr lang="en"/>
              <a:t>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Golang code review.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Memes.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9513" y="978272"/>
            <a:ext cx="1376950" cy="10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1775" y="3389130"/>
            <a:ext cx="1572450" cy="9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7244" y="2121200"/>
            <a:ext cx="1041500" cy="10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1913575" y="2183775"/>
            <a:ext cx="4213800" cy="2180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1913567" y="2183774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EC2 MD 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942138" y="3610592"/>
            <a:ext cx="1152600" cy="499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Iptables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(OS Level)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754813" y="2496713"/>
            <a:ext cx="1152600" cy="4995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br>
              <a:rPr lang="en"/>
            </a:br>
            <a:r>
              <a:rPr lang="en"/>
              <a:t>Pod</a:t>
            </a:r>
            <a:endParaRPr/>
          </a:p>
        </p:txBody>
      </p:sp>
      <p:cxnSp>
        <p:nvCxnSpPr>
          <p:cNvPr id="83" name="Google Shape;83;p16"/>
          <p:cNvCxnSpPr>
            <a:stCxn id="81" idx="0"/>
            <a:endCxn id="82" idx="2"/>
          </p:cNvCxnSpPr>
          <p:nvPr/>
        </p:nvCxnSpPr>
        <p:spPr>
          <a:xfrm rot="10800000" flipH="1">
            <a:off x="3518438" y="2996192"/>
            <a:ext cx="812700" cy="6144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6"/>
          <p:cNvSpPr txBox="1"/>
          <p:nvPr/>
        </p:nvSpPr>
        <p:spPr>
          <a:xfrm>
            <a:off x="4121688" y="3042986"/>
            <a:ext cx="183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16191F"/>
                </a:solidFill>
                <a:highlight>
                  <a:schemeClr val="lt1"/>
                </a:highlight>
              </a:rPr>
              <a:t>169.254.169.254</a:t>
            </a:r>
            <a:b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</a:br>
            <a: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  <a:t>/iam/security-credentials/role:X</a:t>
            </a:r>
            <a:endParaRPr sz="900">
              <a:highlight>
                <a:schemeClr val="lt1"/>
              </a:highlight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688614" y="3748275"/>
            <a:ext cx="1438762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Account</a:t>
            </a:r>
            <a:br>
              <a:rPr lang="en" dirty="0"/>
            </a:br>
            <a:r>
              <a:rPr lang="en" dirty="0"/>
              <a:t>K8s Worker: Y</a:t>
            </a:r>
            <a:endParaRPr dirty="0"/>
          </a:p>
        </p:txBody>
      </p:sp>
      <p:sp>
        <p:nvSpPr>
          <p:cNvPr id="86" name="Google Shape;86;p16"/>
          <p:cNvSpPr/>
          <p:nvPr/>
        </p:nvSpPr>
        <p:spPr>
          <a:xfrm>
            <a:off x="1913563" y="1006088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STS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009575" y="3691000"/>
            <a:ext cx="96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6191F"/>
                </a:solidFill>
              </a:rPr>
              <a:t>DNAT: None</a:t>
            </a:r>
            <a:endParaRPr sz="1000" b="1"/>
          </a:p>
        </p:txBody>
      </p:sp>
      <p:sp>
        <p:nvSpPr>
          <p:cNvPr id="88" name="Google Shape;88;p16"/>
          <p:cNvSpPr txBox="1"/>
          <p:nvPr/>
        </p:nvSpPr>
        <p:spPr>
          <a:xfrm>
            <a:off x="1082950" y="1485618"/>
            <a:ext cx="150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6191F"/>
                </a:solidFill>
              </a:rPr>
              <a:t>assumeRole </a:t>
            </a:r>
            <a:r>
              <a:rPr lang="en" sz="1000">
                <a:solidFill>
                  <a:srgbClr val="16191F"/>
                </a:solidFill>
              </a:rPr>
              <a:t>role:X</a:t>
            </a:r>
            <a:br>
              <a:rPr lang="en" sz="1000">
                <a:solidFill>
                  <a:srgbClr val="16191F"/>
                </a:solidFill>
              </a:rPr>
            </a:br>
            <a:r>
              <a:rPr lang="en" sz="1000">
                <a:solidFill>
                  <a:srgbClr val="16191F"/>
                </a:solidFill>
              </a:rPr>
              <a:t>   </a:t>
            </a:r>
            <a:r>
              <a:rPr lang="en" sz="1000" b="1">
                <a:solidFill>
                  <a:srgbClr val="16191F"/>
                </a:solidFill>
              </a:rPr>
              <a:t>attached</a:t>
            </a:r>
            <a:r>
              <a:rPr lang="en" sz="1000">
                <a:solidFill>
                  <a:srgbClr val="16191F"/>
                </a:solidFill>
              </a:rPr>
              <a:t> to Y</a:t>
            </a:r>
            <a:r>
              <a:rPr lang="en" sz="1000" b="1">
                <a:solidFill>
                  <a:srgbClr val="6AA84F"/>
                </a:solidFill>
              </a:rPr>
              <a:t> </a:t>
            </a:r>
            <a:r>
              <a:rPr lang="en" sz="1000" b="1">
                <a:solidFill>
                  <a:srgbClr val="FF0000"/>
                </a:solidFill>
              </a:rPr>
              <a:t># me</a:t>
            </a:r>
            <a:endParaRPr sz="10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       </a:t>
            </a:r>
            <a:r>
              <a:rPr lang="en" sz="1000" b="1">
                <a:solidFill>
                  <a:srgbClr val="16191F"/>
                </a:solidFill>
              </a:rPr>
              <a:t>return</a:t>
            </a:r>
            <a:r>
              <a:rPr lang="en" sz="1000">
                <a:solidFill>
                  <a:srgbClr val="16191F"/>
                </a:solidFill>
              </a:rPr>
              <a:t> {ID, Key}</a:t>
            </a:r>
            <a:endParaRPr sz="1000">
              <a:solidFill>
                <a:srgbClr val="16191F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630925" y="881900"/>
            <a:ext cx="784500" cy="74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EC2: Y</a:t>
            </a:r>
            <a:br>
              <a:rPr lang="en"/>
            </a:br>
            <a:r>
              <a:rPr lang="en"/>
              <a:t>Role: X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6518" y="2248446"/>
            <a:ext cx="512930" cy="49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6"/>
          <p:cNvCxnSpPr>
            <a:stCxn id="80" idx="0"/>
            <a:endCxn id="86" idx="2"/>
          </p:cNvCxnSpPr>
          <p:nvPr/>
        </p:nvCxnSpPr>
        <p:spPr>
          <a:xfrm rot="-5400000">
            <a:off x="2151017" y="1844324"/>
            <a:ext cx="678300" cy="6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6"/>
          <p:cNvCxnSpPr>
            <a:stCxn id="86" idx="3"/>
            <a:endCxn id="89" idx="1"/>
          </p:cNvCxnSpPr>
          <p:nvPr/>
        </p:nvCxnSpPr>
        <p:spPr>
          <a:xfrm>
            <a:off x="3066163" y="1255838"/>
            <a:ext cx="564900" cy="600"/>
          </a:xfrm>
          <a:prstGeom prst="bentConnector3">
            <a:avLst>
              <a:gd name="adj1" fmla="val 4998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6"/>
          <p:cNvSpPr txBox="1"/>
          <p:nvPr/>
        </p:nvSpPr>
        <p:spPr>
          <a:xfrm>
            <a:off x="183180" y="158208"/>
            <a:ext cx="1730400" cy="4311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Old Easy Way</a:t>
            </a:r>
            <a:endParaRPr sz="16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94" name="Google Shape;94;p16"/>
          <p:cNvCxnSpPr>
            <a:stCxn id="81" idx="0"/>
            <a:endCxn id="80" idx="2"/>
          </p:cNvCxnSpPr>
          <p:nvPr/>
        </p:nvCxnSpPr>
        <p:spPr>
          <a:xfrm rot="10800000">
            <a:off x="2489738" y="2683292"/>
            <a:ext cx="1028700" cy="9273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6"/>
          <p:cNvCxnSpPr>
            <a:stCxn id="89" idx="2"/>
            <a:endCxn id="79" idx="0"/>
          </p:cNvCxnSpPr>
          <p:nvPr/>
        </p:nvCxnSpPr>
        <p:spPr>
          <a:xfrm flipH="1">
            <a:off x="4020475" y="1629800"/>
            <a:ext cx="2700" cy="554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6" name="Google Shape;96;p16"/>
          <p:cNvSpPr txBox="1"/>
          <p:nvPr/>
        </p:nvSpPr>
        <p:spPr>
          <a:xfrm>
            <a:off x="4020475" y="1675277"/>
            <a:ext cx="150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Attached</a:t>
            </a:r>
            <a:endParaRPr sz="1000">
              <a:solidFill>
                <a:srgbClr val="16191F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721250" y="1097500"/>
            <a:ext cx="1928400" cy="26468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16191F"/>
                </a:solidFill>
                <a:highlight>
                  <a:srgbClr val="B6D7A8"/>
                </a:highlight>
              </a:rPr>
              <a:t>On your Amazon EC2 workloads, you MUST retrieve session credentials using the method described below. </a:t>
            </a:r>
            <a:endParaRPr sz="1000" dirty="0">
              <a:solidFill>
                <a:srgbClr val="16191F"/>
              </a:solidFill>
              <a:highlight>
                <a:srgbClr val="B6D7A8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6191F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tx1"/>
                </a:solidFill>
              </a:rPr>
              <a:t>These credentials should enable your workload to make AWS API requests, without needing to use </a:t>
            </a:r>
            <a:r>
              <a:rPr lang="en" sz="1000" dirty="0">
                <a:solidFill>
                  <a:schemeClr val="tx1"/>
                </a:solidFill>
                <a:highlight>
                  <a:srgbClr val="E3EDF3"/>
                </a:highlight>
                <a:latin typeface="Courier New"/>
                <a:ea typeface="Courier New"/>
                <a:cs typeface="Courier New"/>
                <a:sym typeface="Courier New"/>
              </a:rPr>
              <a:t>sts:AssumeRole</a:t>
            </a:r>
            <a:r>
              <a:rPr lang="en" sz="1000" dirty="0">
                <a:solidFill>
                  <a:schemeClr val="tx1"/>
                </a:solidFill>
              </a:rPr>
              <a:t> to assume the same role that is already associated with the instance. </a:t>
            </a:r>
            <a:endParaRPr sz="1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619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 dirty="0">
                <a:solidFill>
                  <a:schemeClr val="hlink"/>
                </a:solidFill>
                <a:hlinkClick r:id="rId4"/>
              </a:rPr>
              <a:t>https://docs.aws.amazon.com/AWSEC2/latest/UserGuide/iam-roles-for-amazon-ec2.html</a:t>
            </a:r>
            <a:r>
              <a:rPr lang="en" sz="1000" dirty="0">
                <a:solidFill>
                  <a:srgbClr val="16191F"/>
                </a:solidFill>
              </a:rPr>
              <a:t> </a:t>
            </a:r>
            <a:endParaRPr sz="1000" dirty="0">
              <a:solidFill>
                <a:srgbClr val="16191F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300050" y="3103288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</a:t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435100" y="1601875"/>
            <a:ext cx="4683900" cy="303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60213" y="2396825"/>
            <a:ext cx="1152600" cy="49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Kiam Agent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(Proxy)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501700" y="3570575"/>
            <a:ext cx="1152600" cy="499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Iptables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(OS Level)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872725" y="2462400"/>
            <a:ext cx="1152600" cy="4995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br>
              <a:rPr lang="en"/>
            </a:br>
            <a:r>
              <a:rPr lang="en"/>
              <a:t>Pod</a:t>
            </a:r>
            <a:endParaRPr/>
          </a:p>
        </p:txBody>
      </p:sp>
      <p:cxnSp>
        <p:nvCxnSpPr>
          <p:cNvPr id="144" name="Google Shape;144;p18"/>
          <p:cNvCxnSpPr>
            <a:stCxn id="145" idx="2"/>
            <a:endCxn id="142" idx="0"/>
          </p:cNvCxnSpPr>
          <p:nvPr/>
        </p:nvCxnSpPr>
        <p:spPr>
          <a:xfrm>
            <a:off x="2078000" y="1242188"/>
            <a:ext cx="0" cy="2328300"/>
          </a:xfrm>
          <a:prstGeom prst="straightConnector1">
            <a:avLst/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" name="Google Shape;146;p18"/>
          <p:cNvSpPr txBox="1"/>
          <p:nvPr/>
        </p:nvSpPr>
        <p:spPr>
          <a:xfrm>
            <a:off x="2489088" y="2959188"/>
            <a:ext cx="183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  <a:t>sts.amazon.com</a:t>
            </a:r>
            <a:b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</a:br>
            <a: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  <a:t>/iam/security-credentials/role:X</a:t>
            </a:r>
            <a:endParaRPr sz="900">
              <a:highlight>
                <a:schemeClr val="lt1"/>
              </a:highlight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501700" y="742688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STS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08388" y="4097225"/>
            <a:ext cx="3880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AA84F"/>
                </a:solidFill>
                <a:highlight>
                  <a:schemeClr val="lt1"/>
                </a:highlight>
              </a:rPr>
              <a:t>DNAT: sts.amazon.com =&gt; None</a:t>
            </a:r>
            <a:br>
              <a:rPr lang="en" sz="1000" b="1">
                <a:solidFill>
                  <a:srgbClr val="16191F"/>
                </a:solidFill>
                <a:highlight>
                  <a:schemeClr val="lt1"/>
                </a:highlight>
              </a:rPr>
            </a:br>
            <a:r>
              <a:rPr lang="en" sz="1000">
                <a:solidFill>
                  <a:srgbClr val="FF0000"/>
                </a:solidFill>
                <a:highlight>
                  <a:schemeClr val="lt1"/>
                </a:highlight>
              </a:rPr>
              <a:t>DNAT: 169.254.169.254 =&gt; &lt;Kiam-Agent-IP&gt;</a:t>
            </a:r>
            <a:endParaRPr sz="10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6191F"/>
              </a:solidFill>
              <a:highlight>
                <a:schemeClr val="lt1"/>
              </a:highlight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330" y="1749646"/>
            <a:ext cx="512930" cy="4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208388" y="215113"/>
            <a:ext cx="17304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Old Hard Way</a:t>
            </a:r>
            <a:endParaRPr sz="16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35234" y="1603668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EC2 MD 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283700" y="742700"/>
            <a:ext cx="804900" cy="49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EC2: Y</a:t>
            </a:r>
            <a:br>
              <a:rPr lang="en"/>
            </a:br>
            <a:r>
              <a:rPr lang="en"/>
              <a:t>Role: X</a:t>
            </a:r>
            <a:endParaRPr/>
          </a:p>
        </p:txBody>
      </p:sp>
      <p:cxnSp>
        <p:nvCxnSpPr>
          <p:cNvPr id="153" name="Google Shape;153;p18"/>
          <p:cNvCxnSpPr>
            <a:stCxn id="152" idx="2"/>
            <a:endCxn id="140" idx="0"/>
          </p:cNvCxnSpPr>
          <p:nvPr/>
        </p:nvCxnSpPr>
        <p:spPr>
          <a:xfrm flipH="1">
            <a:off x="2777150" y="1242200"/>
            <a:ext cx="909000" cy="359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4" name="Google Shape;154;p18"/>
          <p:cNvSpPr txBox="1"/>
          <p:nvPr/>
        </p:nvSpPr>
        <p:spPr>
          <a:xfrm>
            <a:off x="3283700" y="1253265"/>
            <a:ext cx="150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Attached</a:t>
            </a:r>
            <a:endParaRPr sz="1000">
              <a:solidFill>
                <a:srgbClr val="16191F"/>
              </a:solidFill>
            </a:endParaRPr>
          </a:p>
        </p:txBody>
      </p:sp>
      <p:cxnSp>
        <p:nvCxnSpPr>
          <p:cNvPr id="155" name="Google Shape;155;p18"/>
          <p:cNvCxnSpPr>
            <a:stCxn id="152" idx="1"/>
            <a:endCxn id="145" idx="3"/>
          </p:cNvCxnSpPr>
          <p:nvPr/>
        </p:nvCxnSpPr>
        <p:spPr>
          <a:xfrm flipH="1">
            <a:off x="2654300" y="992450"/>
            <a:ext cx="629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18"/>
          <p:cNvCxnSpPr>
            <a:stCxn id="141" idx="2"/>
            <a:endCxn id="142" idx="1"/>
          </p:cNvCxnSpPr>
          <p:nvPr/>
        </p:nvCxnSpPr>
        <p:spPr>
          <a:xfrm rot="-5400000" flipH="1">
            <a:off x="907113" y="3225725"/>
            <a:ext cx="924000" cy="2652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18"/>
          <p:cNvCxnSpPr>
            <a:stCxn id="151" idx="2"/>
            <a:endCxn id="141" idx="0"/>
          </p:cNvCxnSpPr>
          <p:nvPr/>
        </p:nvCxnSpPr>
        <p:spPr>
          <a:xfrm rot="-5400000" flipH="1">
            <a:off x="977184" y="2137518"/>
            <a:ext cx="293700" cy="2250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18"/>
          <p:cNvCxnSpPr>
            <a:stCxn id="143" idx="1"/>
            <a:endCxn id="142" idx="0"/>
          </p:cNvCxnSpPr>
          <p:nvPr/>
        </p:nvCxnSpPr>
        <p:spPr>
          <a:xfrm flipH="1">
            <a:off x="2078025" y="2712150"/>
            <a:ext cx="794700" cy="858300"/>
          </a:xfrm>
          <a:prstGeom prst="straightConnector1">
            <a:avLst/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" name="Google Shape;159;p18"/>
          <p:cNvSpPr txBox="1"/>
          <p:nvPr/>
        </p:nvSpPr>
        <p:spPr>
          <a:xfrm>
            <a:off x="2077950" y="1676156"/>
            <a:ext cx="150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6191F"/>
                </a:solidFill>
              </a:rPr>
              <a:t>assumeRole </a:t>
            </a:r>
            <a:r>
              <a:rPr lang="en" sz="1000">
                <a:solidFill>
                  <a:srgbClr val="16191F"/>
                </a:solidFill>
              </a:rPr>
              <a:t>role:X</a:t>
            </a:r>
            <a:br>
              <a:rPr lang="en" sz="1000">
                <a:solidFill>
                  <a:srgbClr val="16191F"/>
                </a:solidFill>
              </a:rPr>
            </a:br>
            <a:r>
              <a:rPr lang="en" sz="1000">
                <a:solidFill>
                  <a:srgbClr val="16191F"/>
                </a:solidFill>
              </a:rPr>
              <a:t>   </a:t>
            </a:r>
            <a:r>
              <a:rPr lang="en" sz="1000" b="1">
                <a:solidFill>
                  <a:srgbClr val="16191F"/>
                </a:solidFill>
              </a:rPr>
              <a:t>attached</a:t>
            </a:r>
            <a:r>
              <a:rPr lang="en" sz="1000">
                <a:solidFill>
                  <a:srgbClr val="16191F"/>
                </a:solidFill>
              </a:rPr>
              <a:t> to Y</a:t>
            </a:r>
            <a:r>
              <a:rPr lang="en" sz="1000" b="1">
                <a:solidFill>
                  <a:srgbClr val="6AA84F"/>
                </a:solidFill>
              </a:rPr>
              <a:t> # me</a:t>
            </a:r>
            <a:endParaRPr sz="1000" b="1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       </a:t>
            </a:r>
            <a:r>
              <a:rPr lang="en" sz="1000" b="1">
                <a:solidFill>
                  <a:srgbClr val="16191F"/>
                </a:solidFill>
              </a:rPr>
              <a:t>return</a:t>
            </a:r>
            <a:r>
              <a:rPr lang="en" sz="1000">
                <a:solidFill>
                  <a:srgbClr val="16191F"/>
                </a:solidFill>
              </a:rPr>
              <a:t> {ID, Key}</a:t>
            </a:r>
            <a:endParaRPr sz="1000">
              <a:solidFill>
                <a:srgbClr val="16191F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329675" y="444950"/>
            <a:ext cx="3420300" cy="172351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" sz="1000" dirty="0">
                <a:solidFill>
                  <a:srgbClr val="16191F"/>
                </a:solidFill>
                <a:highlight>
                  <a:srgbClr val="B6D7A8"/>
                </a:highlight>
              </a:rPr>
              <a:t>On your Amazon EC2 workloads, you CAN retrieve session credentials using the method described below. </a:t>
            </a:r>
            <a:endParaRPr sz="1000" dirty="0">
              <a:solidFill>
                <a:srgbClr val="16191F"/>
              </a:solidFill>
              <a:highlight>
                <a:srgbClr val="B6D7A8"/>
              </a:highlight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tx1"/>
                </a:solidFill>
              </a:rPr>
              <a:t>These credentials should enable your workload to make AWS API requests, without needing to use </a:t>
            </a:r>
            <a:r>
              <a:rPr lang="en" sz="1000" dirty="0">
                <a:solidFill>
                  <a:schemeClr val="tx1"/>
                </a:solidFill>
                <a:sym typeface="Courier New"/>
              </a:rPr>
              <a:t>sts:AssumeRole</a:t>
            </a:r>
            <a:r>
              <a:rPr lang="en" sz="1000" dirty="0">
                <a:solidFill>
                  <a:schemeClr val="tx1"/>
                </a:solidFill>
              </a:rPr>
              <a:t> to assume the same role that is already associated with the instance. </a:t>
            </a:r>
            <a:endParaRPr sz="1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619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 dirty="0">
                <a:solidFill>
                  <a:schemeClr val="hlink"/>
                </a:solidFill>
                <a:hlinkClick r:id="rId4"/>
              </a:rPr>
              <a:t>https://docs.aws.amazon.com/AWSEC2/latest/UserGuide/iam-roles-for-amazon-ec2.html</a:t>
            </a:r>
            <a:r>
              <a:rPr lang="en" sz="1000" dirty="0">
                <a:solidFill>
                  <a:srgbClr val="16191F"/>
                </a:solidFill>
              </a:rPr>
              <a:t> </a:t>
            </a:r>
            <a:endParaRPr sz="1000" dirty="0">
              <a:solidFill>
                <a:srgbClr val="16191F"/>
              </a:solidFill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7200" y="2365950"/>
            <a:ext cx="3420299" cy="22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55200" y="3158225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❌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2052300" y="2746513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5;p16">
            <a:extLst>
              <a:ext uri="{FF2B5EF4-FFF2-40B4-BE49-F238E27FC236}">
                <a16:creationId xmlns:a16="http://schemas.microsoft.com/office/drawing/2014/main" id="{801718A0-36A4-C8C1-D396-7443B3E5F73B}"/>
              </a:ext>
            </a:extLst>
          </p:cNvPr>
          <p:cNvSpPr txBox="1"/>
          <p:nvPr/>
        </p:nvSpPr>
        <p:spPr>
          <a:xfrm>
            <a:off x="3804338" y="4024752"/>
            <a:ext cx="1438762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Account</a:t>
            </a:r>
            <a:br>
              <a:rPr lang="en" dirty="0"/>
            </a:br>
            <a:r>
              <a:rPr lang="en" dirty="0"/>
              <a:t>K8s Worker: 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1705775" y="2612225"/>
            <a:ext cx="5734500" cy="2004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2756300" y="500425"/>
            <a:ext cx="4683900" cy="1911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133838" y="2734400"/>
            <a:ext cx="1152600" cy="499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Kiam Agent</a:t>
            </a:r>
            <a:br>
              <a:rPr lang="en"/>
            </a:br>
            <a:r>
              <a:rPr lang="en"/>
              <a:t>(Proxy)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2756305" y="501645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EC2 MD 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995700" y="3778200"/>
            <a:ext cx="1152600" cy="499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Iptables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(OS Level)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689900" y="2734400"/>
            <a:ext cx="1152600" cy="4995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br>
              <a:rPr lang="en"/>
            </a:br>
            <a:r>
              <a:rPr lang="en"/>
              <a:t>Pod</a:t>
            </a:r>
            <a:endParaRPr/>
          </a:p>
        </p:txBody>
      </p:sp>
      <p:cxnSp>
        <p:nvCxnSpPr>
          <p:cNvPr id="110" name="Google Shape;110;p17"/>
          <p:cNvCxnSpPr>
            <a:stCxn id="107" idx="2"/>
            <a:endCxn id="111" idx="0"/>
          </p:cNvCxnSpPr>
          <p:nvPr/>
        </p:nvCxnSpPr>
        <p:spPr>
          <a:xfrm>
            <a:off x="3332605" y="1001145"/>
            <a:ext cx="621600" cy="61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7"/>
          <p:cNvCxnSpPr>
            <a:stCxn id="106" idx="2"/>
            <a:endCxn id="108" idx="1"/>
          </p:cNvCxnSpPr>
          <p:nvPr/>
        </p:nvCxnSpPr>
        <p:spPr>
          <a:xfrm rot="-5400000" flipH="1">
            <a:off x="3455888" y="3488150"/>
            <a:ext cx="794100" cy="285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17"/>
          <p:cNvCxnSpPr>
            <a:stCxn id="109" idx="2"/>
            <a:endCxn id="108" idx="3"/>
          </p:cNvCxnSpPr>
          <p:nvPr/>
        </p:nvCxnSpPr>
        <p:spPr>
          <a:xfrm rot="5400000">
            <a:off x="4810200" y="3572000"/>
            <a:ext cx="794100" cy="117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7"/>
          <p:cNvSpPr txBox="1"/>
          <p:nvPr/>
        </p:nvSpPr>
        <p:spPr>
          <a:xfrm>
            <a:off x="5266213" y="3259750"/>
            <a:ext cx="183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  <a:t>169.254.169.254</a:t>
            </a:r>
            <a:b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</a:br>
            <a: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  <a:t>/iam/security-credentials/role:X</a:t>
            </a:r>
            <a:endParaRPr sz="900">
              <a:highlight>
                <a:schemeClr val="lt1"/>
              </a:highlight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329001" y="1618025"/>
            <a:ext cx="1250700" cy="499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Kiam Server</a:t>
            </a:r>
            <a:br>
              <a:rPr lang="en"/>
            </a:br>
            <a:r>
              <a:rPr lang="en"/>
              <a:t>(Proxy)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6557171" y="1317960"/>
            <a:ext cx="8817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Root (Parent)</a:t>
            </a:r>
            <a:br>
              <a:rPr lang="en" sz="1200" dirty="0"/>
            </a:br>
            <a:r>
              <a:rPr lang="en" sz="1200" dirty="0"/>
              <a:t>Account</a:t>
            </a:r>
            <a:br>
              <a:rPr lang="en" sz="1200" dirty="0"/>
            </a:br>
            <a:r>
              <a:rPr lang="en" sz="1200" dirty="0"/>
              <a:t>Worker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(Master)</a:t>
            </a:r>
            <a:endParaRPr sz="1200" dirty="0"/>
          </a:p>
        </p:txBody>
      </p:sp>
      <p:sp>
        <p:nvSpPr>
          <p:cNvPr id="116" name="Google Shape;116;p17"/>
          <p:cNvSpPr txBox="1"/>
          <p:nvPr/>
        </p:nvSpPr>
        <p:spPr>
          <a:xfrm>
            <a:off x="6557171" y="3778175"/>
            <a:ext cx="881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</a:t>
            </a:r>
            <a:br>
              <a:rPr lang="en" dirty="0"/>
            </a:br>
            <a:r>
              <a:rPr lang="en" dirty="0"/>
              <a:t>Account</a:t>
            </a:r>
            <a:br>
              <a:rPr lang="en" dirty="0"/>
            </a:br>
            <a:r>
              <a:rPr lang="en" dirty="0"/>
              <a:t>Worker</a:t>
            </a:r>
            <a:endParaRPr dirty="0"/>
          </a:p>
        </p:txBody>
      </p:sp>
      <p:sp>
        <p:nvSpPr>
          <p:cNvPr id="117" name="Google Shape;117;p17"/>
          <p:cNvSpPr/>
          <p:nvPr/>
        </p:nvSpPr>
        <p:spPr>
          <a:xfrm>
            <a:off x="1129325" y="936038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STS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1559925" y="4018200"/>
            <a:ext cx="2632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0000"/>
                </a:solidFill>
                <a:highlight>
                  <a:schemeClr val="lt1"/>
                </a:highlight>
              </a:rPr>
              <a:t>DNAT: 169.254.169.254 =&gt; &lt;Kiam&gt;</a:t>
            </a:r>
            <a:endParaRPr sz="1000" b="1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683612" y="971450"/>
            <a:ext cx="2829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rgbClr val="16191F"/>
                </a:solidFill>
              </a:rPr>
              <a:t>using</a:t>
            </a:r>
            <a:r>
              <a:rPr lang="en" sz="1000" dirty="0">
                <a:solidFill>
                  <a:srgbClr val="16191F"/>
                </a:solidFill>
              </a:rPr>
              <a:t> </a:t>
            </a:r>
            <a:r>
              <a:rPr lang="en" sz="1000" b="1" dirty="0">
                <a:solidFill>
                  <a:srgbClr val="9900FF"/>
                </a:solidFill>
              </a:rPr>
              <a:t>role:SuperPower </a:t>
            </a:r>
            <a:r>
              <a:rPr lang="en" sz="1000" b="1" dirty="0">
                <a:solidFill>
                  <a:srgbClr val="16191F"/>
                </a:solidFill>
              </a:rPr>
              <a:t>from</a:t>
            </a:r>
            <a:r>
              <a:rPr lang="en" sz="1000" dirty="0">
                <a:solidFill>
                  <a:srgbClr val="16191F"/>
                </a:solidFill>
              </a:rPr>
              <a:t> account:Main</a:t>
            </a:r>
            <a:br>
              <a:rPr lang="en" sz="1000" dirty="0">
                <a:solidFill>
                  <a:srgbClr val="16191F"/>
                </a:solidFill>
              </a:rPr>
            </a:br>
            <a:r>
              <a:rPr lang="en" sz="1000" b="1" dirty="0">
                <a:solidFill>
                  <a:srgbClr val="16191F"/>
                </a:solidFill>
              </a:rPr>
              <a:t>   assumeRole</a:t>
            </a:r>
            <a:r>
              <a:rPr lang="en" sz="1000" dirty="0">
                <a:solidFill>
                  <a:srgbClr val="16191F"/>
                </a:solidFill>
              </a:rPr>
              <a:t> role:X </a:t>
            </a:r>
            <a:r>
              <a:rPr lang="en" sz="1000" b="1" dirty="0">
                <a:solidFill>
                  <a:srgbClr val="16191F"/>
                </a:solidFill>
              </a:rPr>
              <a:t>on</a:t>
            </a:r>
            <a:r>
              <a:rPr lang="en" sz="1000" dirty="0">
                <a:solidFill>
                  <a:srgbClr val="16191F"/>
                </a:solidFill>
              </a:rPr>
              <a:t> account:Other</a:t>
            </a:r>
            <a:endParaRPr sz="1000" dirty="0">
              <a:solidFill>
                <a:srgbClr val="1619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16191F"/>
                </a:solidFill>
              </a:rPr>
              <a:t>   </a:t>
            </a:r>
            <a:r>
              <a:rPr lang="en" sz="1000" b="1" dirty="0">
                <a:solidFill>
                  <a:srgbClr val="16191F"/>
                </a:solidFill>
              </a:rPr>
              <a:t>   return </a:t>
            </a:r>
            <a:r>
              <a:rPr lang="en" sz="1000" dirty="0">
                <a:solidFill>
                  <a:srgbClr val="16191F"/>
                </a:solidFill>
              </a:rPr>
              <a:t>sts: {ID, Key}</a:t>
            </a:r>
            <a:endParaRPr sz="1000" dirty="0">
              <a:solidFill>
                <a:srgbClr val="16191F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979478" y="1569200"/>
            <a:ext cx="1452300" cy="49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Account: Other</a:t>
            </a:r>
            <a:br>
              <a:rPr lang="en"/>
            </a:br>
            <a:r>
              <a:rPr lang="en"/>
              <a:t>=&gt; Role: X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351500" y="1627950"/>
            <a:ext cx="1079100" cy="499500"/>
          </a:xfrm>
          <a:prstGeom prst="rect">
            <a:avLst/>
          </a:prstGeom>
          <a:gradFill>
            <a:gsLst>
              <a:gs pos="0">
                <a:srgbClr val="9900FF"/>
              </a:gs>
              <a:gs pos="50000">
                <a:srgbClr val="999999"/>
              </a:gs>
              <a:gs pos="100000">
                <a:srgbClr val="FFF2CC"/>
              </a:gs>
            </a:gsLst>
            <a:lin ang="2700006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Role: SuperPower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710113" y="3344488"/>
            <a:ext cx="74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6191F"/>
                </a:solidFill>
                <a:highlight>
                  <a:schemeClr val="lt1"/>
                </a:highlight>
              </a:rPr>
              <a:t>(...)/role:X</a:t>
            </a:r>
            <a:endParaRPr sz="900">
              <a:highlight>
                <a:schemeClr val="lt1"/>
              </a:highlight>
            </a:endParaRPr>
          </a:p>
        </p:txBody>
      </p:sp>
      <p:cxnSp>
        <p:nvCxnSpPr>
          <p:cNvPr id="123" name="Google Shape;123;p17"/>
          <p:cNvCxnSpPr>
            <a:stCxn id="121" idx="1"/>
            <a:endCxn id="111" idx="3"/>
          </p:cNvCxnSpPr>
          <p:nvPr/>
        </p:nvCxnSpPr>
        <p:spPr>
          <a:xfrm rot="10800000">
            <a:off x="4579600" y="1867800"/>
            <a:ext cx="771900" cy="9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405" y="2703521"/>
            <a:ext cx="512930" cy="49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280" y="794746"/>
            <a:ext cx="512930" cy="49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7"/>
          <p:cNvCxnSpPr>
            <a:cxnSpLocks/>
            <a:stCxn id="107" idx="1"/>
            <a:endCxn id="117" idx="3"/>
          </p:cNvCxnSpPr>
          <p:nvPr/>
        </p:nvCxnSpPr>
        <p:spPr>
          <a:xfrm rot="10800000" flipV="1">
            <a:off x="2281925" y="751394"/>
            <a:ext cx="474380" cy="43439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7"/>
          <p:cNvSpPr txBox="1"/>
          <p:nvPr/>
        </p:nvSpPr>
        <p:spPr>
          <a:xfrm>
            <a:off x="142588" y="169588"/>
            <a:ext cx="1730400" cy="67707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</a:t>
            </a:r>
            <a:r>
              <a:rPr lang="en" sz="1600" dirty="0">
                <a:solidFill>
                  <a:schemeClr val="lt1"/>
                </a:solidFill>
                <a:latin typeface="Impact" panose="020B0806030902050204" pitchFamily="34" charset="0"/>
                <a:ea typeface="Lobster"/>
                <a:cs typeface="Lobster"/>
                <a:sym typeface="Lobster"/>
              </a:rPr>
              <a:t>KIAM</a:t>
            </a:r>
            <a:r>
              <a:rPr lang="en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 Way</a:t>
            </a:r>
            <a:br>
              <a:rPr lang="en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</a:br>
            <a:r>
              <a:rPr lang="en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(Kubeadm)</a:t>
            </a:r>
            <a:endParaRPr sz="1600" dirty="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cxnSp>
        <p:nvCxnSpPr>
          <p:cNvPr id="128" name="Google Shape;128;p17"/>
          <p:cNvCxnSpPr>
            <a:stCxn id="117" idx="2"/>
            <a:endCxn id="120" idx="0"/>
          </p:cNvCxnSpPr>
          <p:nvPr/>
        </p:nvCxnSpPr>
        <p:spPr>
          <a:xfrm>
            <a:off x="1705625" y="1435538"/>
            <a:ext cx="0" cy="13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17"/>
          <p:cNvSpPr/>
          <p:nvPr/>
        </p:nvSpPr>
        <p:spPr>
          <a:xfrm>
            <a:off x="1705780" y="2612236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EC2 MD API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0" name="Google Shape;130;p17"/>
          <p:cNvCxnSpPr>
            <a:stCxn id="111" idx="2"/>
            <a:endCxn id="106" idx="0"/>
          </p:cNvCxnSpPr>
          <p:nvPr/>
        </p:nvCxnSpPr>
        <p:spPr>
          <a:xfrm flipH="1">
            <a:off x="3710151" y="2117525"/>
            <a:ext cx="244200" cy="61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17"/>
          <p:cNvSpPr txBox="1"/>
          <p:nvPr/>
        </p:nvSpPr>
        <p:spPr>
          <a:xfrm>
            <a:off x="656025" y="4722800"/>
            <a:ext cx="6117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2200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https://github.com/uswitch/kiam/blob/master/cmd/kiam/iptables.go</a:t>
            </a:r>
            <a:r>
              <a:rPr lang="en" sz="1100">
                <a:solidFill>
                  <a:srgbClr val="2200CC"/>
                </a:solidFill>
              </a:rPr>
              <a:t> </a:t>
            </a:r>
            <a:endParaRPr sz="1100">
              <a:solidFill>
                <a:srgbClr val="2200CC"/>
              </a:solidFill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405200" y="3452250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❗</a:t>
            </a:r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2157350" y="266725"/>
            <a:ext cx="3679800" cy="42942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2309313" y="2252125"/>
            <a:ext cx="3411000" cy="1472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2305750" y="722225"/>
            <a:ext cx="3411000" cy="1332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3335791" y="2898725"/>
            <a:ext cx="1152600" cy="4995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br>
              <a:rPr lang="en"/>
            </a:br>
            <a:r>
              <a:rPr lang="en"/>
              <a:t>Pod</a:t>
            </a:r>
            <a:endParaRPr/>
          </a:p>
        </p:txBody>
      </p:sp>
      <p:cxnSp>
        <p:nvCxnSpPr>
          <p:cNvPr id="173" name="Google Shape;173;p19"/>
          <p:cNvCxnSpPr>
            <a:stCxn id="172" idx="0"/>
            <a:endCxn id="174" idx="1"/>
          </p:cNvCxnSpPr>
          <p:nvPr/>
        </p:nvCxnSpPr>
        <p:spPr>
          <a:xfrm rot="-5400000">
            <a:off x="4344091" y="2151125"/>
            <a:ext cx="315600" cy="117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19"/>
          <p:cNvSpPr txBox="1"/>
          <p:nvPr/>
        </p:nvSpPr>
        <p:spPr>
          <a:xfrm>
            <a:off x="4269937" y="2315364"/>
            <a:ext cx="629700" cy="323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Use: SA</a:t>
            </a:r>
            <a:endParaRPr sz="900" b="1">
              <a:solidFill>
                <a:schemeClr val="lt1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4671190" y="722223"/>
            <a:ext cx="59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EKS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CP</a:t>
            </a:r>
            <a:endParaRPr b="1"/>
          </a:p>
        </p:txBody>
      </p:sp>
      <p:sp>
        <p:nvSpPr>
          <p:cNvPr id="177" name="Google Shape;177;p19"/>
          <p:cNvSpPr txBox="1"/>
          <p:nvPr/>
        </p:nvSpPr>
        <p:spPr>
          <a:xfrm>
            <a:off x="4823437" y="3153575"/>
            <a:ext cx="881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EKS</a:t>
            </a:r>
            <a:br>
              <a:rPr lang="en" b="1"/>
            </a:br>
            <a:r>
              <a:rPr lang="en" b="1"/>
              <a:t>Worker</a:t>
            </a:r>
            <a:endParaRPr b="1"/>
          </a:p>
        </p:txBody>
      </p:sp>
      <p:sp>
        <p:nvSpPr>
          <p:cNvPr id="178" name="Google Shape;178;p19"/>
          <p:cNvSpPr/>
          <p:nvPr/>
        </p:nvSpPr>
        <p:spPr>
          <a:xfrm>
            <a:off x="441838" y="2299525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STS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29450" y="1200363"/>
            <a:ext cx="978000" cy="49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Acc: 1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Role: X</a:t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550" y="2413840"/>
            <a:ext cx="347800" cy="3386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19"/>
          <p:cNvCxnSpPr>
            <a:stCxn id="181" idx="2"/>
          </p:cNvCxnSpPr>
          <p:nvPr/>
        </p:nvCxnSpPr>
        <p:spPr>
          <a:xfrm rot="5400000" flipH="1">
            <a:off x="1355605" y="2595520"/>
            <a:ext cx="1502700" cy="2147700"/>
          </a:xfrm>
          <a:prstGeom prst="bentConnector4">
            <a:avLst>
              <a:gd name="adj1" fmla="val -15846"/>
              <a:gd name="adj2" fmla="val 1008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2" name="Google Shape;182;p19"/>
          <p:cNvSpPr txBox="1"/>
          <p:nvPr/>
        </p:nvSpPr>
        <p:spPr>
          <a:xfrm>
            <a:off x="197113" y="169613"/>
            <a:ext cx="1730400" cy="677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</a:t>
            </a:r>
            <a:r>
              <a:rPr lang="en" sz="1600" dirty="0">
                <a:solidFill>
                  <a:schemeClr val="lt1"/>
                </a:solidFill>
                <a:latin typeface="Impact" panose="020B0806030902050204" pitchFamily="34" charset="0"/>
                <a:ea typeface="Lobster"/>
                <a:cs typeface="Lobster"/>
                <a:sym typeface="Lobster"/>
              </a:rPr>
              <a:t>IRSA</a:t>
            </a:r>
            <a:r>
              <a:rPr lang="en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 Way</a:t>
            </a:r>
            <a:endParaRPr sz="1600" dirty="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</a:rPr>
              <a:t>(AWS EKS)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318345" y="2258327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AWS EC2 MD 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736217" y="1379120"/>
            <a:ext cx="1152600" cy="4995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EKS Cluster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OIDC EP: Z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2296726" y="721427"/>
            <a:ext cx="2577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6191F"/>
                </a:solidFill>
              </a:rPr>
              <a:t>using</a:t>
            </a:r>
            <a:r>
              <a:rPr lang="en" sz="1000">
                <a:solidFill>
                  <a:srgbClr val="16191F"/>
                </a:solidFill>
              </a:rPr>
              <a:t> </a:t>
            </a:r>
            <a:r>
              <a:rPr lang="en" sz="1200" b="1">
                <a:solidFill>
                  <a:srgbClr val="FF9900"/>
                </a:solidFill>
              </a:rPr>
              <a:t>EKS-Cluster-OIDC-Magic </a:t>
            </a:r>
            <a:br>
              <a:rPr lang="en" sz="1000">
                <a:solidFill>
                  <a:srgbClr val="16191F"/>
                </a:solidFill>
              </a:rPr>
            </a:br>
            <a:r>
              <a:rPr lang="en" sz="1000" b="1">
                <a:solidFill>
                  <a:srgbClr val="16191F"/>
                </a:solidFill>
              </a:rPr>
              <a:t>   assumeRole</a:t>
            </a:r>
            <a:r>
              <a:rPr lang="en" sz="1000">
                <a:solidFill>
                  <a:srgbClr val="16191F"/>
                </a:solidFill>
              </a:rPr>
              <a:t> role:X </a:t>
            </a:r>
            <a:r>
              <a:rPr lang="en" sz="1000" b="1">
                <a:solidFill>
                  <a:srgbClr val="16191F"/>
                </a:solidFill>
              </a:rPr>
              <a:t>who </a:t>
            </a:r>
            <a:r>
              <a:rPr lang="en" sz="1200" b="1">
                <a:solidFill>
                  <a:srgbClr val="FF9900"/>
                </a:solidFill>
              </a:rPr>
              <a:t>trusts me</a:t>
            </a:r>
            <a:endParaRPr sz="1200" b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   </a:t>
            </a:r>
            <a:r>
              <a:rPr lang="en" sz="1000" b="1">
                <a:solidFill>
                  <a:srgbClr val="16191F"/>
                </a:solidFill>
              </a:rPr>
              <a:t>  return </a:t>
            </a:r>
            <a:r>
              <a:rPr lang="en" sz="1000">
                <a:solidFill>
                  <a:srgbClr val="16191F"/>
                </a:solidFill>
              </a:rPr>
              <a:t>sts: {ID, Key}</a:t>
            </a:r>
            <a:endParaRPr sz="1000">
              <a:solidFill>
                <a:srgbClr val="16191F"/>
              </a:solidFill>
            </a:endParaRPr>
          </a:p>
        </p:txBody>
      </p:sp>
      <p:cxnSp>
        <p:nvCxnSpPr>
          <p:cNvPr id="186" name="Google Shape;186;p19"/>
          <p:cNvCxnSpPr>
            <a:endCxn id="179" idx="3"/>
          </p:cNvCxnSpPr>
          <p:nvPr/>
        </p:nvCxnSpPr>
        <p:spPr>
          <a:xfrm flipH="1">
            <a:off x="1507450" y="1443213"/>
            <a:ext cx="1244100" cy="6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87" name="Google Shape;187;p19"/>
          <p:cNvSpPr txBox="1"/>
          <p:nvPr/>
        </p:nvSpPr>
        <p:spPr>
          <a:xfrm>
            <a:off x="1535800" y="1113700"/>
            <a:ext cx="51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Trust</a:t>
            </a:r>
            <a:endParaRPr sz="1000">
              <a:solidFill>
                <a:srgbClr val="16191F"/>
              </a:solidFill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670" y="725950"/>
            <a:ext cx="513000" cy="5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363" y="1625624"/>
            <a:ext cx="347803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4777176" y="1286713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KubeAPI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837192" y="2691113"/>
            <a:ext cx="88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Kubelet</a:t>
            </a:r>
            <a:endParaRPr/>
          </a:p>
        </p:txBody>
      </p:sp>
      <p:cxnSp>
        <p:nvCxnSpPr>
          <p:cNvPr id="192" name="Google Shape;192;p19"/>
          <p:cNvCxnSpPr>
            <a:stCxn id="189" idx="2"/>
            <a:endCxn id="174" idx="0"/>
          </p:cNvCxnSpPr>
          <p:nvPr/>
        </p:nvCxnSpPr>
        <p:spPr>
          <a:xfrm>
            <a:off x="5264265" y="1964324"/>
            <a:ext cx="1200" cy="44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19"/>
          <p:cNvCxnSpPr>
            <a:stCxn id="179" idx="2"/>
            <a:endCxn id="178" idx="0"/>
          </p:cNvCxnSpPr>
          <p:nvPr/>
        </p:nvCxnSpPr>
        <p:spPr>
          <a:xfrm rot="-5400000" flipH="1">
            <a:off x="718900" y="1999413"/>
            <a:ext cx="5997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19"/>
          <p:cNvSpPr/>
          <p:nvPr/>
        </p:nvSpPr>
        <p:spPr>
          <a:xfrm>
            <a:off x="2604505" y="3921220"/>
            <a:ext cx="1152600" cy="4995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Account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IDP Prov(s)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353755" y="3921220"/>
            <a:ext cx="1152600" cy="499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SSO OIDC</a:t>
            </a:r>
            <a:br>
              <a:rPr lang="en" dirty="0">
                <a:solidFill>
                  <a:schemeClr val="tx1"/>
                </a:solidFill>
              </a:rPr>
            </a:br>
            <a:r>
              <a:rPr lang="en" dirty="0">
                <a:solidFill>
                  <a:schemeClr val="tx1"/>
                </a:solidFill>
              </a:rPr>
              <a:t>Provider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95" name="Google Shape;195;p19"/>
          <p:cNvCxnSpPr>
            <a:stCxn id="184" idx="1"/>
            <a:endCxn id="181" idx="1"/>
          </p:cNvCxnSpPr>
          <p:nvPr/>
        </p:nvCxnSpPr>
        <p:spPr>
          <a:xfrm flipH="1">
            <a:off x="2604517" y="1628870"/>
            <a:ext cx="131700" cy="2542200"/>
          </a:xfrm>
          <a:prstGeom prst="bentConnector3">
            <a:avLst>
              <a:gd name="adj1" fmla="val 553885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96" name="Google Shape;196;p19"/>
          <p:cNvSpPr txBox="1"/>
          <p:nvPr/>
        </p:nvSpPr>
        <p:spPr>
          <a:xfrm>
            <a:off x="334750" y="3433475"/>
            <a:ext cx="136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6191F"/>
                </a:solidFill>
              </a:rPr>
              <a:t>assumeRole </a:t>
            </a:r>
            <a:r>
              <a:rPr lang="en" sz="1000">
                <a:solidFill>
                  <a:srgbClr val="16191F"/>
                </a:solidFill>
              </a:rPr>
              <a:t>role:X</a:t>
            </a:r>
            <a:endParaRPr sz="10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       </a:t>
            </a:r>
            <a:r>
              <a:rPr lang="en" sz="1000" b="1">
                <a:solidFill>
                  <a:srgbClr val="16191F"/>
                </a:solidFill>
              </a:rPr>
              <a:t>return</a:t>
            </a:r>
            <a:r>
              <a:rPr lang="en" sz="1000">
                <a:solidFill>
                  <a:srgbClr val="16191F"/>
                </a:solidFill>
              </a:rPr>
              <a:t> {ID, Key}</a:t>
            </a:r>
            <a:endParaRPr sz="1000">
              <a:solidFill>
                <a:srgbClr val="16191F"/>
              </a:solidFill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2318350" y="266725"/>
            <a:ext cx="136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Account:</a:t>
            </a:r>
            <a:r>
              <a:rPr lang="en"/>
              <a:t> 1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552563" y="2946900"/>
            <a:ext cx="51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191F"/>
                </a:solidFill>
              </a:rPr>
              <a:t>Add</a:t>
            </a:r>
            <a:endParaRPr sz="1000">
              <a:solidFill>
                <a:srgbClr val="16191F"/>
              </a:solidFill>
            </a:endParaRPr>
          </a:p>
        </p:txBody>
      </p:sp>
      <p:cxnSp>
        <p:nvCxnSpPr>
          <p:cNvPr id="199" name="Google Shape;199;p19"/>
          <p:cNvCxnSpPr>
            <a:stCxn id="194" idx="1"/>
            <a:endCxn id="181" idx="3"/>
          </p:cNvCxnSpPr>
          <p:nvPr/>
        </p:nvCxnSpPr>
        <p:spPr>
          <a:xfrm rot="10800000">
            <a:off x="3757055" y="4170970"/>
            <a:ext cx="59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diamond" w="med" len="med"/>
          </a:ln>
        </p:spPr>
      </p:cxnSp>
      <p:cxnSp>
        <p:nvCxnSpPr>
          <p:cNvPr id="200" name="Google Shape;200;p19"/>
          <p:cNvCxnSpPr>
            <a:stCxn id="189" idx="1"/>
            <a:endCxn id="184" idx="3"/>
          </p:cNvCxnSpPr>
          <p:nvPr/>
        </p:nvCxnSpPr>
        <p:spPr>
          <a:xfrm rot="10800000">
            <a:off x="3888863" y="1628774"/>
            <a:ext cx="1201500" cy="16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1" name="Google Shape;20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5630" y="252434"/>
            <a:ext cx="2847525" cy="470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703100" y="1579175"/>
            <a:ext cx="441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😎</a:t>
            </a:r>
            <a:endParaRPr sz="2200"/>
          </a:p>
        </p:txBody>
      </p:sp>
      <p:cxnSp>
        <p:nvCxnSpPr>
          <p:cNvPr id="203" name="Google Shape;203;p19"/>
          <p:cNvCxnSpPr>
            <a:cxnSpLocks/>
            <a:stCxn id="194" idx="2"/>
            <a:endCxn id="178" idx="1"/>
          </p:cNvCxnSpPr>
          <p:nvPr/>
        </p:nvCxnSpPr>
        <p:spPr>
          <a:xfrm rot="5400000" flipH="1">
            <a:off x="1750205" y="1240870"/>
            <a:ext cx="1871400" cy="4488300"/>
          </a:xfrm>
          <a:prstGeom prst="bentConnector4">
            <a:avLst>
              <a:gd name="adj1" fmla="val -25528"/>
              <a:gd name="adj2" fmla="val 1053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19"/>
          <p:cNvSpPr txBox="1"/>
          <p:nvPr/>
        </p:nvSpPr>
        <p:spPr>
          <a:xfrm>
            <a:off x="3320086" y="4706316"/>
            <a:ext cx="1366800" cy="36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dirty="0">
                <a:solidFill>
                  <a:srgbClr val="16191F"/>
                </a:solidFill>
              </a:rPr>
              <a:t>assumeRole </a:t>
            </a:r>
            <a:r>
              <a:rPr lang="en" sz="700" dirty="0">
                <a:solidFill>
                  <a:srgbClr val="16191F"/>
                </a:solidFill>
              </a:rPr>
              <a:t>role:&lt;Role&gt;</a:t>
            </a:r>
            <a:endParaRPr sz="7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rgbClr val="16191F"/>
                </a:solidFill>
              </a:rPr>
              <a:t>       </a:t>
            </a:r>
            <a:r>
              <a:rPr lang="en" sz="700" b="1" dirty="0">
                <a:solidFill>
                  <a:srgbClr val="16191F"/>
                </a:solidFill>
              </a:rPr>
              <a:t>return</a:t>
            </a:r>
            <a:r>
              <a:rPr lang="en" sz="700" dirty="0">
                <a:solidFill>
                  <a:srgbClr val="16191F"/>
                </a:solidFill>
              </a:rPr>
              <a:t> {ID, Key}</a:t>
            </a:r>
            <a:endParaRPr sz="700" dirty="0">
              <a:solidFill>
                <a:srgbClr val="16191F"/>
              </a:solidFill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4883142" y="4658336"/>
            <a:ext cx="6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MFA!</a:t>
            </a:r>
            <a:endParaRPr dirty="0"/>
          </a:p>
        </p:txBody>
      </p:sp>
      <p:pic>
        <p:nvPicPr>
          <p:cNvPr id="207" name="Google Shape;20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/>
        </p:nvSpPr>
        <p:spPr>
          <a:xfrm>
            <a:off x="197126" y="169625"/>
            <a:ext cx="1635000" cy="677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</a:t>
            </a:r>
            <a:r>
              <a:rPr lang="en-GB" sz="1600" dirty="0">
                <a:solidFill>
                  <a:schemeClr val="lt1"/>
                </a:solidFill>
                <a:latin typeface="Impact" panose="020B0806030902050204" pitchFamily="34" charset="0"/>
                <a:ea typeface="Lobster"/>
                <a:cs typeface="Lobster"/>
                <a:sym typeface="Lobster"/>
              </a:rPr>
              <a:t>IRSA</a:t>
            </a:r>
            <a:r>
              <a:rPr lang="en-GB" sz="16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 Way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lt1"/>
                </a:solidFill>
              </a:rPr>
              <a:t>(AWS EKS)</a:t>
            </a: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100" y="107450"/>
            <a:ext cx="7159501" cy="492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125" y="846725"/>
            <a:ext cx="1635000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97125" y="1585625"/>
            <a:ext cx="173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9900"/>
                </a:solidFill>
              </a:rPr>
              <a:t>EKS Cluster</a:t>
            </a:r>
            <a:br>
              <a:rPr lang="en" sz="1200" b="1">
                <a:solidFill>
                  <a:srgbClr val="FF9900"/>
                </a:solidFill>
              </a:rPr>
            </a:br>
            <a:r>
              <a:rPr lang="en" sz="1200" b="1">
                <a:solidFill>
                  <a:srgbClr val="FF9900"/>
                </a:solidFill>
              </a:rPr>
              <a:t>OIDC Magic</a:t>
            </a:r>
            <a:endParaRPr sz="1200" b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9900"/>
                </a:solidFill>
              </a:rPr>
              <a:t>In-Depth</a:t>
            </a:r>
            <a:endParaRPr sz="12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2"/>
          <p:cNvGrpSpPr/>
          <p:nvPr/>
        </p:nvGrpSpPr>
        <p:grpSpPr>
          <a:xfrm>
            <a:off x="1083300" y="301325"/>
            <a:ext cx="7367726" cy="4643099"/>
            <a:chOff x="1083300" y="301325"/>
            <a:chExt cx="7367726" cy="4643099"/>
          </a:xfrm>
        </p:grpSpPr>
        <p:pic>
          <p:nvPicPr>
            <p:cNvPr id="229" name="Google Shape;229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83300" y="301325"/>
              <a:ext cx="7367726" cy="4643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2"/>
            <p:cNvSpPr/>
            <p:nvPr/>
          </p:nvSpPr>
          <p:spPr>
            <a:xfrm>
              <a:off x="5337500" y="932650"/>
              <a:ext cx="429600" cy="52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3021500" y="1514775"/>
              <a:ext cx="429600" cy="52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3283825" y="3216150"/>
              <a:ext cx="429600" cy="52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4425575" y="3227425"/>
              <a:ext cx="4296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4405588" y="2024588"/>
              <a:ext cx="4296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22"/>
          <p:cNvSpPr txBox="1"/>
          <p:nvPr/>
        </p:nvSpPr>
        <p:spPr>
          <a:xfrm>
            <a:off x="197113" y="169613"/>
            <a:ext cx="17304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NFS on Kubernetes</a:t>
            </a:r>
            <a:endParaRPr sz="16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/>
        </p:nvSpPr>
        <p:spPr>
          <a:xfrm>
            <a:off x="197125" y="169625"/>
            <a:ext cx="2417100" cy="461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NFS on Kubeadm</a:t>
            </a:r>
            <a:endParaRPr sz="18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97125" y="847175"/>
            <a:ext cx="30210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AWS EFS endpoint</a:t>
            </a:r>
            <a:r>
              <a:rPr lang="en" sz="1200" dirty="0"/>
              <a:t> </a:t>
            </a:r>
            <a:r>
              <a:rPr lang="en" sz="1200" dirty="0">
                <a:solidFill>
                  <a:srgbClr val="FF0000"/>
                </a:solidFill>
              </a:rPr>
              <a:t>without access policy (roles) </a:t>
            </a:r>
            <a:r>
              <a:rPr lang="en" sz="1200" dirty="0"/>
              <a:t>only rely on Sec. Group open to VPC CIDR (No roles/auth same as in DUS Data Center).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Test </a:t>
            </a:r>
            <a:r>
              <a:rPr lang="en" sz="1200" dirty="0"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mount -t</a:t>
            </a:r>
            <a:r>
              <a:rPr lang="en" sz="1200" dirty="0"/>
              <a:t> from your Mac (Allow VPN first).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nfs-common &amp; nfs-utils </a:t>
            </a:r>
            <a:r>
              <a:rPr lang="en" sz="1200" dirty="0"/>
              <a:t>=&gt; AMI.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Helm: </a:t>
            </a:r>
            <a:r>
              <a:rPr lang="en" sz="1200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NFS Subdir External Provisioner (SIG)</a:t>
            </a:r>
            <a:r>
              <a:rPr lang="en" sz="1200" dirty="0"/>
              <a:t> - </a:t>
            </a:r>
            <a:r>
              <a:rPr lang="en" sz="1200" dirty="0">
                <a:solidFill>
                  <a:srgbClr val="FF0000"/>
                </a:solidFill>
              </a:rPr>
              <a:t>I don’t like SIGs but Jenkins can be fully down or?!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+YAML:</a:t>
            </a:r>
            <a:r>
              <a:rPr lang="en" sz="1200" dirty="0"/>
              <a:t> pv, pvc.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+YAML: </a:t>
            </a:r>
            <a:r>
              <a:rPr lang="en" sz="1200" dirty="0">
                <a:solidFill>
                  <a:schemeClr val="dk1"/>
                </a:solidFill>
              </a:rPr>
              <a:t>app pod (client).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Deploy.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512" y="169625"/>
            <a:ext cx="2019071" cy="25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3597" y="152400"/>
            <a:ext cx="2898308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23"/>
          <p:cNvCxnSpPr>
            <a:stCxn id="243" idx="3"/>
            <a:endCxn id="244" idx="1"/>
          </p:cNvCxnSpPr>
          <p:nvPr/>
        </p:nvCxnSpPr>
        <p:spPr>
          <a:xfrm>
            <a:off x="5382584" y="1430500"/>
            <a:ext cx="681000" cy="1141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6" name="Google Shape;246;p23"/>
          <p:cNvCxnSpPr>
            <a:stCxn id="247" idx="0"/>
            <a:endCxn id="243" idx="2"/>
          </p:cNvCxnSpPr>
          <p:nvPr/>
        </p:nvCxnSpPr>
        <p:spPr>
          <a:xfrm rot="10800000">
            <a:off x="4373100" y="2691375"/>
            <a:ext cx="198900" cy="251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247" name="Google Shape;24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3512" y="2942475"/>
            <a:ext cx="2416975" cy="19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/>
        </p:nvSpPr>
        <p:spPr>
          <a:xfrm>
            <a:off x="197125" y="169625"/>
            <a:ext cx="1730400" cy="73863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NFS on </a:t>
            </a:r>
            <a:br>
              <a:rPr lang="en" sz="18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</a:br>
            <a:r>
              <a:rPr lang="en" sz="1800" dirty="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AWS EKS</a:t>
            </a:r>
            <a:endParaRPr sz="1800" dirty="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4754513" y="1232263"/>
            <a:ext cx="17304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EKS Way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4754525" y="2539725"/>
            <a:ext cx="17304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</a:rPr>
              <a:t>KIAM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4734575" y="3211650"/>
            <a:ext cx="17703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EFS_CSI_Driver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4754525" y="1886000"/>
            <a:ext cx="17304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None/>
              <a:defRPr sz="1600">
                <a:solidFill>
                  <a:schemeClr val="dk1"/>
                </a:solidFill>
              </a:defRPr>
            </a:lvl1pPr>
          </a:lstStyle>
          <a:p>
            <a:r>
              <a:rPr lang="en" dirty="0"/>
              <a:t>EKS Cluster</a:t>
            </a:r>
            <a:endParaRPr dirty="0"/>
          </a:p>
        </p:txBody>
      </p:sp>
      <p:cxnSp>
        <p:nvCxnSpPr>
          <p:cNvPr id="258" name="Google Shape;258;p24"/>
          <p:cNvCxnSpPr>
            <a:stCxn id="254" idx="2"/>
            <a:endCxn id="257" idx="0"/>
          </p:cNvCxnSpPr>
          <p:nvPr/>
        </p:nvCxnSpPr>
        <p:spPr>
          <a:xfrm>
            <a:off x="5619713" y="1663363"/>
            <a:ext cx="0" cy="22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24"/>
          <p:cNvCxnSpPr>
            <a:stCxn id="257" idx="2"/>
            <a:endCxn id="255" idx="0"/>
          </p:cNvCxnSpPr>
          <p:nvPr/>
        </p:nvCxnSpPr>
        <p:spPr>
          <a:xfrm>
            <a:off x="5619725" y="2317100"/>
            <a:ext cx="0" cy="22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p24"/>
          <p:cNvSpPr txBox="1"/>
          <p:nvPr/>
        </p:nvSpPr>
        <p:spPr>
          <a:xfrm>
            <a:off x="2543713" y="1223150"/>
            <a:ext cx="17304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EKS Way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2543725" y="2530613"/>
            <a:ext cx="17304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None/>
              <a:defRPr sz="1600">
                <a:solidFill>
                  <a:schemeClr val="dk1"/>
                </a:solidFill>
              </a:defRPr>
            </a:lvl1pPr>
          </a:lstStyle>
          <a:p>
            <a:r>
              <a:rPr lang="en"/>
              <a:t>EKS OIDC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2523775" y="3202538"/>
            <a:ext cx="17703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None/>
              <a:defRPr sz="1600">
                <a:solidFill>
                  <a:schemeClr val="dk1"/>
                </a:solidFill>
              </a:defRPr>
            </a:lvl1pPr>
          </a:lstStyle>
          <a:p>
            <a:r>
              <a:rPr lang="en"/>
              <a:t>EFS_CSI_Driver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2543725" y="1876888"/>
            <a:ext cx="1730400" cy="431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1600">
                <a:solidFill>
                  <a:schemeClr val="dk1"/>
                </a:solidFill>
              </a:defRPr>
            </a:lvl1pPr>
          </a:lstStyle>
          <a:p>
            <a:r>
              <a:rPr lang="en" dirty="0"/>
              <a:t>EKS Cluster</a:t>
            </a:r>
            <a:endParaRPr dirty="0"/>
          </a:p>
        </p:txBody>
      </p:sp>
      <p:cxnSp>
        <p:nvCxnSpPr>
          <p:cNvPr id="264" name="Google Shape;264;p24"/>
          <p:cNvCxnSpPr>
            <a:stCxn id="260" idx="2"/>
            <a:endCxn id="263" idx="0"/>
          </p:cNvCxnSpPr>
          <p:nvPr/>
        </p:nvCxnSpPr>
        <p:spPr>
          <a:xfrm>
            <a:off x="3408913" y="1654250"/>
            <a:ext cx="0" cy="22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5" name="Google Shape;265;p24"/>
          <p:cNvCxnSpPr>
            <a:stCxn id="263" idx="2"/>
            <a:endCxn id="261" idx="0"/>
          </p:cNvCxnSpPr>
          <p:nvPr/>
        </p:nvCxnSpPr>
        <p:spPr>
          <a:xfrm>
            <a:off x="3408925" y="2307988"/>
            <a:ext cx="0" cy="22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6" name="Google Shape;266;p24"/>
          <p:cNvCxnSpPr>
            <a:stCxn id="261" idx="2"/>
            <a:endCxn id="262" idx="0"/>
          </p:cNvCxnSpPr>
          <p:nvPr/>
        </p:nvCxnSpPr>
        <p:spPr>
          <a:xfrm>
            <a:off x="3408925" y="2961713"/>
            <a:ext cx="0" cy="24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9" name="Google Shape;269;p24"/>
          <p:cNvSpPr/>
          <p:nvPr/>
        </p:nvSpPr>
        <p:spPr>
          <a:xfrm>
            <a:off x="530700" y="2742488"/>
            <a:ext cx="1608600" cy="836700"/>
          </a:xfrm>
          <a:prstGeom prst="wedgeRectCallout">
            <a:avLst>
              <a:gd name="adj1" fmla="val 81266"/>
              <a:gd name="adj2" fmla="val 36597"/>
            </a:avLst>
          </a:prstGeom>
          <a:solidFill>
            <a:srgbClr val="92D05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NFS provisioner in EKS flavor with IARS support.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640100" y="4225325"/>
            <a:ext cx="5996700" cy="677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AA84F"/>
                </a:solidFill>
              </a:rPr>
              <a:t>EKS works! </a:t>
            </a:r>
            <a:r>
              <a:rPr lang="en"/>
              <a:t>but </a:t>
            </a:r>
            <a:r>
              <a:rPr lang="en" sz="1800">
                <a:solidFill>
                  <a:schemeClr val="dk2"/>
                </a:solidFill>
              </a:rPr>
              <a:t>✅ </a:t>
            </a:r>
            <a:r>
              <a:rPr lang="en"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terraform</a:t>
            </a:r>
            <a:r>
              <a:rPr lang="en"/>
              <a:t>, </a:t>
            </a:r>
            <a:r>
              <a:rPr lang="en" sz="1800">
                <a:solidFill>
                  <a:schemeClr val="dk2"/>
                </a:solidFill>
              </a:rPr>
              <a:t>💅</a:t>
            </a:r>
            <a:r>
              <a:rPr lang="en"/>
              <a:t> </a:t>
            </a:r>
            <a:r>
              <a:rPr lang="en"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eksctl</a:t>
            </a:r>
            <a:r>
              <a:rPr lang="en"/>
              <a:t> or 👮 </a:t>
            </a:r>
            <a:r>
              <a:rPr lang="en"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AWS CLI</a:t>
            </a:r>
            <a:r>
              <a:rPr lang="en">
                <a:highlight>
                  <a:schemeClr val="lt1"/>
                </a:highlight>
              </a:rPr>
              <a:t>:</a:t>
            </a:r>
            <a:br>
              <a:rPr lang="en"/>
            </a:br>
            <a:r>
              <a:rPr lang="en" u="sng">
                <a:solidFill>
                  <a:srgbClr val="2200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https://docs.aws.amazon.com/eks/latest/userguide/efs-csi.html</a:t>
            </a:r>
            <a:r>
              <a:rPr lang="en">
                <a:solidFill>
                  <a:srgbClr val="2200CC"/>
                </a:solidFill>
              </a:rPr>
              <a:t> </a:t>
            </a:r>
            <a:endParaRPr>
              <a:solidFill>
                <a:srgbClr val="2200CC"/>
              </a:solidFill>
            </a:endParaRPr>
          </a:p>
        </p:txBody>
      </p:sp>
      <p:cxnSp>
        <p:nvCxnSpPr>
          <p:cNvPr id="271" name="Google Shape;271;p24"/>
          <p:cNvCxnSpPr>
            <a:stCxn id="262" idx="2"/>
            <a:endCxn id="270" idx="0"/>
          </p:cNvCxnSpPr>
          <p:nvPr/>
        </p:nvCxnSpPr>
        <p:spPr>
          <a:xfrm>
            <a:off x="3408925" y="3633638"/>
            <a:ext cx="1229400" cy="59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72" name="Google Shape;2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5061400" y="459550"/>
            <a:ext cx="1225800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0000"/>
                </a:solidFill>
              </a:rPr>
              <a:t>Non-AWS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FF0000"/>
                </a:solidFill>
              </a:rPr>
              <a:t>Standard</a:t>
            </a:r>
            <a:endParaRPr sz="1700" b="1" dirty="0">
              <a:solidFill>
                <a:srgbClr val="FF0000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2796025" y="459550"/>
            <a:ext cx="1225800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00B050"/>
                </a:solidFill>
              </a:rPr>
              <a:t>Full AWS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00B050"/>
                </a:solidFill>
              </a:rPr>
              <a:t>Standard</a:t>
            </a:r>
            <a:endParaRPr sz="1700" b="1" dirty="0">
              <a:solidFill>
                <a:srgbClr val="00B050"/>
              </a:solidFill>
            </a:endParaRPr>
          </a:p>
        </p:txBody>
      </p:sp>
      <p:cxnSp>
        <p:nvCxnSpPr>
          <p:cNvPr id="275" name="Google Shape;275;p24"/>
          <p:cNvCxnSpPr>
            <a:stCxn id="256" idx="2"/>
            <a:endCxn id="270" idx="0"/>
          </p:cNvCxnSpPr>
          <p:nvPr/>
        </p:nvCxnSpPr>
        <p:spPr>
          <a:xfrm flipH="1">
            <a:off x="4638425" y="3642750"/>
            <a:ext cx="981300" cy="58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6" name="Google Shape;276;p24"/>
          <p:cNvSpPr txBox="1"/>
          <p:nvPr/>
        </p:nvSpPr>
        <p:spPr>
          <a:xfrm>
            <a:off x="5428249" y="2884550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❗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3496500" y="3760938"/>
            <a:ext cx="2283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</a:rPr>
              <a:t>Container Storage Interface (</a:t>
            </a:r>
            <a:r>
              <a:rPr lang="en" sz="1050" b="1">
                <a:solidFill>
                  <a:srgbClr val="5F6368"/>
                </a:solidFill>
                <a:highlight>
                  <a:srgbClr val="FFFFFF"/>
                </a:highlight>
              </a:rPr>
              <a:t>CSI</a:t>
            </a: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</a:rPr>
              <a:t>)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4382425" y="299800"/>
            <a:ext cx="255900" cy="222600"/>
          </a:xfrm>
          <a:prstGeom prst="ellipse">
            <a:avLst/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9" name="Google Shape;279;p24"/>
          <p:cNvCxnSpPr>
            <a:stCxn id="278" idx="3"/>
            <a:endCxn id="274" idx="3"/>
          </p:cNvCxnSpPr>
          <p:nvPr/>
        </p:nvCxnSpPr>
        <p:spPr>
          <a:xfrm flipH="1">
            <a:off x="4021825" y="489801"/>
            <a:ext cx="398076" cy="3236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0" name="Google Shape;280;p24"/>
          <p:cNvCxnSpPr>
            <a:stCxn id="278" idx="5"/>
            <a:endCxn id="273" idx="1"/>
          </p:cNvCxnSpPr>
          <p:nvPr/>
        </p:nvCxnSpPr>
        <p:spPr>
          <a:xfrm>
            <a:off x="4600849" y="489801"/>
            <a:ext cx="460551" cy="3236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269;p24">
            <a:extLst>
              <a:ext uri="{FF2B5EF4-FFF2-40B4-BE49-F238E27FC236}">
                <a16:creationId xmlns:a16="http://schemas.microsoft.com/office/drawing/2014/main" id="{938AFBD2-F97C-75B3-8F22-A108E9A27C1D}"/>
              </a:ext>
            </a:extLst>
          </p:cNvPr>
          <p:cNvSpPr/>
          <p:nvPr/>
        </p:nvSpPr>
        <p:spPr>
          <a:xfrm>
            <a:off x="6873216" y="2207451"/>
            <a:ext cx="1473829" cy="677099"/>
          </a:xfrm>
          <a:prstGeom prst="wedgeRectCallout">
            <a:avLst>
              <a:gd name="adj1" fmla="val -93067"/>
              <a:gd name="adj2" fmla="val 35322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Legacy</a:t>
            </a:r>
            <a:br>
              <a:rPr lang="en" dirty="0"/>
            </a:br>
            <a:r>
              <a:rPr lang="en" dirty="0"/>
              <a:t>/ Risk of</a:t>
            </a:r>
            <a:br>
              <a:rPr lang="en" dirty="0"/>
            </a:br>
            <a:r>
              <a:rPr lang="en" dirty="0"/>
              <a:t>Incompatiblity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/>
        </p:nvSpPr>
        <p:spPr>
          <a:xfrm>
            <a:off x="3545138" y="1694550"/>
            <a:ext cx="1877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End</a:t>
            </a:r>
            <a:endParaRPr sz="45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3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96" name="Google Shape;2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8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1245</Words>
  <Application>Microsoft Office PowerPoint</Application>
  <PresentationFormat>On-screen Show (16:9)</PresentationFormat>
  <Paragraphs>163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Lobster</vt:lpstr>
      <vt:lpstr>Courier New</vt:lpstr>
      <vt:lpstr>Impact</vt:lpstr>
      <vt:lpstr>Simple Light</vt:lpstr>
      <vt:lpstr>PowerPoint Presentation</vt:lpstr>
      <vt:lpstr>Agenda</vt:lpstr>
      <vt:lpstr>Before we start… the sources…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Olaf Reitmaier</cp:lastModifiedBy>
  <cp:revision>20</cp:revision>
  <dcterms:modified xsi:type="dcterms:W3CDTF">2023-11-04T17:24:01Z</dcterms:modified>
</cp:coreProperties>
</file>